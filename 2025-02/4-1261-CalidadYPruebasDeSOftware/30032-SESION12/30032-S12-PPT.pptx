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tiff" ContentType="image/tif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50"/>
  </p:notesMasterIdLst>
  <p:sldIdLst>
    <p:sldId id="256" r:id="rId2"/>
    <p:sldId id="301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302" r:id="rId46"/>
    <p:sldId id="299" r:id="rId47"/>
    <p:sldId id="300" r:id="rId48"/>
    <p:sldId id="303" r:id="rId49"/>
  </p:sldIdLst>
  <p:sldSz cx="9144000" cy="5715000" type="screen16x1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2880" userDrawn="1">
          <p15:clr>
            <a:srgbClr val="A4A3A4"/>
          </p15:clr>
        </p15:guide>
        <p15:guide id="2" orient="horz" pos="3297">
          <p15:clr>
            <a:srgbClr val="A4A3A4"/>
          </p15:clr>
        </p15:guide>
        <p15:guide id="3" pos="4127" userDrawn="1">
          <p15:clr>
            <a:srgbClr val="A4A3A4"/>
          </p15:clr>
        </p15:guide>
        <p15:guide id="4" pos="476" userDrawn="1">
          <p15:clr>
            <a:srgbClr val="A4A3A4"/>
          </p15:clr>
        </p15:guide>
        <p15:guide id="5" orient="horz" pos="1392" userDrawn="1">
          <p15:clr>
            <a:srgbClr val="A4A3A4"/>
          </p15:clr>
        </p15:guide>
        <p15:guide id="6" pos="5261" userDrawn="1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2" roundtripDataSignature="AMtx7mjM1CpANf+k/rAsvO9wLtpwRprOg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4639"/>
    <a:srgbClr val="39732D"/>
    <a:srgbClr val="7150A0"/>
    <a:srgbClr val="FE7828"/>
    <a:srgbClr val="92C14E"/>
    <a:srgbClr val="808799"/>
    <a:srgbClr val="FEC211"/>
    <a:srgbClr val="FFEDBF"/>
    <a:srgbClr val="E3DCED"/>
    <a:srgbClr val="DDEE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50B3C73-4F0F-4B4C-8850-2DE5B123E8A3}">
  <a:tblStyle styleId="{150B3C73-4F0F-4B4C-8850-2DE5B123E8A3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FF3E9"/>
          </a:solidFill>
        </a:fill>
      </a:tcStyle>
    </a:wholeTbl>
    <a:band1H>
      <a:tcTxStyle/>
      <a:tcStyle>
        <a:tcBdr/>
        <a:fill>
          <a:solidFill>
            <a:srgbClr val="DEE7D0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DEE7D0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3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3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014BC8C9-0BDC-42DC-A321-016D9F5AE63B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chemeClr val="lt1"/>
          </a:solidFill>
        </a:fill>
      </a:tcStyle>
    </a:wholeTbl>
    <a:band1H>
      <a:tcTxStyle/>
      <a:tcStyle>
        <a:tcBdr/>
        <a:fill>
          <a:solidFill>
            <a:srgbClr val="ECEAF0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ECEAF0"/>
          </a:solidFill>
        </a:fill>
      </a:tcStyle>
    </a:band1V>
    <a:band2V>
      <a:tcTxStyle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508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l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4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843"/>
    <p:restoredTop sz="94674"/>
  </p:normalViewPr>
  <p:slideViewPr>
    <p:cSldViewPr snapToGrid="0">
      <p:cViewPr varScale="1">
        <p:scale>
          <a:sx n="72" d="100"/>
          <a:sy n="72" d="100"/>
        </p:scale>
        <p:origin x="1272" y="56"/>
      </p:cViewPr>
      <p:guideLst>
        <p:guide pos="2880"/>
        <p:guide orient="horz" pos="3297"/>
        <p:guide pos="4127"/>
        <p:guide pos="476"/>
        <p:guide orient="horz" pos="1392"/>
        <p:guide pos="5261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960438" y="1143000"/>
            <a:ext cx="493712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" name="Google Shape;27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" name="Google Shape;40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3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" name="Google Shape;47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4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2" name="Google Shape;132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16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2d361c19c8b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g2d361c19c8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5" name="Google Shape;165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s-PE" sz="1200"/>
              <a:t>The data that should be tracked for a project include: Test cases designed (e.g., planned vs. actual) </a:t>
            </a:r>
            <a:endParaRPr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s-PE" sz="1200"/>
              <a:t>Defect metrics (e.g., by status, by severity/priority, by area, trending, convergence, resolution turnaround, re-open rate, rejection rate) </a:t>
            </a:r>
            <a:endParaRPr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s-PE" sz="1200"/>
              <a:t>Test execution metrics (e.g., by status, automated vs. manual, execution rates, convergence, planned vs. actual, number of test passes) </a:t>
            </a:r>
            <a:endParaRPr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s-PE" sz="1200"/>
              <a:t>Coverage metrics (e.g., code, requirements, risks) </a:t>
            </a:r>
            <a:endParaRPr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s-PE" sz="1200"/>
              <a:t>Management metrics (e.g., resource hours, setup time, downtime incurred, planned vs. actual)</a:t>
            </a:r>
            <a:endParaRPr/>
          </a:p>
          <a:p>
            <a:pPr marL="285750" lvl="0" indent="-209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 sz="120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s-PE" sz="1200"/>
              <a:t>Los datos que se deben rastrear para un proyecto incluyen: Casos de prueba diseñados (por ejemplo, planificados versus reales). </a:t>
            </a:r>
            <a:endParaRPr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s-PE" sz="1200"/>
              <a:t>Métricas de defectos (por ejemplo, por estado, por gravedad/prioridad, por área, tendencia, convergencia, respuesta a la resolución, tasa de reapertura, tasa de rechazo).</a:t>
            </a:r>
            <a:endParaRPr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s-PE" sz="1200"/>
              <a:t>Métricas de ejecución de pruebas (por ejemplo, por estado, automatizado vs. manual, tasas de ejecución, convergencia, planificada versus real, número de pases de prueba). </a:t>
            </a:r>
            <a:endParaRPr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s-PE" sz="1200"/>
              <a:t>Métricas de cobertura (por ejemplo, código, requisitos, riesgos). </a:t>
            </a:r>
            <a:endParaRPr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s-PE" sz="1200"/>
              <a:t>Métricas de gestión (por ejemplo, horas de recursos, tiempo de configuración, tiempo de inactividad incurrido, planificado versus real).</a:t>
            </a:r>
            <a:endParaRPr/>
          </a:p>
        </p:txBody>
      </p:sp>
      <p:sp>
        <p:nvSpPr>
          <p:cNvPr id="166" name="Google Shape;166;p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21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8" name="Google Shape;228;p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/>
              <a:t>Casos de pruebas diseñados</a:t>
            </a:r>
            <a:endParaRPr/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/>
              <a:t>Los datos que deben ser seguidos para un proyecto, incluyen: Los casos de prueba diseñados (por ejemplo, planeado vs. real).</a:t>
            </a:r>
            <a:endParaRPr/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/>
              <a:t>Métricas de defectos (por ejemplo, según la situación, según la gravedad / prioridad, por área, el tender, la convergencia, la resolución de cambio, tasa de reabierta, tasa de rechazo).</a:t>
            </a:r>
            <a:endParaRPr/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/>
              <a:t>Métricas de ejecución de pruebas (por ejemplo, por estatus y automatizadas vs. manual, las tasas de ejecución, la convergencia, frente a planificados real, número de pases de prueba).</a:t>
            </a:r>
            <a:endParaRPr/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/>
              <a:t>Métricas de cobertura (por ejemplo, código, requisitos, riesgos).</a:t>
            </a:r>
            <a:endParaRPr/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/>
              <a:t>Los parámetros de gestión (por ejemplo, horas de recursos, el tiempo de preparación, tiempo de inactividad incurrido, planeado vs. real).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p2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27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5" name="Google Shape;235;p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200" dirty="0"/>
              <a:t>Daily test design/execution status 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200" dirty="0"/>
              <a:t>Daily defect status 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200" dirty="0"/>
              <a:t>Weekly defect trending 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200" dirty="0"/>
              <a:t>Daily test environment reports and status 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200" dirty="0"/>
              <a:t>Resource availability 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36" name="Google Shape;236;p2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28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" name="Google Shape;272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2d361c19c8b_0_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" name="Google Shape;278;g2d361c19c8b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2d361c19c8b_0_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5" name="Google Shape;285;g2d361c19c8b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2d361c19c8b_0_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2" name="Google Shape;292;g2d361c19c8b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2d361c19c8b_0_4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g2d361c19c8b_0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2d361c19c8b_0_5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3" name="Google Shape;313;g2d361c19c8b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2d361c19c8b_0_6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6" name="Google Shape;326;g2d361c19c8b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2d361c19c8b_0_7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4" name="Google Shape;334;g2d361c19c8b_0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2d361c19c8b_0_7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4" name="Google Shape;344;g2d361c19c8b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2d361c19c8b_0_8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2" name="Google Shape;352;g2d361c19c8b_0_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2d361c19c8b_0_9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2" name="Google Shape;362;g2d361c19c8b_0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2d361c19c8b_0_10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0" name="Google Shape;370;g2d361c19c8b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2d361c19c8b_0_1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0" name="Google Shape;380;g2d361c19c8b_0_1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8" name="Google Shape;388;p4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9" name="Google Shape;389;p4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46</a:t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6" name="Google Shape;396;p4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7" name="Google Shape;397;p4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47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Diapositiva de título">
  <p:cSld name="1_Diapositiva de título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emf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>
            <a:extLst>
              <a:ext uri="{FF2B5EF4-FFF2-40B4-BE49-F238E27FC236}">
                <a16:creationId xmlns:a16="http://schemas.microsoft.com/office/drawing/2014/main" id="{EDF970FC-BFD0-074D-A7C1-045245E2BF05}"/>
              </a:ext>
            </a:extLst>
          </p:cNvPr>
          <p:cNvSpPr/>
          <p:nvPr userDrawn="1"/>
        </p:nvSpPr>
        <p:spPr>
          <a:xfrm>
            <a:off x="7204422" y="5371562"/>
            <a:ext cx="1544012" cy="184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ES_tradnl" sz="600" dirty="0">
                <a:solidFill>
                  <a:schemeClr val="bg1">
                    <a:lumMod val="50000"/>
                  </a:schemeClr>
                </a:solidFill>
              </a:rPr>
              <a:t>© ISIL. Todos los derechos reservados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45488323-17BD-5B4F-8500-D7B28E5F7E7E}"/>
              </a:ext>
            </a:extLst>
          </p:cNvPr>
          <p:cNvSpPr txBox="1"/>
          <p:nvPr userDrawn="1"/>
        </p:nvSpPr>
        <p:spPr>
          <a:xfrm>
            <a:off x="876300" y="5343295"/>
            <a:ext cx="216437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kern="1200" baseline="0" dirty="0">
                <a:solidFill>
                  <a:schemeClr val="bg1">
                    <a:lumMod val="50000"/>
                  </a:schemeClr>
                </a:solidFill>
                <a:latin typeface="Calibri"/>
                <a:ea typeface="+mn-ea"/>
                <a:cs typeface="Calibri"/>
                <a:sym typeface="Wingdings"/>
              </a:rPr>
              <a:t>CALIDAD Y PRUEBAS DE SOFTWARE  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  <a:latin typeface="Calibri"/>
                <a:ea typeface="Wingdings"/>
                <a:cs typeface="Calibri"/>
                <a:sym typeface="Wingdings"/>
              </a:rPr>
              <a:t></a:t>
            </a:r>
            <a:r>
              <a:rPr lang="en-US" sz="800" kern="1200" dirty="0">
                <a:solidFill>
                  <a:schemeClr val="bg1">
                    <a:lumMod val="50000"/>
                  </a:schemeClr>
                </a:solidFill>
                <a:latin typeface="Calibri"/>
                <a:ea typeface="+mn-ea"/>
                <a:cs typeface="Calibri"/>
                <a:sym typeface="Wingdings"/>
              </a:rPr>
              <a:t>  TEMA 12</a:t>
            </a:r>
            <a:endParaRPr lang="en-US" sz="800" dirty="0">
              <a:solidFill>
                <a:schemeClr val="bg1">
                  <a:lumMod val="50000"/>
                </a:schemeClr>
              </a:solidFill>
              <a:latin typeface="Calibri"/>
              <a:cs typeface="Calibri"/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2D840BB2-9682-6245-8990-56FA13AB957C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6316" y="5349405"/>
            <a:ext cx="369984" cy="206823"/>
          </a:xfrm>
          <a:prstGeom prst="rect">
            <a:avLst/>
          </a:prstGeom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2880" userDrawn="1">
          <p15:clr>
            <a:srgbClr val="F26B43"/>
          </p15:clr>
        </p15:guide>
        <p15:guide id="2" orient="horz" pos="1800" userDrawn="1">
          <p15:clr>
            <a:srgbClr val="F26B43"/>
          </p15:clr>
        </p15:guide>
        <p15:guide id="3" pos="2767" userDrawn="1">
          <p15:clr>
            <a:srgbClr val="F26B43"/>
          </p15:clr>
        </p15:guide>
        <p15:guide id="4" pos="2993" userDrawn="1">
          <p15:clr>
            <a:srgbClr val="F26B43"/>
          </p15:clr>
        </p15:guide>
        <p15:guide id="5" pos="295" userDrawn="1">
          <p15:clr>
            <a:srgbClr val="F26B43"/>
          </p15:clr>
        </p15:guide>
        <p15:guide id="6" pos="431" userDrawn="1">
          <p15:clr>
            <a:srgbClr val="F26B43"/>
          </p15:clr>
        </p15:guide>
        <p15:guide id="7" pos="5465" userDrawn="1">
          <p15:clr>
            <a:srgbClr val="F26B43"/>
          </p15:clr>
        </p15:guide>
        <p15:guide id="8" orient="horz" pos="303" userDrawn="1">
          <p15:clr>
            <a:srgbClr val="F26B43"/>
          </p15:clr>
        </p15:guide>
        <p15:guide id="9" orient="horz" pos="575" userDrawn="1">
          <p15:clr>
            <a:srgbClr val="F26B43"/>
          </p15:clr>
        </p15:guide>
        <p15:guide id="10" orient="horz" pos="3297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tiff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5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5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>
            <a:extLst>
              <a:ext uri="{FF2B5EF4-FFF2-40B4-BE49-F238E27FC236}">
                <a16:creationId xmlns:a16="http://schemas.microsoft.com/office/drawing/2014/main" id="{6F22A159-3947-8D4A-9622-FE3BC13FACB1}"/>
              </a:ext>
            </a:extLst>
          </p:cNvPr>
          <p:cNvSpPr/>
          <p:nvPr/>
        </p:nvSpPr>
        <p:spPr>
          <a:xfrm>
            <a:off x="182879" y="5120640"/>
            <a:ext cx="4304965" cy="4620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A95F631D-39F9-1843-9865-C9E4459600F8}"/>
              </a:ext>
            </a:extLst>
          </p:cNvPr>
          <p:cNvSpPr txBox="1"/>
          <p:nvPr/>
        </p:nvSpPr>
        <p:spPr>
          <a:xfrm>
            <a:off x="503238" y="808689"/>
            <a:ext cx="3104743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s-ES_tradnl" sz="900" b="1" dirty="0">
                <a:solidFill>
                  <a:srgbClr val="6C6D6C"/>
                </a:solidFill>
                <a:latin typeface="Calibri" charset="0"/>
                <a:cs typeface="Calibri" charset="0"/>
              </a:rPr>
              <a:t>CALIDAD Y PRUEBAS DE SOFTWARE</a:t>
            </a: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05C0F704-1B65-794B-B36F-B6E68861746F}"/>
              </a:ext>
            </a:extLst>
          </p:cNvPr>
          <p:cNvSpPr/>
          <p:nvPr/>
        </p:nvSpPr>
        <p:spPr>
          <a:xfrm>
            <a:off x="503239" y="2177570"/>
            <a:ext cx="3056852" cy="8863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lnSpc>
                <a:spcPct val="90000"/>
              </a:lnSpc>
            </a:pPr>
            <a:r>
              <a:rPr lang="es-PE" sz="3200" dirty="0">
                <a:latin typeface="Graphik-Medium" charset="0"/>
                <a:ea typeface="Graphik-Medium" charset="0"/>
                <a:cs typeface="Graphik-Medium" charset="0"/>
              </a:rPr>
              <a:t>GESTIÓN DE </a:t>
            </a:r>
            <a:br>
              <a:rPr lang="es-PE" sz="3200" dirty="0">
                <a:latin typeface="Graphik-Medium" charset="0"/>
                <a:ea typeface="Graphik-Medium" charset="0"/>
                <a:cs typeface="Graphik-Medium" charset="0"/>
              </a:rPr>
            </a:br>
            <a:r>
              <a:rPr lang="es-PE" sz="3200" b="1" dirty="0">
                <a:latin typeface="Graphik Bold" charset="0"/>
                <a:ea typeface="Graphik Bold" charset="0"/>
                <a:cs typeface="Graphik Bold" charset="0"/>
              </a:rPr>
              <a:t>PRUEBAS 1</a:t>
            </a: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578C3328-374D-D141-B728-C033455EF069}"/>
              </a:ext>
            </a:extLst>
          </p:cNvPr>
          <p:cNvSpPr/>
          <p:nvPr/>
        </p:nvSpPr>
        <p:spPr>
          <a:xfrm>
            <a:off x="503238" y="3219842"/>
            <a:ext cx="2845526" cy="4208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77800" lvl="0" indent="-177800">
              <a:lnSpc>
                <a:spcPct val="120000"/>
              </a:lnSpc>
              <a:buClr>
                <a:srgbClr val="4E697E"/>
              </a:buClr>
              <a:buSzPct val="100000"/>
              <a:buFont typeface="Arial"/>
              <a:buChar char="•"/>
            </a:pPr>
            <a:r>
              <a:rPr lang="es-PE" sz="1200" dirty="0">
                <a:latin typeface="Graphik-Medium" charset="0"/>
                <a:sym typeface="Calibri"/>
              </a:rPr>
              <a:t>Ejecución de pruebas</a:t>
            </a:r>
          </a:p>
          <a:p>
            <a:pPr marL="177800" indent="-177800">
              <a:lnSpc>
                <a:spcPct val="120000"/>
              </a:lnSpc>
              <a:buClr>
                <a:srgbClr val="4E697E"/>
              </a:buClr>
              <a:buSzPct val="100000"/>
              <a:buFont typeface="Arial"/>
              <a:buChar char="•"/>
            </a:pPr>
            <a:r>
              <a:rPr lang="es-PE" sz="1200" dirty="0">
                <a:latin typeface="Graphik-Medium" charset="0"/>
                <a:sym typeface="Calibri"/>
              </a:rPr>
              <a:t>Seguimiento de pruebas</a:t>
            </a:r>
            <a:endParaRPr lang="es-PE" sz="1200" dirty="0">
              <a:latin typeface="Graphik-Medium" charset="0"/>
            </a:endParaRP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848CE9BD-2B56-F242-A067-465D29D5C928}"/>
              </a:ext>
            </a:extLst>
          </p:cNvPr>
          <p:cNvSpPr txBox="1"/>
          <p:nvPr/>
        </p:nvSpPr>
        <p:spPr>
          <a:xfrm>
            <a:off x="743902" y="1819386"/>
            <a:ext cx="1457648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s-ES_tradnl" sz="2000" b="1" dirty="0">
                <a:solidFill>
                  <a:srgbClr val="4E697E"/>
                </a:solidFill>
                <a:latin typeface="Calibri" charset="0"/>
                <a:ea typeface="Calibri" charset="0"/>
                <a:cs typeface="Calibri" charset="0"/>
              </a:rPr>
              <a:t>TEMA 12</a:t>
            </a:r>
          </a:p>
        </p:txBody>
      </p:sp>
      <p:pic>
        <p:nvPicPr>
          <p:cNvPr id="28" name="Imagen 27">
            <a:extLst>
              <a:ext uri="{FF2B5EF4-FFF2-40B4-BE49-F238E27FC236}">
                <a16:creationId xmlns:a16="http://schemas.microsoft.com/office/drawing/2014/main" id="{D386AC47-1A14-3A46-979B-E7CB22A159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464" y="1883411"/>
            <a:ext cx="166865" cy="170453"/>
          </a:xfrm>
          <a:prstGeom prst="rect">
            <a:avLst/>
          </a:prstGeom>
        </p:spPr>
      </p:pic>
      <p:pic>
        <p:nvPicPr>
          <p:cNvPr id="29" name="Imagen 28">
            <a:extLst>
              <a:ext uri="{FF2B5EF4-FFF2-40B4-BE49-F238E27FC236}">
                <a16:creationId xmlns:a16="http://schemas.microsoft.com/office/drawing/2014/main" id="{482B3F65-4487-4843-AC8F-82064B45D9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2850" y="0"/>
            <a:ext cx="539115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DDA5B066-8F53-9D49-BFEB-46FC3F1A7676}"/>
              </a:ext>
            </a:extLst>
          </p:cNvPr>
          <p:cNvSpPr/>
          <p:nvPr/>
        </p:nvSpPr>
        <p:spPr>
          <a:xfrm>
            <a:off x="0" y="1"/>
            <a:ext cx="9144000" cy="5715000"/>
          </a:xfrm>
          <a:prstGeom prst="rect">
            <a:avLst/>
          </a:prstGeom>
          <a:solidFill>
            <a:srgbClr val="ED43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4D18950F-485F-294F-AB20-56ACCD591A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946969"/>
            <a:ext cx="2072213" cy="3898064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DB1D3229-6DC3-0B4B-BB86-4004120193C9}"/>
              </a:ext>
            </a:extLst>
          </p:cNvPr>
          <p:cNvSpPr/>
          <p:nvPr/>
        </p:nvSpPr>
        <p:spPr>
          <a:xfrm>
            <a:off x="149817" y="3724759"/>
            <a:ext cx="1037633" cy="1069383"/>
          </a:xfrm>
          <a:prstGeom prst="rect">
            <a:avLst/>
          </a:prstGeom>
          <a:solidFill>
            <a:srgbClr val="ED43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EA487D53-1F9D-BA45-88C6-2516BFD65C2E}"/>
              </a:ext>
            </a:extLst>
          </p:cNvPr>
          <p:cNvSpPr txBox="1"/>
          <p:nvPr/>
        </p:nvSpPr>
        <p:spPr>
          <a:xfrm>
            <a:off x="2519363" y="2540738"/>
            <a:ext cx="4581728" cy="8125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80000"/>
              </a:lnSpc>
            </a:pPr>
            <a:r>
              <a:rPr lang="es-ES_tradnl" sz="3300" dirty="0">
                <a:solidFill>
                  <a:schemeClr val="bg1"/>
                </a:solidFill>
                <a:latin typeface="Graphik Regular" charset="0"/>
                <a:ea typeface="Graphik Regular" charset="0"/>
                <a:cs typeface="Graphik Regular" charset="0"/>
              </a:rPr>
              <a:t>INTRODUCCIÓN</a:t>
            </a:r>
          </a:p>
          <a:p>
            <a:pPr>
              <a:lnSpc>
                <a:spcPct val="80000"/>
              </a:lnSpc>
            </a:pPr>
            <a:r>
              <a:rPr lang="es-ES_tradnl" sz="3300" b="1" dirty="0">
                <a:solidFill>
                  <a:schemeClr val="bg1"/>
                </a:solidFill>
                <a:latin typeface="Graphik Bold" charset="0"/>
                <a:ea typeface="Graphik Bold" charset="0"/>
                <a:cs typeface="Graphik Bold" charset="0"/>
              </a:rPr>
              <a:t>DE LA SESIÓN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3F5BAF5A-82B3-3D4C-97A0-71865D110AE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6000"/>
          </a:blip>
          <a:stretch>
            <a:fillRect/>
          </a:stretch>
        </p:blipFill>
        <p:spPr>
          <a:xfrm>
            <a:off x="334433" y="3817749"/>
            <a:ext cx="809264" cy="809264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42081D02-2D50-A741-A367-76F3954882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28619" y="2194222"/>
            <a:ext cx="202176" cy="208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46310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214BF735-2A98-8D4A-8CB0-0770FA1211F0}"/>
              </a:ext>
            </a:extLst>
          </p:cNvPr>
          <p:cNvSpPr/>
          <p:nvPr/>
        </p:nvSpPr>
        <p:spPr>
          <a:xfrm>
            <a:off x="6918960" y="5364480"/>
            <a:ext cx="2133600" cy="2244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sp>
        <p:nvSpPr>
          <p:cNvPr id="5" name="object 7">
            <a:extLst>
              <a:ext uri="{FF2B5EF4-FFF2-40B4-BE49-F238E27FC236}">
                <a16:creationId xmlns:a16="http://schemas.microsoft.com/office/drawing/2014/main" id="{534DD775-B6DF-8449-B17C-050AAE3B1E2F}"/>
              </a:ext>
            </a:extLst>
          </p:cNvPr>
          <p:cNvSpPr txBox="1"/>
          <p:nvPr/>
        </p:nvSpPr>
        <p:spPr>
          <a:xfrm>
            <a:off x="1282299" y="918372"/>
            <a:ext cx="5200798" cy="6463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725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Durante esta sesión:</a:t>
            </a:r>
            <a:endParaRPr lang="es-PE" dirty="0">
              <a:solidFill>
                <a:schemeClr val="tx1"/>
              </a:solidFill>
            </a:endParaRPr>
          </a:p>
          <a:p>
            <a:pPr marL="177800" lvl="1" indent="-165100">
              <a:buClr>
                <a:srgbClr val="EE4639"/>
              </a:buClr>
              <a:buSzPct val="100000"/>
              <a:buFont typeface="Arial" charset="0"/>
              <a:buChar char="•"/>
              <a:tabLst>
                <a:tab pos="120650" algn="l"/>
              </a:tabLst>
            </a:pPr>
            <a:r>
              <a:rPr lang="es-PE" b="1" spc="-10" dirty="0">
                <a:solidFill>
                  <a:schemeClr val="tx1"/>
                </a:solidFill>
                <a:latin typeface="Calibri" charset="0"/>
                <a:cs typeface="Calibri" charset="0"/>
                <a:sym typeface="Calibri"/>
              </a:rPr>
              <a:t>Aplicarás</a:t>
            </a:r>
            <a:r>
              <a:rPr lang="es-PE" spc="-10" dirty="0">
                <a:solidFill>
                  <a:schemeClr val="tx1"/>
                </a:solidFill>
                <a:latin typeface="Calibri" charset="0"/>
                <a:cs typeface="Calibri" charset="0"/>
                <a:sym typeface="Calibri"/>
              </a:rPr>
              <a:t> el procedimiento para la gestión de las pruebas de software elaborando informes detallados sobre los resultados.</a:t>
            </a:r>
            <a:endParaRPr lang="es-PE" spc="-10" dirty="0">
              <a:solidFill>
                <a:schemeClr val="tx1"/>
              </a:solidFill>
              <a:latin typeface="Calibri" charset="0"/>
              <a:cs typeface="Calibri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709EF857-5691-1B49-98B2-EC6AB3CBF9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839" y="954885"/>
            <a:ext cx="117851" cy="121369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2F933AE4-ABCC-F94C-8AC4-77F145B38FD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4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6661" y="3052731"/>
            <a:ext cx="1689027" cy="2181257"/>
          </a:xfrm>
          <a:prstGeom prst="rect">
            <a:avLst/>
          </a:prstGeom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BAC94497-F52C-9D4C-8092-E35831155968}"/>
              </a:ext>
            </a:extLst>
          </p:cNvPr>
          <p:cNvSpPr/>
          <p:nvPr/>
        </p:nvSpPr>
        <p:spPr>
          <a:xfrm>
            <a:off x="301556" y="5321030"/>
            <a:ext cx="8453337" cy="2918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FA7952F3-E876-8049-9DF2-69045340A8F9}"/>
              </a:ext>
            </a:extLst>
          </p:cNvPr>
          <p:cNvSpPr/>
          <p:nvPr/>
        </p:nvSpPr>
        <p:spPr>
          <a:xfrm>
            <a:off x="503238" y="376836"/>
            <a:ext cx="2430462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charset="0"/>
                <a:ea typeface="Calibri" charset="0"/>
                <a:cs typeface="Calibri" charset="0"/>
              </a:rPr>
              <a:t>INTRODUCCIÓN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3170EFBF-3499-584C-89BA-257596419EA6}"/>
              </a:ext>
            </a:extLst>
          </p:cNvPr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8087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2AFD24C-64BB-2248-B46D-ED653012FBF8}"/>
              </a:ext>
            </a:extLst>
          </p:cNvPr>
          <p:cNvSpPr txBox="1"/>
          <p:nvPr/>
        </p:nvSpPr>
        <p:spPr>
          <a:xfrm>
            <a:off x="1008063" y="3169972"/>
            <a:ext cx="5993558" cy="7755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2800" dirty="0">
                <a:solidFill>
                  <a:schemeClr val="bg1"/>
                </a:solidFill>
                <a:latin typeface="Graphik Regular" charset="0"/>
                <a:ea typeface="Graphik Regular" charset="0"/>
                <a:cs typeface="Graphik Regular" charset="0"/>
              </a:rPr>
              <a:t>EJECUCIÓN</a:t>
            </a:r>
            <a:br>
              <a:rPr lang="es-PE" sz="2800" b="1" dirty="0">
                <a:solidFill>
                  <a:schemeClr val="bg1"/>
                </a:solidFill>
                <a:latin typeface="Calibri"/>
                <a:cs typeface="Calibri"/>
              </a:rPr>
            </a:br>
            <a:r>
              <a:rPr lang="es-PE" sz="2800" b="1" dirty="0">
                <a:solidFill>
                  <a:schemeClr val="bg1"/>
                </a:solidFill>
                <a:latin typeface="Graphik Bold" charset="0"/>
                <a:ea typeface="Graphik Bold" charset="0"/>
                <a:cs typeface="Graphik Bold" charset="0"/>
              </a:rPr>
              <a:t>DE PRUEBAS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113F3BCC-21A8-C74A-BB26-06070FE7A7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063" y="2869612"/>
            <a:ext cx="195423" cy="20125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>
            <a:extLst>
              <a:ext uri="{FF2B5EF4-FFF2-40B4-BE49-F238E27FC236}">
                <a16:creationId xmlns:a16="http://schemas.microsoft.com/office/drawing/2014/main" id="{3B27CAF5-0738-5746-A7A6-AD416FDB3D1B}"/>
              </a:ext>
            </a:extLst>
          </p:cNvPr>
          <p:cNvSpPr/>
          <p:nvPr/>
        </p:nvSpPr>
        <p:spPr>
          <a:xfrm>
            <a:off x="503238" y="376232"/>
            <a:ext cx="3300666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/>
              </a:rPr>
              <a:t>EJECUCIÓN DE PRUEBAS</a:t>
            </a:r>
            <a:endParaRPr lang="es-PE" sz="1000" dirty="0">
              <a:solidFill>
                <a:schemeClr val="bg1">
                  <a:lumMod val="6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7944321D-82E0-3749-92B9-AF381BCE88C8}"/>
              </a:ext>
            </a:extLst>
          </p:cNvPr>
          <p:cNvSpPr/>
          <p:nvPr/>
        </p:nvSpPr>
        <p:spPr>
          <a:xfrm>
            <a:off x="503237" y="916472"/>
            <a:ext cx="7134252" cy="11233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buSzPts val="1600"/>
            </a:pPr>
            <a:r>
              <a:rPr lang="es-ES" sz="2000" b="1" dirty="0">
                <a:solidFill>
                  <a:srgbClr val="EE4639"/>
                </a:solidFill>
                <a:latin typeface="Graphik Bold" panose="020B0503030202060203" pitchFamily="34" charset="77"/>
                <a:cs typeface="Calibri" charset="0"/>
              </a:rPr>
              <a:t>+ 01.</a:t>
            </a:r>
            <a:br>
              <a:rPr lang="es-ES" sz="1600" b="1" dirty="0">
                <a:solidFill>
                  <a:srgbClr val="EE4639"/>
                </a:solidFill>
                <a:latin typeface="Calibri" charset="0"/>
                <a:cs typeface="Calibri" charset="0"/>
              </a:rPr>
            </a:br>
            <a:r>
              <a:rPr lang="es-PE" sz="1600" b="1" dirty="0">
                <a:solidFill>
                  <a:srgbClr val="EE4639"/>
                </a:solidFill>
                <a:latin typeface="Calibri" charset="0"/>
                <a:cs typeface="Calibri" charset="0"/>
                <a:sym typeface="Calibri"/>
              </a:rPr>
              <a:t>IMPLEMENTACIÓN DE LAS PRUEBAS</a:t>
            </a:r>
            <a:endParaRPr lang="es-PE" sz="1600" b="1" dirty="0">
              <a:solidFill>
                <a:srgbClr val="EE4639"/>
              </a:solidFill>
              <a:latin typeface="Calibri" charset="0"/>
              <a:cs typeface="Calibri" charset="0"/>
            </a:endParaRPr>
          </a:p>
          <a:p>
            <a:pPr marL="177800" marR="0" lvl="0" indent="-163513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PE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Contiene las tareas necesarias para permitir que comience la ejecución de los casos de prueba: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995E6FFF-FFF3-3D47-A3B3-8BEABAE05B97}"/>
              </a:ext>
            </a:extLst>
          </p:cNvPr>
          <p:cNvSpPr/>
          <p:nvPr/>
        </p:nvSpPr>
        <p:spPr>
          <a:xfrm>
            <a:off x="974956" y="2161428"/>
            <a:ext cx="6062924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R="0" lvl="1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</a:pPr>
            <a:r>
              <a:rPr lang="es-PE" sz="1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Organizar casos de prueba en procedimientos de prueba (guiones de prueba o scripts de prueba).</a:t>
            </a:r>
            <a:endParaRPr lang="es-PE" dirty="0"/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265061F0-D65D-C94D-B9D6-A5B4914B5F62}"/>
              </a:ext>
            </a:extLst>
          </p:cNvPr>
          <p:cNvCxnSpPr>
            <a:cxnSpLocks/>
          </p:cNvCxnSpPr>
          <p:nvPr/>
        </p:nvCxnSpPr>
        <p:spPr>
          <a:xfrm>
            <a:off x="760555" y="2364298"/>
            <a:ext cx="0" cy="393892"/>
          </a:xfrm>
          <a:prstGeom prst="line">
            <a:avLst/>
          </a:prstGeom>
          <a:ln w="12700">
            <a:solidFill>
              <a:srgbClr val="EE463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ángulo 9">
            <a:extLst>
              <a:ext uri="{FF2B5EF4-FFF2-40B4-BE49-F238E27FC236}">
                <a16:creationId xmlns:a16="http://schemas.microsoft.com/office/drawing/2014/main" id="{67429B70-E445-0A4A-9BA0-9103270E4988}"/>
              </a:ext>
            </a:extLst>
          </p:cNvPr>
          <p:cNvSpPr/>
          <p:nvPr/>
        </p:nvSpPr>
        <p:spPr>
          <a:xfrm>
            <a:off x="974956" y="2769338"/>
            <a:ext cx="6662531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R="0" lvl="1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</a:pPr>
            <a:r>
              <a:rPr lang="es-PE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Obtener los Datos de Prueba (uso de generadores de datos o datos de producción).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8CBC732D-4788-6540-9083-41D6684F4868}"/>
              </a:ext>
            </a:extLst>
          </p:cNvPr>
          <p:cNvSpPr/>
          <p:nvPr/>
        </p:nvSpPr>
        <p:spPr>
          <a:xfrm>
            <a:off x="974956" y="3287246"/>
            <a:ext cx="4186619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R="0" lvl="1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</a:pPr>
            <a:r>
              <a:rPr lang="es-PE" sz="1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Configuración del Ambiente de Pruebas.</a:t>
            </a:r>
            <a:endParaRPr lang="es-PE" dirty="0"/>
          </a:p>
        </p:txBody>
      </p:sp>
      <p:sp>
        <p:nvSpPr>
          <p:cNvPr id="12" name="Más 11">
            <a:extLst>
              <a:ext uri="{FF2B5EF4-FFF2-40B4-BE49-F238E27FC236}">
                <a16:creationId xmlns:a16="http://schemas.microsoft.com/office/drawing/2014/main" id="{CDF03B12-A686-104E-973D-47AEF74AB9F5}"/>
              </a:ext>
            </a:extLst>
          </p:cNvPr>
          <p:cNvSpPr/>
          <p:nvPr/>
        </p:nvSpPr>
        <p:spPr>
          <a:xfrm>
            <a:off x="684213" y="2171200"/>
            <a:ext cx="152683" cy="152683"/>
          </a:xfrm>
          <a:prstGeom prst="mathPlus">
            <a:avLst>
              <a:gd name="adj1" fmla="val 15202"/>
            </a:avLst>
          </a:prstGeom>
          <a:solidFill>
            <a:srgbClr val="EE46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E00D02D4-46E9-A34B-8ECF-4A6135B817AC}"/>
              </a:ext>
            </a:extLst>
          </p:cNvPr>
          <p:cNvCxnSpPr>
            <a:cxnSpLocks/>
          </p:cNvCxnSpPr>
          <p:nvPr/>
        </p:nvCxnSpPr>
        <p:spPr>
          <a:xfrm>
            <a:off x="760555" y="2962975"/>
            <a:ext cx="0" cy="312376"/>
          </a:xfrm>
          <a:prstGeom prst="line">
            <a:avLst/>
          </a:prstGeom>
          <a:ln w="12700">
            <a:solidFill>
              <a:srgbClr val="EE463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Más 13">
            <a:extLst>
              <a:ext uri="{FF2B5EF4-FFF2-40B4-BE49-F238E27FC236}">
                <a16:creationId xmlns:a16="http://schemas.microsoft.com/office/drawing/2014/main" id="{22A2B391-94A3-DC4B-A270-4EE76E7A553C}"/>
              </a:ext>
            </a:extLst>
          </p:cNvPr>
          <p:cNvSpPr/>
          <p:nvPr/>
        </p:nvSpPr>
        <p:spPr>
          <a:xfrm>
            <a:off x="684213" y="2780226"/>
            <a:ext cx="152683" cy="152683"/>
          </a:xfrm>
          <a:prstGeom prst="mathPlus">
            <a:avLst>
              <a:gd name="adj1" fmla="val 15202"/>
            </a:avLst>
          </a:prstGeom>
          <a:solidFill>
            <a:srgbClr val="EE46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sp>
        <p:nvSpPr>
          <p:cNvPr id="15" name="Más 14">
            <a:extLst>
              <a:ext uri="{FF2B5EF4-FFF2-40B4-BE49-F238E27FC236}">
                <a16:creationId xmlns:a16="http://schemas.microsoft.com/office/drawing/2014/main" id="{23465169-5C29-9A4F-B587-7D815831E2B4}"/>
              </a:ext>
            </a:extLst>
          </p:cNvPr>
          <p:cNvSpPr/>
          <p:nvPr/>
        </p:nvSpPr>
        <p:spPr>
          <a:xfrm>
            <a:off x="684213" y="3287246"/>
            <a:ext cx="152683" cy="152683"/>
          </a:xfrm>
          <a:prstGeom prst="mathPlus">
            <a:avLst>
              <a:gd name="adj1" fmla="val 15202"/>
            </a:avLst>
          </a:prstGeom>
          <a:solidFill>
            <a:srgbClr val="EE46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5ECE4CB3-F6C8-9440-8FBE-258A2FF107F5}"/>
              </a:ext>
            </a:extLst>
          </p:cNvPr>
          <p:cNvSpPr/>
          <p:nvPr/>
        </p:nvSpPr>
        <p:spPr>
          <a:xfrm>
            <a:off x="974956" y="3781921"/>
            <a:ext cx="6595077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R="0" lvl="1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</a:pPr>
            <a:r>
              <a:rPr lang="es-PE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Definir quién ejecutará las pruebas, en qué orden se ejecutarán, qué ambientes son necesarios para las pruebas. </a:t>
            </a:r>
            <a:endParaRPr lang="es-PE" dirty="0"/>
          </a:p>
        </p:txBody>
      </p: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63C222B7-79BE-3B46-AD24-5B4397BA92C0}"/>
              </a:ext>
            </a:extLst>
          </p:cNvPr>
          <p:cNvCxnSpPr>
            <a:cxnSpLocks/>
          </p:cNvCxnSpPr>
          <p:nvPr/>
        </p:nvCxnSpPr>
        <p:spPr>
          <a:xfrm>
            <a:off x="760555" y="3457650"/>
            <a:ext cx="0" cy="312376"/>
          </a:xfrm>
          <a:prstGeom prst="line">
            <a:avLst/>
          </a:prstGeom>
          <a:ln w="12700">
            <a:solidFill>
              <a:srgbClr val="EE463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Más 20">
            <a:extLst>
              <a:ext uri="{FF2B5EF4-FFF2-40B4-BE49-F238E27FC236}">
                <a16:creationId xmlns:a16="http://schemas.microsoft.com/office/drawing/2014/main" id="{D4AD912A-4D42-9E49-B92A-1D9BB960D7E2}"/>
              </a:ext>
            </a:extLst>
          </p:cNvPr>
          <p:cNvSpPr/>
          <p:nvPr/>
        </p:nvSpPr>
        <p:spPr>
          <a:xfrm>
            <a:off x="684213" y="3781921"/>
            <a:ext cx="152683" cy="152683"/>
          </a:xfrm>
          <a:prstGeom prst="mathPlus">
            <a:avLst>
              <a:gd name="adj1" fmla="val 15202"/>
            </a:avLst>
          </a:prstGeom>
          <a:solidFill>
            <a:srgbClr val="EE46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5"/>
          <p:cNvSpPr/>
          <p:nvPr/>
        </p:nvSpPr>
        <p:spPr>
          <a:xfrm>
            <a:off x="510694" y="2273951"/>
            <a:ext cx="8164994" cy="1615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77800" marR="0" lvl="1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s-PE" sz="15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Identificar quién va a ejecutar el procedimiento de pruebas, cuándo, en qué ambiente, con qué datos.</a:t>
            </a:r>
            <a:endParaRPr sz="1500" dirty="0"/>
          </a:p>
          <a:p>
            <a:pPr marL="177800" marR="0" lvl="1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endParaRPr sz="1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7800" marR="0" lvl="1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s-PE" sz="15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Identificar el orden de los procedimientos de prueba (test suites).</a:t>
            </a:r>
            <a:endParaRPr sz="1500" dirty="0"/>
          </a:p>
          <a:p>
            <a:pPr marL="177800" marR="0" lvl="1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endParaRPr sz="1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7800" marR="0" lvl="1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s-PE" sz="15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Identificar las dependencias entre los procedimientos de prueba.</a:t>
            </a:r>
            <a:endParaRPr sz="1500" dirty="0"/>
          </a:p>
          <a:p>
            <a:pPr marL="312738" marR="0" lvl="2" indent="-134938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s-PE" sz="15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Ambiente de Prueba: ¿Estará disponible durante las pruebas? ¿No interfiere con otras pruebas?</a:t>
            </a:r>
            <a:endParaRPr sz="1500" dirty="0"/>
          </a:p>
          <a:p>
            <a:pPr marL="312738" marR="0" lvl="2" indent="-134938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s-PE" sz="15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Datos de Prueba: ¿Qué datos se requiere? ¿Estará disponible sin interferir con otras pruebas?</a:t>
            </a:r>
            <a:endParaRPr sz="1500" dirty="0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E5A3095F-BD54-DB45-90A3-D20EEFE2D1EE}"/>
              </a:ext>
            </a:extLst>
          </p:cNvPr>
          <p:cNvSpPr/>
          <p:nvPr/>
        </p:nvSpPr>
        <p:spPr>
          <a:xfrm>
            <a:off x="503238" y="376232"/>
            <a:ext cx="3300666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/>
              </a:rPr>
              <a:t>EJECUCIÓN DE PRUEBAS</a:t>
            </a:r>
            <a:endParaRPr lang="es-PE" sz="1000" dirty="0">
              <a:solidFill>
                <a:schemeClr val="bg1">
                  <a:lumMod val="6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5" name="Grupo 4">
            <a:extLst>
              <a:ext uri="{FF2B5EF4-FFF2-40B4-BE49-F238E27FC236}">
                <a16:creationId xmlns:a16="http://schemas.microsoft.com/office/drawing/2014/main" id="{A035606F-0997-3243-B52D-316E6B4D8A55}"/>
              </a:ext>
            </a:extLst>
          </p:cNvPr>
          <p:cNvGrpSpPr/>
          <p:nvPr/>
        </p:nvGrpSpPr>
        <p:grpSpPr>
          <a:xfrm>
            <a:off x="326977" y="1674850"/>
            <a:ext cx="2843443" cy="394721"/>
            <a:chOff x="287221" y="917244"/>
            <a:chExt cx="3343359" cy="500394"/>
          </a:xfrm>
        </p:grpSpPr>
        <p:sp>
          <p:nvSpPr>
            <p:cNvPr id="6" name="Rectángulo redondeado 5">
              <a:extLst>
                <a:ext uri="{FF2B5EF4-FFF2-40B4-BE49-F238E27FC236}">
                  <a16:creationId xmlns:a16="http://schemas.microsoft.com/office/drawing/2014/main" id="{7019D4B7-3E46-554C-983F-B20D1E3735F7}"/>
                </a:ext>
              </a:extLst>
            </p:cNvPr>
            <p:cNvSpPr/>
            <p:nvPr/>
          </p:nvSpPr>
          <p:spPr>
            <a:xfrm>
              <a:off x="503238" y="917244"/>
              <a:ext cx="3127342" cy="500394"/>
            </a:xfrm>
            <a:prstGeom prst="roundRect">
              <a:avLst>
                <a:gd name="adj" fmla="val 24841"/>
              </a:avLst>
            </a:prstGeom>
            <a:solidFill>
              <a:srgbClr val="EE46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4762" lvl="0" algn="ctr">
                <a:buSzPts val="1600"/>
                <a:tabLst>
                  <a:tab pos="569913" algn="l"/>
                </a:tabLst>
              </a:pPr>
              <a:r>
                <a:rPr lang="es-PE" b="1" dirty="0">
                  <a:solidFill>
                    <a:schemeClr val="lt1"/>
                  </a:solidFill>
                  <a:latin typeface="Calibri" charset="0"/>
                  <a:cs typeface="Calibri" charset="0"/>
                  <a:sym typeface="Calibri"/>
                </a:rPr>
                <a:t>Procedimientos de Prueba</a:t>
              </a:r>
              <a:endParaRPr lang="es-PE" b="1" dirty="0">
                <a:solidFill>
                  <a:schemeClr val="lt1"/>
                </a:solidFill>
                <a:latin typeface="Calibri" charset="0"/>
                <a:cs typeface="Calibri" charset="0"/>
              </a:endParaRPr>
            </a:p>
          </p:txBody>
        </p:sp>
        <p:grpSp>
          <p:nvGrpSpPr>
            <p:cNvPr id="7" name="Agrupar 14">
              <a:extLst>
                <a:ext uri="{FF2B5EF4-FFF2-40B4-BE49-F238E27FC236}">
                  <a16:creationId xmlns:a16="http://schemas.microsoft.com/office/drawing/2014/main" id="{286D53BE-B9F7-A140-9065-1C982A7A3178}"/>
                </a:ext>
              </a:extLst>
            </p:cNvPr>
            <p:cNvGrpSpPr/>
            <p:nvPr/>
          </p:nvGrpSpPr>
          <p:grpSpPr>
            <a:xfrm>
              <a:off x="287221" y="965530"/>
              <a:ext cx="459474" cy="403823"/>
              <a:chOff x="5892512" y="2805541"/>
              <a:chExt cx="459474" cy="403823"/>
            </a:xfrm>
          </p:grpSpPr>
          <p:sp>
            <p:nvSpPr>
              <p:cNvPr id="8" name="Elipse 7">
                <a:extLst>
                  <a:ext uri="{FF2B5EF4-FFF2-40B4-BE49-F238E27FC236}">
                    <a16:creationId xmlns:a16="http://schemas.microsoft.com/office/drawing/2014/main" id="{D8BD0A38-2856-2343-A0E7-ED10900CE8DC}"/>
                  </a:ext>
                </a:extLst>
              </p:cNvPr>
              <p:cNvSpPr/>
              <p:nvPr/>
            </p:nvSpPr>
            <p:spPr>
              <a:xfrm>
                <a:off x="5956277" y="2824919"/>
                <a:ext cx="395709" cy="376075"/>
              </a:xfrm>
              <a:prstGeom prst="ellipse">
                <a:avLst/>
              </a:prstGeom>
              <a:solidFill>
                <a:srgbClr val="C73A3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_tradnl" sz="1300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9" name="Elipse 8">
                <a:extLst>
                  <a:ext uri="{FF2B5EF4-FFF2-40B4-BE49-F238E27FC236}">
                    <a16:creationId xmlns:a16="http://schemas.microsoft.com/office/drawing/2014/main" id="{89E8EB30-C5B8-794A-BB92-D50B177BFA25}"/>
                  </a:ext>
                </a:extLst>
              </p:cNvPr>
              <p:cNvSpPr/>
              <p:nvPr/>
            </p:nvSpPr>
            <p:spPr>
              <a:xfrm>
                <a:off x="5892512" y="2805541"/>
                <a:ext cx="424906" cy="40382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_tradnl" sz="1300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10" name="Triángulo 9">
                <a:extLst>
                  <a:ext uri="{FF2B5EF4-FFF2-40B4-BE49-F238E27FC236}">
                    <a16:creationId xmlns:a16="http://schemas.microsoft.com/office/drawing/2014/main" id="{199BCAF0-5BFA-9544-9D70-92C53EC9F6E7}"/>
                  </a:ext>
                </a:extLst>
              </p:cNvPr>
              <p:cNvSpPr/>
              <p:nvPr/>
            </p:nvSpPr>
            <p:spPr>
              <a:xfrm rot="5400000">
                <a:off x="6076285" y="2946262"/>
                <a:ext cx="186870" cy="122381"/>
              </a:xfrm>
              <a:prstGeom prst="triangle">
                <a:avLst/>
              </a:prstGeom>
              <a:solidFill>
                <a:srgbClr val="EE463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_tradnl" sz="1300" dirty="0">
                  <a:latin typeface="Calibri" panose="020F0502020204030204" pitchFamily="34" charset="0"/>
                </a:endParaRPr>
              </a:p>
            </p:txBody>
          </p:sp>
        </p:grpSp>
      </p:grpSp>
      <p:sp>
        <p:nvSpPr>
          <p:cNvPr id="11" name="Rectángulo 10">
            <a:extLst>
              <a:ext uri="{FF2B5EF4-FFF2-40B4-BE49-F238E27FC236}">
                <a16:creationId xmlns:a16="http://schemas.microsoft.com/office/drawing/2014/main" id="{975AF1F3-043E-7C46-A242-9F6FC944C1DD}"/>
              </a:ext>
            </a:extLst>
          </p:cNvPr>
          <p:cNvSpPr/>
          <p:nvPr/>
        </p:nvSpPr>
        <p:spPr>
          <a:xfrm>
            <a:off x="503237" y="916472"/>
            <a:ext cx="7134252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buSzPts val="1600"/>
            </a:pPr>
            <a:r>
              <a:rPr lang="es-ES" sz="2000" b="1" dirty="0">
                <a:solidFill>
                  <a:srgbClr val="EE4639"/>
                </a:solidFill>
                <a:latin typeface="Graphik Bold" panose="020B0503030202060203" pitchFamily="34" charset="77"/>
                <a:cs typeface="Calibri" charset="0"/>
              </a:rPr>
              <a:t>+ 01.</a:t>
            </a:r>
            <a:br>
              <a:rPr lang="es-ES" sz="1600" b="1" dirty="0">
                <a:solidFill>
                  <a:srgbClr val="EE4639"/>
                </a:solidFill>
                <a:latin typeface="Calibri" charset="0"/>
                <a:cs typeface="Calibri" charset="0"/>
              </a:rPr>
            </a:br>
            <a:r>
              <a:rPr lang="es-PE" sz="1600" b="1" dirty="0">
                <a:solidFill>
                  <a:srgbClr val="EE4639"/>
                </a:solidFill>
                <a:latin typeface="Calibri" charset="0"/>
                <a:cs typeface="Calibri" charset="0"/>
                <a:sym typeface="Calibri"/>
              </a:rPr>
              <a:t>IMPLEMENTACIÓN DE LAS PRUEBAS</a:t>
            </a:r>
            <a:endParaRPr lang="es-PE"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>
            <a:extLst>
              <a:ext uri="{FF2B5EF4-FFF2-40B4-BE49-F238E27FC236}">
                <a16:creationId xmlns:a16="http://schemas.microsoft.com/office/drawing/2014/main" id="{DD37A69E-05B8-3B40-BD70-6796EB69D444}"/>
              </a:ext>
            </a:extLst>
          </p:cNvPr>
          <p:cNvSpPr/>
          <p:nvPr/>
        </p:nvSpPr>
        <p:spPr>
          <a:xfrm>
            <a:off x="503238" y="376232"/>
            <a:ext cx="3300666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/>
              </a:rPr>
              <a:t>EJECUCIÓN DE PRUEBAS</a:t>
            </a:r>
            <a:endParaRPr lang="es-PE" sz="1000" dirty="0">
              <a:solidFill>
                <a:schemeClr val="bg1">
                  <a:lumMod val="6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Google Shape;63;p5">
            <a:extLst>
              <a:ext uri="{FF2B5EF4-FFF2-40B4-BE49-F238E27FC236}">
                <a16:creationId xmlns:a16="http://schemas.microsoft.com/office/drawing/2014/main" id="{3A137B39-64D7-A546-9AAC-B35B98F9187B}"/>
              </a:ext>
            </a:extLst>
          </p:cNvPr>
          <p:cNvSpPr/>
          <p:nvPr/>
        </p:nvSpPr>
        <p:spPr>
          <a:xfrm>
            <a:off x="510694" y="2273951"/>
            <a:ext cx="8164994" cy="2800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77800" marR="0" lvl="1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s-PE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¿Está listo para ser usado? </a:t>
            </a:r>
            <a:endParaRPr lang="es-PE" dirty="0"/>
          </a:p>
          <a:p>
            <a:pPr marL="177800" marR="0" lvl="1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endParaRPr lang="es-PE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7800" marR="0" lvl="1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s-PE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¿Está apropiadamente configurado?</a:t>
            </a:r>
            <a:endParaRPr lang="es-PE" dirty="0"/>
          </a:p>
          <a:p>
            <a:pPr marL="492125" marR="0" lvl="2" indent="-14922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endParaRPr lang="es-PE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57188" marR="0" lvl="2" indent="-179388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s-PE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¿Nos permitirá encontrar defectos bajo las condiciones de prueba que intentamos ejecutar? Ejemplo BD con buena cantidad de registros.</a:t>
            </a:r>
            <a:endParaRPr lang="es-PE" dirty="0"/>
          </a:p>
          <a:p>
            <a:pPr marL="357188" marR="0" lvl="2" indent="-179388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endParaRPr lang="es-PE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57188" marR="0" lvl="2" indent="-179388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s-PE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¿Opera normalmente cuando no ocurren fallos?</a:t>
            </a:r>
            <a:endParaRPr lang="es-PE" dirty="0"/>
          </a:p>
          <a:p>
            <a:pPr marL="357188" marR="0" lvl="2" indent="-179388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endParaRPr lang="es-PE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57188" marR="0" lvl="2" indent="-179388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s-PE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¿Replica el ambiente de producción?</a:t>
            </a:r>
            <a:endParaRPr lang="es-PE" dirty="0"/>
          </a:p>
          <a:p>
            <a:pPr marL="357188" marR="0" lvl="2" indent="-179388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endParaRPr lang="es-PE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57188" marR="0" lvl="2" indent="-179388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s-PE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¿Se dispone de herramientas para soporte de las pruebas? Gestión de configuración, Gestión de las pruebas, Registro de pruebas, Gestión de incidencias.</a:t>
            </a:r>
            <a:endParaRPr lang="es-PE" dirty="0"/>
          </a:p>
        </p:txBody>
      </p:sp>
      <p:grpSp>
        <p:nvGrpSpPr>
          <p:cNvPr id="6" name="Grupo 5">
            <a:extLst>
              <a:ext uri="{FF2B5EF4-FFF2-40B4-BE49-F238E27FC236}">
                <a16:creationId xmlns:a16="http://schemas.microsoft.com/office/drawing/2014/main" id="{25F6C714-1363-C643-9DC4-CB7E20D24285}"/>
              </a:ext>
            </a:extLst>
          </p:cNvPr>
          <p:cNvGrpSpPr/>
          <p:nvPr/>
        </p:nvGrpSpPr>
        <p:grpSpPr>
          <a:xfrm>
            <a:off x="326977" y="1674850"/>
            <a:ext cx="2536144" cy="394721"/>
            <a:chOff x="287221" y="917244"/>
            <a:chExt cx="2982033" cy="500394"/>
          </a:xfrm>
        </p:grpSpPr>
        <p:sp>
          <p:nvSpPr>
            <p:cNvPr id="7" name="Rectángulo redondeado 6">
              <a:extLst>
                <a:ext uri="{FF2B5EF4-FFF2-40B4-BE49-F238E27FC236}">
                  <a16:creationId xmlns:a16="http://schemas.microsoft.com/office/drawing/2014/main" id="{7BA6D65A-79DC-8F47-A5C8-5B78FBC4A0F3}"/>
                </a:ext>
              </a:extLst>
            </p:cNvPr>
            <p:cNvSpPr/>
            <p:nvPr/>
          </p:nvSpPr>
          <p:spPr>
            <a:xfrm>
              <a:off x="503238" y="917244"/>
              <a:ext cx="2766016" cy="500394"/>
            </a:xfrm>
            <a:prstGeom prst="roundRect">
              <a:avLst>
                <a:gd name="adj" fmla="val 24841"/>
              </a:avLst>
            </a:prstGeom>
            <a:solidFill>
              <a:srgbClr val="EE46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4762" indent="0" algn="ctr">
                <a:buSzPts val="1600"/>
                <a:buFont typeface="Arial"/>
                <a:buNone/>
                <a:tabLst>
                  <a:tab pos="569913" algn="l"/>
                </a:tabLst>
              </a:pPr>
              <a:r>
                <a:rPr lang="es-PE" b="1" dirty="0">
                  <a:solidFill>
                    <a:schemeClr val="lt1"/>
                  </a:solidFill>
                  <a:latin typeface="Calibri" charset="0"/>
                  <a:ea typeface="+mn-ea"/>
                  <a:cs typeface="Calibri" charset="0"/>
                  <a:sym typeface="Calibri"/>
                </a:rPr>
                <a:t>Ambiente de Pruebas</a:t>
              </a:r>
              <a:endParaRPr lang="es-PE" b="1" dirty="0">
                <a:solidFill>
                  <a:schemeClr val="lt1"/>
                </a:solidFill>
                <a:latin typeface="Calibri" charset="0"/>
                <a:ea typeface="+mn-ea"/>
                <a:cs typeface="Calibri" charset="0"/>
              </a:endParaRPr>
            </a:p>
          </p:txBody>
        </p:sp>
        <p:grpSp>
          <p:nvGrpSpPr>
            <p:cNvPr id="8" name="Agrupar 14">
              <a:extLst>
                <a:ext uri="{FF2B5EF4-FFF2-40B4-BE49-F238E27FC236}">
                  <a16:creationId xmlns:a16="http://schemas.microsoft.com/office/drawing/2014/main" id="{79692B4F-C3EA-D742-BE3C-235E4F30C089}"/>
                </a:ext>
              </a:extLst>
            </p:cNvPr>
            <p:cNvGrpSpPr/>
            <p:nvPr/>
          </p:nvGrpSpPr>
          <p:grpSpPr>
            <a:xfrm>
              <a:off x="287221" y="965530"/>
              <a:ext cx="459474" cy="403823"/>
              <a:chOff x="5892512" y="2805541"/>
              <a:chExt cx="459474" cy="403823"/>
            </a:xfrm>
          </p:grpSpPr>
          <p:sp>
            <p:nvSpPr>
              <p:cNvPr id="9" name="Elipse 8">
                <a:extLst>
                  <a:ext uri="{FF2B5EF4-FFF2-40B4-BE49-F238E27FC236}">
                    <a16:creationId xmlns:a16="http://schemas.microsoft.com/office/drawing/2014/main" id="{FFA69A20-D946-E04A-AE00-6EBA669AB8A2}"/>
                  </a:ext>
                </a:extLst>
              </p:cNvPr>
              <p:cNvSpPr/>
              <p:nvPr/>
            </p:nvSpPr>
            <p:spPr>
              <a:xfrm>
                <a:off x="5956277" y="2824919"/>
                <a:ext cx="395709" cy="376075"/>
              </a:xfrm>
              <a:prstGeom prst="ellipse">
                <a:avLst/>
              </a:prstGeom>
              <a:solidFill>
                <a:srgbClr val="C73A3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_tradnl" sz="1300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10" name="Elipse 9">
                <a:extLst>
                  <a:ext uri="{FF2B5EF4-FFF2-40B4-BE49-F238E27FC236}">
                    <a16:creationId xmlns:a16="http://schemas.microsoft.com/office/drawing/2014/main" id="{8898F581-15D9-314E-A692-76AE91ADC7B3}"/>
                  </a:ext>
                </a:extLst>
              </p:cNvPr>
              <p:cNvSpPr/>
              <p:nvPr/>
            </p:nvSpPr>
            <p:spPr>
              <a:xfrm>
                <a:off x="5892512" y="2805541"/>
                <a:ext cx="424906" cy="40382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_tradnl" sz="1300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11" name="Triángulo 10">
                <a:extLst>
                  <a:ext uri="{FF2B5EF4-FFF2-40B4-BE49-F238E27FC236}">
                    <a16:creationId xmlns:a16="http://schemas.microsoft.com/office/drawing/2014/main" id="{72ACAAE9-9AAF-2B44-B0CE-B7AE5BFA3FB7}"/>
                  </a:ext>
                </a:extLst>
              </p:cNvPr>
              <p:cNvSpPr/>
              <p:nvPr/>
            </p:nvSpPr>
            <p:spPr>
              <a:xfrm rot="5400000">
                <a:off x="6076285" y="2946262"/>
                <a:ext cx="186870" cy="122381"/>
              </a:xfrm>
              <a:prstGeom prst="triangle">
                <a:avLst/>
              </a:prstGeom>
              <a:solidFill>
                <a:srgbClr val="EE463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_tradnl" sz="1300" dirty="0">
                  <a:latin typeface="Calibri" panose="020F0502020204030204" pitchFamily="34" charset="0"/>
                </a:endParaRPr>
              </a:p>
            </p:txBody>
          </p:sp>
        </p:grpSp>
      </p:grpSp>
      <p:sp>
        <p:nvSpPr>
          <p:cNvPr id="12" name="Rectángulo 11">
            <a:extLst>
              <a:ext uri="{FF2B5EF4-FFF2-40B4-BE49-F238E27FC236}">
                <a16:creationId xmlns:a16="http://schemas.microsoft.com/office/drawing/2014/main" id="{89D7981C-B2C8-904E-B1A7-E5EE4F7A03C0}"/>
              </a:ext>
            </a:extLst>
          </p:cNvPr>
          <p:cNvSpPr/>
          <p:nvPr/>
        </p:nvSpPr>
        <p:spPr>
          <a:xfrm>
            <a:off x="503237" y="916472"/>
            <a:ext cx="7134252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buSzPts val="1600"/>
            </a:pPr>
            <a:r>
              <a:rPr lang="es-ES" sz="2000" b="1" dirty="0">
                <a:solidFill>
                  <a:srgbClr val="EE4639"/>
                </a:solidFill>
                <a:latin typeface="Graphik Bold" panose="020B0503030202060203" pitchFamily="34" charset="77"/>
                <a:cs typeface="Calibri" charset="0"/>
              </a:rPr>
              <a:t>+ 01.</a:t>
            </a:r>
            <a:br>
              <a:rPr lang="es-ES" sz="1600" b="1" dirty="0">
                <a:solidFill>
                  <a:srgbClr val="EE4639"/>
                </a:solidFill>
                <a:latin typeface="Calibri" charset="0"/>
                <a:cs typeface="Calibri" charset="0"/>
              </a:rPr>
            </a:br>
            <a:r>
              <a:rPr lang="es-PE" sz="1600" b="1" dirty="0">
                <a:solidFill>
                  <a:srgbClr val="EE4639"/>
                </a:solidFill>
                <a:latin typeface="Calibri" charset="0"/>
                <a:cs typeface="Calibri" charset="0"/>
                <a:sym typeface="Calibri"/>
              </a:rPr>
              <a:t>IMPLEMENTACIÓN DE LAS PRUEBAS</a:t>
            </a:r>
            <a:endParaRPr lang="es-PE"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>
            <a:extLst>
              <a:ext uri="{FF2B5EF4-FFF2-40B4-BE49-F238E27FC236}">
                <a16:creationId xmlns:a16="http://schemas.microsoft.com/office/drawing/2014/main" id="{A786EC68-AF73-0B4E-971F-B3F9B61D42EA}"/>
              </a:ext>
            </a:extLst>
          </p:cNvPr>
          <p:cNvSpPr/>
          <p:nvPr/>
        </p:nvSpPr>
        <p:spPr>
          <a:xfrm>
            <a:off x="503238" y="376232"/>
            <a:ext cx="3300666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/>
              </a:rPr>
              <a:t>EJECUCIÓN DE PRUEBAS</a:t>
            </a:r>
            <a:endParaRPr lang="es-PE" sz="1000" dirty="0">
              <a:solidFill>
                <a:schemeClr val="bg1">
                  <a:lumMod val="6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3BA7CDD3-F679-DC4C-A4FE-C0768AE05A07}"/>
              </a:ext>
            </a:extLst>
          </p:cNvPr>
          <p:cNvSpPr/>
          <p:nvPr/>
        </p:nvSpPr>
        <p:spPr>
          <a:xfrm>
            <a:off x="503236" y="916472"/>
            <a:ext cx="7636423" cy="36317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buSzPts val="1600"/>
            </a:pPr>
            <a:r>
              <a:rPr lang="es-ES" sz="2000" b="1" dirty="0">
                <a:solidFill>
                  <a:srgbClr val="EE4639"/>
                </a:solidFill>
                <a:latin typeface="Graphik Bold" panose="020B0503030202060203" pitchFamily="34" charset="77"/>
                <a:cs typeface="Calibri" charset="0"/>
              </a:rPr>
              <a:t>+ 02.</a:t>
            </a:r>
            <a:br>
              <a:rPr lang="es-ES" sz="1600" b="1" dirty="0">
                <a:solidFill>
                  <a:srgbClr val="EE4639"/>
                </a:solidFill>
                <a:latin typeface="Calibri" charset="0"/>
                <a:cs typeface="Calibri" charset="0"/>
              </a:rPr>
            </a:br>
            <a:r>
              <a:rPr lang="es-PE" sz="1600" b="1" dirty="0">
                <a:solidFill>
                  <a:srgbClr val="EE4639"/>
                </a:solidFill>
                <a:latin typeface="Calibri" charset="0"/>
                <a:cs typeface="Calibri" charset="0"/>
                <a:sym typeface="Calibri"/>
              </a:rPr>
              <a:t>EJECUCIÓN DE LAS PRUEBAS</a:t>
            </a:r>
            <a:endParaRPr lang="es-PE" sz="1600" b="1" dirty="0">
              <a:solidFill>
                <a:srgbClr val="EE4639"/>
              </a:solidFill>
              <a:latin typeface="Calibri" charset="0"/>
              <a:cs typeface="Calibri" charset="0"/>
            </a:endParaRPr>
          </a:p>
          <a:p>
            <a:pPr marL="9525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Para comenzar se requiere:</a:t>
            </a:r>
            <a:endParaRPr lang="es-PE" sz="1500" dirty="0"/>
          </a:p>
          <a:p>
            <a:pPr marL="177800" marR="0" lvl="1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s-PE" sz="15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Entrega de los objetos de prueba.</a:t>
            </a:r>
            <a:endParaRPr lang="es-PE" sz="1500" dirty="0"/>
          </a:p>
          <a:p>
            <a:pPr marL="177800" marR="0" lvl="1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s-PE" sz="15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Satisfacción de criterios de entrada.</a:t>
            </a:r>
            <a:endParaRPr lang="es-PE" sz="1500" dirty="0"/>
          </a:p>
          <a:p>
            <a:pPr marL="141288" marR="0" lvl="0" indent="-30162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endParaRPr lang="es-PE" sz="15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7800" marR="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s-PE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Ejecutar los casos de prueba manuales mediante procedimientos de prueba.</a:t>
            </a:r>
            <a:endParaRPr lang="es-PE" sz="1500" dirty="0"/>
          </a:p>
          <a:p>
            <a:pPr marL="177800" marR="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endParaRPr lang="es-PE" sz="15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7800" marR="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s-PE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Algunos pasos son para permitir las pruebas.</a:t>
            </a:r>
            <a:endParaRPr lang="es-PE" sz="1500" dirty="0"/>
          </a:p>
          <a:p>
            <a:pPr marL="357188" marR="0" lvl="1" indent="-179388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s-PE" sz="15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Configurar datos, capturar información de registro, restaurar el sistema a un estado conocido al finalizar.</a:t>
            </a:r>
            <a:endParaRPr lang="es-PE" sz="1500" dirty="0"/>
          </a:p>
          <a:p>
            <a:pPr marL="141288" marR="0" lvl="0" indent="-30162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lang="es-PE" sz="15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7800" marR="0" lvl="0" indent="-16827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s-PE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Incorporar algún grado de pruebas exploratorias en los procedimientos.</a:t>
            </a:r>
            <a:endParaRPr lang="es-PE" sz="1500" dirty="0"/>
          </a:p>
          <a:p>
            <a:pPr marL="177800" marR="0" lvl="0" indent="-16827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endParaRPr lang="es-PE" sz="15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7800" marR="0" lvl="0" indent="-16827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s-PE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Ejecución de Pruebas Automatizadas.</a:t>
            </a:r>
            <a:endParaRPr lang="es-PE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>
            <a:extLst>
              <a:ext uri="{FF2B5EF4-FFF2-40B4-BE49-F238E27FC236}">
                <a16:creationId xmlns:a16="http://schemas.microsoft.com/office/drawing/2014/main" id="{7CE833E3-22BD-6546-89A8-039748887ED8}"/>
              </a:ext>
            </a:extLst>
          </p:cNvPr>
          <p:cNvSpPr/>
          <p:nvPr/>
        </p:nvSpPr>
        <p:spPr>
          <a:xfrm>
            <a:off x="503238" y="376232"/>
            <a:ext cx="3300666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/>
              </a:rPr>
              <a:t>EJECUCIÓN DE PRUEBAS</a:t>
            </a:r>
            <a:endParaRPr lang="es-PE" sz="1000" dirty="0">
              <a:solidFill>
                <a:schemeClr val="bg1">
                  <a:lumMod val="6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55BDE9CC-93EB-E648-AE48-296E1238E7F7}"/>
              </a:ext>
            </a:extLst>
          </p:cNvPr>
          <p:cNvSpPr/>
          <p:nvPr/>
        </p:nvSpPr>
        <p:spPr>
          <a:xfrm>
            <a:off x="503236" y="916472"/>
            <a:ext cx="7636423" cy="31700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buSzPts val="1600"/>
            </a:pPr>
            <a:r>
              <a:rPr lang="es-ES" sz="2000" b="1" dirty="0">
                <a:solidFill>
                  <a:srgbClr val="EE4639"/>
                </a:solidFill>
                <a:latin typeface="Graphik Bold" panose="020B0503030202060203" pitchFamily="34" charset="77"/>
                <a:cs typeface="Calibri" charset="0"/>
              </a:rPr>
              <a:t>+ 02.</a:t>
            </a:r>
            <a:br>
              <a:rPr lang="es-ES" sz="1600" b="1" dirty="0">
                <a:solidFill>
                  <a:srgbClr val="EE4639"/>
                </a:solidFill>
                <a:latin typeface="Calibri" charset="0"/>
                <a:cs typeface="Calibri" charset="0"/>
              </a:rPr>
            </a:br>
            <a:r>
              <a:rPr lang="es-PE" sz="1600" b="1" dirty="0">
                <a:solidFill>
                  <a:srgbClr val="EE4639"/>
                </a:solidFill>
                <a:latin typeface="Calibri" charset="0"/>
                <a:cs typeface="Calibri" charset="0"/>
                <a:sym typeface="Calibri"/>
              </a:rPr>
              <a:t>EJECUCIÓN DE LAS PRUEBAS</a:t>
            </a:r>
            <a:endParaRPr lang="es-PE" sz="1600" b="1" dirty="0">
              <a:solidFill>
                <a:srgbClr val="EE4639"/>
              </a:solidFill>
              <a:latin typeface="Calibri" charset="0"/>
              <a:cs typeface="Calibri" charset="0"/>
            </a:endParaRPr>
          </a:p>
          <a:p>
            <a:pPr marL="177800" marR="0" lvl="0" indent="-16827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s-PE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Actividades específicas de ejecución:</a:t>
            </a:r>
            <a:endParaRPr lang="es-PE" sz="1500" dirty="0"/>
          </a:p>
          <a:p>
            <a:pPr marL="177800" marR="0" lvl="0" indent="-16827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endParaRPr lang="es-PE" sz="15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7800" marR="0" lvl="0" indent="-16827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s-PE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Comparar </a:t>
            </a:r>
            <a:r>
              <a:rPr lang="es-PE" sz="15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resultados</a:t>
            </a:r>
            <a:r>
              <a:rPr lang="es-PE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actuales con </a:t>
            </a:r>
            <a:r>
              <a:rPr lang="es-PE" sz="15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resultados esperados</a:t>
            </a:r>
            <a:r>
              <a:rPr lang="es-PE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es-PE" sz="1500" dirty="0"/>
          </a:p>
          <a:p>
            <a:pPr marL="177800" marR="0" lvl="0" indent="-16827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endParaRPr lang="es-PE" sz="15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7800" marR="0" lvl="0" indent="-16827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s-PE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Una diferencia entre los resultados esperados y los actuales es una anomalía que se reporta </a:t>
            </a:r>
            <a:br>
              <a:rPr lang="es-PE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PE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como incidente.</a:t>
            </a:r>
            <a:endParaRPr lang="es-PE" sz="1500" dirty="0"/>
          </a:p>
          <a:p>
            <a:pPr marL="177800" marR="0" lvl="0" indent="-16827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endParaRPr lang="es-PE" sz="15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7800" marR="0" lvl="0" indent="-16827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s-PE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Los Incidentes pueden ser fallos o falsos positivos.</a:t>
            </a:r>
            <a:endParaRPr lang="es-PE" sz="1500" dirty="0"/>
          </a:p>
          <a:p>
            <a:pPr marL="177800" marR="0" lvl="0" indent="-16827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endParaRPr lang="es-PE" sz="15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7800" marR="0" lvl="0" indent="-16827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s-PE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Los fallos ocurren cuando el sistema no se comporta como debería ser debido a uno o </a:t>
            </a:r>
            <a:br>
              <a:rPr lang="es-PE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PE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más defectos.</a:t>
            </a:r>
            <a:endParaRPr lang="es-PE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9"/>
          <p:cNvSpPr/>
          <p:nvPr/>
        </p:nvSpPr>
        <p:spPr>
          <a:xfrm>
            <a:off x="1578692" y="1680555"/>
            <a:ext cx="2027392" cy="661012"/>
          </a:xfrm>
          <a:prstGeom prst="roundRect">
            <a:avLst>
              <a:gd name="adj" fmla="val 16667"/>
            </a:avLst>
          </a:prstGeom>
          <a:solidFill>
            <a:srgbClr val="E3DCE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5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Funcionalidad </a:t>
            </a:r>
            <a:br>
              <a:rPr lang="es-PE" sz="15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PE" sz="15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 Correcta</a:t>
            </a:r>
            <a:endParaRPr sz="1500"/>
          </a:p>
        </p:txBody>
      </p:sp>
      <p:sp>
        <p:nvSpPr>
          <p:cNvPr id="90" name="Google Shape;90;p9"/>
          <p:cNvSpPr/>
          <p:nvPr/>
        </p:nvSpPr>
        <p:spPr>
          <a:xfrm>
            <a:off x="5537916" y="1680555"/>
            <a:ext cx="2027392" cy="661012"/>
          </a:xfrm>
          <a:prstGeom prst="roundRect">
            <a:avLst>
              <a:gd name="adj" fmla="val 16667"/>
            </a:avLst>
          </a:prstGeom>
          <a:solidFill>
            <a:srgbClr val="FFED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5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Funcionalidad </a:t>
            </a:r>
            <a:br>
              <a:rPr lang="es-PE" sz="15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PE" sz="15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incorrecta</a:t>
            </a:r>
            <a:endParaRPr sz="1500"/>
          </a:p>
        </p:txBody>
      </p:sp>
      <p:sp>
        <p:nvSpPr>
          <p:cNvPr id="91" name="Google Shape;91;p9"/>
          <p:cNvSpPr/>
          <p:nvPr/>
        </p:nvSpPr>
        <p:spPr>
          <a:xfrm>
            <a:off x="5563231" y="4383069"/>
            <a:ext cx="2027392" cy="661012"/>
          </a:xfrm>
          <a:prstGeom prst="roundRect">
            <a:avLst>
              <a:gd name="adj" fmla="val 16667"/>
            </a:avLst>
          </a:prstGeom>
          <a:solidFill>
            <a:srgbClr val="E3DCE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5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prueba se registra como “PASO”</a:t>
            </a:r>
            <a:endParaRPr sz="1500" dirty="0"/>
          </a:p>
        </p:txBody>
      </p:sp>
      <p:sp>
        <p:nvSpPr>
          <p:cNvPr id="92" name="Google Shape;92;p9"/>
          <p:cNvSpPr/>
          <p:nvPr/>
        </p:nvSpPr>
        <p:spPr>
          <a:xfrm>
            <a:off x="1552214" y="4383069"/>
            <a:ext cx="2027392" cy="661012"/>
          </a:xfrm>
          <a:prstGeom prst="roundRect">
            <a:avLst>
              <a:gd name="adj" fmla="val 16667"/>
            </a:avLst>
          </a:prstGeom>
          <a:solidFill>
            <a:srgbClr val="FFED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5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prueba se registra como “FALLO”</a:t>
            </a:r>
            <a:endParaRPr sz="1500"/>
          </a:p>
        </p:txBody>
      </p:sp>
      <p:sp>
        <p:nvSpPr>
          <p:cNvPr id="97" name="Google Shape;97;p9"/>
          <p:cNvSpPr/>
          <p:nvPr/>
        </p:nvSpPr>
        <p:spPr>
          <a:xfrm>
            <a:off x="979602" y="2900653"/>
            <a:ext cx="3215391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41288" marR="0" lvl="0" indent="-141288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PE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Pero debido a una mala especificación, datos de prueba inválidos, entornos de prueba mal configurados, o un error del probador.</a:t>
            </a:r>
            <a:endParaRPr sz="1500" dirty="0"/>
          </a:p>
        </p:txBody>
      </p:sp>
      <p:sp>
        <p:nvSpPr>
          <p:cNvPr id="98" name="Google Shape;98;p9"/>
          <p:cNvSpPr/>
          <p:nvPr/>
        </p:nvSpPr>
        <p:spPr>
          <a:xfrm>
            <a:off x="4754620" y="2900653"/>
            <a:ext cx="3644614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41288" marR="0" lvl="0" indent="-141288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PE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Podría ser una funcionalidad que antes era correcta, pero en una iteración posterior fue modificada y no se actualizaron las pruebas.</a:t>
            </a:r>
            <a:endParaRPr sz="1500" dirty="0"/>
          </a:p>
        </p:txBody>
      </p:sp>
      <p:sp>
        <p:nvSpPr>
          <p:cNvPr id="15" name="Rectangle 5">
            <a:extLst>
              <a:ext uri="{FF2B5EF4-FFF2-40B4-BE49-F238E27FC236}">
                <a16:creationId xmlns:a16="http://schemas.microsoft.com/office/drawing/2014/main" id="{7D993AF9-C8BD-2948-8657-7D3C8BCCD213}"/>
              </a:ext>
            </a:extLst>
          </p:cNvPr>
          <p:cNvSpPr/>
          <p:nvPr/>
        </p:nvSpPr>
        <p:spPr>
          <a:xfrm>
            <a:off x="503238" y="376232"/>
            <a:ext cx="3300666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/>
              </a:rPr>
              <a:t>EJECUCIÓN DE PRUEBAS</a:t>
            </a:r>
            <a:endParaRPr lang="es-PE" sz="1000" dirty="0">
              <a:solidFill>
                <a:schemeClr val="bg1">
                  <a:lumMod val="6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7DE6887B-053B-514F-9CBF-95F33CE476B2}"/>
              </a:ext>
            </a:extLst>
          </p:cNvPr>
          <p:cNvSpPr/>
          <p:nvPr/>
        </p:nvSpPr>
        <p:spPr>
          <a:xfrm>
            <a:off x="503236" y="916472"/>
            <a:ext cx="7636423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buSzPts val="1600"/>
            </a:pPr>
            <a:r>
              <a:rPr lang="es-ES" sz="2000" b="1" dirty="0">
                <a:solidFill>
                  <a:srgbClr val="EE4639"/>
                </a:solidFill>
                <a:latin typeface="Graphik Bold" panose="020B0503030202060203" pitchFamily="34" charset="77"/>
                <a:cs typeface="Calibri" charset="0"/>
              </a:rPr>
              <a:t>+ 02.</a:t>
            </a:r>
            <a:br>
              <a:rPr lang="es-ES" sz="1600" b="1" dirty="0">
                <a:solidFill>
                  <a:srgbClr val="EE4639"/>
                </a:solidFill>
                <a:latin typeface="Calibri" charset="0"/>
                <a:cs typeface="Calibri" charset="0"/>
              </a:rPr>
            </a:br>
            <a:r>
              <a:rPr lang="es-PE" sz="1600" b="1" dirty="0">
                <a:solidFill>
                  <a:srgbClr val="EE4639"/>
                </a:solidFill>
                <a:latin typeface="Calibri" charset="0"/>
                <a:cs typeface="Calibri" charset="0"/>
                <a:sym typeface="Calibri"/>
              </a:rPr>
              <a:t>EJECUCIÓN DE LAS PRUEBAS</a:t>
            </a:r>
            <a:endParaRPr lang="es-PE" sz="1500" dirty="0"/>
          </a:p>
        </p:txBody>
      </p:sp>
      <p:sp>
        <p:nvSpPr>
          <p:cNvPr id="17" name="28 Flecha derecha">
            <a:extLst>
              <a:ext uri="{FF2B5EF4-FFF2-40B4-BE49-F238E27FC236}">
                <a16:creationId xmlns:a16="http://schemas.microsoft.com/office/drawing/2014/main" id="{8FD360AB-B77C-D544-8285-D8158ED6A384}"/>
              </a:ext>
            </a:extLst>
          </p:cNvPr>
          <p:cNvSpPr/>
          <p:nvPr/>
        </p:nvSpPr>
        <p:spPr>
          <a:xfrm rot="5400000">
            <a:off x="2405919" y="3912619"/>
            <a:ext cx="362757" cy="381971"/>
          </a:xfrm>
          <a:prstGeom prst="rightArrow">
            <a:avLst/>
          </a:prstGeom>
          <a:solidFill>
            <a:srgbClr val="8087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s-PE" sz="1600" dirty="0">
              <a:latin typeface="Calibri" panose="020F0502020204030204" pitchFamily="34" charset="0"/>
            </a:endParaRPr>
          </a:p>
        </p:txBody>
      </p:sp>
      <p:sp>
        <p:nvSpPr>
          <p:cNvPr id="18" name="28 Flecha derecha">
            <a:extLst>
              <a:ext uri="{FF2B5EF4-FFF2-40B4-BE49-F238E27FC236}">
                <a16:creationId xmlns:a16="http://schemas.microsoft.com/office/drawing/2014/main" id="{90F1C1B5-7C57-A94A-AA5F-3F361023EDEA}"/>
              </a:ext>
            </a:extLst>
          </p:cNvPr>
          <p:cNvSpPr/>
          <p:nvPr/>
        </p:nvSpPr>
        <p:spPr>
          <a:xfrm rot="5400000">
            <a:off x="6375324" y="3912620"/>
            <a:ext cx="362757" cy="381971"/>
          </a:xfrm>
          <a:prstGeom prst="rightArrow">
            <a:avLst/>
          </a:prstGeom>
          <a:solidFill>
            <a:srgbClr val="8087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s-PE" sz="1600" dirty="0">
              <a:latin typeface="Calibri" panose="020F0502020204030204" pitchFamily="34" charset="0"/>
            </a:endParaRPr>
          </a:p>
        </p:txBody>
      </p:sp>
      <p:sp>
        <p:nvSpPr>
          <p:cNvPr id="19" name="28 Flecha derecha">
            <a:extLst>
              <a:ext uri="{FF2B5EF4-FFF2-40B4-BE49-F238E27FC236}">
                <a16:creationId xmlns:a16="http://schemas.microsoft.com/office/drawing/2014/main" id="{3081659B-0584-8644-BC30-BA52E8C60250}"/>
              </a:ext>
            </a:extLst>
          </p:cNvPr>
          <p:cNvSpPr/>
          <p:nvPr/>
        </p:nvSpPr>
        <p:spPr>
          <a:xfrm rot="5400000">
            <a:off x="2405919" y="2406108"/>
            <a:ext cx="362757" cy="381971"/>
          </a:xfrm>
          <a:prstGeom prst="rightArrow">
            <a:avLst/>
          </a:prstGeom>
          <a:solidFill>
            <a:srgbClr val="8087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s-PE" sz="1600" dirty="0">
              <a:latin typeface="Calibri" panose="020F0502020204030204" pitchFamily="34" charset="0"/>
            </a:endParaRPr>
          </a:p>
        </p:txBody>
      </p:sp>
      <p:sp>
        <p:nvSpPr>
          <p:cNvPr id="20" name="28 Flecha derecha">
            <a:extLst>
              <a:ext uri="{FF2B5EF4-FFF2-40B4-BE49-F238E27FC236}">
                <a16:creationId xmlns:a16="http://schemas.microsoft.com/office/drawing/2014/main" id="{4642A313-FA4D-9A4E-ABA5-2A88EB23EEA4}"/>
              </a:ext>
            </a:extLst>
          </p:cNvPr>
          <p:cNvSpPr/>
          <p:nvPr/>
        </p:nvSpPr>
        <p:spPr>
          <a:xfrm rot="5400000">
            <a:off x="6375324" y="2406109"/>
            <a:ext cx="362757" cy="381971"/>
          </a:xfrm>
          <a:prstGeom prst="rightArrow">
            <a:avLst/>
          </a:prstGeom>
          <a:solidFill>
            <a:srgbClr val="8087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s-PE" sz="1600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5" name="Google Shape;105;p10"/>
          <p:cNvGraphicFramePr/>
          <p:nvPr>
            <p:extLst>
              <p:ext uri="{D42A27DB-BD31-4B8C-83A1-F6EECF244321}">
                <p14:modId xmlns:p14="http://schemas.microsoft.com/office/powerpoint/2010/main" val="2439845308"/>
              </p:ext>
            </p:extLst>
          </p:nvPr>
        </p:nvGraphicFramePr>
        <p:xfrm>
          <a:off x="3492708" y="912813"/>
          <a:ext cx="5182980" cy="3520310"/>
        </p:xfrm>
        <a:graphic>
          <a:graphicData uri="http://schemas.openxmlformats.org/drawingml/2006/table">
            <a:tbl>
              <a:tblPr firstRow="1" bandRow="1">
                <a:noFill/>
                <a:tableStyleId>{150B3C73-4F0F-4B4C-8850-2DE5B123E8A3}</a:tableStyleId>
              </a:tblPr>
              <a:tblGrid>
                <a:gridCol w="51829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17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500"/>
                        <a:buFont typeface="Calibri"/>
                        <a:buNone/>
                      </a:pPr>
                      <a:r>
                        <a:rPr lang="es-PE" sz="1400" b="1" u="none" strike="noStrike" cap="none" dirty="0">
                          <a:solidFill>
                            <a:schemeClr val="lt1"/>
                          </a:solidFill>
                        </a:rPr>
                        <a:t>Level Test Procedure Outline (full example)</a:t>
                      </a:r>
                      <a:endParaRPr sz="1400" dirty="0"/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92C1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2C1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2C1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2C1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3025">
                <a:tc>
                  <a:txBody>
                    <a:bodyPr/>
                    <a:lstStyle/>
                    <a:p>
                      <a:pPr marL="265113" marR="0" lvl="0" indent="-265113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Calibri"/>
                        <a:buAutoNum type="arabicPeriod"/>
                      </a:pPr>
                      <a:r>
                        <a:rPr lang="es-PE" sz="1300" b="1" u="none" strike="noStrike" cap="none" dirty="0">
                          <a:solidFill>
                            <a:schemeClr val="dk1"/>
                          </a:solidFill>
                        </a:rPr>
                        <a:t>Introduction</a:t>
                      </a:r>
                      <a:endParaRPr dirty="0"/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92C1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2C1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2C1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2C1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7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30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Calibri"/>
                        <a:buNone/>
                      </a:pPr>
                      <a:r>
                        <a:rPr lang="es-PE" sz="1300" u="none" strike="noStrike" cap="none" dirty="0">
                          <a:solidFill>
                            <a:schemeClr val="dk1"/>
                          </a:solidFill>
                        </a:rPr>
                        <a:t>1.1 Document </a:t>
                      </a:r>
                      <a:r>
                        <a:rPr lang="es-PE" sz="1300" dirty="0"/>
                        <a:t>identifier</a:t>
                      </a:r>
                      <a:endParaRPr dirty="0"/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92C1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2C1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2C1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2C1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E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30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Calibri"/>
                        <a:buNone/>
                      </a:pPr>
                      <a:r>
                        <a:rPr lang="es-PE" sz="1300" u="none" strike="noStrike" cap="none" dirty="0">
                          <a:solidFill>
                            <a:schemeClr val="dk1"/>
                          </a:solidFill>
                        </a:rPr>
                        <a:t>1.2 Scope</a:t>
                      </a:r>
                      <a:endParaRPr dirty="0"/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92C1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2C1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2C1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2C1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7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30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Calibri"/>
                        <a:buNone/>
                      </a:pPr>
                      <a:r>
                        <a:rPr lang="es-PE" sz="1300" u="none" strike="noStrike" cap="none" dirty="0">
                          <a:solidFill>
                            <a:schemeClr val="dk1"/>
                          </a:solidFill>
                        </a:rPr>
                        <a:t>1.3 References</a:t>
                      </a:r>
                      <a:endParaRPr dirty="0"/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92C1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2C1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2C1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2C1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E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30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Calibri"/>
                        <a:buNone/>
                      </a:pPr>
                      <a:r>
                        <a:rPr lang="es-PE" sz="1300" u="none" strike="noStrike" cap="none" dirty="0">
                          <a:solidFill>
                            <a:schemeClr val="dk1"/>
                          </a:solidFill>
                        </a:rPr>
                        <a:t>1.4 Relationship to other procedures</a:t>
                      </a:r>
                      <a:endParaRPr dirty="0"/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92C1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2C1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2C1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2C1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7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3025">
                <a:tc>
                  <a:txBody>
                    <a:bodyPr/>
                    <a:lstStyle/>
                    <a:p>
                      <a:pPr marL="265113" marR="0" lvl="0" indent="-265113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Calibri"/>
                        <a:buAutoNum type="arabicPeriod" startAt="2"/>
                      </a:pPr>
                      <a:r>
                        <a:rPr lang="es-PE" sz="1300" b="1" u="none" strike="noStrike" cap="none" dirty="0">
                          <a:solidFill>
                            <a:schemeClr val="dk1"/>
                          </a:solidFill>
                        </a:rPr>
                        <a:t>Details</a:t>
                      </a:r>
                      <a:endParaRPr dirty="0"/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92C1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2C1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2C1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2C1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E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30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300" u="none" strike="noStrike" cap="none" dirty="0">
                          <a:solidFill>
                            <a:schemeClr val="dk1"/>
                          </a:solidFill>
                        </a:rPr>
                        <a:t>2.1 </a:t>
                      </a:r>
                      <a:r>
                        <a:rPr lang="es-PE" sz="1300" dirty="0"/>
                        <a:t>Inputs</a:t>
                      </a:r>
                      <a:r>
                        <a:rPr lang="es-PE" sz="1300" u="none" strike="noStrike" cap="none" dirty="0">
                          <a:solidFill>
                            <a:schemeClr val="dk1"/>
                          </a:solidFill>
                        </a:rPr>
                        <a:t>, outputs, and special requirements</a:t>
                      </a:r>
                      <a:endParaRPr dirty="0"/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92C1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2C1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2C1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2C1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7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98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Calibri"/>
                        <a:buNone/>
                      </a:pPr>
                      <a:r>
                        <a:rPr lang="es-PE" sz="1300" u="none" strike="noStrike" cap="none" dirty="0">
                          <a:solidFill>
                            <a:schemeClr val="dk1"/>
                          </a:solidFill>
                        </a:rPr>
                        <a:t>2.2 Ordered description of the steps to be taken to </a:t>
                      </a:r>
                      <a:r>
                        <a:rPr lang="es-PE" sz="1300" dirty="0"/>
                        <a:t>execute</a:t>
                      </a:r>
                      <a:r>
                        <a:rPr lang="es-PE" sz="1300" u="none" strike="noStrike" cap="none" dirty="0">
                          <a:solidFill>
                            <a:schemeClr val="dk1"/>
                          </a:solidFill>
                        </a:rPr>
                        <a:t> the test cases</a:t>
                      </a:r>
                      <a:endParaRPr dirty="0"/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92C1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2C1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2C1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2C1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E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3025">
                <a:tc>
                  <a:txBody>
                    <a:bodyPr/>
                    <a:lstStyle/>
                    <a:p>
                      <a:pPr marL="265113" marR="0" lvl="0" indent="-265113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Calibri"/>
                        <a:buAutoNum type="arabicPeriod" startAt="3"/>
                      </a:pPr>
                      <a:r>
                        <a:rPr lang="es-PE" sz="1300" b="1" u="none" strike="noStrike" cap="none" dirty="0">
                          <a:solidFill>
                            <a:schemeClr val="dk1"/>
                          </a:solidFill>
                        </a:rPr>
                        <a:t>General</a:t>
                      </a:r>
                      <a:endParaRPr dirty="0"/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92C1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2C1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2C1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2C1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7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30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Calibri"/>
                        <a:buNone/>
                      </a:pPr>
                      <a:r>
                        <a:rPr lang="es-PE" sz="1300" u="none" strike="noStrike" cap="none" dirty="0">
                          <a:solidFill>
                            <a:schemeClr val="dk1"/>
                          </a:solidFill>
                        </a:rPr>
                        <a:t>3.1 </a:t>
                      </a:r>
                      <a:r>
                        <a:rPr lang="es-PE" sz="1300" dirty="0"/>
                        <a:t>Glossary</a:t>
                      </a:r>
                      <a:endParaRPr dirty="0"/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92C1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2C1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2C1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2C1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E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67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Calibri"/>
                        <a:buNone/>
                      </a:pPr>
                      <a:r>
                        <a:rPr lang="es-PE" sz="1300" u="none" strike="noStrike" cap="none" dirty="0">
                          <a:solidFill>
                            <a:schemeClr val="dk1"/>
                          </a:solidFill>
                        </a:rPr>
                        <a:t>3.2 Document change procedures and history</a:t>
                      </a:r>
                      <a:endParaRPr dirty="0"/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92C1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2C1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2C1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2C1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7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5" name="Rectangle 5">
            <a:extLst>
              <a:ext uri="{FF2B5EF4-FFF2-40B4-BE49-F238E27FC236}">
                <a16:creationId xmlns:a16="http://schemas.microsoft.com/office/drawing/2014/main" id="{ABCFF177-CC20-3D44-B659-F1D8BC6F020C}"/>
              </a:ext>
            </a:extLst>
          </p:cNvPr>
          <p:cNvSpPr/>
          <p:nvPr/>
        </p:nvSpPr>
        <p:spPr>
          <a:xfrm>
            <a:off x="503238" y="376232"/>
            <a:ext cx="3300666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/>
              </a:rPr>
              <a:t>EJECUCIÓN DE PRUEBAS</a:t>
            </a:r>
            <a:endParaRPr lang="es-PE" sz="1000" dirty="0">
              <a:solidFill>
                <a:schemeClr val="bg1">
                  <a:lumMod val="6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8824429A-97D0-2F41-BAC4-35DB001DB6CC}"/>
              </a:ext>
            </a:extLst>
          </p:cNvPr>
          <p:cNvSpPr/>
          <p:nvPr/>
        </p:nvSpPr>
        <p:spPr>
          <a:xfrm>
            <a:off x="503237" y="916472"/>
            <a:ext cx="2652193" cy="17851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buSzPts val="1600"/>
            </a:pPr>
            <a:r>
              <a:rPr lang="es-ES" sz="2000" b="1" dirty="0">
                <a:solidFill>
                  <a:srgbClr val="EE4639"/>
                </a:solidFill>
                <a:latin typeface="Graphik Bold" panose="020B0503030202060203" pitchFamily="34" charset="77"/>
                <a:cs typeface="Calibri" charset="0"/>
              </a:rPr>
              <a:t>+ 03.</a:t>
            </a:r>
            <a:br>
              <a:rPr lang="es-ES" sz="1600" b="1" dirty="0">
                <a:solidFill>
                  <a:srgbClr val="EE4639"/>
                </a:solidFill>
                <a:latin typeface="Calibri" charset="0"/>
                <a:cs typeface="Calibri" charset="0"/>
              </a:rPr>
            </a:br>
            <a:r>
              <a:rPr lang="es-PE" sz="1600" b="1" dirty="0">
                <a:solidFill>
                  <a:srgbClr val="EE4639"/>
                </a:solidFill>
                <a:latin typeface="Calibri" charset="0"/>
                <a:cs typeface="Calibri" charset="0"/>
                <a:sym typeface="Calibri"/>
              </a:rPr>
              <a:t>PLANTILLAS Y ESTÁNDARES</a:t>
            </a:r>
            <a:endParaRPr lang="es-PE" sz="1600" b="1" dirty="0">
              <a:solidFill>
                <a:srgbClr val="EE4639"/>
              </a:solidFill>
              <a:latin typeface="Calibri" charset="0"/>
              <a:cs typeface="Calibri" charset="0"/>
            </a:endParaRPr>
          </a:p>
          <a:p>
            <a:pPr marL="177800" marR="0" lvl="0" indent="-177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s-PE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 puede usar el documento “Level Test Procedure” del estándar IEEE 829 - 2008 para documentar el procedimiento de pruebas.</a:t>
            </a:r>
            <a:endParaRPr lang="es-PE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>
            <a:extLst>
              <a:ext uri="{FF2B5EF4-FFF2-40B4-BE49-F238E27FC236}">
                <a16:creationId xmlns:a16="http://schemas.microsoft.com/office/drawing/2014/main" id="{633999E9-339F-E645-B76B-E8F85DA28CC3}"/>
              </a:ext>
            </a:extLst>
          </p:cNvPr>
          <p:cNvSpPr/>
          <p:nvPr/>
        </p:nvSpPr>
        <p:spPr>
          <a:xfrm>
            <a:off x="503238" y="376232"/>
            <a:ext cx="3300666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/>
              </a:rPr>
              <a:t>EJECUCIÓN DE PRUEBAS</a:t>
            </a:r>
            <a:endParaRPr lang="es-PE" sz="1000" dirty="0">
              <a:solidFill>
                <a:schemeClr val="bg1">
                  <a:lumMod val="6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458C6BE4-D931-9040-9623-A687AD756E94}"/>
              </a:ext>
            </a:extLst>
          </p:cNvPr>
          <p:cNvSpPr/>
          <p:nvPr/>
        </p:nvSpPr>
        <p:spPr>
          <a:xfrm>
            <a:off x="503236" y="916472"/>
            <a:ext cx="7636423" cy="36317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buSzPts val="1600"/>
            </a:pPr>
            <a:r>
              <a:rPr lang="es-ES" sz="2000" b="1" dirty="0">
                <a:solidFill>
                  <a:srgbClr val="EE4639"/>
                </a:solidFill>
                <a:latin typeface="Graphik Bold" panose="020B0503030202060203" pitchFamily="34" charset="77"/>
                <a:cs typeface="Calibri" charset="0"/>
              </a:rPr>
              <a:t>+ 04.</a:t>
            </a:r>
            <a:br>
              <a:rPr lang="es-ES" sz="1600" b="1" dirty="0">
                <a:solidFill>
                  <a:srgbClr val="EE4639"/>
                </a:solidFill>
                <a:latin typeface="Calibri" charset="0"/>
                <a:cs typeface="Calibri" charset="0"/>
              </a:rPr>
            </a:br>
            <a:r>
              <a:rPr lang="es-PE" sz="1600" b="1" dirty="0">
                <a:solidFill>
                  <a:srgbClr val="EE4639"/>
                </a:solidFill>
                <a:latin typeface="Calibri" charset="0"/>
                <a:cs typeface="Calibri" charset="0"/>
                <a:sym typeface="Calibri"/>
              </a:rPr>
              <a:t>OBJETO DE PRUEBA</a:t>
            </a:r>
            <a:endParaRPr lang="es-PE" sz="1600" b="1" dirty="0">
              <a:solidFill>
                <a:srgbClr val="EE4639"/>
              </a:solidFill>
              <a:latin typeface="Calibri" charset="0"/>
              <a:cs typeface="Calibri" charset="0"/>
            </a:endParaRPr>
          </a:p>
          <a:p>
            <a:pPr marL="177800" marR="0" lvl="0" indent="-177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s-PE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Sistema de Bolsa de Trabajo en Línea con las siguientes funcionalidades:</a:t>
            </a:r>
            <a:endParaRPr lang="es-PE" sz="1500" dirty="0"/>
          </a:p>
          <a:p>
            <a:pPr marL="285750" marR="0" lvl="0" indent="-18415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lang="es-PE" sz="15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1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5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Membresías</a:t>
            </a:r>
            <a:endParaRPr lang="es-PE" sz="1500" dirty="0"/>
          </a:p>
          <a:p>
            <a:pPr marL="177800" marR="0" lvl="2" indent="-177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s-PE" sz="15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Ingreso (Login) de Usuarios – Debe solicitar el nombre de usuario y contraseña. Debe haber una opción de recordar usuario. Una vez ingresado al sistema, se debe redirigir por defecto a “Búsqueda de Empleo”.</a:t>
            </a:r>
            <a:endParaRPr lang="es-PE" sz="1500" dirty="0"/>
          </a:p>
          <a:p>
            <a:pPr marL="177800" marR="0" lvl="2" indent="-177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s-PE" sz="15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Recuperación de Contraseñas – Se podrá recuperar una contraseña ingresando el nombre de usuario.</a:t>
            </a:r>
            <a:endParaRPr lang="es-PE" sz="1500" dirty="0"/>
          </a:p>
          <a:p>
            <a:pPr marL="177800" marR="0" lvl="2" indent="-177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s-PE" sz="15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Registro de nuevos usuarios – Solicita el Nombre y Apellido, a continuación debe solicitar un usuario, contraseña (Longitud mínima: 7, caracteres no-alfanuméricos requeridos: 1) el e-mail. Una vez registrado debe solicitar el perfil: Postulante o Empresa.</a:t>
            </a:r>
            <a:endParaRPr lang="es-PE" sz="1500" dirty="0"/>
          </a:p>
          <a:p>
            <a:pPr marL="177800" marR="0" lvl="2" indent="-177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s-PE" sz="15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Cambio de Contraseña – permite el cambio de contraseña siempre que se conozca la contraseña anterior.</a:t>
            </a:r>
            <a:endParaRPr lang="es-PE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>
            <a:extLst>
              <a:ext uri="{FF2B5EF4-FFF2-40B4-BE49-F238E27FC236}">
                <a16:creationId xmlns:a16="http://schemas.microsoft.com/office/drawing/2014/main" id="{96F13058-4B37-2E43-A572-3833161AFCA2}"/>
              </a:ext>
            </a:extLst>
          </p:cNvPr>
          <p:cNvSpPr/>
          <p:nvPr/>
        </p:nvSpPr>
        <p:spPr>
          <a:xfrm>
            <a:off x="503238" y="376232"/>
            <a:ext cx="3300666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/>
              </a:rPr>
              <a:t>EJECUCIÓN DE PRUEBAS</a:t>
            </a:r>
            <a:endParaRPr lang="es-PE" sz="1000" dirty="0">
              <a:solidFill>
                <a:schemeClr val="bg1">
                  <a:lumMod val="6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A96FA21E-44A1-9847-B85C-83AABF13C90B}"/>
              </a:ext>
            </a:extLst>
          </p:cNvPr>
          <p:cNvSpPr/>
          <p:nvPr/>
        </p:nvSpPr>
        <p:spPr>
          <a:xfrm>
            <a:off x="503236" y="916472"/>
            <a:ext cx="7636423" cy="27084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buSzPts val="1600"/>
            </a:pPr>
            <a:r>
              <a:rPr lang="es-ES" sz="2000" b="1" dirty="0">
                <a:solidFill>
                  <a:srgbClr val="EE4639"/>
                </a:solidFill>
                <a:latin typeface="Graphik Bold" panose="020B0503030202060203" pitchFamily="34" charset="77"/>
                <a:cs typeface="Calibri" charset="0"/>
              </a:rPr>
              <a:t>+ 04.</a:t>
            </a:r>
            <a:br>
              <a:rPr lang="es-ES" sz="1600" b="1" dirty="0">
                <a:solidFill>
                  <a:srgbClr val="EE4639"/>
                </a:solidFill>
                <a:latin typeface="Calibri" charset="0"/>
                <a:cs typeface="Calibri" charset="0"/>
              </a:rPr>
            </a:br>
            <a:r>
              <a:rPr lang="es-PE" sz="1600" b="1" dirty="0">
                <a:solidFill>
                  <a:srgbClr val="EE4639"/>
                </a:solidFill>
                <a:latin typeface="Calibri" charset="0"/>
                <a:cs typeface="Calibri" charset="0"/>
                <a:sym typeface="Calibri"/>
              </a:rPr>
              <a:t>OBJETO DE PRUEBA</a:t>
            </a:r>
            <a:endParaRPr lang="es-PE" sz="15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1113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5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Postulantes</a:t>
            </a:r>
            <a:endParaRPr lang="es-PE" sz="1500" dirty="0"/>
          </a:p>
          <a:p>
            <a:pPr marL="134938" marR="0" lvl="1" indent="-2222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lang="es-PE" sz="1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7800" marR="0" lvl="2" indent="-177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s-PE" sz="15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Colocación de CV </a:t>
            </a:r>
            <a:r>
              <a:rPr lang="es-PE" sz="15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– Debe permitir ingresar:  Detalles del Empleo, Tipo de trabajo deseado (Tiempo Completo, Tiempo Parcial, Contrato), Ubicación (ciudad, país, estado, relocalización aceptable). Nivel de Educación y Nivel de experiencia. Texto de currículum.</a:t>
            </a:r>
            <a:endParaRPr lang="es-PE" sz="1500" dirty="0"/>
          </a:p>
          <a:p>
            <a:pPr marL="177800" marR="0" lvl="2" indent="-177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endParaRPr lang="es-PE" sz="15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7800" marR="0" lvl="2" indent="-177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s-PE" sz="15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Búsqueda de empleo </a:t>
            </a:r>
            <a:r>
              <a:rPr lang="es-PE" sz="15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– Debe colocar: Habilidades, Seleccionar País y Estado, escribir ciudad.</a:t>
            </a:r>
            <a:endParaRPr lang="es-PE" sz="1500" dirty="0"/>
          </a:p>
          <a:p>
            <a:pPr marL="177800" marR="0" lvl="2" indent="-177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endParaRPr lang="es-PE" sz="15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7800" marR="0" lvl="2" indent="-177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s-PE" sz="15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Favoritos</a:t>
            </a:r>
            <a:r>
              <a:rPr lang="es-PE" sz="15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– Ver Empleos favoritos, Búsquedas favoritas.</a:t>
            </a:r>
            <a:endParaRPr lang="es-PE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>
            <a:extLst>
              <a:ext uri="{FF2B5EF4-FFF2-40B4-BE49-F238E27FC236}">
                <a16:creationId xmlns:a16="http://schemas.microsoft.com/office/drawing/2014/main" id="{271C3920-2E10-B548-9FB3-130C2C097209}"/>
              </a:ext>
            </a:extLst>
          </p:cNvPr>
          <p:cNvSpPr/>
          <p:nvPr/>
        </p:nvSpPr>
        <p:spPr>
          <a:xfrm>
            <a:off x="503238" y="376232"/>
            <a:ext cx="3300666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/>
              </a:rPr>
              <a:t>EJECUCIÓN DE PRUEBAS</a:t>
            </a:r>
            <a:endParaRPr lang="es-PE" sz="1000" dirty="0">
              <a:solidFill>
                <a:schemeClr val="bg1">
                  <a:lumMod val="6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62D008D5-12B0-434D-B4A1-82D964F4319A}"/>
              </a:ext>
            </a:extLst>
          </p:cNvPr>
          <p:cNvSpPr/>
          <p:nvPr/>
        </p:nvSpPr>
        <p:spPr>
          <a:xfrm>
            <a:off x="503236" y="916472"/>
            <a:ext cx="7636423" cy="36317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buSzPts val="1600"/>
            </a:pPr>
            <a:r>
              <a:rPr lang="es-ES" sz="2000" b="1" dirty="0">
                <a:solidFill>
                  <a:srgbClr val="EE4639"/>
                </a:solidFill>
                <a:latin typeface="Graphik Bold" panose="020B0503030202060203" pitchFamily="34" charset="77"/>
                <a:cs typeface="Calibri" charset="0"/>
              </a:rPr>
              <a:t>+ 04.</a:t>
            </a:r>
            <a:br>
              <a:rPr lang="es-ES" sz="1600" b="1" dirty="0">
                <a:solidFill>
                  <a:srgbClr val="EE4639"/>
                </a:solidFill>
                <a:latin typeface="Calibri" charset="0"/>
                <a:cs typeface="Calibri" charset="0"/>
              </a:rPr>
            </a:br>
            <a:r>
              <a:rPr lang="es-PE" sz="1600" b="1" dirty="0">
                <a:solidFill>
                  <a:srgbClr val="EE4639"/>
                </a:solidFill>
                <a:latin typeface="Calibri" charset="0"/>
                <a:cs typeface="Calibri" charset="0"/>
                <a:sym typeface="Calibri"/>
              </a:rPr>
              <a:t>OBJETO DE PRUEBA</a:t>
            </a:r>
            <a:endParaRPr lang="es-PE" sz="15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1113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5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Empresas</a:t>
            </a:r>
            <a:endParaRPr lang="es-PE" sz="1500" dirty="0"/>
          </a:p>
          <a:p>
            <a:pPr marL="134938" marR="0" lvl="2" indent="-2222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lang="es-PE" sz="1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9388" marR="0" lvl="2" indent="-179388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s-PE" sz="15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Colocar ofertas </a:t>
            </a:r>
            <a:r>
              <a:rPr lang="es-PE" sz="15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– Coloque: Título, Persona de Contacto, Departamento, Código de Empleo, País, Estado, Nivel de Educación, Tipo de Trabajo (Tiempo Completo, Tiempo Parcial, Contrato). Salario Mínimo y Máximo, Descripción. Para colocar una oferta de empleo debe haber completado el perfil de la compañía. </a:t>
            </a:r>
            <a:endParaRPr lang="es-PE" sz="1500" dirty="0"/>
          </a:p>
          <a:p>
            <a:pPr marL="179388" marR="0" lvl="2" indent="-77788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endParaRPr lang="es-PE" sz="15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9388" marR="0" lvl="2" indent="-179388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s-PE" sz="15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Buscar CV</a:t>
            </a:r>
            <a:endParaRPr lang="es-PE" sz="1500" dirty="0"/>
          </a:p>
          <a:p>
            <a:pPr marL="179388" marR="0" lvl="2" indent="-77788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endParaRPr lang="es-PE" sz="15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9388" marR="0" lvl="2" indent="-179388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s-PE" sz="15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Perfil de Compañía </a:t>
            </a:r>
            <a:r>
              <a:rPr lang="es-PE" sz="15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– Debe colocar el nombre de la compañía, perfil, Dirección, Ciudad, País, Estado, ZIP (5 dígitos), Teléfono (111-111-1111), Fax (111-111-1111), Correo, </a:t>
            </a:r>
            <a:r>
              <a:rPr lang="es-PE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Página</a:t>
            </a:r>
            <a:r>
              <a:rPr lang="es-PE" sz="15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Web.</a:t>
            </a:r>
            <a:endParaRPr lang="es-PE" sz="1500" dirty="0"/>
          </a:p>
          <a:p>
            <a:pPr marL="179388" marR="0" lvl="2" indent="-77788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endParaRPr lang="es-PE" sz="15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9388" marR="0" lvl="2" indent="-179388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s-PE" sz="15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Favoritos</a:t>
            </a:r>
            <a:endParaRPr lang="es-PE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4"/>
          <p:cNvSpPr/>
          <p:nvPr/>
        </p:nvSpPr>
        <p:spPr>
          <a:xfrm>
            <a:off x="503238" y="912813"/>
            <a:ext cx="3889375" cy="3277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s-PE" sz="1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¿CÓMO REPORTAR UN DEFECTO EN JIRA?</a:t>
            </a:r>
            <a:endParaRPr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7800" marR="0" lvl="0" indent="-177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PE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Para consultar la lista de defectos reportados.</a:t>
            </a:r>
            <a:endParaRPr dirty="0"/>
          </a:p>
          <a:p>
            <a:pPr marL="177800" marR="0" lvl="0" indent="-177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7800" marR="0" lvl="0" indent="-177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PE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Ir a la opción: Issues/Search for Issues.</a:t>
            </a:r>
            <a:endParaRPr dirty="0"/>
          </a:p>
          <a:p>
            <a:pPr marL="177800" marR="0" lvl="0" indent="-177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7800" marR="0" lvl="0" indent="-177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PE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Opción “Reported by Me” muestra los defectos reportados por el usuario actual.</a:t>
            </a:r>
            <a:endParaRPr dirty="0"/>
          </a:p>
          <a:p>
            <a:pPr marL="177800" marR="0" lvl="0" indent="-177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7800" marR="0" lvl="0" indent="-177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PE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Opción “All Issues” muestra todos los defectos reportados. Filtrar por Project (Proyecto), Type (Tipo de Issue), Status (Estado).</a:t>
            </a:r>
            <a:endParaRPr dirty="0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D47C6024-3592-9147-B4EF-F2811EC5BFAB}"/>
              </a:ext>
            </a:extLst>
          </p:cNvPr>
          <p:cNvSpPr/>
          <p:nvPr/>
        </p:nvSpPr>
        <p:spPr>
          <a:xfrm>
            <a:off x="503238" y="376232"/>
            <a:ext cx="3300666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/>
              </a:rPr>
              <a:t>EJECUCIÓN DE PRUEBAS</a:t>
            </a:r>
            <a:endParaRPr lang="es-PE" sz="1000" dirty="0">
              <a:solidFill>
                <a:schemeClr val="bg1">
                  <a:lumMod val="6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06DF625-0659-894A-9DA3-9C2E7164D66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4174" t="4123" r="21857"/>
          <a:stretch/>
        </p:blipFill>
        <p:spPr>
          <a:xfrm>
            <a:off x="4572000" y="912813"/>
            <a:ext cx="3646488" cy="432117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F59CE109-265B-AE45-81FE-68D9D76A2A24}"/>
              </a:ext>
            </a:extLst>
          </p:cNvPr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8087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4774218-BDC0-1F49-B686-273086595C12}"/>
              </a:ext>
            </a:extLst>
          </p:cNvPr>
          <p:cNvSpPr txBox="1"/>
          <p:nvPr/>
        </p:nvSpPr>
        <p:spPr>
          <a:xfrm>
            <a:off x="1008063" y="3169972"/>
            <a:ext cx="5993558" cy="7755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2800" dirty="0">
                <a:solidFill>
                  <a:schemeClr val="bg1"/>
                </a:solidFill>
                <a:latin typeface="Graphik Regular" charset="0"/>
                <a:ea typeface="Graphik Regular" charset="0"/>
                <a:cs typeface="Graphik Regular" charset="0"/>
              </a:rPr>
              <a:t>SEGUIMIENTO</a:t>
            </a:r>
            <a:br>
              <a:rPr lang="es-PE" sz="2800" b="1" dirty="0">
                <a:solidFill>
                  <a:schemeClr val="bg1"/>
                </a:solidFill>
                <a:latin typeface="Calibri"/>
                <a:cs typeface="Calibri"/>
              </a:rPr>
            </a:br>
            <a:r>
              <a:rPr lang="es-PE" sz="2800" b="1" dirty="0">
                <a:solidFill>
                  <a:schemeClr val="bg1"/>
                </a:solidFill>
                <a:latin typeface="Graphik Bold" charset="0"/>
                <a:ea typeface="Graphik Bold" charset="0"/>
                <a:cs typeface="Graphik Bold" charset="0"/>
              </a:rPr>
              <a:t>DE PRUEBAS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78767FC3-1434-7149-8420-17B2691664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063" y="2869612"/>
            <a:ext cx="195423" cy="20125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>
            <a:extLst>
              <a:ext uri="{FF2B5EF4-FFF2-40B4-BE49-F238E27FC236}">
                <a16:creationId xmlns:a16="http://schemas.microsoft.com/office/drawing/2014/main" id="{D974E6B2-5D5B-0D4B-AB5D-ADAB1DF10B86}"/>
              </a:ext>
            </a:extLst>
          </p:cNvPr>
          <p:cNvSpPr/>
          <p:nvPr/>
        </p:nvSpPr>
        <p:spPr>
          <a:xfrm>
            <a:off x="503238" y="376232"/>
            <a:ext cx="3300666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/>
              </a:rPr>
              <a:t>SEGUIMIENTO DE PRUEBAS</a:t>
            </a:r>
            <a:endParaRPr lang="es-PE" sz="1000" dirty="0">
              <a:solidFill>
                <a:schemeClr val="bg1">
                  <a:lumMod val="6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89" name="Grupo 88">
            <a:extLst>
              <a:ext uri="{FF2B5EF4-FFF2-40B4-BE49-F238E27FC236}">
                <a16:creationId xmlns:a16="http://schemas.microsoft.com/office/drawing/2014/main" id="{67B8D567-B93D-7840-A789-D84D0C4DAB97}"/>
              </a:ext>
            </a:extLst>
          </p:cNvPr>
          <p:cNvGrpSpPr/>
          <p:nvPr/>
        </p:nvGrpSpPr>
        <p:grpSpPr>
          <a:xfrm>
            <a:off x="1796928" y="514731"/>
            <a:ext cx="6878760" cy="4719257"/>
            <a:chOff x="1531957" y="695681"/>
            <a:chExt cx="7004014" cy="4805189"/>
          </a:xfrm>
        </p:grpSpPr>
        <p:cxnSp>
          <p:nvCxnSpPr>
            <p:cNvPr id="47" name="Conector recto de flecha 46">
              <a:extLst>
                <a:ext uri="{FF2B5EF4-FFF2-40B4-BE49-F238E27FC236}">
                  <a16:creationId xmlns:a16="http://schemas.microsoft.com/office/drawing/2014/main" id="{02FC8807-A585-2541-82B0-984F87BE2FD2}"/>
                </a:ext>
              </a:extLst>
            </p:cNvPr>
            <p:cNvCxnSpPr>
              <a:cxnSpLocks/>
            </p:cNvCxnSpPr>
            <p:nvPr/>
          </p:nvCxnSpPr>
          <p:spPr>
            <a:xfrm>
              <a:off x="4327243" y="3126702"/>
              <a:ext cx="0" cy="189600"/>
            </a:xfrm>
            <a:prstGeom prst="straightConnector1">
              <a:avLst/>
            </a:prstGeom>
            <a:ln w="19050">
              <a:solidFill>
                <a:srgbClr val="808799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Rectángulo redondeado 5">
              <a:extLst>
                <a:ext uri="{FF2B5EF4-FFF2-40B4-BE49-F238E27FC236}">
                  <a16:creationId xmlns:a16="http://schemas.microsoft.com/office/drawing/2014/main" id="{8D4E9DA8-99EE-9445-A4C8-EC3DF186D1F5}"/>
                </a:ext>
              </a:extLst>
            </p:cNvPr>
            <p:cNvSpPr/>
            <p:nvPr/>
          </p:nvSpPr>
          <p:spPr>
            <a:xfrm>
              <a:off x="5104918" y="1119658"/>
              <a:ext cx="1384618" cy="148247"/>
            </a:xfrm>
            <a:prstGeom prst="roundRect">
              <a:avLst>
                <a:gd name="adj" fmla="val 26450"/>
              </a:avLst>
            </a:prstGeom>
            <a:solidFill>
              <a:srgbClr val="00B1C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1" hangingPunct="1">
                <a:defRPr/>
              </a:pPr>
              <a:r>
                <a:rPr lang="es-PE" sz="700" dirty="0">
                  <a:solidFill>
                    <a:schemeClr val="bg1"/>
                  </a:solidFill>
                  <a:latin typeface="Calibri" charset="0"/>
                  <a:ea typeface="Calibri" charset="0"/>
                  <a:cs typeface="Calibri" charset="0"/>
                </a:rPr>
                <a:t>QA Encuentra un defecto</a:t>
              </a:r>
            </a:p>
          </p:txBody>
        </p:sp>
        <p:sp>
          <p:nvSpPr>
            <p:cNvPr id="2" name="Elipse 1">
              <a:extLst>
                <a:ext uri="{FF2B5EF4-FFF2-40B4-BE49-F238E27FC236}">
                  <a16:creationId xmlns:a16="http://schemas.microsoft.com/office/drawing/2014/main" id="{EDAFF34F-7922-2A45-A7CB-65F62F8B7C54}"/>
                </a:ext>
              </a:extLst>
            </p:cNvPr>
            <p:cNvSpPr/>
            <p:nvPr/>
          </p:nvSpPr>
          <p:spPr>
            <a:xfrm>
              <a:off x="5014803" y="695681"/>
              <a:ext cx="1564849" cy="226243"/>
            </a:xfrm>
            <a:prstGeom prst="ellipse">
              <a:avLst/>
            </a:prstGeom>
            <a:solidFill>
              <a:srgbClr val="00B1C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PE" sz="700" dirty="0">
                  <a:solidFill>
                    <a:schemeClr val="bg1"/>
                  </a:solidFill>
                  <a:latin typeface="Calibri" charset="0"/>
                  <a:ea typeface="Calibri" charset="0"/>
                  <a:cs typeface="Calibri" charset="0"/>
                </a:rPr>
                <a:t>QA ejecuta Pruebas</a:t>
              </a:r>
            </a:p>
          </p:txBody>
        </p:sp>
        <p:sp>
          <p:nvSpPr>
            <p:cNvPr id="8" name="Rectángulo redondeado 7">
              <a:extLst>
                <a:ext uri="{FF2B5EF4-FFF2-40B4-BE49-F238E27FC236}">
                  <a16:creationId xmlns:a16="http://schemas.microsoft.com/office/drawing/2014/main" id="{BC616D6B-94A1-D342-A070-64E19DEB3F5B}"/>
                </a:ext>
              </a:extLst>
            </p:cNvPr>
            <p:cNvSpPr/>
            <p:nvPr/>
          </p:nvSpPr>
          <p:spPr>
            <a:xfrm>
              <a:off x="3630185" y="1704121"/>
              <a:ext cx="1384618" cy="214235"/>
            </a:xfrm>
            <a:prstGeom prst="roundRect">
              <a:avLst>
                <a:gd name="adj" fmla="val 19850"/>
              </a:avLst>
            </a:prstGeom>
            <a:solidFill>
              <a:srgbClr val="00B1C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1" hangingPunct="1">
                <a:defRPr/>
              </a:pPr>
              <a:r>
                <a:rPr lang="es-PE" sz="700" dirty="0">
                  <a:solidFill>
                    <a:schemeClr val="bg1"/>
                  </a:solidFill>
                  <a:latin typeface="Calibri" charset="0"/>
                  <a:ea typeface="Calibri" charset="0"/>
                  <a:cs typeface="Calibri" charset="0"/>
                </a:rPr>
                <a:t>QA registra el defecto</a:t>
              </a:r>
            </a:p>
          </p:txBody>
        </p:sp>
        <p:sp>
          <p:nvSpPr>
            <p:cNvPr id="9" name="Rectángulo redondeado 8">
              <a:extLst>
                <a:ext uri="{FF2B5EF4-FFF2-40B4-BE49-F238E27FC236}">
                  <a16:creationId xmlns:a16="http://schemas.microsoft.com/office/drawing/2014/main" id="{80D4AC95-9C9A-514A-B91D-1B7F01294F33}"/>
                </a:ext>
              </a:extLst>
            </p:cNvPr>
            <p:cNvSpPr/>
            <p:nvPr/>
          </p:nvSpPr>
          <p:spPr>
            <a:xfrm>
              <a:off x="3648544" y="2019918"/>
              <a:ext cx="1384618" cy="226243"/>
            </a:xfrm>
            <a:prstGeom prst="roundRect">
              <a:avLst>
                <a:gd name="adj" fmla="val 19850"/>
              </a:avLst>
            </a:prstGeom>
            <a:solidFill>
              <a:srgbClr val="00B1C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1" hangingPunct="1">
                <a:defRPr/>
              </a:pPr>
              <a:r>
                <a:rPr lang="es-PE" sz="700" dirty="0">
                  <a:solidFill>
                    <a:schemeClr val="bg1"/>
                  </a:solidFill>
                  <a:latin typeface="Calibri" charset="0"/>
                  <a:ea typeface="Calibri" charset="0"/>
                  <a:cs typeface="Calibri" charset="0"/>
                </a:rPr>
                <a:t>QA asigna el defecto al autor </a:t>
              </a:r>
              <a:br>
                <a:rPr lang="es-PE" sz="700" dirty="0">
                  <a:solidFill>
                    <a:schemeClr val="bg1"/>
                  </a:solidFill>
                  <a:latin typeface="Calibri" charset="0"/>
                  <a:ea typeface="Calibri" charset="0"/>
                  <a:cs typeface="Calibri" charset="0"/>
                </a:rPr>
              </a:br>
              <a:r>
                <a:rPr lang="es-PE" sz="700" dirty="0">
                  <a:solidFill>
                    <a:schemeClr val="bg1"/>
                  </a:solidFill>
                  <a:latin typeface="Calibri" charset="0"/>
                  <a:ea typeface="Calibri" charset="0"/>
                  <a:cs typeface="Calibri" charset="0"/>
                </a:rPr>
                <a:t>o desarrollador</a:t>
              </a:r>
            </a:p>
          </p:txBody>
        </p:sp>
        <p:sp>
          <p:nvSpPr>
            <p:cNvPr id="10" name="Rectángulo redondeado 9">
              <a:extLst>
                <a:ext uri="{FF2B5EF4-FFF2-40B4-BE49-F238E27FC236}">
                  <a16:creationId xmlns:a16="http://schemas.microsoft.com/office/drawing/2014/main" id="{503E7F1B-3DA5-044F-AACB-7F48B82BC2FC}"/>
                </a:ext>
              </a:extLst>
            </p:cNvPr>
            <p:cNvSpPr/>
            <p:nvPr/>
          </p:nvSpPr>
          <p:spPr>
            <a:xfrm>
              <a:off x="3308313" y="2451835"/>
              <a:ext cx="2027257" cy="226243"/>
            </a:xfrm>
            <a:prstGeom prst="roundRect">
              <a:avLst>
                <a:gd name="adj" fmla="val 19850"/>
              </a:avLst>
            </a:prstGeom>
            <a:solidFill>
              <a:srgbClr val="00B1C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1" hangingPunct="1">
                <a:defRPr/>
              </a:pPr>
              <a:r>
                <a:rPr lang="es-PE" sz="700" dirty="0">
                  <a:solidFill>
                    <a:schemeClr val="bg1"/>
                  </a:solidFill>
                  <a:latin typeface="Calibri" charset="0"/>
                  <a:ea typeface="Calibri" charset="0"/>
                  <a:cs typeface="Calibri" charset="0"/>
                </a:rPr>
                <a:t>El defecto es revisado.</a:t>
              </a:r>
            </a:p>
            <a:p>
              <a:pPr algn="ctr" eaLnBrk="1" hangingPunct="1">
                <a:defRPr/>
              </a:pPr>
              <a:r>
                <a:rPr lang="es-PE" sz="700" dirty="0">
                  <a:solidFill>
                    <a:schemeClr val="bg1"/>
                  </a:solidFill>
                  <a:latin typeface="Calibri" charset="0"/>
                  <a:ea typeface="Calibri" charset="0"/>
                  <a:cs typeface="Calibri" charset="0"/>
                </a:rPr>
                <a:t>¿El defecto tiene suficiente información?</a:t>
              </a:r>
            </a:p>
          </p:txBody>
        </p:sp>
        <p:sp>
          <p:nvSpPr>
            <p:cNvPr id="12" name="Rectángulo redondeado 11">
              <a:extLst>
                <a:ext uri="{FF2B5EF4-FFF2-40B4-BE49-F238E27FC236}">
                  <a16:creationId xmlns:a16="http://schemas.microsoft.com/office/drawing/2014/main" id="{AE1AA8D1-9FF1-2144-B0AC-91C642900047}"/>
                </a:ext>
              </a:extLst>
            </p:cNvPr>
            <p:cNvSpPr/>
            <p:nvPr/>
          </p:nvSpPr>
          <p:spPr>
            <a:xfrm>
              <a:off x="3308313" y="4143946"/>
              <a:ext cx="2027257" cy="226243"/>
            </a:xfrm>
            <a:prstGeom prst="roundRect">
              <a:avLst>
                <a:gd name="adj" fmla="val 19850"/>
              </a:avLst>
            </a:prstGeom>
            <a:solidFill>
              <a:srgbClr val="00B1C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1" hangingPunct="1">
                <a:defRPr/>
              </a:pPr>
              <a:r>
                <a:rPr lang="es-PE" sz="700" dirty="0">
                  <a:solidFill>
                    <a:schemeClr val="bg1"/>
                  </a:solidFill>
                  <a:latin typeface="Calibri" charset="0"/>
                  <a:ea typeface="Calibri" charset="0"/>
                  <a:cs typeface="Calibri" charset="0"/>
                </a:rPr>
                <a:t>El defecto es asignado al desarrollador apropiado para su arreglo</a:t>
              </a:r>
            </a:p>
          </p:txBody>
        </p:sp>
        <p:sp>
          <p:nvSpPr>
            <p:cNvPr id="16" name="Rectángulo redondeado 15">
              <a:extLst>
                <a:ext uri="{FF2B5EF4-FFF2-40B4-BE49-F238E27FC236}">
                  <a16:creationId xmlns:a16="http://schemas.microsoft.com/office/drawing/2014/main" id="{C92A7450-3091-8F43-A8E2-2E6CFFBB9D14}"/>
                </a:ext>
              </a:extLst>
            </p:cNvPr>
            <p:cNvSpPr/>
            <p:nvPr/>
          </p:nvSpPr>
          <p:spPr>
            <a:xfrm>
              <a:off x="5537985" y="3952208"/>
              <a:ext cx="1932758" cy="285140"/>
            </a:xfrm>
            <a:prstGeom prst="roundRect">
              <a:avLst>
                <a:gd name="adj" fmla="val 19850"/>
              </a:avLst>
            </a:prstGeom>
            <a:solidFill>
              <a:srgbClr val="00B1C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1" hangingPunct="1">
                <a:defRPr/>
              </a:pPr>
              <a:r>
                <a:rPr lang="es-PE" sz="700" dirty="0">
                  <a:solidFill>
                    <a:schemeClr val="bg1"/>
                  </a:solidFill>
                  <a:latin typeface="Calibri" charset="0"/>
                  <a:ea typeface="Calibri" charset="0"/>
                  <a:cs typeface="Calibri" charset="0"/>
                </a:rPr>
                <a:t>El desarrollador revisa el Defecto.</a:t>
              </a:r>
            </a:p>
            <a:p>
              <a:pPr algn="ctr" eaLnBrk="1" hangingPunct="1">
                <a:defRPr/>
              </a:pPr>
              <a:r>
                <a:rPr lang="es-PE" sz="700" dirty="0">
                  <a:solidFill>
                    <a:schemeClr val="bg1"/>
                  </a:solidFill>
                  <a:latin typeface="Calibri" charset="0"/>
                  <a:ea typeface="Calibri" charset="0"/>
                  <a:cs typeface="Calibri" charset="0"/>
                </a:rPr>
                <a:t>¿El defecto tiene suficiente información?</a:t>
              </a:r>
            </a:p>
          </p:txBody>
        </p:sp>
        <p:sp>
          <p:nvSpPr>
            <p:cNvPr id="17" name="Rectángulo redondeado 16">
              <a:extLst>
                <a:ext uri="{FF2B5EF4-FFF2-40B4-BE49-F238E27FC236}">
                  <a16:creationId xmlns:a16="http://schemas.microsoft.com/office/drawing/2014/main" id="{612D8333-562A-4C44-9B38-25E2E8B7A7BF}"/>
                </a:ext>
              </a:extLst>
            </p:cNvPr>
            <p:cNvSpPr/>
            <p:nvPr/>
          </p:nvSpPr>
          <p:spPr>
            <a:xfrm>
              <a:off x="6189482" y="3265209"/>
              <a:ext cx="1384618" cy="285140"/>
            </a:xfrm>
            <a:prstGeom prst="roundRect">
              <a:avLst>
                <a:gd name="adj" fmla="val 19850"/>
              </a:avLst>
            </a:prstGeom>
            <a:solidFill>
              <a:srgbClr val="00B1C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1" hangingPunct="1">
                <a:defRPr/>
              </a:pPr>
              <a:r>
                <a:rPr lang="es-PE" sz="700" dirty="0">
                  <a:solidFill>
                    <a:schemeClr val="bg1"/>
                  </a:solidFill>
                  <a:latin typeface="Calibri" charset="0"/>
                  <a:ea typeface="Calibri" charset="0"/>
                  <a:cs typeface="Calibri" charset="0"/>
                </a:rPr>
                <a:t>El productor lo difiere a un</a:t>
              </a:r>
            </a:p>
            <a:p>
              <a:pPr algn="ctr" eaLnBrk="1" hangingPunct="1">
                <a:defRPr/>
              </a:pPr>
              <a:r>
                <a:rPr lang="es-PE" sz="700" dirty="0">
                  <a:solidFill>
                    <a:schemeClr val="bg1"/>
                  </a:solidFill>
                  <a:latin typeface="Calibri" charset="0"/>
                  <a:ea typeface="Calibri" charset="0"/>
                  <a:cs typeface="Calibri" charset="0"/>
                </a:rPr>
                <a:t>Siguiente Posterior</a:t>
              </a:r>
            </a:p>
          </p:txBody>
        </p:sp>
        <p:sp>
          <p:nvSpPr>
            <p:cNvPr id="18" name="Rectángulo redondeado 17">
              <a:extLst>
                <a:ext uri="{FF2B5EF4-FFF2-40B4-BE49-F238E27FC236}">
                  <a16:creationId xmlns:a16="http://schemas.microsoft.com/office/drawing/2014/main" id="{EC2A0C77-7795-B147-A3FC-4FDE532D97D0}"/>
                </a:ext>
              </a:extLst>
            </p:cNvPr>
            <p:cNvSpPr/>
            <p:nvPr/>
          </p:nvSpPr>
          <p:spPr>
            <a:xfrm>
              <a:off x="6551613" y="2564956"/>
              <a:ext cx="1659133" cy="226243"/>
            </a:xfrm>
            <a:prstGeom prst="roundRect">
              <a:avLst>
                <a:gd name="adj" fmla="val 19850"/>
              </a:avLst>
            </a:prstGeom>
            <a:solidFill>
              <a:srgbClr val="EE46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1" hangingPunct="1">
                <a:defRPr/>
              </a:pPr>
              <a:r>
                <a:rPr lang="es-PE" sz="700" dirty="0">
                  <a:solidFill>
                    <a:schemeClr val="bg1"/>
                  </a:solidFill>
                  <a:latin typeface="Calibri" charset="0"/>
                  <a:ea typeface="Calibri" charset="0"/>
                  <a:cs typeface="Calibri" charset="0"/>
                </a:rPr>
                <a:t>El Defecto es asignado a QA requiriendo mayor información</a:t>
              </a:r>
            </a:p>
          </p:txBody>
        </p:sp>
        <p:sp>
          <p:nvSpPr>
            <p:cNvPr id="19" name="Rectángulo redondeado 18">
              <a:extLst>
                <a:ext uri="{FF2B5EF4-FFF2-40B4-BE49-F238E27FC236}">
                  <a16:creationId xmlns:a16="http://schemas.microsoft.com/office/drawing/2014/main" id="{6F887BB6-6391-3644-A848-8F8F4B723429}"/>
                </a:ext>
              </a:extLst>
            </p:cNvPr>
            <p:cNvSpPr/>
            <p:nvPr/>
          </p:nvSpPr>
          <p:spPr>
            <a:xfrm>
              <a:off x="6312043" y="2019397"/>
              <a:ext cx="2177608" cy="226243"/>
            </a:xfrm>
            <a:prstGeom prst="roundRect">
              <a:avLst>
                <a:gd name="adj" fmla="val 19850"/>
              </a:avLst>
            </a:prstGeom>
            <a:solidFill>
              <a:srgbClr val="EE46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1" hangingPunct="1">
                <a:defRPr/>
              </a:pPr>
              <a:r>
                <a:rPr lang="es-PE" sz="700" dirty="0">
                  <a:solidFill>
                    <a:schemeClr val="bg1"/>
                  </a:solidFill>
                  <a:latin typeface="Calibri" charset="0"/>
                  <a:ea typeface="Calibri" charset="0"/>
                  <a:cs typeface="Calibri" charset="0"/>
                </a:rPr>
                <a:t>QA Actualiza del defecto con información apropiada</a:t>
              </a:r>
            </a:p>
          </p:txBody>
        </p:sp>
        <p:sp>
          <p:nvSpPr>
            <p:cNvPr id="20" name="Rectángulo redondeado 19">
              <a:extLst>
                <a:ext uri="{FF2B5EF4-FFF2-40B4-BE49-F238E27FC236}">
                  <a16:creationId xmlns:a16="http://schemas.microsoft.com/office/drawing/2014/main" id="{EDDDC900-04E1-5746-8C9B-E97532260102}"/>
                </a:ext>
              </a:extLst>
            </p:cNvPr>
            <p:cNvSpPr/>
            <p:nvPr/>
          </p:nvSpPr>
          <p:spPr>
            <a:xfrm>
              <a:off x="6853279" y="926014"/>
              <a:ext cx="1234928" cy="226243"/>
            </a:xfrm>
            <a:prstGeom prst="roundRect">
              <a:avLst>
                <a:gd name="adj" fmla="val 19850"/>
              </a:avLst>
            </a:prstGeom>
            <a:solidFill>
              <a:srgbClr val="EE46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1" hangingPunct="1">
                <a:defRPr/>
              </a:pPr>
              <a:r>
                <a:rPr lang="es-PE" sz="700" dirty="0">
                  <a:solidFill>
                    <a:schemeClr val="bg1"/>
                  </a:solidFill>
                  <a:latin typeface="Calibri" charset="0"/>
                  <a:ea typeface="Calibri" charset="0"/>
                  <a:cs typeface="Calibri" charset="0"/>
                </a:rPr>
                <a:t>QA Actualiza el Defecto con Nueva información</a:t>
              </a:r>
            </a:p>
          </p:txBody>
        </p:sp>
        <p:sp>
          <p:nvSpPr>
            <p:cNvPr id="21" name="Rectángulo redondeado 20">
              <a:extLst>
                <a:ext uri="{FF2B5EF4-FFF2-40B4-BE49-F238E27FC236}">
                  <a16:creationId xmlns:a16="http://schemas.microsoft.com/office/drawing/2014/main" id="{428B7C14-C37B-6D46-B0F8-11D63B26CD68}"/>
                </a:ext>
              </a:extLst>
            </p:cNvPr>
            <p:cNvSpPr/>
            <p:nvPr/>
          </p:nvSpPr>
          <p:spPr>
            <a:xfrm>
              <a:off x="4863965" y="1382465"/>
              <a:ext cx="1866524" cy="226243"/>
            </a:xfrm>
            <a:prstGeom prst="roundRect">
              <a:avLst>
                <a:gd name="adj" fmla="val 19850"/>
              </a:avLst>
            </a:prstGeom>
            <a:solidFill>
              <a:srgbClr val="EE46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1" hangingPunct="1">
                <a:defRPr/>
              </a:pPr>
              <a:r>
                <a:rPr lang="es-PE" sz="700" dirty="0">
                  <a:solidFill>
                    <a:schemeClr val="bg1"/>
                  </a:solidFill>
                  <a:latin typeface="Calibri" charset="0"/>
                  <a:ea typeface="Calibri" charset="0"/>
                  <a:cs typeface="Calibri" charset="0"/>
                </a:rPr>
                <a:t>¿El defecto ya se encuentra registrado?</a:t>
              </a:r>
            </a:p>
          </p:txBody>
        </p:sp>
        <p:sp>
          <p:nvSpPr>
            <p:cNvPr id="3" name="Forma libre 2">
              <a:extLst>
                <a:ext uri="{FF2B5EF4-FFF2-40B4-BE49-F238E27FC236}">
                  <a16:creationId xmlns:a16="http://schemas.microsoft.com/office/drawing/2014/main" id="{91C302D5-453A-5744-9CE5-357608FB7759}"/>
                </a:ext>
              </a:extLst>
            </p:cNvPr>
            <p:cNvSpPr/>
            <p:nvPr/>
          </p:nvSpPr>
          <p:spPr>
            <a:xfrm>
              <a:off x="4058240" y="1346721"/>
              <a:ext cx="513760" cy="268664"/>
            </a:xfrm>
            <a:custGeom>
              <a:avLst/>
              <a:gdLst>
                <a:gd name="connsiteX0" fmla="*/ 0 w 513760"/>
                <a:gd name="connsiteY0" fmla="*/ 136689 h 268664"/>
                <a:gd name="connsiteX1" fmla="*/ 268663 w 513760"/>
                <a:gd name="connsiteY1" fmla="*/ 0 h 268664"/>
                <a:gd name="connsiteX2" fmla="*/ 513760 w 513760"/>
                <a:gd name="connsiteY2" fmla="*/ 146116 h 268664"/>
                <a:gd name="connsiteX3" fmla="*/ 263950 w 513760"/>
                <a:gd name="connsiteY3" fmla="*/ 268664 h 268664"/>
                <a:gd name="connsiteX4" fmla="*/ 0 w 513760"/>
                <a:gd name="connsiteY4" fmla="*/ 136689 h 268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3760" h="268664">
                  <a:moveTo>
                    <a:pt x="0" y="136689"/>
                  </a:moveTo>
                  <a:lnTo>
                    <a:pt x="268663" y="0"/>
                  </a:lnTo>
                  <a:lnTo>
                    <a:pt x="513760" y="146116"/>
                  </a:lnTo>
                  <a:lnTo>
                    <a:pt x="263950" y="268664"/>
                  </a:lnTo>
                  <a:lnTo>
                    <a:pt x="0" y="136689"/>
                  </a:lnTo>
                  <a:close/>
                </a:path>
              </a:pathLst>
            </a:custGeom>
            <a:solidFill>
              <a:srgbClr val="EE46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_tradnl" sz="700" b="1" dirty="0">
                  <a:latin typeface="Calibri" panose="020F0502020204030204" pitchFamily="34" charset="0"/>
                  <a:cs typeface="Calibri" panose="020F0502020204030204" pitchFamily="34" charset="0"/>
                </a:rPr>
                <a:t>No</a:t>
              </a:r>
            </a:p>
          </p:txBody>
        </p:sp>
        <p:sp>
          <p:nvSpPr>
            <p:cNvPr id="23" name="Forma libre 22">
              <a:extLst>
                <a:ext uri="{FF2B5EF4-FFF2-40B4-BE49-F238E27FC236}">
                  <a16:creationId xmlns:a16="http://schemas.microsoft.com/office/drawing/2014/main" id="{6DD09D79-449D-9749-9B52-A4EECDC42454}"/>
                </a:ext>
              </a:extLst>
            </p:cNvPr>
            <p:cNvSpPr/>
            <p:nvPr/>
          </p:nvSpPr>
          <p:spPr>
            <a:xfrm>
              <a:off x="4058240" y="2889644"/>
              <a:ext cx="513760" cy="268664"/>
            </a:xfrm>
            <a:custGeom>
              <a:avLst/>
              <a:gdLst>
                <a:gd name="connsiteX0" fmla="*/ 0 w 513760"/>
                <a:gd name="connsiteY0" fmla="*/ 136689 h 268664"/>
                <a:gd name="connsiteX1" fmla="*/ 268663 w 513760"/>
                <a:gd name="connsiteY1" fmla="*/ 0 h 268664"/>
                <a:gd name="connsiteX2" fmla="*/ 513760 w 513760"/>
                <a:gd name="connsiteY2" fmla="*/ 146116 h 268664"/>
                <a:gd name="connsiteX3" fmla="*/ 263950 w 513760"/>
                <a:gd name="connsiteY3" fmla="*/ 268664 h 268664"/>
                <a:gd name="connsiteX4" fmla="*/ 0 w 513760"/>
                <a:gd name="connsiteY4" fmla="*/ 136689 h 268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3760" h="268664">
                  <a:moveTo>
                    <a:pt x="0" y="136689"/>
                  </a:moveTo>
                  <a:lnTo>
                    <a:pt x="268663" y="0"/>
                  </a:lnTo>
                  <a:lnTo>
                    <a:pt x="513760" y="146116"/>
                  </a:lnTo>
                  <a:lnTo>
                    <a:pt x="263950" y="268664"/>
                  </a:lnTo>
                  <a:lnTo>
                    <a:pt x="0" y="136689"/>
                  </a:lnTo>
                  <a:close/>
                </a:path>
              </a:pathLst>
            </a:custGeom>
            <a:solidFill>
              <a:srgbClr val="92C14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_tradnl" sz="700" b="1" dirty="0">
                  <a:latin typeface="Calibri" panose="020F0502020204030204" pitchFamily="34" charset="0"/>
                  <a:cs typeface="Calibri" panose="020F0502020204030204" pitchFamily="34" charset="0"/>
                </a:rPr>
                <a:t>Si</a:t>
              </a:r>
            </a:p>
          </p:txBody>
        </p:sp>
        <p:sp>
          <p:nvSpPr>
            <p:cNvPr id="24" name="Forma libre 23">
              <a:extLst>
                <a:ext uri="{FF2B5EF4-FFF2-40B4-BE49-F238E27FC236}">
                  <a16:creationId xmlns:a16="http://schemas.microsoft.com/office/drawing/2014/main" id="{79465FD1-FBF1-D44F-AB82-BCA5C79A88C8}"/>
                </a:ext>
              </a:extLst>
            </p:cNvPr>
            <p:cNvSpPr/>
            <p:nvPr/>
          </p:nvSpPr>
          <p:spPr>
            <a:xfrm>
              <a:off x="7183226" y="1353075"/>
              <a:ext cx="513760" cy="268664"/>
            </a:xfrm>
            <a:custGeom>
              <a:avLst/>
              <a:gdLst>
                <a:gd name="connsiteX0" fmla="*/ 0 w 513760"/>
                <a:gd name="connsiteY0" fmla="*/ 136689 h 268664"/>
                <a:gd name="connsiteX1" fmla="*/ 268663 w 513760"/>
                <a:gd name="connsiteY1" fmla="*/ 0 h 268664"/>
                <a:gd name="connsiteX2" fmla="*/ 513760 w 513760"/>
                <a:gd name="connsiteY2" fmla="*/ 146116 h 268664"/>
                <a:gd name="connsiteX3" fmla="*/ 263950 w 513760"/>
                <a:gd name="connsiteY3" fmla="*/ 268664 h 268664"/>
                <a:gd name="connsiteX4" fmla="*/ 0 w 513760"/>
                <a:gd name="connsiteY4" fmla="*/ 136689 h 268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3760" h="268664">
                  <a:moveTo>
                    <a:pt x="0" y="136689"/>
                  </a:moveTo>
                  <a:lnTo>
                    <a:pt x="268663" y="0"/>
                  </a:lnTo>
                  <a:lnTo>
                    <a:pt x="513760" y="146116"/>
                  </a:lnTo>
                  <a:lnTo>
                    <a:pt x="263950" y="268664"/>
                  </a:lnTo>
                  <a:lnTo>
                    <a:pt x="0" y="136689"/>
                  </a:lnTo>
                  <a:close/>
                </a:path>
              </a:pathLst>
            </a:custGeom>
            <a:solidFill>
              <a:srgbClr val="92C14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_tradnl" sz="700" b="1" dirty="0">
                  <a:latin typeface="Calibri" panose="020F0502020204030204" pitchFamily="34" charset="0"/>
                  <a:cs typeface="Calibri" panose="020F0502020204030204" pitchFamily="34" charset="0"/>
                </a:rPr>
                <a:t>Si</a:t>
              </a:r>
            </a:p>
          </p:txBody>
        </p:sp>
        <p:sp>
          <p:nvSpPr>
            <p:cNvPr id="25" name="Forma libre 24">
              <a:extLst>
                <a:ext uri="{FF2B5EF4-FFF2-40B4-BE49-F238E27FC236}">
                  <a16:creationId xmlns:a16="http://schemas.microsoft.com/office/drawing/2014/main" id="{AE9CE441-D929-1B49-A730-0017EFF56915}"/>
                </a:ext>
              </a:extLst>
            </p:cNvPr>
            <p:cNvSpPr/>
            <p:nvPr/>
          </p:nvSpPr>
          <p:spPr>
            <a:xfrm>
              <a:off x="5542961" y="2521999"/>
              <a:ext cx="513760" cy="268664"/>
            </a:xfrm>
            <a:custGeom>
              <a:avLst/>
              <a:gdLst>
                <a:gd name="connsiteX0" fmla="*/ 0 w 513760"/>
                <a:gd name="connsiteY0" fmla="*/ 136689 h 268664"/>
                <a:gd name="connsiteX1" fmla="*/ 268663 w 513760"/>
                <a:gd name="connsiteY1" fmla="*/ 0 h 268664"/>
                <a:gd name="connsiteX2" fmla="*/ 513760 w 513760"/>
                <a:gd name="connsiteY2" fmla="*/ 146116 h 268664"/>
                <a:gd name="connsiteX3" fmla="*/ 263950 w 513760"/>
                <a:gd name="connsiteY3" fmla="*/ 268664 h 268664"/>
                <a:gd name="connsiteX4" fmla="*/ 0 w 513760"/>
                <a:gd name="connsiteY4" fmla="*/ 136689 h 268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3760" h="268664">
                  <a:moveTo>
                    <a:pt x="0" y="136689"/>
                  </a:moveTo>
                  <a:lnTo>
                    <a:pt x="268663" y="0"/>
                  </a:lnTo>
                  <a:lnTo>
                    <a:pt x="513760" y="146116"/>
                  </a:lnTo>
                  <a:lnTo>
                    <a:pt x="263950" y="268664"/>
                  </a:lnTo>
                  <a:lnTo>
                    <a:pt x="0" y="136689"/>
                  </a:lnTo>
                  <a:close/>
                </a:path>
              </a:pathLst>
            </a:custGeom>
            <a:solidFill>
              <a:srgbClr val="EE46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_tradnl" sz="700" b="1" dirty="0">
                  <a:latin typeface="Calibri" panose="020F0502020204030204" pitchFamily="34" charset="0"/>
                  <a:cs typeface="Calibri" panose="020F0502020204030204" pitchFamily="34" charset="0"/>
                </a:rPr>
                <a:t>No</a:t>
              </a:r>
            </a:p>
          </p:txBody>
        </p:sp>
        <p:sp>
          <p:nvSpPr>
            <p:cNvPr id="26" name="Forma libre 25">
              <a:extLst>
                <a:ext uri="{FF2B5EF4-FFF2-40B4-BE49-F238E27FC236}">
                  <a16:creationId xmlns:a16="http://schemas.microsoft.com/office/drawing/2014/main" id="{7E190FA4-B843-D840-8766-AC0C583FB3A5}"/>
                </a:ext>
              </a:extLst>
            </p:cNvPr>
            <p:cNvSpPr/>
            <p:nvPr/>
          </p:nvSpPr>
          <p:spPr>
            <a:xfrm>
              <a:off x="5462834" y="3280857"/>
              <a:ext cx="513760" cy="268664"/>
            </a:xfrm>
            <a:custGeom>
              <a:avLst/>
              <a:gdLst>
                <a:gd name="connsiteX0" fmla="*/ 0 w 513760"/>
                <a:gd name="connsiteY0" fmla="*/ 136689 h 268664"/>
                <a:gd name="connsiteX1" fmla="*/ 268663 w 513760"/>
                <a:gd name="connsiteY1" fmla="*/ 0 h 268664"/>
                <a:gd name="connsiteX2" fmla="*/ 513760 w 513760"/>
                <a:gd name="connsiteY2" fmla="*/ 146116 h 268664"/>
                <a:gd name="connsiteX3" fmla="*/ 263950 w 513760"/>
                <a:gd name="connsiteY3" fmla="*/ 268664 h 268664"/>
                <a:gd name="connsiteX4" fmla="*/ 0 w 513760"/>
                <a:gd name="connsiteY4" fmla="*/ 136689 h 268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3760" h="268664">
                  <a:moveTo>
                    <a:pt x="0" y="136689"/>
                  </a:moveTo>
                  <a:lnTo>
                    <a:pt x="268663" y="0"/>
                  </a:lnTo>
                  <a:lnTo>
                    <a:pt x="513760" y="146116"/>
                  </a:lnTo>
                  <a:lnTo>
                    <a:pt x="263950" y="268664"/>
                  </a:lnTo>
                  <a:lnTo>
                    <a:pt x="0" y="136689"/>
                  </a:lnTo>
                  <a:close/>
                </a:path>
              </a:pathLst>
            </a:custGeom>
            <a:solidFill>
              <a:srgbClr val="EE46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_tradnl" sz="700" b="1" dirty="0">
                  <a:latin typeface="Calibri" panose="020F0502020204030204" pitchFamily="34" charset="0"/>
                  <a:cs typeface="Calibri" panose="020F0502020204030204" pitchFamily="34" charset="0"/>
                </a:rPr>
                <a:t>No</a:t>
              </a:r>
            </a:p>
          </p:txBody>
        </p:sp>
        <p:sp>
          <p:nvSpPr>
            <p:cNvPr id="27" name="Forma libre 26">
              <a:extLst>
                <a:ext uri="{FF2B5EF4-FFF2-40B4-BE49-F238E27FC236}">
                  <a16:creationId xmlns:a16="http://schemas.microsoft.com/office/drawing/2014/main" id="{A07F6F25-1FDF-2F4E-B434-1CF3B4925BFA}"/>
                </a:ext>
              </a:extLst>
            </p:cNvPr>
            <p:cNvSpPr/>
            <p:nvPr/>
          </p:nvSpPr>
          <p:spPr>
            <a:xfrm>
              <a:off x="7720553" y="3957501"/>
              <a:ext cx="513760" cy="268664"/>
            </a:xfrm>
            <a:custGeom>
              <a:avLst/>
              <a:gdLst>
                <a:gd name="connsiteX0" fmla="*/ 0 w 513760"/>
                <a:gd name="connsiteY0" fmla="*/ 136689 h 268664"/>
                <a:gd name="connsiteX1" fmla="*/ 268663 w 513760"/>
                <a:gd name="connsiteY1" fmla="*/ 0 h 268664"/>
                <a:gd name="connsiteX2" fmla="*/ 513760 w 513760"/>
                <a:gd name="connsiteY2" fmla="*/ 146116 h 268664"/>
                <a:gd name="connsiteX3" fmla="*/ 263950 w 513760"/>
                <a:gd name="connsiteY3" fmla="*/ 268664 h 268664"/>
                <a:gd name="connsiteX4" fmla="*/ 0 w 513760"/>
                <a:gd name="connsiteY4" fmla="*/ 136689 h 268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3760" h="268664">
                  <a:moveTo>
                    <a:pt x="0" y="136689"/>
                  </a:moveTo>
                  <a:lnTo>
                    <a:pt x="268663" y="0"/>
                  </a:lnTo>
                  <a:lnTo>
                    <a:pt x="513760" y="146116"/>
                  </a:lnTo>
                  <a:lnTo>
                    <a:pt x="263950" y="268664"/>
                  </a:lnTo>
                  <a:lnTo>
                    <a:pt x="0" y="136689"/>
                  </a:lnTo>
                  <a:close/>
                </a:path>
              </a:pathLst>
            </a:custGeom>
            <a:solidFill>
              <a:srgbClr val="EE46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_tradnl" sz="700" b="1" dirty="0">
                  <a:latin typeface="Calibri" panose="020F0502020204030204" pitchFamily="34" charset="0"/>
                  <a:cs typeface="Calibri" panose="020F0502020204030204" pitchFamily="34" charset="0"/>
                </a:rPr>
                <a:t>No</a:t>
              </a:r>
            </a:p>
          </p:txBody>
        </p:sp>
        <p:sp>
          <p:nvSpPr>
            <p:cNvPr id="28" name="Forma libre 27">
              <a:extLst>
                <a:ext uri="{FF2B5EF4-FFF2-40B4-BE49-F238E27FC236}">
                  <a16:creationId xmlns:a16="http://schemas.microsoft.com/office/drawing/2014/main" id="{494B6684-3AB0-D747-BAFF-75ACE09E326D}"/>
                </a:ext>
              </a:extLst>
            </p:cNvPr>
            <p:cNvSpPr/>
            <p:nvPr/>
          </p:nvSpPr>
          <p:spPr>
            <a:xfrm>
              <a:off x="5425127" y="4421500"/>
              <a:ext cx="513760" cy="268664"/>
            </a:xfrm>
            <a:custGeom>
              <a:avLst/>
              <a:gdLst>
                <a:gd name="connsiteX0" fmla="*/ 0 w 513760"/>
                <a:gd name="connsiteY0" fmla="*/ 136689 h 268664"/>
                <a:gd name="connsiteX1" fmla="*/ 268663 w 513760"/>
                <a:gd name="connsiteY1" fmla="*/ 0 h 268664"/>
                <a:gd name="connsiteX2" fmla="*/ 513760 w 513760"/>
                <a:gd name="connsiteY2" fmla="*/ 146116 h 268664"/>
                <a:gd name="connsiteX3" fmla="*/ 263950 w 513760"/>
                <a:gd name="connsiteY3" fmla="*/ 268664 h 268664"/>
                <a:gd name="connsiteX4" fmla="*/ 0 w 513760"/>
                <a:gd name="connsiteY4" fmla="*/ 136689 h 268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3760" h="268664">
                  <a:moveTo>
                    <a:pt x="0" y="136689"/>
                  </a:moveTo>
                  <a:lnTo>
                    <a:pt x="268663" y="0"/>
                  </a:lnTo>
                  <a:lnTo>
                    <a:pt x="513760" y="146116"/>
                  </a:lnTo>
                  <a:lnTo>
                    <a:pt x="263950" y="268664"/>
                  </a:lnTo>
                  <a:lnTo>
                    <a:pt x="0" y="136689"/>
                  </a:lnTo>
                  <a:close/>
                </a:path>
              </a:pathLst>
            </a:custGeom>
            <a:solidFill>
              <a:srgbClr val="92C14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_tradnl" sz="700" b="1" dirty="0">
                  <a:latin typeface="Calibri" panose="020F0502020204030204" pitchFamily="34" charset="0"/>
                  <a:cs typeface="Calibri" panose="020F0502020204030204" pitchFamily="34" charset="0"/>
                </a:rPr>
                <a:t>Si</a:t>
              </a:r>
            </a:p>
          </p:txBody>
        </p:sp>
        <p:sp>
          <p:nvSpPr>
            <p:cNvPr id="29" name="Forma libre 28">
              <a:extLst>
                <a:ext uri="{FF2B5EF4-FFF2-40B4-BE49-F238E27FC236}">
                  <a16:creationId xmlns:a16="http://schemas.microsoft.com/office/drawing/2014/main" id="{59D8CDDE-D822-2841-922C-3A938590E080}"/>
                </a:ext>
              </a:extLst>
            </p:cNvPr>
            <p:cNvSpPr/>
            <p:nvPr/>
          </p:nvSpPr>
          <p:spPr>
            <a:xfrm>
              <a:off x="2417977" y="4671311"/>
              <a:ext cx="513760" cy="268664"/>
            </a:xfrm>
            <a:custGeom>
              <a:avLst/>
              <a:gdLst>
                <a:gd name="connsiteX0" fmla="*/ 0 w 513760"/>
                <a:gd name="connsiteY0" fmla="*/ 136689 h 268664"/>
                <a:gd name="connsiteX1" fmla="*/ 268663 w 513760"/>
                <a:gd name="connsiteY1" fmla="*/ 0 h 268664"/>
                <a:gd name="connsiteX2" fmla="*/ 513760 w 513760"/>
                <a:gd name="connsiteY2" fmla="*/ 146116 h 268664"/>
                <a:gd name="connsiteX3" fmla="*/ 263950 w 513760"/>
                <a:gd name="connsiteY3" fmla="*/ 268664 h 268664"/>
                <a:gd name="connsiteX4" fmla="*/ 0 w 513760"/>
                <a:gd name="connsiteY4" fmla="*/ 136689 h 268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3760" h="268664">
                  <a:moveTo>
                    <a:pt x="0" y="136689"/>
                  </a:moveTo>
                  <a:lnTo>
                    <a:pt x="268663" y="0"/>
                  </a:lnTo>
                  <a:lnTo>
                    <a:pt x="513760" y="146116"/>
                  </a:lnTo>
                  <a:lnTo>
                    <a:pt x="263950" y="268664"/>
                  </a:lnTo>
                  <a:lnTo>
                    <a:pt x="0" y="136689"/>
                  </a:lnTo>
                  <a:close/>
                </a:path>
              </a:pathLst>
            </a:custGeom>
            <a:solidFill>
              <a:srgbClr val="92C14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_tradnl" sz="700" b="1" dirty="0">
                  <a:latin typeface="Calibri" panose="020F0502020204030204" pitchFamily="34" charset="0"/>
                  <a:cs typeface="Calibri" panose="020F0502020204030204" pitchFamily="34" charset="0"/>
                </a:rPr>
                <a:t>Si</a:t>
              </a:r>
            </a:p>
          </p:txBody>
        </p:sp>
        <p:sp>
          <p:nvSpPr>
            <p:cNvPr id="30" name="Forma libre 29">
              <a:extLst>
                <a:ext uri="{FF2B5EF4-FFF2-40B4-BE49-F238E27FC236}">
                  <a16:creationId xmlns:a16="http://schemas.microsoft.com/office/drawing/2014/main" id="{85940D21-190B-6F49-A51E-71B51082141B}"/>
                </a:ext>
              </a:extLst>
            </p:cNvPr>
            <p:cNvSpPr/>
            <p:nvPr/>
          </p:nvSpPr>
          <p:spPr>
            <a:xfrm>
              <a:off x="8022211" y="5232206"/>
              <a:ext cx="513760" cy="268664"/>
            </a:xfrm>
            <a:custGeom>
              <a:avLst/>
              <a:gdLst>
                <a:gd name="connsiteX0" fmla="*/ 0 w 513760"/>
                <a:gd name="connsiteY0" fmla="*/ 136689 h 268664"/>
                <a:gd name="connsiteX1" fmla="*/ 268663 w 513760"/>
                <a:gd name="connsiteY1" fmla="*/ 0 h 268664"/>
                <a:gd name="connsiteX2" fmla="*/ 513760 w 513760"/>
                <a:gd name="connsiteY2" fmla="*/ 146116 h 268664"/>
                <a:gd name="connsiteX3" fmla="*/ 263950 w 513760"/>
                <a:gd name="connsiteY3" fmla="*/ 268664 h 268664"/>
                <a:gd name="connsiteX4" fmla="*/ 0 w 513760"/>
                <a:gd name="connsiteY4" fmla="*/ 136689 h 268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3760" h="268664">
                  <a:moveTo>
                    <a:pt x="0" y="136689"/>
                  </a:moveTo>
                  <a:lnTo>
                    <a:pt x="268663" y="0"/>
                  </a:lnTo>
                  <a:lnTo>
                    <a:pt x="513760" y="146116"/>
                  </a:lnTo>
                  <a:lnTo>
                    <a:pt x="263950" y="268664"/>
                  </a:lnTo>
                  <a:lnTo>
                    <a:pt x="0" y="136689"/>
                  </a:lnTo>
                  <a:close/>
                </a:path>
              </a:pathLst>
            </a:custGeom>
            <a:solidFill>
              <a:srgbClr val="EE46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_tradnl" sz="700" b="1" dirty="0">
                  <a:latin typeface="Calibri" panose="020F0502020204030204" pitchFamily="34" charset="0"/>
                  <a:cs typeface="Calibri" panose="020F0502020204030204" pitchFamily="34" charset="0"/>
                </a:rPr>
                <a:t>No</a:t>
              </a:r>
            </a:p>
          </p:txBody>
        </p:sp>
        <p:sp>
          <p:nvSpPr>
            <p:cNvPr id="31" name="Rectángulo redondeado 30">
              <a:extLst>
                <a:ext uri="{FF2B5EF4-FFF2-40B4-BE49-F238E27FC236}">
                  <a16:creationId xmlns:a16="http://schemas.microsoft.com/office/drawing/2014/main" id="{E82E5BA0-1BA9-9640-8E22-7498BF597B76}"/>
                </a:ext>
              </a:extLst>
            </p:cNvPr>
            <p:cNvSpPr/>
            <p:nvPr/>
          </p:nvSpPr>
          <p:spPr>
            <a:xfrm>
              <a:off x="1531957" y="5268332"/>
              <a:ext cx="2027257" cy="226243"/>
            </a:xfrm>
            <a:prstGeom prst="roundRect">
              <a:avLst>
                <a:gd name="adj" fmla="val 19850"/>
              </a:avLst>
            </a:prstGeom>
            <a:solidFill>
              <a:srgbClr val="00B1C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1" hangingPunct="1">
                <a:defRPr/>
              </a:pPr>
              <a:r>
                <a:rPr lang="es-PE" sz="700" dirty="0">
                  <a:solidFill>
                    <a:schemeClr val="bg1"/>
                  </a:solidFill>
                  <a:latin typeface="Calibri" charset="0"/>
                  <a:ea typeface="Calibri" charset="0"/>
                  <a:cs typeface="Calibri" charset="0"/>
                </a:rPr>
                <a:t>QA Actualiza Defecto con Resultados de Prueba</a:t>
              </a:r>
            </a:p>
          </p:txBody>
        </p:sp>
        <p:sp>
          <p:nvSpPr>
            <p:cNvPr id="32" name="Rectángulo redondeado 31">
              <a:extLst>
                <a:ext uri="{FF2B5EF4-FFF2-40B4-BE49-F238E27FC236}">
                  <a16:creationId xmlns:a16="http://schemas.microsoft.com/office/drawing/2014/main" id="{2957620C-9A53-0243-A595-571479029167}"/>
                </a:ext>
              </a:extLst>
            </p:cNvPr>
            <p:cNvSpPr/>
            <p:nvPr/>
          </p:nvSpPr>
          <p:spPr>
            <a:xfrm>
              <a:off x="3950394" y="5268332"/>
              <a:ext cx="1064409" cy="226243"/>
            </a:xfrm>
            <a:prstGeom prst="roundRect">
              <a:avLst>
                <a:gd name="adj" fmla="val 19850"/>
              </a:avLst>
            </a:prstGeom>
            <a:solidFill>
              <a:srgbClr val="715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1" hangingPunct="1">
                <a:defRPr/>
              </a:pPr>
              <a:r>
                <a:rPr lang="es-PE" sz="700" dirty="0">
                  <a:solidFill>
                    <a:schemeClr val="bg1"/>
                  </a:solidFill>
                  <a:latin typeface="Calibri" charset="0"/>
                  <a:ea typeface="Calibri" charset="0"/>
                  <a:cs typeface="Calibri" charset="0"/>
                </a:rPr>
                <a:t>QA Cierra Defecto</a:t>
              </a:r>
            </a:p>
          </p:txBody>
        </p:sp>
        <p:sp>
          <p:nvSpPr>
            <p:cNvPr id="33" name="Rectángulo redondeado 32">
              <a:extLst>
                <a:ext uri="{FF2B5EF4-FFF2-40B4-BE49-F238E27FC236}">
                  <a16:creationId xmlns:a16="http://schemas.microsoft.com/office/drawing/2014/main" id="{BC053231-7C1D-FB47-AA5A-0F18D779988E}"/>
                </a:ext>
              </a:extLst>
            </p:cNvPr>
            <p:cNvSpPr/>
            <p:nvPr/>
          </p:nvSpPr>
          <p:spPr>
            <a:xfrm>
              <a:off x="5687269" y="5270744"/>
              <a:ext cx="2109146" cy="226243"/>
            </a:xfrm>
            <a:prstGeom prst="roundRect">
              <a:avLst>
                <a:gd name="adj" fmla="val 19850"/>
              </a:avLst>
            </a:prstGeom>
            <a:solidFill>
              <a:srgbClr val="00B1C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1" hangingPunct="1">
                <a:defRPr/>
              </a:pPr>
              <a:r>
                <a:rPr lang="es-PE" sz="700" dirty="0">
                  <a:solidFill>
                    <a:schemeClr val="bg1"/>
                  </a:solidFill>
                  <a:latin typeface="Calibri" charset="0"/>
                  <a:ea typeface="Calibri" charset="0"/>
                  <a:cs typeface="Calibri" charset="0"/>
                </a:rPr>
                <a:t>QA Prueba lo reparado. ¿El Defecto fue reparado?</a:t>
              </a:r>
            </a:p>
          </p:txBody>
        </p:sp>
        <p:cxnSp>
          <p:nvCxnSpPr>
            <p:cNvPr id="7" name="Conector recto de flecha 6">
              <a:extLst>
                <a:ext uri="{FF2B5EF4-FFF2-40B4-BE49-F238E27FC236}">
                  <a16:creationId xmlns:a16="http://schemas.microsoft.com/office/drawing/2014/main" id="{D89AFFC2-86FE-EC4B-B625-8D8072BCB0FA}"/>
                </a:ext>
              </a:extLst>
            </p:cNvPr>
            <p:cNvCxnSpPr/>
            <p:nvPr/>
          </p:nvCxnSpPr>
          <p:spPr>
            <a:xfrm>
              <a:off x="5797227" y="921924"/>
              <a:ext cx="0" cy="197734"/>
            </a:xfrm>
            <a:prstGeom prst="straightConnector1">
              <a:avLst/>
            </a:prstGeom>
            <a:ln w="19050">
              <a:solidFill>
                <a:srgbClr val="808799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Conector recto de flecha 35">
              <a:extLst>
                <a:ext uri="{FF2B5EF4-FFF2-40B4-BE49-F238E27FC236}">
                  <a16:creationId xmlns:a16="http://schemas.microsoft.com/office/drawing/2014/main" id="{C8F8E47B-63F3-7F41-A8C5-B2D6A32C3460}"/>
                </a:ext>
              </a:extLst>
            </p:cNvPr>
            <p:cNvCxnSpPr>
              <a:cxnSpLocks/>
              <a:endCxn id="21" idx="0"/>
            </p:cNvCxnSpPr>
            <p:nvPr/>
          </p:nvCxnSpPr>
          <p:spPr>
            <a:xfrm>
              <a:off x="5797227" y="1269164"/>
              <a:ext cx="0" cy="113301"/>
            </a:xfrm>
            <a:prstGeom prst="straightConnector1">
              <a:avLst/>
            </a:prstGeom>
            <a:ln w="19050">
              <a:solidFill>
                <a:srgbClr val="808799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Conector recto de flecha 37">
              <a:extLst>
                <a:ext uri="{FF2B5EF4-FFF2-40B4-BE49-F238E27FC236}">
                  <a16:creationId xmlns:a16="http://schemas.microsoft.com/office/drawing/2014/main" id="{408556A2-2BFF-824A-9864-58C30584DB7D}"/>
                </a:ext>
              </a:extLst>
            </p:cNvPr>
            <p:cNvCxnSpPr>
              <a:cxnSpLocks/>
            </p:cNvCxnSpPr>
            <p:nvPr/>
          </p:nvCxnSpPr>
          <p:spPr>
            <a:xfrm>
              <a:off x="4327243" y="1610617"/>
              <a:ext cx="0" cy="113301"/>
            </a:xfrm>
            <a:prstGeom prst="straightConnector1">
              <a:avLst/>
            </a:prstGeom>
            <a:ln w="19050">
              <a:solidFill>
                <a:srgbClr val="808799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Conector recto de flecha 41">
              <a:extLst>
                <a:ext uri="{FF2B5EF4-FFF2-40B4-BE49-F238E27FC236}">
                  <a16:creationId xmlns:a16="http://schemas.microsoft.com/office/drawing/2014/main" id="{1D2EC294-1225-C347-9380-6EDFE5CB2151}"/>
                </a:ext>
              </a:extLst>
            </p:cNvPr>
            <p:cNvCxnSpPr>
              <a:cxnSpLocks/>
            </p:cNvCxnSpPr>
            <p:nvPr/>
          </p:nvCxnSpPr>
          <p:spPr>
            <a:xfrm>
              <a:off x="4327243" y="1911559"/>
              <a:ext cx="0" cy="113301"/>
            </a:xfrm>
            <a:prstGeom prst="straightConnector1">
              <a:avLst/>
            </a:prstGeom>
            <a:ln w="19050">
              <a:solidFill>
                <a:srgbClr val="808799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Conector recto de flecha 42">
              <a:extLst>
                <a:ext uri="{FF2B5EF4-FFF2-40B4-BE49-F238E27FC236}">
                  <a16:creationId xmlns:a16="http://schemas.microsoft.com/office/drawing/2014/main" id="{C28C6868-80EA-4349-824A-7DBC14205252}"/>
                </a:ext>
              </a:extLst>
            </p:cNvPr>
            <p:cNvCxnSpPr>
              <a:cxnSpLocks/>
            </p:cNvCxnSpPr>
            <p:nvPr/>
          </p:nvCxnSpPr>
          <p:spPr>
            <a:xfrm>
              <a:off x="4327243" y="2246161"/>
              <a:ext cx="0" cy="189600"/>
            </a:xfrm>
            <a:prstGeom prst="straightConnector1">
              <a:avLst/>
            </a:prstGeom>
            <a:ln w="19050">
              <a:solidFill>
                <a:srgbClr val="808799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Conector recto de flecha 45">
              <a:extLst>
                <a:ext uri="{FF2B5EF4-FFF2-40B4-BE49-F238E27FC236}">
                  <a16:creationId xmlns:a16="http://schemas.microsoft.com/office/drawing/2014/main" id="{F27D12B2-6B68-3C49-8084-7BC131A9C1D1}"/>
                </a:ext>
              </a:extLst>
            </p:cNvPr>
            <p:cNvCxnSpPr>
              <a:cxnSpLocks/>
            </p:cNvCxnSpPr>
            <p:nvPr/>
          </p:nvCxnSpPr>
          <p:spPr>
            <a:xfrm>
              <a:off x="4327243" y="2674424"/>
              <a:ext cx="0" cy="189600"/>
            </a:xfrm>
            <a:prstGeom prst="straightConnector1">
              <a:avLst/>
            </a:prstGeom>
            <a:ln w="19050">
              <a:solidFill>
                <a:srgbClr val="808799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Conector recto de flecha 47">
              <a:extLst>
                <a:ext uri="{FF2B5EF4-FFF2-40B4-BE49-F238E27FC236}">
                  <a16:creationId xmlns:a16="http://schemas.microsoft.com/office/drawing/2014/main" id="{745F0B98-3845-CF42-9A36-285001A69FDD}"/>
                </a:ext>
              </a:extLst>
            </p:cNvPr>
            <p:cNvCxnSpPr>
              <a:cxnSpLocks/>
            </p:cNvCxnSpPr>
            <p:nvPr/>
          </p:nvCxnSpPr>
          <p:spPr>
            <a:xfrm>
              <a:off x="4327243" y="3549521"/>
              <a:ext cx="0" cy="189600"/>
            </a:xfrm>
            <a:prstGeom prst="straightConnector1">
              <a:avLst/>
            </a:prstGeom>
            <a:ln w="19050">
              <a:solidFill>
                <a:srgbClr val="808799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Conector recto de flecha 48">
              <a:extLst>
                <a:ext uri="{FF2B5EF4-FFF2-40B4-BE49-F238E27FC236}">
                  <a16:creationId xmlns:a16="http://schemas.microsoft.com/office/drawing/2014/main" id="{F7E8E8A0-5B5D-494A-9B64-0F0071E8C651}"/>
                </a:ext>
              </a:extLst>
            </p:cNvPr>
            <p:cNvCxnSpPr>
              <a:cxnSpLocks/>
            </p:cNvCxnSpPr>
            <p:nvPr/>
          </p:nvCxnSpPr>
          <p:spPr>
            <a:xfrm>
              <a:off x="4327243" y="3947207"/>
              <a:ext cx="0" cy="189600"/>
            </a:xfrm>
            <a:prstGeom prst="straightConnector1">
              <a:avLst/>
            </a:prstGeom>
            <a:ln w="19050">
              <a:solidFill>
                <a:srgbClr val="808799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Conector recto de flecha 49">
              <a:extLst>
                <a:ext uri="{FF2B5EF4-FFF2-40B4-BE49-F238E27FC236}">
                  <a16:creationId xmlns:a16="http://schemas.microsoft.com/office/drawing/2014/main" id="{FFB209FE-AA82-3149-91FE-A6A4EF4E07BD}"/>
                </a:ext>
              </a:extLst>
            </p:cNvPr>
            <p:cNvCxnSpPr>
              <a:cxnSpLocks/>
            </p:cNvCxnSpPr>
            <p:nvPr/>
          </p:nvCxnSpPr>
          <p:spPr>
            <a:xfrm>
              <a:off x="2689425" y="4939975"/>
              <a:ext cx="0" cy="302648"/>
            </a:xfrm>
            <a:prstGeom prst="straightConnector1">
              <a:avLst/>
            </a:prstGeom>
            <a:ln w="19050">
              <a:solidFill>
                <a:srgbClr val="808799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Conector recto de flecha 51">
              <a:extLst>
                <a:ext uri="{FF2B5EF4-FFF2-40B4-BE49-F238E27FC236}">
                  <a16:creationId xmlns:a16="http://schemas.microsoft.com/office/drawing/2014/main" id="{06CC23DE-F00D-4344-BD6C-CBA21F7D5D32}"/>
                </a:ext>
              </a:extLst>
            </p:cNvPr>
            <p:cNvCxnSpPr>
              <a:cxnSpLocks/>
            </p:cNvCxnSpPr>
            <p:nvPr/>
          </p:nvCxnSpPr>
          <p:spPr>
            <a:xfrm>
              <a:off x="6827374" y="4899463"/>
              <a:ext cx="0" cy="368870"/>
            </a:xfrm>
            <a:prstGeom prst="straightConnector1">
              <a:avLst/>
            </a:prstGeom>
            <a:ln w="19050">
              <a:solidFill>
                <a:srgbClr val="808799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Conector recto de flecha 52">
              <a:extLst>
                <a:ext uri="{FF2B5EF4-FFF2-40B4-BE49-F238E27FC236}">
                  <a16:creationId xmlns:a16="http://schemas.microsoft.com/office/drawing/2014/main" id="{968345A2-1CD6-474D-AF73-14BD43BD9F0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440529" y="1190270"/>
              <a:ext cx="0" cy="166556"/>
            </a:xfrm>
            <a:prstGeom prst="straightConnector1">
              <a:avLst/>
            </a:prstGeom>
            <a:ln w="19050">
              <a:solidFill>
                <a:srgbClr val="808799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Conector recto de flecha 54">
              <a:extLst>
                <a:ext uri="{FF2B5EF4-FFF2-40B4-BE49-F238E27FC236}">
                  <a16:creationId xmlns:a16="http://schemas.microsoft.com/office/drawing/2014/main" id="{9BEB56F8-640D-1441-B7C0-06D535AFDD5E}"/>
                </a:ext>
              </a:extLst>
            </p:cNvPr>
            <p:cNvCxnSpPr>
              <a:cxnSpLocks/>
              <a:stCxn id="18" idx="0"/>
            </p:cNvCxnSpPr>
            <p:nvPr/>
          </p:nvCxnSpPr>
          <p:spPr>
            <a:xfrm flipH="1" flipV="1">
              <a:off x="7377302" y="2264077"/>
              <a:ext cx="3877" cy="300879"/>
            </a:xfrm>
            <a:prstGeom prst="straightConnector1">
              <a:avLst/>
            </a:prstGeom>
            <a:ln w="19050">
              <a:solidFill>
                <a:srgbClr val="808799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Conector recto de flecha 56">
              <a:extLst>
                <a:ext uri="{FF2B5EF4-FFF2-40B4-BE49-F238E27FC236}">
                  <a16:creationId xmlns:a16="http://schemas.microsoft.com/office/drawing/2014/main" id="{41BE56A8-461D-FD4F-B53D-07F3A4EEE66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74340" y="2385610"/>
              <a:ext cx="0" cy="2848378"/>
            </a:xfrm>
            <a:prstGeom prst="straightConnector1">
              <a:avLst/>
            </a:prstGeom>
            <a:ln w="19050">
              <a:solidFill>
                <a:srgbClr val="808799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Conector recto de flecha 58">
              <a:extLst>
                <a:ext uri="{FF2B5EF4-FFF2-40B4-BE49-F238E27FC236}">
                  <a16:creationId xmlns:a16="http://schemas.microsoft.com/office/drawing/2014/main" id="{C4CAF093-BEFF-0F4D-924D-57EA1F4D985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974409" y="2857500"/>
              <a:ext cx="10564" cy="1097988"/>
            </a:xfrm>
            <a:prstGeom prst="straightConnector1">
              <a:avLst/>
            </a:prstGeom>
            <a:ln w="19050">
              <a:solidFill>
                <a:srgbClr val="808799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Conector recto de flecha 60">
              <a:extLst>
                <a:ext uri="{FF2B5EF4-FFF2-40B4-BE49-F238E27FC236}">
                  <a16:creationId xmlns:a16="http://schemas.microsoft.com/office/drawing/2014/main" id="{CC5A33DC-BE7E-A242-AA0C-630E8D3F4C3E}"/>
                </a:ext>
              </a:extLst>
            </p:cNvPr>
            <p:cNvCxnSpPr>
              <a:cxnSpLocks/>
            </p:cNvCxnSpPr>
            <p:nvPr/>
          </p:nvCxnSpPr>
          <p:spPr>
            <a:xfrm>
              <a:off x="6053301" y="2656331"/>
              <a:ext cx="497986" cy="0"/>
            </a:xfrm>
            <a:prstGeom prst="straightConnector1">
              <a:avLst/>
            </a:prstGeom>
            <a:ln w="19050">
              <a:solidFill>
                <a:srgbClr val="808799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Conector recto de flecha 64">
              <a:extLst>
                <a:ext uri="{FF2B5EF4-FFF2-40B4-BE49-F238E27FC236}">
                  <a16:creationId xmlns:a16="http://schemas.microsoft.com/office/drawing/2014/main" id="{492F5E0F-CA24-3C45-A4A3-1CDAD1E666CC}"/>
                </a:ext>
              </a:extLst>
            </p:cNvPr>
            <p:cNvCxnSpPr>
              <a:cxnSpLocks/>
            </p:cNvCxnSpPr>
            <p:nvPr/>
          </p:nvCxnSpPr>
          <p:spPr>
            <a:xfrm>
              <a:off x="5961933" y="3426048"/>
              <a:ext cx="168431" cy="0"/>
            </a:xfrm>
            <a:prstGeom prst="straightConnector1">
              <a:avLst/>
            </a:prstGeom>
            <a:ln w="19050">
              <a:solidFill>
                <a:srgbClr val="808799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Conector recto de flecha 67">
              <a:extLst>
                <a:ext uri="{FF2B5EF4-FFF2-40B4-BE49-F238E27FC236}">
                  <a16:creationId xmlns:a16="http://schemas.microsoft.com/office/drawing/2014/main" id="{1AA93633-4058-AE4F-BFF4-66039A90695D}"/>
                </a:ext>
              </a:extLst>
            </p:cNvPr>
            <p:cNvCxnSpPr>
              <a:cxnSpLocks/>
            </p:cNvCxnSpPr>
            <p:nvPr/>
          </p:nvCxnSpPr>
          <p:spPr>
            <a:xfrm>
              <a:off x="5313751" y="3426048"/>
              <a:ext cx="168431" cy="0"/>
            </a:xfrm>
            <a:prstGeom prst="straightConnector1">
              <a:avLst/>
            </a:prstGeom>
            <a:ln w="19050">
              <a:solidFill>
                <a:srgbClr val="808799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Conector recto de flecha 68">
              <a:extLst>
                <a:ext uri="{FF2B5EF4-FFF2-40B4-BE49-F238E27FC236}">
                  <a16:creationId xmlns:a16="http://schemas.microsoft.com/office/drawing/2014/main" id="{09B7D3FB-A252-A24A-9DD0-48BF3A39C8C9}"/>
                </a:ext>
              </a:extLst>
            </p:cNvPr>
            <p:cNvCxnSpPr>
              <a:cxnSpLocks/>
            </p:cNvCxnSpPr>
            <p:nvPr/>
          </p:nvCxnSpPr>
          <p:spPr>
            <a:xfrm>
              <a:off x="7466642" y="4103167"/>
              <a:ext cx="253911" cy="0"/>
            </a:xfrm>
            <a:prstGeom prst="straightConnector1">
              <a:avLst/>
            </a:prstGeom>
            <a:ln w="19050">
              <a:solidFill>
                <a:srgbClr val="808799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Conector recto de flecha 70">
              <a:extLst>
                <a:ext uri="{FF2B5EF4-FFF2-40B4-BE49-F238E27FC236}">
                  <a16:creationId xmlns:a16="http://schemas.microsoft.com/office/drawing/2014/main" id="{A3899FD6-691A-564E-884D-DD5C990CFF0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36271" y="4090482"/>
              <a:ext cx="172649" cy="166046"/>
            </a:xfrm>
            <a:prstGeom prst="straightConnector1">
              <a:avLst/>
            </a:prstGeom>
            <a:ln w="19050">
              <a:solidFill>
                <a:srgbClr val="808799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Conector recto de flecha 72">
              <a:extLst>
                <a:ext uri="{FF2B5EF4-FFF2-40B4-BE49-F238E27FC236}">
                  <a16:creationId xmlns:a16="http://schemas.microsoft.com/office/drawing/2014/main" id="{C1AD9853-B397-6642-9F71-6D7EEBE9EAA7}"/>
                </a:ext>
              </a:extLst>
            </p:cNvPr>
            <p:cNvCxnSpPr>
              <a:cxnSpLocks/>
            </p:cNvCxnSpPr>
            <p:nvPr/>
          </p:nvCxnSpPr>
          <p:spPr>
            <a:xfrm>
              <a:off x="5687268" y="4239706"/>
              <a:ext cx="0" cy="181794"/>
            </a:xfrm>
            <a:prstGeom prst="straightConnector1">
              <a:avLst/>
            </a:prstGeom>
            <a:ln w="19050">
              <a:solidFill>
                <a:srgbClr val="808799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Conector recto de flecha 74">
              <a:extLst>
                <a:ext uri="{FF2B5EF4-FFF2-40B4-BE49-F238E27FC236}">
                  <a16:creationId xmlns:a16="http://schemas.microsoft.com/office/drawing/2014/main" id="{8A1BB9BA-533F-114C-A2C4-6F8B8AFFA45D}"/>
                </a:ext>
              </a:extLst>
            </p:cNvPr>
            <p:cNvCxnSpPr>
              <a:cxnSpLocks/>
            </p:cNvCxnSpPr>
            <p:nvPr/>
          </p:nvCxnSpPr>
          <p:spPr>
            <a:xfrm>
              <a:off x="7796415" y="5376382"/>
              <a:ext cx="253911" cy="0"/>
            </a:xfrm>
            <a:prstGeom prst="straightConnector1">
              <a:avLst/>
            </a:prstGeom>
            <a:ln w="19050">
              <a:solidFill>
                <a:srgbClr val="808799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Conector recto de flecha 75">
              <a:extLst>
                <a:ext uri="{FF2B5EF4-FFF2-40B4-BE49-F238E27FC236}">
                  <a16:creationId xmlns:a16="http://schemas.microsoft.com/office/drawing/2014/main" id="{64B13527-41F5-1246-A249-4886410E6845}"/>
                </a:ext>
              </a:extLst>
            </p:cNvPr>
            <p:cNvCxnSpPr>
              <a:cxnSpLocks/>
            </p:cNvCxnSpPr>
            <p:nvPr/>
          </p:nvCxnSpPr>
          <p:spPr>
            <a:xfrm>
              <a:off x="3548506" y="5376382"/>
              <a:ext cx="401888" cy="0"/>
            </a:xfrm>
            <a:prstGeom prst="straightConnector1">
              <a:avLst/>
            </a:prstGeom>
            <a:ln w="19050">
              <a:solidFill>
                <a:srgbClr val="808799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Conector recto de flecha 77">
              <a:extLst>
                <a:ext uri="{FF2B5EF4-FFF2-40B4-BE49-F238E27FC236}">
                  <a16:creationId xmlns:a16="http://schemas.microsoft.com/office/drawing/2014/main" id="{3D59F958-4E32-9A4A-866B-7A7C2B40F8C5}"/>
                </a:ext>
              </a:extLst>
            </p:cNvPr>
            <p:cNvCxnSpPr>
              <a:cxnSpLocks/>
            </p:cNvCxnSpPr>
            <p:nvPr/>
          </p:nvCxnSpPr>
          <p:spPr>
            <a:xfrm>
              <a:off x="5394167" y="4820797"/>
              <a:ext cx="401888" cy="0"/>
            </a:xfrm>
            <a:prstGeom prst="straightConnector1">
              <a:avLst/>
            </a:prstGeom>
            <a:ln w="19050">
              <a:solidFill>
                <a:srgbClr val="808799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Conector recto de flecha 79">
              <a:extLst>
                <a:ext uri="{FF2B5EF4-FFF2-40B4-BE49-F238E27FC236}">
                  <a16:creationId xmlns:a16="http://schemas.microsoft.com/office/drawing/2014/main" id="{DBD5805B-4730-224C-9778-E5E76EBB9254}"/>
                </a:ext>
              </a:extLst>
            </p:cNvPr>
            <p:cNvCxnSpPr>
              <a:cxnSpLocks/>
            </p:cNvCxnSpPr>
            <p:nvPr/>
          </p:nvCxnSpPr>
          <p:spPr>
            <a:xfrm>
              <a:off x="5335570" y="2585887"/>
              <a:ext cx="199664" cy="70444"/>
            </a:xfrm>
            <a:prstGeom prst="straightConnector1">
              <a:avLst/>
            </a:prstGeom>
            <a:ln w="19050">
              <a:solidFill>
                <a:srgbClr val="808799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Conector recto de flecha 82">
              <a:extLst>
                <a:ext uri="{FF2B5EF4-FFF2-40B4-BE49-F238E27FC236}">
                  <a16:creationId xmlns:a16="http://schemas.microsoft.com/office/drawing/2014/main" id="{B1C37241-3391-B849-A90C-5FD56BBE2218}"/>
                </a:ext>
              </a:extLst>
            </p:cNvPr>
            <p:cNvCxnSpPr>
              <a:cxnSpLocks/>
              <a:stCxn id="21" idx="3"/>
              <a:endCxn id="24" idx="0"/>
            </p:cNvCxnSpPr>
            <p:nvPr/>
          </p:nvCxnSpPr>
          <p:spPr>
            <a:xfrm flipV="1">
              <a:off x="6730489" y="1489764"/>
              <a:ext cx="452736" cy="5823"/>
            </a:xfrm>
            <a:prstGeom prst="straightConnector1">
              <a:avLst/>
            </a:prstGeom>
            <a:ln w="19050">
              <a:solidFill>
                <a:srgbClr val="808799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Conector recto de flecha 84">
              <a:extLst>
                <a:ext uri="{FF2B5EF4-FFF2-40B4-BE49-F238E27FC236}">
                  <a16:creationId xmlns:a16="http://schemas.microsoft.com/office/drawing/2014/main" id="{B0F85EF6-E340-E140-992C-0FD86ECDBA61}"/>
                </a:ext>
              </a:extLst>
            </p:cNvPr>
            <p:cNvCxnSpPr>
              <a:cxnSpLocks/>
              <a:endCxn id="9" idx="3"/>
            </p:cNvCxnSpPr>
            <p:nvPr/>
          </p:nvCxnSpPr>
          <p:spPr>
            <a:xfrm flipH="1" flipV="1">
              <a:off x="5033163" y="2133040"/>
              <a:ext cx="1278880" cy="4101"/>
            </a:xfrm>
            <a:prstGeom prst="straightConnector1">
              <a:avLst/>
            </a:prstGeom>
            <a:ln w="19050">
              <a:solidFill>
                <a:srgbClr val="808799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Conector recto de flecha 87">
              <a:extLst>
                <a:ext uri="{FF2B5EF4-FFF2-40B4-BE49-F238E27FC236}">
                  <a16:creationId xmlns:a16="http://schemas.microsoft.com/office/drawing/2014/main" id="{4FF1B8B0-0041-4648-8A89-F925C8CB1D4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72000" y="1477384"/>
              <a:ext cx="291965" cy="0"/>
            </a:xfrm>
            <a:prstGeom prst="straightConnector1">
              <a:avLst/>
            </a:prstGeom>
            <a:ln w="19050">
              <a:solidFill>
                <a:srgbClr val="808799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Conector recto de flecha 89">
              <a:extLst>
                <a:ext uri="{FF2B5EF4-FFF2-40B4-BE49-F238E27FC236}">
                  <a16:creationId xmlns:a16="http://schemas.microsoft.com/office/drawing/2014/main" id="{60B9CACA-8E38-8D44-968E-A1131006D19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31737" y="4822467"/>
              <a:ext cx="376677" cy="0"/>
            </a:xfrm>
            <a:prstGeom prst="straightConnector1">
              <a:avLst/>
            </a:prstGeom>
            <a:ln w="19050">
              <a:solidFill>
                <a:srgbClr val="808799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7" name="Forma libre 86">
              <a:extLst>
                <a:ext uri="{FF2B5EF4-FFF2-40B4-BE49-F238E27FC236}">
                  <a16:creationId xmlns:a16="http://schemas.microsoft.com/office/drawing/2014/main" id="{308E89DD-8605-DA43-B3C1-5D0929CDCCBA}"/>
                </a:ext>
              </a:extLst>
            </p:cNvPr>
            <p:cNvSpPr/>
            <p:nvPr/>
          </p:nvSpPr>
          <p:spPr>
            <a:xfrm>
              <a:off x="4398380" y="4560136"/>
              <a:ext cx="1035934" cy="142795"/>
            </a:xfrm>
            <a:custGeom>
              <a:avLst/>
              <a:gdLst>
                <a:gd name="connsiteX0" fmla="*/ 1035934 w 1035934"/>
                <a:gd name="connsiteY0" fmla="*/ 0 h 115746"/>
                <a:gd name="connsiteX1" fmla="*/ 0 w 1035934"/>
                <a:gd name="connsiteY1" fmla="*/ 0 h 115746"/>
                <a:gd name="connsiteX2" fmla="*/ 0 w 1035934"/>
                <a:gd name="connsiteY2" fmla="*/ 115746 h 11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35934" h="115746">
                  <a:moveTo>
                    <a:pt x="1035934" y="0"/>
                  </a:moveTo>
                  <a:lnTo>
                    <a:pt x="0" y="0"/>
                  </a:lnTo>
                  <a:lnTo>
                    <a:pt x="0" y="115746"/>
                  </a:lnTo>
                </a:path>
              </a:pathLst>
            </a:custGeom>
            <a:noFill/>
            <a:ln w="19050">
              <a:solidFill>
                <a:srgbClr val="808799"/>
              </a:solidFill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11" name="Rectángulo redondeado 10">
              <a:extLst>
                <a:ext uri="{FF2B5EF4-FFF2-40B4-BE49-F238E27FC236}">
                  <a16:creationId xmlns:a16="http://schemas.microsoft.com/office/drawing/2014/main" id="{E7AFBD06-C9DA-F24F-ACCF-81C17E1229D6}"/>
                </a:ext>
              </a:extLst>
            </p:cNvPr>
            <p:cNvSpPr/>
            <p:nvPr/>
          </p:nvSpPr>
          <p:spPr>
            <a:xfrm>
              <a:off x="3308313" y="3316302"/>
              <a:ext cx="2027257" cy="226243"/>
            </a:xfrm>
            <a:prstGeom prst="roundRect">
              <a:avLst>
                <a:gd name="adj" fmla="val 19850"/>
              </a:avLst>
            </a:prstGeom>
            <a:solidFill>
              <a:srgbClr val="00B1C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1" hangingPunct="1">
                <a:defRPr/>
              </a:pPr>
              <a:r>
                <a:rPr lang="es-PE" sz="700" dirty="0">
                  <a:solidFill>
                    <a:schemeClr val="bg1"/>
                  </a:solidFill>
                  <a:latin typeface="Calibri" charset="0"/>
                  <a:ea typeface="Calibri" charset="0"/>
                  <a:cs typeface="Calibri" charset="0"/>
                </a:rPr>
                <a:t>¿El defecto será reparado en el Release Actual?</a:t>
              </a:r>
            </a:p>
          </p:txBody>
        </p:sp>
        <p:sp>
          <p:nvSpPr>
            <p:cNvPr id="13" name="Rectángulo redondeado 12">
              <a:extLst>
                <a:ext uri="{FF2B5EF4-FFF2-40B4-BE49-F238E27FC236}">
                  <a16:creationId xmlns:a16="http://schemas.microsoft.com/office/drawing/2014/main" id="{8F68D1AE-DC79-D44F-8113-EF53032F01AB}"/>
                </a:ext>
              </a:extLst>
            </p:cNvPr>
            <p:cNvSpPr/>
            <p:nvPr/>
          </p:nvSpPr>
          <p:spPr>
            <a:xfrm>
              <a:off x="3308312" y="4709345"/>
              <a:ext cx="2098395" cy="226243"/>
            </a:xfrm>
            <a:prstGeom prst="roundRect">
              <a:avLst>
                <a:gd name="adj" fmla="val 19850"/>
              </a:avLst>
            </a:prstGeom>
            <a:solidFill>
              <a:srgbClr val="00B1C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1" hangingPunct="1">
                <a:defRPr/>
              </a:pPr>
              <a:r>
                <a:rPr lang="es-PE" sz="700" dirty="0">
                  <a:solidFill>
                    <a:schemeClr val="bg1"/>
                  </a:solidFill>
                  <a:latin typeface="Calibri" charset="0"/>
                  <a:ea typeface="Calibri" charset="0"/>
                  <a:cs typeface="Calibri" charset="0"/>
                </a:rPr>
                <a:t>El Desarrollador repara Defecto</a:t>
              </a:r>
            </a:p>
          </p:txBody>
        </p:sp>
        <p:sp>
          <p:nvSpPr>
            <p:cNvPr id="14" name="Rectángulo redondeado 13">
              <a:extLst>
                <a:ext uri="{FF2B5EF4-FFF2-40B4-BE49-F238E27FC236}">
                  <a16:creationId xmlns:a16="http://schemas.microsoft.com/office/drawing/2014/main" id="{87638C0D-9C77-9744-B10C-0128FED4D947}"/>
                </a:ext>
              </a:extLst>
            </p:cNvPr>
            <p:cNvSpPr/>
            <p:nvPr/>
          </p:nvSpPr>
          <p:spPr>
            <a:xfrm>
              <a:off x="5797227" y="4708014"/>
              <a:ext cx="2027257" cy="226243"/>
            </a:xfrm>
            <a:prstGeom prst="roundRect">
              <a:avLst>
                <a:gd name="adj" fmla="val 19850"/>
              </a:avLst>
            </a:prstGeom>
            <a:solidFill>
              <a:srgbClr val="00B1C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1" hangingPunct="1">
                <a:defRPr/>
              </a:pPr>
              <a:r>
                <a:rPr lang="es-PE" sz="700" dirty="0">
                  <a:solidFill>
                    <a:schemeClr val="bg1"/>
                  </a:solidFill>
                  <a:latin typeface="Calibri" charset="0"/>
                  <a:ea typeface="Calibri" charset="0"/>
                  <a:cs typeface="Calibri" charset="0"/>
                </a:rPr>
                <a:t>El defecto es asignado a QA para Pruebas</a:t>
              </a:r>
            </a:p>
          </p:txBody>
        </p:sp>
      </p:grpSp>
      <p:sp>
        <p:nvSpPr>
          <p:cNvPr id="102" name="Rectángulo 101">
            <a:extLst>
              <a:ext uri="{FF2B5EF4-FFF2-40B4-BE49-F238E27FC236}">
                <a16:creationId xmlns:a16="http://schemas.microsoft.com/office/drawing/2014/main" id="{4D6A6E22-E2FF-BA4A-8795-BFFF33895522}"/>
              </a:ext>
            </a:extLst>
          </p:cNvPr>
          <p:cNvSpPr/>
          <p:nvPr/>
        </p:nvSpPr>
        <p:spPr>
          <a:xfrm>
            <a:off x="503237" y="916472"/>
            <a:ext cx="2737629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buSzPts val="1600"/>
            </a:pPr>
            <a:r>
              <a:rPr lang="es-ES" sz="2000" b="1" dirty="0">
                <a:solidFill>
                  <a:srgbClr val="EE4639"/>
                </a:solidFill>
                <a:latin typeface="Graphik Bold" panose="020B0503030202060203" pitchFamily="34" charset="77"/>
                <a:cs typeface="Calibri" charset="0"/>
              </a:rPr>
              <a:t>+ 01.</a:t>
            </a:r>
            <a:br>
              <a:rPr lang="es-ES" sz="1600" b="1" dirty="0">
                <a:solidFill>
                  <a:srgbClr val="EE4639"/>
                </a:solidFill>
                <a:latin typeface="Calibri" charset="0"/>
                <a:cs typeface="Calibri" charset="0"/>
              </a:rPr>
            </a:br>
            <a:r>
              <a:rPr lang="es-PE" sz="1600" b="1" dirty="0">
                <a:solidFill>
                  <a:srgbClr val="EE4639"/>
                </a:solidFill>
                <a:latin typeface="Calibri" charset="0"/>
                <a:cs typeface="Calibri" charset="0"/>
                <a:sym typeface="Calibri"/>
              </a:rPr>
              <a:t>CICLO DE VIDA DE UN DEFECTO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0" name="Google Shape;150;p17"/>
          <p:cNvGraphicFramePr/>
          <p:nvPr>
            <p:extLst>
              <p:ext uri="{D42A27DB-BD31-4B8C-83A1-F6EECF244321}">
                <p14:modId xmlns:p14="http://schemas.microsoft.com/office/powerpoint/2010/main" val="309214203"/>
              </p:ext>
            </p:extLst>
          </p:nvPr>
        </p:nvGraphicFramePr>
        <p:xfrm>
          <a:off x="711475" y="1628353"/>
          <a:ext cx="7721050" cy="3170175"/>
        </p:xfrm>
        <a:graphic>
          <a:graphicData uri="http://schemas.openxmlformats.org/drawingml/2006/table">
            <a:tbl>
              <a:tblPr firstRow="1" bandRow="1">
                <a:noFill/>
                <a:tableStyleId>{014BC8C9-0BDC-42DC-A321-016D9F5AE63B}</a:tableStyleId>
              </a:tblPr>
              <a:tblGrid>
                <a:gridCol w="1650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7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19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500" u="none" strike="noStrike" cap="none" dirty="0"/>
                        <a:t>NIVEL</a:t>
                      </a:r>
                      <a:endParaRPr sz="1500" dirty="0"/>
                    </a:p>
                  </a:txBody>
                  <a:tcPr marL="56650" marR="56650" marT="28325" marB="28325" anchor="ctr">
                    <a:lnL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50A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500" u="none" strike="noStrike" cap="none" dirty="0"/>
                        <a:t>DESCRIPCIÓN</a:t>
                      </a:r>
                      <a:endParaRPr sz="1500" dirty="0"/>
                    </a:p>
                  </a:txBody>
                  <a:tcPr marL="56650" marR="56650" marT="28325" marB="28325" anchor="ctr">
                    <a:lnL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5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1575">
                <a:tc>
                  <a:txBody>
                    <a:bodyPr/>
                    <a:lstStyle/>
                    <a:p>
                      <a:pPr marL="0" marR="0" lvl="0" indent="138113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400" u="none" strike="noStrike" cap="none" dirty="0"/>
                        <a:t>Bloqueante</a:t>
                      </a:r>
                      <a:endParaRPr sz="1400" dirty="0"/>
                    </a:p>
                  </a:txBody>
                  <a:tcPr marL="56650" marR="56650" marT="28325" marB="28325" anchor="ctr">
                    <a:lnL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CED"/>
                    </a:solidFill>
                  </a:tcPr>
                </a:tc>
                <a:tc>
                  <a:txBody>
                    <a:bodyPr/>
                    <a:lstStyle/>
                    <a:p>
                      <a:pPr marL="227013" marR="0" lvl="0" indent="-138113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100000"/>
                        <a:buFont typeface="Arial"/>
                        <a:buChar char="•"/>
                      </a:pPr>
                      <a:r>
                        <a:rPr lang="es-PE" sz="1400" u="none" strike="noStrike" cap="none" dirty="0"/>
                        <a:t>Bloquea el trabajo de desarrollo o pruebas. En producción no </a:t>
                      </a:r>
                      <a:br>
                        <a:rPr lang="es-PE" sz="1400" u="none" strike="noStrike" cap="none" dirty="0"/>
                      </a:br>
                      <a:r>
                        <a:rPr lang="es-PE" sz="1400" u="none" strike="noStrike" cap="none" dirty="0"/>
                        <a:t>podría ejecutarse.</a:t>
                      </a:r>
                      <a:endParaRPr sz="1400" u="none" strike="noStrike" cap="none" dirty="0"/>
                    </a:p>
                  </a:txBody>
                  <a:tcPr marL="56650" marR="56650" marT="28325" marB="28325" anchor="ctr">
                    <a:lnL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C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025">
                <a:tc>
                  <a:txBody>
                    <a:bodyPr/>
                    <a:lstStyle/>
                    <a:p>
                      <a:pPr marL="0" marR="0" lvl="0" indent="138113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400" dirty="0"/>
                        <a:t>Crítico</a:t>
                      </a:r>
                      <a:endParaRPr sz="1400" dirty="0"/>
                    </a:p>
                  </a:txBody>
                  <a:tcPr marL="56650" marR="56650" marT="28325" marB="28325" anchor="ctr">
                    <a:lnL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27013" marR="0" lvl="0" indent="-138113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100000"/>
                        <a:buFont typeface="Arial"/>
                        <a:buChar char="•"/>
                      </a:pPr>
                      <a:r>
                        <a:rPr lang="es-PE" sz="1400" u="none" strike="noStrike" cap="none" dirty="0"/>
                        <a:t>Se cuelga, pérdida de datos, daño de memoria severo.</a:t>
                      </a:r>
                      <a:endParaRPr sz="1400" u="none" strike="noStrike" cap="none" dirty="0"/>
                    </a:p>
                  </a:txBody>
                  <a:tcPr marL="56650" marR="56650" marT="28325" marB="28325" anchor="ctr">
                    <a:lnL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025">
                <a:tc>
                  <a:txBody>
                    <a:bodyPr/>
                    <a:lstStyle/>
                    <a:p>
                      <a:pPr marL="0" marR="0" lvl="0" indent="138113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400" u="none" strike="noStrike" cap="none" dirty="0"/>
                        <a:t>Mayor</a:t>
                      </a:r>
                      <a:endParaRPr sz="1400" dirty="0"/>
                    </a:p>
                  </a:txBody>
                  <a:tcPr marL="56650" marR="56650" marT="28325" marB="28325" anchor="ctr">
                    <a:lnL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CED"/>
                    </a:solidFill>
                  </a:tcPr>
                </a:tc>
                <a:tc>
                  <a:txBody>
                    <a:bodyPr/>
                    <a:lstStyle/>
                    <a:p>
                      <a:pPr marL="227013" marR="0" lvl="0" indent="-138113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100000"/>
                        <a:buFont typeface="Arial"/>
                        <a:buChar char="•"/>
                      </a:pPr>
                      <a:r>
                        <a:rPr lang="es-PE" sz="1400" u="none" strike="noStrike" cap="none" dirty="0"/>
                        <a:t>Pérdida mayor de funcionalidad.</a:t>
                      </a:r>
                      <a:endParaRPr sz="1400" dirty="0"/>
                    </a:p>
                  </a:txBody>
                  <a:tcPr marL="56650" marR="56650" marT="28325" marB="28325" anchor="ctr">
                    <a:lnL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C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5925">
                <a:tc>
                  <a:txBody>
                    <a:bodyPr/>
                    <a:lstStyle/>
                    <a:p>
                      <a:pPr marL="0" marR="0" lvl="0" indent="138113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400" u="none" strike="noStrike" cap="none" dirty="0"/>
                        <a:t>Menor</a:t>
                      </a:r>
                      <a:endParaRPr sz="1400" dirty="0"/>
                    </a:p>
                  </a:txBody>
                  <a:tcPr marL="56650" marR="56650" marT="28325" marB="28325" anchor="ctr">
                    <a:lnL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27013" marR="0" lvl="0" indent="-138113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100000"/>
                        <a:buFont typeface="Arial"/>
                        <a:buChar char="•"/>
                      </a:pPr>
                      <a:r>
                        <a:rPr lang="es-PE" sz="1400" u="none" strike="noStrike" cap="none" dirty="0"/>
                        <a:t>Pérdida menor de funcionalidad u otro problema donde se presente una fácil solución.</a:t>
                      </a:r>
                      <a:endParaRPr sz="1400" u="none" strike="noStrike" cap="none" dirty="0"/>
                    </a:p>
                  </a:txBody>
                  <a:tcPr marL="56650" marR="56650" marT="28325" marB="28325" anchor="ctr">
                    <a:lnL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6725">
                <a:tc>
                  <a:txBody>
                    <a:bodyPr/>
                    <a:lstStyle/>
                    <a:p>
                      <a:pPr marL="0" marR="0" lvl="0" indent="138113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400" u="none" strike="noStrike" cap="none" dirty="0"/>
                        <a:t>Trivial</a:t>
                      </a:r>
                      <a:endParaRPr sz="1400" dirty="0"/>
                    </a:p>
                  </a:txBody>
                  <a:tcPr marL="56650" marR="56650" marT="28325" marB="28325" anchor="ctr">
                    <a:lnL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CED"/>
                    </a:solidFill>
                  </a:tcPr>
                </a:tc>
                <a:tc>
                  <a:txBody>
                    <a:bodyPr/>
                    <a:lstStyle/>
                    <a:p>
                      <a:pPr marL="227013" marR="0" lvl="0" indent="-138113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100000"/>
                        <a:buFont typeface="Arial"/>
                        <a:buChar char="•"/>
                      </a:pPr>
                      <a:r>
                        <a:rPr lang="es-PE" sz="1400" u="none" strike="noStrike" cap="none" dirty="0"/>
                        <a:t>Problema cosmético como palabras mal escritas o texto desalineado.</a:t>
                      </a:r>
                      <a:endParaRPr sz="1400" u="none" strike="noStrike" cap="none" dirty="0"/>
                    </a:p>
                  </a:txBody>
                  <a:tcPr marL="56650" marR="56650" marT="28325" marB="28325" anchor="ctr">
                    <a:lnL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C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Rectangle 5">
            <a:extLst>
              <a:ext uri="{FF2B5EF4-FFF2-40B4-BE49-F238E27FC236}">
                <a16:creationId xmlns:a16="http://schemas.microsoft.com/office/drawing/2014/main" id="{0D724A6B-93DC-F544-8EB7-5696F0368944}"/>
              </a:ext>
            </a:extLst>
          </p:cNvPr>
          <p:cNvSpPr/>
          <p:nvPr/>
        </p:nvSpPr>
        <p:spPr>
          <a:xfrm>
            <a:off x="503238" y="376232"/>
            <a:ext cx="3300666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/>
              </a:rPr>
              <a:t>SEGUIMIENTO DE PRUEBAS</a:t>
            </a:r>
            <a:endParaRPr lang="es-PE" sz="1000" dirty="0">
              <a:solidFill>
                <a:schemeClr val="bg1">
                  <a:lumMod val="6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FEB63592-BBB2-0D4E-812D-B9528DF52F3B}"/>
              </a:ext>
            </a:extLst>
          </p:cNvPr>
          <p:cNvSpPr/>
          <p:nvPr/>
        </p:nvSpPr>
        <p:spPr>
          <a:xfrm>
            <a:off x="503237" y="916472"/>
            <a:ext cx="2737629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buSzPts val="1600"/>
            </a:pPr>
            <a:r>
              <a:rPr lang="es-ES" sz="2000" b="1" dirty="0">
                <a:solidFill>
                  <a:srgbClr val="EE4639"/>
                </a:solidFill>
                <a:latin typeface="Graphik Bold" panose="020B0503030202060203" pitchFamily="34" charset="77"/>
                <a:cs typeface="Calibri" charset="0"/>
              </a:rPr>
              <a:t>+ 02.</a:t>
            </a:r>
            <a:br>
              <a:rPr lang="es-ES" sz="1600" b="1" dirty="0">
                <a:solidFill>
                  <a:srgbClr val="EE4639"/>
                </a:solidFill>
                <a:latin typeface="Calibri" charset="0"/>
                <a:cs typeface="Calibri" charset="0"/>
              </a:rPr>
            </a:br>
            <a:r>
              <a:rPr lang="es-PE" sz="1600" b="1" dirty="0">
                <a:solidFill>
                  <a:srgbClr val="EE4639"/>
                </a:solidFill>
                <a:latin typeface="Calibri" charset="0"/>
                <a:cs typeface="Calibri" charset="0"/>
                <a:sym typeface="Calibri"/>
              </a:rPr>
              <a:t>SEVERIDAD DE UN DEFECTO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>
            <a:extLst>
              <a:ext uri="{FF2B5EF4-FFF2-40B4-BE49-F238E27FC236}">
                <a16:creationId xmlns:a16="http://schemas.microsoft.com/office/drawing/2014/main" id="{081C9218-F2BD-4140-97BE-47CE1C4E445C}"/>
              </a:ext>
            </a:extLst>
          </p:cNvPr>
          <p:cNvSpPr/>
          <p:nvPr/>
        </p:nvSpPr>
        <p:spPr>
          <a:xfrm>
            <a:off x="503238" y="376232"/>
            <a:ext cx="3300666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/>
              </a:rPr>
              <a:t>SEGUIMIENTO DE PRUEBAS</a:t>
            </a:r>
            <a:endParaRPr lang="es-PE" sz="1000" dirty="0">
              <a:solidFill>
                <a:schemeClr val="bg1">
                  <a:lumMod val="6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F30B384F-C653-9C42-ABF7-2028D6933B33}"/>
              </a:ext>
            </a:extLst>
          </p:cNvPr>
          <p:cNvSpPr/>
          <p:nvPr/>
        </p:nvSpPr>
        <p:spPr>
          <a:xfrm>
            <a:off x="503236" y="916472"/>
            <a:ext cx="7636423" cy="340093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buSzPts val="1600"/>
            </a:pPr>
            <a:r>
              <a:rPr lang="es-ES" sz="2000" b="1" dirty="0">
                <a:solidFill>
                  <a:srgbClr val="EE4639"/>
                </a:solidFill>
                <a:latin typeface="Graphik Bold" panose="020B0503030202060203" pitchFamily="34" charset="77"/>
                <a:cs typeface="Calibri" charset="0"/>
              </a:rPr>
              <a:t>+ 03.</a:t>
            </a:r>
            <a:br>
              <a:rPr lang="es-ES" sz="1600" b="1" dirty="0">
                <a:solidFill>
                  <a:srgbClr val="EE4639"/>
                </a:solidFill>
                <a:latin typeface="Calibri" charset="0"/>
                <a:cs typeface="Calibri" charset="0"/>
              </a:rPr>
            </a:br>
            <a:r>
              <a:rPr lang="es-PE" sz="1600" b="1" dirty="0">
                <a:solidFill>
                  <a:srgbClr val="EE4639"/>
                </a:solidFill>
                <a:latin typeface="Calibri" charset="0"/>
                <a:cs typeface="Calibri" charset="0"/>
                <a:sym typeface="Calibri"/>
              </a:rPr>
              <a:t>REPORTE DE DEFECTO</a:t>
            </a:r>
            <a:endParaRPr lang="es-PE" sz="1600" b="1" dirty="0">
              <a:solidFill>
                <a:srgbClr val="EE4639"/>
              </a:solidFill>
              <a:latin typeface="Calibri" charset="0"/>
              <a:cs typeface="Calibri" charset="0"/>
            </a:endParaRPr>
          </a:p>
          <a:p>
            <a:pPr marL="9525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5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 reporte de Defecto útil tiene dos cualidades:</a:t>
            </a:r>
            <a:endParaRPr lang="es-PE" sz="1500" dirty="0"/>
          </a:p>
          <a:p>
            <a:pPr marL="179388" marR="0" lvl="1" indent="-179388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s-PE" sz="15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Reproducible: Si un desarrollador no puede reproducirlo o probar que existe, continuará con el siguiente en la lista.</a:t>
            </a:r>
            <a:endParaRPr lang="es-PE" sz="1500" dirty="0"/>
          </a:p>
          <a:p>
            <a:pPr marL="179388" marR="0" lvl="1" indent="-179388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s-PE" sz="15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Específico: Un título útil </a:t>
            </a:r>
            <a:r>
              <a:rPr lang="es-PE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sería</a:t>
            </a:r>
            <a:r>
              <a:rPr lang="es-PE" sz="15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“El instalador de PCMCIA falla en Toshiba Tecra 780DVD”.</a:t>
            </a:r>
            <a:endParaRPr lang="es-PE" sz="1500" dirty="0"/>
          </a:p>
          <a:p>
            <a:pPr marL="179388" marR="0" lvl="1" indent="-179388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s-PE" sz="15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Ejemplos de malos títulos: “El Software falla”, “Problema en la instalación”</a:t>
            </a:r>
            <a:endParaRPr lang="es-PE" sz="1500" dirty="0"/>
          </a:p>
          <a:p>
            <a:pPr marL="139700" marR="0" lvl="0" indent="-2857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endParaRPr lang="es-PE" sz="15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525" marR="0" lvl="0" indent="0" algn="l" rtl="0"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s-PE" sz="15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Colocar dónde se encontró el defecto</a:t>
            </a:r>
            <a:endParaRPr lang="es-PE" sz="1500" dirty="0"/>
          </a:p>
          <a:p>
            <a:pPr marL="179388" marR="0" lvl="1" indent="-179388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s-PE" sz="15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Producto, Versión, Componente, Plataforma, S.O.</a:t>
            </a:r>
            <a:endParaRPr lang="es-PE" sz="1500" dirty="0"/>
          </a:p>
          <a:p>
            <a:pPr marL="139700" marR="0" lvl="0" indent="-2857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endParaRPr lang="es-PE" sz="15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525" marR="0" lvl="0" indent="0" algn="l" rtl="0"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s-PE" sz="15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Información adicional</a:t>
            </a:r>
            <a:endParaRPr lang="es-PE" sz="1500" dirty="0"/>
          </a:p>
          <a:p>
            <a:pPr marL="179388" marR="0" lvl="1" indent="-179388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s-PE" sz="15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URL, Título o Resumen (no más de 60 caracteres), Descripción, pasos para reproducir, captura de pantalla. </a:t>
            </a:r>
            <a:endParaRPr lang="es-PE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>
            <a:extLst>
              <a:ext uri="{FF2B5EF4-FFF2-40B4-BE49-F238E27FC236}">
                <a16:creationId xmlns:a16="http://schemas.microsoft.com/office/drawing/2014/main" id="{54C8541B-C569-F245-AC7A-4BF1D42058FF}"/>
              </a:ext>
            </a:extLst>
          </p:cNvPr>
          <p:cNvSpPr/>
          <p:nvPr/>
        </p:nvSpPr>
        <p:spPr>
          <a:xfrm>
            <a:off x="503238" y="376232"/>
            <a:ext cx="3300666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/>
              </a:rPr>
              <a:t>SEGUIMIENTO DE PRUEBAS</a:t>
            </a:r>
            <a:endParaRPr lang="es-PE" sz="1000" dirty="0">
              <a:solidFill>
                <a:schemeClr val="bg1">
                  <a:lumMod val="6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3EAFB2D0-0254-4545-AF2D-7799F5175E15}"/>
              </a:ext>
            </a:extLst>
          </p:cNvPr>
          <p:cNvSpPr/>
          <p:nvPr/>
        </p:nvSpPr>
        <p:spPr>
          <a:xfrm>
            <a:off x="503236" y="916472"/>
            <a:ext cx="7636423" cy="31700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R="0" lvl="0" algn="l" rtl="0"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1600"/>
            </a:pPr>
            <a:r>
              <a:rPr lang="es-ES" sz="2000" b="1" dirty="0">
                <a:solidFill>
                  <a:srgbClr val="EE4639"/>
                </a:solidFill>
                <a:latin typeface="Graphik Bold" panose="020B0503030202060203" pitchFamily="34" charset="77"/>
                <a:cs typeface="Calibri" charset="0"/>
              </a:rPr>
              <a:t>+ 04.</a:t>
            </a:r>
            <a:br>
              <a:rPr lang="es-ES" sz="1600" b="1" dirty="0">
                <a:solidFill>
                  <a:srgbClr val="EE4639"/>
                </a:solidFill>
                <a:latin typeface="Calibri" charset="0"/>
                <a:cs typeface="Calibri" charset="0"/>
              </a:rPr>
            </a:br>
            <a:r>
              <a:rPr lang="es-PE" sz="1600" b="1" dirty="0">
                <a:solidFill>
                  <a:srgbClr val="EE4639"/>
                </a:solidFill>
                <a:latin typeface="Calibri" charset="0"/>
                <a:cs typeface="Calibri" charset="0"/>
                <a:sym typeface="Calibri"/>
              </a:rPr>
              <a:t>CRITERIOS PARA DETENER LAS PRUEBAS</a:t>
            </a:r>
          </a:p>
          <a:p>
            <a:pPr marL="185738" marR="0" lvl="0" indent="-176213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s-PE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tiempo de prueba programado ha expirado</a:t>
            </a:r>
            <a:endParaRPr lang="es-PE" sz="1500" dirty="0">
              <a:ea typeface="Calibri"/>
            </a:endParaRPr>
          </a:p>
          <a:p>
            <a:pPr marL="185738"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s-PE" sz="15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Criterio débil. ¿Si el # de casos de prueba es inadecuado?</a:t>
            </a:r>
            <a:endParaRPr lang="es-PE" sz="1500" dirty="0"/>
          </a:p>
          <a:p>
            <a:pPr marL="185738" marR="0" lvl="0" indent="-176213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endParaRPr lang="es-PE" sz="15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85738" marR="0" lvl="0" indent="-176213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s-PE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Algún número predefinido de defectos descubierto</a:t>
            </a:r>
            <a:endParaRPr lang="es-PE" sz="1500" dirty="0"/>
          </a:p>
          <a:p>
            <a:pPr marL="185738" marR="0" lvl="1" algn="l" rtl="0"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es-PE" sz="15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¿Cómo se determina ese número? Es mejor usar defectos por unidad de tiempo y analizar tendencia.</a:t>
            </a:r>
            <a:endParaRPr lang="es-PE" sz="1500" dirty="0"/>
          </a:p>
          <a:p>
            <a:pPr marL="185738" marR="0" lvl="0" indent="-176213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endParaRPr lang="es-PE" sz="15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85738" marR="0" lvl="0" indent="-176213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s-PE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Todas las pruebas formales se ejecutan sin detectar ningún defecto.</a:t>
            </a:r>
            <a:endParaRPr lang="es-PE" sz="1500" dirty="0"/>
          </a:p>
          <a:p>
            <a:pPr marL="185738" marR="0" lvl="1" algn="l" rtl="0"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s-PE" sz="15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hay motivación por encontrar más defectos.</a:t>
            </a:r>
            <a:endParaRPr lang="es-PE" sz="1500" dirty="0"/>
          </a:p>
          <a:p>
            <a:pPr marL="185738" marR="0" lvl="0" indent="-176213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endParaRPr lang="es-PE" sz="15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85738" marR="0" lvl="0" indent="-176213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s-PE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combinación de los criterios anteriores.</a:t>
            </a:r>
            <a:endParaRPr lang="es-PE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Forma libre 38">
            <a:extLst>
              <a:ext uri="{FF2B5EF4-FFF2-40B4-BE49-F238E27FC236}">
                <a16:creationId xmlns:a16="http://schemas.microsoft.com/office/drawing/2014/main" id="{825457B7-22D2-5144-9787-B911A27487B1}"/>
              </a:ext>
            </a:extLst>
          </p:cNvPr>
          <p:cNvSpPr/>
          <p:nvPr/>
        </p:nvSpPr>
        <p:spPr>
          <a:xfrm>
            <a:off x="2396851" y="2389068"/>
            <a:ext cx="4490220" cy="1881656"/>
          </a:xfrm>
          <a:custGeom>
            <a:avLst/>
            <a:gdLst>
              <a:gd name="connsiteX0" fmla="*/ 5286 w 4461004"/>
              <a:gd name="connsiteY0" fmla="*/ 105711 h 1881656"/>
              <a:gd name="connsiteX1" fmla="*/ 4011732 w 4461004"/>
              <a:gd name="connsiteY1" fmla="*/ 105711 h 1881656"/>
              <a:gd name="connsiteX2" fmla="*/ 4165013 w 4461004"/>
              <a:gd name="connsiteY2" fmla="*/ 0 h 1881656"/>
              <a:gd name="connsiteX3" fmla="*/ 4313008 w 4461004"/>
              <a:gd name="connsiteY3" fmla="*/ 0 h 1881656"/>
              <a:gd name="connsiteX4" fmla="*/ 4461004 w 4461004"/>
              <a:gd name="connsiteY4" fmla="*/ 1881656 h 1881656"/>
              <a:gd name="connsiteX5" fmla="*/ 4302437 w 4461004"/>
              <a:gd name="connsiteY5" fmla="*/ 1168107 h 1881656"/>
              <a:gd name="connsiteX6" fmla="*/ 443986 w 4461004"/>
              <a:gd name="connsiteY6" fmla="*/ 1168107 h 1881656"/>
              <a:gd name="connsiteX7" fmla="*/ 301276 w 4461004"/>
              <a:gd name="connsiteY7" fmla="*/ 946114 h 1881656"/>
              <a:gd name="connsiteX8" fmla="*/ 142710 w 4461004"/>
              <a:gd name="connsiteY8" fmla="*/ 946114 h 1881656"/>
              <a:gd name="connsiteX9" fmla="*/ 0 w 4461004"/>
              <a:gd name="connsiteY9" fmla="*/ 607838 h 1881656"/>
              <a:gd name="connsiteX10" fmla="*/ 5286 w 4461004"/>
              <a:gd name="connsiteY10" fmla="*/ 105711 h 1881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461004" h="1881656">
                <a:moveTo>
                  <a:pt x="5286" y="105711"/>
                </a:moveTo>
                <a:lnTo>
                  <a:pt x="4011732" y="105711"/>
                </a:lnTo>
                <a:lnTo>
                  <a:pt x="4165013" y="0"/>
                </a:lnTo>
                <a:lnTo>
                  <a:pt x="4313008" y="0"/>
                </a:lnTo>
                <a:lnTo>
                  <a:pt x="4461004" y="1881656"/>
                </a:lnTo>
                <a:lnTo>
                  <a:pt x="4302437" y="1168107"/>
                </a:lnTo>
                <a:lnTo>
                  <a:pt x="443986" y="1168107"/>
                </a:lnTo>
                <a:lnTo>
                  <a:pt x="301276" y="946114"/>
                </a:lnTo>
                <a:lnTo>
                  <a:pt x="142710" y="946114"/>
                </a:lnTo>
                <a:lnTo>
                  <a:pt x="0" y="607838"/>
                </a:lnTo>
                <a:lnTo>
                  <a:pt x="5286" y="105711"/>
                </a:lnTo>
                <a:close/>
              </a:path>
            </a:pathLst>
          </a:custGeom>
          <a:solidFill>
            <a:srgbClr val="DDEEC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40" name="Forma libre 39">
            <a:extLst>
              <a:ext uri="{FF2B5EF4-FFF2-40B4-BE49-F238E27FC236}">
                <a16:creationId xmlns:a16="http://schemas.microsoft.com/office/drawing/2014/main" id="{2AED543C-4DA9-5844-8950-BC9182B36EAE}"/>
              </a:ext>
            </a:extLst>
          </p:cNvPr>
          <p:cNvSpPr/>
          <p:nvPr/>
        </p:nvSpPr>
        <p:spPr>
          <a:xfrm>
            <a:off x="2396851" y="2984500"/>
            <a:ext cx="4490782" cy="1291167"/>
          </a:xfrm>
          <a:custGeom>
            <a:avLst/>
            <a:gdLst>
              <a:gd name="connsiteX0" fmla="*/ 0 w 4466166"/>
              <a:gd name="connsiteY0" fmla="*/ 0 h 1291167"/>
              <a:gd name="connsiteX1" fmla="*/ 156633 w 4466166"/>
              <a:gd name="connsiteY1" fmla="*/ 355600 h 1291167"/>
              <a:gd name="connsiteX2" fmla="*/ 309033 w 4466166"/>
              <a:gd name="connsiteY2" fmla="*/ 355600 h 1291167"/>
              <a:gd name="connsiteX3" fmla="*/ 452966 w 4466166"/>
              <a:gd name="connsiteY3" fmla="*/ 575733 h 1291167"/>
              <a:gd name="connsiteX4" fmla="*/ 4313766 w 4466166"/>
              <a:gd name="connsiteY4" fmla="*/ 575733 h 1291167"/>
              <a:gd name="connsiteX5" fmla="*/ 4466166 w 4466166"/>
              <a:gd name="connsiteY5" fmla="*/ 1291167 h 1291167"/>
              <a:gd name="connsiteX6" fmla="*/ 4233 w 4466166"/>
              <a:gd name="connsiteY6" fmla="*/ 1291167 h 1291167"/>
              <a:gd name="connsiteX7" fmla="*/ 0 w 4466166"/>
              <a:gd name="connsiteY7" fmla="*/ 0 h 1291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466166" h="1291167">
                <a:moveTo>
                  <a:pt x="0" y="0"/>
                </a:moveTo>
                <a:lnTo>
                  <a:pt x="156633" y="355600"/>
                </a:lnTo>
                <a:lnTo>
                  <a:pt x="309033" y="355600"/>
                </a:lnTo>
                <a:lnTo>
                  <a:pt x="452966" y="575733"/>
                </a:lnTo>
                <a:lnTo>
                  <a:pt x="4313766" y="575733"/>
                </a:lnTo>
                <a:lnTo>
                  <a:pt x="4466166" y="1291167"/>
                </a:lnTo>
                <a:lnTo>
                  <a:pt x="4233" y="1291167"/>
                </a:lnTo>
                <a:lnTo>
                  <a:pt x="0" y="0"/>
                </a:lnTo>
                <a:close/>
              </a:path>
            </a:pathLst>
          </a:custGeom>
          <a:solidFill>
            <a:srgbClr val="E3DC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69" name="Google Shape;169;p20"/>
          <p:cNvSpPr/>
          <p:nvPr/>
        </p:nvSpPr>
        <p:spPr>
          <a:xfrm>
            <a:off x="3135805" y="1108230"/>
            <a:ext cx="2872389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REPORTE DE CASOS DE PRUEBA</a:t>
            </a:r>
            <a:endParaRPr sz="16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9F00D27-36A5-9043-9781-3FFFF54CEBAF}"/>
              </a:ext>
            </a:extLst>
          </p:cNvPr>
          <p:cNvSpPr/>
          <p:nvPr/>
        </p:nvSpPr>
        <p:spPr>
          <a:xfrm>
            <a:off x="503238" y="376232"/>
            <a:ext cx="3300666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/>
              </a:rPr>
              <a:t>SEGUIMIENTO DE PRUEBAS</a:t>
            </a:r>
            <a:endParaRPr lang="es-PE" sz="1000" dirty="0">
              <a:solidFill>
                <a:schemeClr val="bg1">
                  <a:lumMod val="6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ACC28DCC-0B24-DC4D-AF85-C6C063909E3C}"/>
              </a:ext>
            </a:extLst>
          </p:cNvPr>
          <p:cNvCxnSpPr>
            <a:cxnSpLocks/>
          </p:cNvCxnSpPr>
          <p:nvPr/>
        </p:nvCxnSpPr>
        <p:spPr>
          <a:xfrm>
            <a:off x="2864769" y="1902798"/>
            <a:ext cx="0" cy="2367926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497CD6D3-94BA-CA47-BAAE-62A3E6788715}"/>
              </a:ext>
            </a:extLst>
          </p:cNvPr>
          <p:cNvCxnSpPr>
            <a:cxnSpLocks/>
          </p:cNvCxnSpPr>
          <p:nvPr/>
        </p:nvCxnSpPr>
        <p:spPr>
          <a:xfrm>
            <a:off x="3018050" y="1902798"/>
            <a:ext cx="0" cy="2367926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7FF62598-097C-4149-8A9C-BA77B6F9259E}"/>
              </a:ext>
            </a:extLst>
          </p:cNvPr>
          <p:cNvCxnSpPr>
            <a:cxnSpLocks/>
          </p:cNvCxnSpPr>
          <p:nvPr/>
        </p:nvCxnSpPr>
        <p:spPr>
          <a:xfrm>
            <a:off x="3166045" y="1902798"/>
            <a:ext cx="0" cy="2367926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663F262A-950A-464A-9CC0-F81917029170}"/>
              </a:ext>
            </a:extLst>
          </p:cNvPr>
          <p:cNvCxnSpPr>
            <a:cxnSpLocks/>
          </p:cNvCxnSpPr>
          <p:nvPr/>
        </p:nvCxnSpPr>
        <p:spPr>
          <a:xfrm>
            <a:off x="3319326" y="1902798"/>
            <a:ext cx="0" cy="2367926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3771871A-74AF-9A45-8F87-B049DFC0A8FD}"/>
              </a:ext>
            </a:extLst>
          </p:cNvPr>
          <p:cNvCxnSpPr>
            <a:cxnSpLocks/>
          </p:cNvCxnSpPr>
          <p:nvPr/>
        </p:nvCxnSpPr>
        <p:spPr>
          <a:xfrm>
            <a:off x="3467322" y="1902798"/>
            <a:ext cx="0" cy="2367926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D3A3F542-6984-C742-8C36-DA21F76C55E9}"/>
              </a:ext>
            </a:extLst>
          </p:cNvPr>
          <p:cNvCxnSpPr>
            <a:cxnSpLocks/>
          </p:cNvCxnSpPr>
          <p:nvPr/>
        </p:nvCxnSpPr>
        <p:spPr>
          <a:xfrm>
            <a:off x="3615317" y="1902798"/>
            <a:ext cx="0" cy="2367926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07363142-60CA-8041-9292-0F806FEBEFE2}"/>
              </a:ext>
            </a:extLst>
          </p:cNvPr>
          <p:cNvCxnSpPr>
            <a:cxnSpLocks/>
          </p:cNvCxnSpPr>
          <p:nvPr/>
        </p:nvCxnSpPr>
        <p:spPr>
          <a:xfrm>
            <a:off x="3758027" y="1902798"/>
            <a:ext cx="0" cy="2367926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452D883C-77F8-9E49-ADC2-F95E5E9338C3}"/>
              </a:ext>
            </a:extLst>
          </p:cNvPr>
          <p:cNvCxnSpPr>
            <a:cxnSpLocks/>
          </p:cNvCxnSpPr>
          <p:nvPr/>
        </p:nvCxnSpPr>
        <p:spPr>
          <a:xfrm>
            <a:off x="3911308" y="1902798"/>
            <a:ext cx="0" cy="2367926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0A254E79-6F8D-F44B-8ED1-E8ACB913825D}"/>
              </a:ext>
            </a:extLst>
          </p:cNvPr>
          <p:cNvCxnSpPr>
            <a:cxnSpLocks/>
          </p:cNvCxnSpPr>
          <p:nvPr/>
        </p:nvCxnSpPr>
        <p:spPr>
          <a:xfrm>
            <a:off x="4059303" y="1902798"/>
            <a:ext cx="0" cy="2367926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925FC814-5CE1-6B42-9D94-7D70344C7F6E}"/>
              </a:ext>
            </a:extLst>
          </p:cNvPr>
          <p:cNvCxnSpPr>
            <a:cxnSpLocks/>
          </p:cNvCxnSpPr>
          <p:nvPr/>
        </p:nvCxnSpPr>
        <p:spPr>
          <a:xfrm>
            <a:off x="4207298" y="1902798"/>
            <a:ext cx="0" cy="2367926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36DE4827-EEF0-4444-A9C8-A93219D92D7C}"/>
              </a:ext>
            </a:extLst>
          </p:cNvPr>
          <p:cNvCxnSpPr>
            <a:cxnSpLocks/>
          </p:cNvCxnSpPr>
          <p:nvPr/>
        </p:nvCxnSpPr>
        <p:spPr>
          <a:xfrm>
            <a:off x="4360579" y="1902798"/>
            <a:ext cx="0" cy="2367926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cto 18">
            <a:extLst>
              <a:ext uri="{FF2B5EF4-FFF2-40B4-BE49-F238E27FC236}">
                <a16:creationId xmlns:a16="http://schemas.microsoft.com/office/drawing/2014/main" id="{9934E14B-3C08-F74B-82B0-CAA6E419622E}"/>
              </a:ext>
            </a:extLst>
          </p:cNvPr>
          <p:cNvCxnSpPr>
            <a:cxnSpLocks/>
          </p:cNvCxnSpPr>
          <p:nvPr/>
        </p:nvCxnSpPr>
        <p:spPr>
          <a:xfrm>
            <a:off x="4508574" y="1902798"/>
            <a:ext cx="0" cy="2367926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195976D0-BB67-024D-910E-C82A36A2F599}"/>
              </a:ext>
            </a:extLst>
          </p:cNvPr>
          <p:cNvCxnSpPr>
            <a:cxnSpLocks/>
          </p:cNvCxnSpPr>
          <p:nvPr/>
        </p:nvCxnSpPr>
        <p:spPr>
          <a:xfrm>
            <a:off x="4656569" y="1902798"/>
            <a:ext cx="0" cy="2367926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cto 20">
            <a:extLst>
              <a:ext uri="{FF2B5EF4-FFF2-40B4-BE49-F238E27FC236}">
                <a16:creationId xmlns:a16="http://schemas.microsoft.com/office/drawing/2014/main" id="{44C916AA-21D8-E246-87DD-52D38D883707}"/>
              </a:ext>
            </a:extLst>
          </p:cNvPr>
          <p:cNvCxnSpPr>
            <a:cxnSpLocks/>
          </p:cNvCxnSpPr>
          <p:nvPr/>
        </p:nvCxnSpPr>
        <p:spPr>
          <a:xfrm>
            <a:off x="4804565" y="1902798"/>
            <a:ext cx="0" cy="2367926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cto 21">
            <a:extLst>
              <a:ext uri="{FF2B5EF4-FFF2-40B4-BE49-F238E27FC236}">
                <a16:creationId xmlns:a16="http://schemas.microsoft.com/office/drawing/2014/main" id="{C5D3D87A-2838-0047-92FE-99A409801483}"/>
              </a:ext>
            </a:extLst>
          </p:cNvPr>
          <p:cNvCxnSpPr>
            <a:cxnSpLocks/>
          </p:cNvCxnSpPr>
          <p:nvPr/>
        </p:nvCxnSpPr>
        <p:spPr>
          <a:xfrm>
            <a:off x="4952561" y="1902798"/>
            <a:ext cx="0" cy="2367926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9EF1F86B-37AD-1E46-8D01-5A9E892EE741}"/>
              </a:ext>
            </a:extLst>
          </p:cNvPr>
          <p:cNvCxnSpPr>
            <a:cxnSpLocks/>
          </p:cNvCxnSpPr>
          <p:nvPr/>
        </p:nvCxnSpPr>
        <p:spPr>
          <a:xfrm>
            <a:off x="5100556" y="1902798"/>
            <a:ext cx="0" cy="2367926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328FEB41-E8AC-D24E-B1CA-463AFEC17621}"/>
              </a:ext>
            </a:extLst>
          </p:cNvPr>
          <p:cNvCxnSpPr>
            <a:cxnSpLocks/>
          </p:cNvCxnSpPr>
          <p:nvPr/>
        </p:nvCxnSpPr>
        <p:spPr>
          <a:xfrm>
            <a:off x="5248552" y="1902798"/>
            <a:ext cx="0" cy="2367926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cto 24">
            <a:extLst>
              <a:ext uri="{FF2B5EF4-FFF2-40B4-BE49-F238E27FC236}">
                <a16:creationId xmlns:a16="http://schemas.microsoft.com/office/drawing/2014/main" id="{F212F209-23B9-204D-B4C4-C31312719BBB}"/>
              </a:ext>
            </a:extLst>
          </p:cNvPr>
          <p:cNvCxnSpPr>
            <a:cxnSpLocks/>
          </p:cNvCxnSpPr>
          <p:nvPr/>
        </p:nvCxnSpPr>
        <p:spPr>
          <a:xfrm>
            <a:off x="5391262" y="1902798"/>
            <a:ext cx="0" cy="2367926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5FE835A7-35E0-3F44-8ADF-9A10D08CF18F}"/>
              </a:ext>
            </a:extLst>
          </p:cNvPr>
          <p:cNvCxnSpPr>
            <a:cxnSpLocks/>
          </p:cNvCxnSpPr>
          <p:nvPr/>
        </p:nvCxnSpPr>
        <p:spPr>
          <a:xfrm>
            <a:off x="5549829" y="1902798"/>
            <a:ext cx="0" cy="2367926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cto 26">
            <a:extLst>
              <a:ext uri="{FF2B5EF4-FFF2-40B4-BE49-F238E27FC236}">
                <a16:creationId xmlns:a16="http://schemas.microsoft.com/office/drawing/2014/main" id="{9BFB4409-86F9-CA46-93A1-2A1DF1445B29}"/>
              </a:ext>
            </a:extLst>
          </p:cNvPr>
          <p:cNvCxnSpPr>
            <a:cxnSpLocks/>
          </p:cNvCxnSpPr>
          <p:nvPr/>
        </p:nvCxnSpPr>
        <p:spPr>
          <a:xfrm>
            <a:off x="5692539" y="1902798"/>
            <a:ext cx="0" cy="2367926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1C22CEED-ADCD-A141-BAA4-BCD99F32834B}"/>
              </a:ext>
            </a:extLst>
          </p:cNvPr>
          <p:cNvCxnSpPr>
            <a:cxnSpLocks/>
          </p:cNvCxnSpPr>
          <p:nvPr/>
        </p:nvCxnSpPr>
        <p:spPr>
          <a:xfrm>
            <a:off x="5840534" y="1902798"/>
            <a:ext cx="0" cy="2367926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recto 28">
            <a:extLst>
              <a:ext uri="{FF2B5EF4-FFF2-40B4-BE49-F238E27FC236}">
                <a16:creationId xmlns:a16="http://schemas.microsoft.com/office/drawing/2014/main" id="{E5165509-186B-3743-B85E-FFC22E3632F8}"/>
              </a:ext>
            </a:extLst>
          </p:cNvPr>
          <p:cNvCxnSpPr>
            <a:cxnSpLocks/>
          </p:cNvCxnSpPr>
          <p:nvPr/>
        </p:nvCxnSpPr>
        <p:spPr>
          <a:xfrm>
            <a:off x="5993815" y="1902798"/>
            <a:ext cx="0" cy="2367926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cto 29">
            <a:extLst>
              <a:ext uri="{FF2B5EF4-FFF2-40B4-BE49-F238E27FC236}">
                <a16:creationId xmlns:a16="http://schemas.microsoft.com/office/drawing/2014/main" id="{3729E320-8EB0-934D-BBF4-5424EAC31C18}"/>
              </a:ext>
            </a:extLst>
          </p:cNvPr>
          <p:cNvCxnSpPr>
            <a:cxnSpLocks/>
          </p:cNvCxnSpPr>
          <p:nvPr/>
        </p:nvCxnSpPr>
        <p:spPr>
          <a:xfrm>
            <a:off x="6136525" y="1902798"/>
            <a:ext cx="0" cy="2367926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recto 30">
            <a:extLst>
              <a:ext uri="{FF2B5EF4-FFF2-40B4-BE49-F238E27FC236}">
                <a16:creationId xmlns:a16="http://schemas.microsoft.com/office/drawing/2014/main" id="{87F90D8D-F140-3749-A9E0-FD0CEB274680}"/>
              </a:ext>
            </a:extLst>
          </p:cNvPr>
          <p:cNvCxnSpPr>
            <a:cxnSpLocks/>
          </p:cNvCxnSpPr>
          <p:nvPr/>
        </p:nvCxnSpPr>
        <p:spPr>
          <a:xfrm>
            <a:off x="6284520" y="1902798"/>
            <a:ext cx="0" cy="2367926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cto 31">
            <a:extLst>
              <a:ext uri="{FF2B5EF4-FFF2-40B4-BE49-F238E27FC236}">
                <a16:creationId xmlns:a16="http://schemas.microsoft.com/office/drawing/2014/main" id="{998CFD87-8D34-344E-8DD5-BAECBFAEF410}"/>
              </a:ext>
            </a:extLst>
          </p:cNvPr>
          <p:cNvCxnSpPr>
            <a:cxnSpLocks/>
          </p:cNvCxnSpPr>
          <p:nvPr/>
        </p:nvCxnSpPr>
        <p:spPr>
          <a:xfrm>
            <a:off x="6437801" y="1902798"/>
            <a:ext cx="0" cy="2367926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ector recto 32">
            <a:extLst>
              <a:ext uri="{FF2B5EF4-FFF2-40B4-BE49-F238E27FC236}">
                <a16:creationId xmlns:a16="http://schemas.microsoft.com/office/drawing/2014/main" id="{6C53721C-9E92-BE44-BC70-5FE3DD143FD9}"/>
              </a:ext>
            </a:extLst>
          </p:cNvPr>
          <p:cNvCxnSpPr>
            <a:cxnSpLocks/>
          </p:cNvCxnSpPr>
          <p:nvPr/>
        </p:nvCxnSpPr>
        <p:spPr>
          <a:xfrm>
            <a:off x="6580511" y="1902798"/>
            <a:ext cx="0" cy="2367926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ector recto 33">
            <a:extLst>
              <a:ext uri="{FF2B5EF4-FFF2-40B4-BE49-F238E27FC236}">
                <a16:creationId xmlns:a16="http://schemas.microsoft.com/office/drawing/2014/main" id="{2F0B3F00-D7F2-D249-922F-EBAF4658E43F}"/>
              </a:ext>
            </a:extLst>
          </p:cNvPr>
          <p:cNvCxnSpPr>
            <a:cxnSpLocks/>
          </p:cNvCxnSpPr>
          <p:nvPr/>
        </p:nvCxnSpPr>
        <p:spPr>
          <a:xfrm>
            <a:off x="6733792" y="1902798"/>
            <a:ext cx="0" cy="2367926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cto 34">
            <a:extLst>
              <a:ext uri="{FF2B5EF4-FFF2-40B4-BE49-F238E27FC236}">
                <a16:creationId xmlns:a16="http://schemas.microsoft.com/office/drawing/2014/main" id="{539F0F29-A8BA-B141-8029-D06C126D0B24}"/>
              </a:ext>
            </a:extLst>
          </p:cNvPr>
          <p:cNvCxnSpPr>
            <a:cxnSpLocks/>
          </p:cNvCxnSpPr>
          <p:nvPr/>
        </p:nvCxnSpPr>
        <p:spPr>
          <a:xfrm>
            <a:off x="6876502" y="1902798"/>
            <a:ext cx="0" cy="2367926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cto 35">
            <a:extLst>
              <a:ext uri="{FF2B5EF4-FFF2-40B4-BE49-F238E27FC236}">
                <a16:creationId xmlns:a16="http://schemas.microsoft.com/office/drawing/2014/main" id="{3A7A8BDE-5A47-C147-B26D-67E8B60339B7}"/>
              </a:ext>
            </a:extLst>
          </p:cNvPr>
          <p:cNvCxnSpPr>
            <a:cxnSpLocks/>
          </p:cNvCxnSpPr>
          <p:nvPr/>
        </p:nvCxnSpPr>
        <p:spPr>
          <a:xfrm>
            <a:off x="2727345" y="1902798"/>
            <a:ext cx="0" cy="2367926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recto 36">
            <a:extLst>
              <a:ext uri="{FF2B5EF4-FFF2-40B4-BE49-F238E27FC236}">
                <a16:creationId xmlns:a16="http://schemas.microsoft.com/office/drawing/2014/main" id="{B24ABF8E-E9CD-CF4D-8EDC-2B1803550641}"/>
              </a:ext>
            </a:extLst>
          </p:cNvPr>
          <p:cNvCxnSpPr>
            <a:cxnSpLocks/>
          </p:cNvCxnSpPr>
          <p:nvPr/>
        </p:nvCxnSpPr>
        <p:spPr>
          <a:xfrm>
            <a:off x="2568778" y="1902798"/>
            <a:ext cx="0" cy="2367926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ector recto 37">
            <a:extLst>
              <a:ext uri="{FF2B5EF4-FFF2-40B4-BE49-F238E27FC236}">
                <a16:creationId xmlns:a16="http://schemas.microsoft.com/office/drawing/2014/main" id="{F0749366-ECEB-5C47-8EB7-6F2677180390}"/>
              </a:ext>
            </a:extLst>
          </p:cNvPr>
          <p:cNvCxnSpPr>
            <a:cxnSpLocks/>
          </p:cNvCxnSpPr>
          <p:nvPr/>
        </p:nvCxnSpPr>
        <p:spPr>
          <a:xfrm>
            <a:off x="2404927" y="1902798"/>
            <a:ext cx="4471575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recto 40">
            <a:extLst>
              <a:ext uri="{FF2B5EF4-FFF2-40B4-BE49-F238E27FC236}">
                <a16:creationId xmlns:a16="http://schemas.microsoft.com/office/drawing/2014/main" id="{24D6122C-BCD9-7A49-A26F-E7405EA62D77}"/>
              </a:ext>
            </a:extLst>
          </p:cNvPr>
          <p:cNvCxnSpPr>
            <a:cxnSpLocks/>
          </p:cNvCxnSpPr>
          <p:nvPr/>
        </p:nvCxnSpPr>
        <p:spPr>
          <a:xfrm>
            <a:off x="2404927" y="2029651"/>
            <a:ext cx="4471575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ector recto 41">
            <a:extLst>
              <a:ext uri="{FF2B5EF4-FFF2-40B4-BE49-F238E27FC236}">
                <a16:creationId xmlns:a16="http://schemas.microsoft.com/office/drawing/2014/main" id="{D370CBEF-C6AC-774C-9587-C79A376E640D}"/>
              </a:ext>
            </a:extLst>
          </p:cNvPr>
          <p:cNvCxnSpPr>
            <a:cxnSpLocks/>
          </p:cNvCxnSpPr>
          <p:nvPr/>
        </p:nvCxnSpPr>
        <p:spPr>
          <a:xfrm>
            <a:off x="2404927" y="2145933"/>
            <a:ext cx="4471575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ector recto 42">
            <a:extLst>
              <a:ext uri="{FF2B5EF4-FFF2-40B4-BE49-F238E27FC236}">
                <a16:creationId xmlns:a16="http://schemas.microsoft.com/office/drawing/2014/main" id="{B6D00A1C-C650-4D45-ADF9-F24DEC2C2531}"/>
              </a:ext>
            </a:extLst>
          </p:cNvPr>
          <p:cNvCxnSpPr>
            <a:cxnSpLocks/>
          </p:cNvCxnSpPr>
          <p:nvPr/>
        </p:nvCxnSpPr>
        <p:spPr>
          <a:xfrm>
            <a:off x="2404927" y="2267501"/>
            <a:ext cx="4471575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cto 43">
            <a:extLst>
              <a:ext uri="{FF2B5EF4-FFF2-40B4-BE49-F238E27FC236}">
                <a16:creationId xmlns:a16="http://schemas.microsoft.com/office/drawing/2014/main" id="{B9EC9DEC-CF99-3440-92A5-4CA95FF16A6B}"/>
              </a:ext>
            </a:extLst>
          </p:cNvPr>
          <p:cNvCxnSpPr>
            <a:cxnSpLocks/>
          </p:cNvCxnSpPr>
          <p:nvPr/>
        </p:nvCxnSpPr>
        <p:spPr>
          <a:xfrm>
            <a:off x="2404927" y="2383783"/>
            <a:ext cx="4471575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ector recto 44">
            <a:extLst>
              <a:ext uri="{FF2B5EF4-FFF2-40B4-BE49-F238E27FC236}">
                <a16:creationId xmlns:a16="http://schemas.microsoft.com/office/drawing/2014/main" id="{4EEC2B44-2EDF-9B49-B815-ECB54C32E3A2}"/>
              </a:ext>
            </a:extLst>
          </p:cNvPr>
          <p:cNvCxnSpPr>
            <a:cxnSpLocks/>
          </p:cNvCxnSpPr>
          <p:nvPr/>
        </p:nvCxnSpPr>
        <p:spPr>
          <a:xfrm>
            <a:off x="2404927" y="2500065"/>
            <a:ext cx="4471575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recto 45">
            <a:extLst>
              <a:ext uri="{FF2B5EF4-FFF2-40B4-BE49-F238E27FC236}">
                <a16:creationId xmlns:a16="http://schemas.microsoft.com/office/drawing/2014/main" id="{9955B218-1EFB-ED4C-ADD0-9242591D0838}"/>
              </a:ext>
            </a:extLst>
          </p:cNvPr>
          <p:cNvCxnSpPr>
            <a:cxnSpLocks/>
          </p:cNvCxnSpPr>
          <p:nvPr/>
        </p:nvCxnSpPr>
        <p:spPr>
          <a:xfrm>
            <a:off x="2404927" y="2616347"/>
            <a:ext cx="4471575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ector recto 46">
            <a:extLst>
              <a:ext uri="{FF2B5EF4-FFF2-40B4-BE49-F238E27FC236}">
                <a16:creationId xmlns:a16="http://schemas.microsoft.com/office/drawing/2014/main" id="{57A2670B-AA35-1D46-9062-53DF1227648B}"/>
              </a:ext>
            </a:extLst>
          </p:cNvPr>
          <p:cNvCxnSpPr>
            <a:cxnSpLocks/>
          </p:cNvCxnSpPr>
          <p:nvPr/>
        </p:nvCxnSpPr>
        <p:spPr>
          <a:xfrm>
            <a:off x="2404927" y="2732629"/>
            <a:ext cx="4471575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ector recto 47">
            <a:extLst>
              <a:ext uri="{FF2B5EF4-FFF2-40B4-BE49-F238E27FC236}">
                <a16:creationId xmlns:a16="http://schemas.microsoft.com/office/drawing/2014/main" id="{86C7B0C7-44A1-E046-AAF7-C54946FAC855}"/>
              </a:ext>
            </a:extLst>
          </p:cNvPr>
          <p:cNvCxnSpPr>
            <a:cxnSpLocks/>
          </p:cNvCxnSpPr>
          <p:nvPr/>
        </p:nvCxnSpPr>
        <p:spPr>
          <a:xfrm>
            <a:off x="2404927" y="2864768"/>
            <a:ext cx="4471575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ector recto 48">
            <a:extLst>
              <a:ext uri="{FF2B5EF4-FFF2-40B4-BE49-F238E27FC236}">
                <a16:creationId xmlns:a16="http://schemas.microsoft.com/office/drawing/2014/main" id="{417D0B39-1088-6B4F-BCD4-285FDA35B06C}"/>
              </a:ext>
            </a:extLst>
          </p:cNvPr>
          <p:cNvCxnSpPr>
            <a:cxnSpLocks/>
          </p:cNvCxnSpPr>
          <p:nvPr/>
        </p:nvCxnSpPr>
        <p:spPr>
          <a:xfrm>
            <a:off x="2404927" y="2981050"/>
            <a:ext cx="4471575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ector recto 49">
            <a:extLst>
              <a:ext uri="{FF2B5EF4-FFF2-40B4-BE49-F238E27FC236}">
                <a16:creationId xmlns:a16="http://schemas.microsoft.com/office/drawing/2014/main" id="{EE77BF6B-8457-9648-BF7A-297EDF0F2990}"/>
              </a:ext>
            </a:extLst>
          </p:cNvPr>
          <p:cNvCxnSpPr>
            <a:cxnSpLocks/>
          </p:cNvCxnSpPr>
          <p:nvPr/>
        </p:nvCxnSpPr>
        <p:spPr>
          <a:xfrm>
            <a:off x="2404927" y="3092046"/>
            <a:ext cx="4471575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ector recto 50">
            <a:extLst>
              <a:ext uri="{FF2B5EF4-FFF2-40B4-BE49-F238E27FC236}">
                <a16:creationId xmlns:a16="http://schemas.microsoft.com/office/drawing/2014/main" id="{A2587004-A1B0-1645-8DFB-91F9F581ECB2}"/>
              </a:ext>
            </a:extLst>
          </p:cNvPr>
          <p:cNvCxnSpPr>
            <a:cxnSpLocks/>
          </p:cNvCxnSpPr>
          <p:nvPr/>
        </p:nvCxnSpPr>
        <p:spPr>
          <a:xfrm>
            <a:off x="2404927" y="3213614"/>
            <a:ext cx="4471575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ector recto 51">
            <a:extLst>
              <a:ext uri="{FF2B5EF4-FFF2-40B4-BE49-F238E27FC236}">
                <a16:creationId xmlns:a16="http://schemas.microsoft.com/office/drawing/2014/main" id="{F0925D00-8A55-E644-90A0-FA6ED27D12A6}"/>
              </a:ext>
            </a:extLst>
          </p:cNvPr>
          <p:cNvCxnSpPr>
            <a:cxnSpLocks/>
          </p:cNvCxnSpPr>
          <p:nvPr/>
        </p:nvCxnSpPr>
        <p:spPr>
          <a:xfrm>
            <a:off x="2404927" y="3335695"/>
            <a:ext cx="4471575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ector recto 52">
            <a:extLst>
              <a:ext uri="{FF2B5EF4-FFF2-40B4-BE49-F238E27FC236}">
                <a16:creationId xmlns:a16="http://schemas.microsoft.com/office/drawing/2014/main" id="{0C2B934E-3039-DD44-862A-86AF3B4C312B}"/>
              </a:ext>
            </a:extLst>
          </p:cNvPr>
          <p:cNvCxnSpPr>
            <a:cxnSpLocks/>
          </p:cNvCxnSpPr>
          <p:nvPr/>
        </p:nvCxnSpPr>
        <p:spPr>
          <a:xfrm>
            <a:off x="2404927" y="3440893"/>
            <a:ext cx="4471575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ector recto 53">
            <a:extLst>
              <a:ext uri="{FF2B5EF4-FFF2-40B4-BE49-F238E27FC236}">
                <a16:creationId xmlns:a16="http://schemas.microsoft.com/office/drawing/2014/main" id="{BF37CC79-6B8F-EB44-BA2D-A46609D2E95E}"/>
              </a:ext>
            </a:extLst>
          </p:cNvPr>
          <p:cNvCxnSpPr>
            <a:cxnSpLocks/>
          </p:cNvCxnSpPr>
          <p:nvPr/>
        </p:nvCxnSpPr>
        <p:spPr>
          <a:xfrm>
            <a:off x="2404927" y="3557176"/>
            <a:ext cx="4471575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ector recto 54">
            <a:extLst>
              <a:ext uri="{FF2B5EF4-FFF2-40B4-BE49-F238E27FC236}">
                <a16:creationId xmlns:a16="http://schemas.microsoft.com/office/drawing/2014/main" id="{200737A7-08E8-1D47-A268-88D1D11F8236}"/>
              </a:ext>
            </a:extLst>
          </p:cNvPr>
          <p:cNvCxnSpPr>
            <a:cxnSpLocks/>
          </p:cNvCxnSpPr>
          <p:nvPr/>
        </p:nvCxnSpPr>
        <p:spPr>
          <a:xfrm>
            <a:off x="2404927" y="3673459"/>
            <a:ext cx="4471575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ector recto 55">
            <a:extLst>
              <a:ext uri="{FF2B5EF4-FFF2-40B4-BE49-F238E27FC236}">
                <a16:creationId xmlns:a16="http://schemas.microsoft.com/office/drawing/2014/main" id="{61C6DDB0-ED8B-9C4F-BD93-D9888AD36EEF}"/>
              </a:ext>
            </a:extLst>
          </p:cNvPr>
          <p:cNvCxnSpPr>
            <a:cxnSpLocks/>
          </p:cNvCxnSpPr>
          <p:nvPr/>
        </p:nvCxnSpPr>
        <p:spPr>
          <a:xfrm>
            <a:off x="2404927" y="3795026"/>
            <a:ext cx="4471575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ector recto 56">
            <a:extLst>
              <a:ext uri="{FF2B5EF4-FFF2-40B4-BE49-F238E27FC236}">
                <a16:creationId xmlns:a16="http://schemas.microsoft.com/office/drawing/2014/main" id="{1D05DFD4-0549-2145-BA78-C71D5E77DA5C}"/>
              </a:ext>
            </a:extLst>
          </p:cNvPr>
          <p:cNvCxnSpPr>
            <a:cxnSpLocks/>
          </p:cNvCxnSpPr>
          <p:nvPr/>
        </p:nvCxnSpPr>
        <p:spPr>
          <a:xfrm>
            <a:off x="2404927" y="3906023"/>
            <a:ext cx="4471575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ector recto 57">
            <a:extLst>
              <a:ext uri="{FF2B5EF4-FFF2-40B4-BE49-F238E27FC236}">
                <a16:creationId xmlns:a16="http://schemas.microsoft.com/office/drawing/2014/main" id="{9BC2624E-20AB-1648-BFCD-CAEA1F4D3D1B}"/>
              </a:ext>
            </a:extLst>
          </p:cNvPr>
          <p:cNvCxnSpPr>
            <a:cxnSpLocks/>
          </p:cNvCxnSpPr>
          <p:nvPr/>
        </p:nvCxnSpPr>
        <p:spPr>
          <a:xfrm>
            <a:off x="2404927" y="4022305"/>
            <a:ext cx="4471575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ector recto 58">
            <a:extLst>
              <a:ext uri="{FF2B5EF4-FFF2-40B4-BE49-F238E27FC236}">
                <a16:creationId xmlns:a16="http://schemas.microsoft.com/office/drawing/2014/main" id="{392D6976-2063-8C4C-ACA7-021CCE2EB774}"/>
              </a:ext>
            </a:extLst>
          </p:cNvPr>
          <p:cNvCxnSpPr>
            <a:cxnSpLocks/>
          </p:cNvCxnSpPr>
          <p:nvPr/>
        </p:nvCxnSpPr>
        <p:spPr>
          <a:xfrm>
            <a:off x="2404927" y="4138587"/>
            <a:ext cx="4471575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Google Shape;169;p20">
            <a:extLst>
              <a:ext uri="{FF2B5EF4-FFF2-40B4-BE49-F238E27FC236}">
                <a16:creationId xmlns:a16="http://schemas.microsoft.com/office/drawing/2014/main" id="{3EFB8797-6249-EB47-B654-9958BA9E0C1D}"/>
              </a:ext>
            </a:extLst>
          </p:cNvPr>
          <p:cNvSpPr/>
          <p:nvPr/>
        </p:nvSpPr>
        <p:spPr>
          <a:xfrm rot="18754259">
            <a:off x="2132756" y="4360401"/>
            <a:ext cx="41934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Jun 02</a:t>
            </a:r>
            <a:endParaRPr sz="8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169;p20">
            <a:extLst>
              <a:ext uri="{FF2B5EF4-FFF2-40B4-BE49-F238E27FC236}">
                <a16:creationId xmlns:a16="http://schemas.microsoft.com/office/drawing/2014/main" id="{08771DAF-D57D-3044-A141-5AF8F507F658}"/>
              </a:ext>
            </a:extLst>
          </p:cNvPr>
          <p:cNvSpPr/>
          <p:nvPr/>
        </p:nvSpPr>
        <p:spPr>
          <a:xfrm rot="18754259">
            <a:off x="3179351" y="4360401"/>
            <a:ext cx="41934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Jun 09</a:t>
            </a:r>
            <a:endParaRPr sz="8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169;p20">
            <a:extLst>
              <a:ext uri="{FF2B5EF4-FFF2-40B4-BE49-F238E27FC236}">
                <a16:creationId xmlns:a16="http://schemas.microsoft.com/office/drawing/2014/main" id="{BC213063-87DE-D544-B17E-0D49EACA2780}"/>
              </a:ext>
            </a:extLst>
          </p:cNvPr>
          <p:cNvSpPr/>
          <p:nvPr/>
        </p:nvSpPr>
        <p:spPr>
          <a:xfrm rot="18754259">
            <a:off x="4224983" y="4360400"/>
            <a:ext cx="41934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Jun 16</a:t>
            </a:r>
            <a:endParaRPr sz="8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169;p20">
            <a:extLst>
              <a:ext uri="{FF2B5EF4-FFF2-40B4-BE49-F238E27FC236}">
                <a16:creationId xmlns:a16="http://schemas.microsoft.com/office/drawing/2014/main" id="{8FE0B23E-C8DE-5B40-8FA2-831E719642BB}"/>
              </a:ext>
            </a:extLst>
          </p:cNvPr>
          <p:cNvSpPr/>
          <p:nvPr/>
        </p:nvSpPr>
        <p:spPr>
          <a:xfrm rot="18754259">
            <a:off x="5266383" y="4360399"/>
            <a:ext cx="41934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Jun 23</a:t>
            </a:r>
            <a:endParaRPr sz="8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169;p20">
            <a:extLst>
              <a:ext uri="{FF2B5EF4-FFF2-40B4-BE49-F238E27FC236}">
                <a16:creationId xmlns:a16="http://schemas.microsoft.com/office/drawing/2014/main" id="{B4A5C49D-6129-964B-84FA-B4472617E520}"/>
              </a:ext>
            </a:extLst>
          </p:cNvPr>
          <p:cNvSpPr/>
          <p:nvPr/>
        </p:nvSpPr>
        <p:spPr>
          <a:xfrm rot="18754259">
            <a:off x="6307782" y="4360399"/>
            <a:ext cx="41934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Jun 30</a:t>
            </a:r>
            <a:endParaRPr sz="8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169;p20">
            <a:extLst>
              <a:ext uri="{FF2B5EF4-FFF2-40B4-BE49-F238E27FC236}">
                <a16:creationId xmlns:a16="http://schemas.microsoft.com/office/drawing/2014/main" id="{F6D54173-3897-5544-94DA-22DEAAFD1CE6}"/>
              </a:ext>
            </a:extLst>
          </p:cNvPr>
          <p:cNvSpPr/>
          <p:nvPr/>
        </p:nvSpPr>
        <p:spPr>
          <a:xfrm>
            <a:off x="2227031" y="1841242"/>
            <a:ext cx="15328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sz="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169;p20">
            <a:extLst>
              <a:ext uri="{FF2B5EF4-FFF2-40B4-BE49-F238E27FC236}">
                <a16:creationId xmlns:a16="http://schemas.microsoft.com/office/drawing/2014/main" id="{366A3A22-31BD-2843-A2C4-33E26D13F4F7}"/>
              </a:ext>
            </a:extLst>
          </p:cNvPr>
          <p:cNvSpPr/>
          <p:nvPr/>
        </p:nvSpPr>
        <p:spPr>
          <a:xfrm>
            <a:off x="2227031" y="2412742"/>
            <a:ext cx="15328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sz="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169;p20">
            <a:extLst>
              <a:ext uri="{FF2B5EF4-FFF2-40B4-BE49-F238E27FC236}">
                <a16:creationId xmlns:a16="http://schemas.microsoft.com/office/drawing/2014/main" id="{1DD60C1B-6F26-D84E-9F5C-51A31908CD48}"/>
              </a:ext>
            </a:extLst>
          </p:cNvPr>
          <p:cNvSpPr/>
          <p:nvPr/>
        </p:nvSpPr>
        <p:spPr>
          <a:xfrm>
            <a:off x="2227031" y="3013875"/>
            <a:ext cx="15328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169;p20">
            <a:extLst>
              <a:ext uri="{FF2B5EF4-FFF2-40B4-BE49-F238E27FC236}">
                <a16:creationId xmlns:a16="http://schemas.microsoft.com/office/drawing/2014/main" id="{837FA12B-B3FB-0243-A2B1-D8CB3A4B0F27}"/>
              </a:ext>
            </a:extLst>
          </p:cNvPr>
          <p:cNvSpPr/>
          <p:nvPr/>
        </p:nvSpPr>
        <p:spPr>
          <a:xfrm>
            <a:off x="2227031" y="3602309"/>
            <a:ext cx="15328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169;p20">
            <a:extLst>
              <a:ext uri="{FF2B5EF4-FFF2-40B4-BE49-F238E27FC236}">
                <a16:creationId xmlns:a16="http://schemas.microsoft.com/office/drawing/2014/main" id="{7524048B-4273-2A42-AF82-9D92754F0378}"/>
              </a:ext>
            </a:extLst>
          </p:cNvPr>
          <p:cNvSpPr/>
          <p:nvPr/>
        </p:nvSpPr>
        <p:spPr>
          <a:xfrm>
            <a:off x="2227031" y="4199209"/>
            <a:ext cx="15328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169;p20">
            <a:extLst>
              <a:ext uri="{FF2B5EF4-FFF2-40B4-BE49-F238E27FC236}">
                <a16:creationId xmlns:a16="http://schemas.microsoft.com/office/drawing/2014/main" id="{58793C58-2B4D-B94C-B236-9519F2865387}"/>
              </a:ext>
            </a:extLst>
          </p:cNvPr>
          <p:cNvSpPr/>
          <p:nvPr/>
        </p:nvSpPr>
        <p:spPr>
          <a:xfrm>
            <a:off x="2297118" y="1706625"/>
            <a:ext cx="1091903" cy="1077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7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Number of Test Cases</a:t>
            </a:r>
            <a:endParaRPr sz="7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169;p20">
            <a:extLst>
              <a:ext uri="{FF2B5EF4-FFF2-40B4-BE49-F238E27FC236}">
                <a16:creationId xmlns:a16="http://schemas.microsoft.com/office/drawing/2014/main" id="{0F2A851D-95BD-2C4C-A5D4-734CE5A4D289}"/>
              </a:ext>
            </a:extLst>
          </p:cNvPr>
          <p:cNvSpPr/>
          <p:nvPr/>
        </p:nvSpPr>
        <p:spPr>
          <a:xfrm>
            <a:off x="5899685" y="1730911"/>
            <a:ext cx="336015" cy="1077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7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Design</a:t>
            </a:r>
            <a:endParaRPr sz="7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169;p20">
            <a:extLst>
              <a:ext uri="{FF2B5EF4-FFF2-40B4-BE49-F238E27FC236}">
                <a16:creationId xmlns:a16="http://schemas.microsoft.com/office/drawing/2014/main" id="{48B267D3-46F9-4941-91BA-6F5BB3E91518}"/>
              </a:ext>
            </a:extLst>
          </p:cNvPr>
          <p:cNvSpPr/>
          <p:nvPr/>
        </p:nvSpPr>
        <p:spPr>
          <a:xfrm>
            <a:off x="6491320" y="1730911"/>
            <a:ext cx="336015" cy="1077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7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Ready</a:t>
            </a:r>
            <a:endParaRPr sz="7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169;p20">
            <a:extLst>
              <a:ext uri="{FF2B5EF4-FFF2-40B4-BE49-F238E27FC236}">
                <a16:creationId xmlns:a16="http://schemas.microsoft.com/office/drawing/2014/main" id="{EE1318F2-D304-1C4F-A155-1485948F5397}"/>
              </a:ext>
            </a:extLst>
          </p:cNvPr>
          <p:cNvSpPr/>
          <p:nvPr/>
        </p:nvSpPr>
        <p:spPr>
          <a:xfrm>
            <a:off x="3377127" y="2977671"/>
            <a:ext cx="15328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sz="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169;p20">
            <a:extLst>
              <a:ext uri="{FF2B5EF4-FFF2-40B4-BE49-F238E27FC236}">
                <a16:creationId xmlns:a16="http://schemas.microsoft.com/office/drawing/2014/main" id="{B9E70AF1-C301-4042-BB9A-590FA8389E62}"/>
              </a:ext>
            </a:extLst>
          </p:cNvPr>
          <p:cNvSpPr/>
          <p:nvPr/>
        </p:nvSpPr>
        <p:spPr>
          <a:xfrm>
            <a:off x="4435614" y="2977671"/>
            <a:ext cx="15328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sz="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169;p20">
            <a:extLst>
              <a:ext uri="{FF2B5EF4-FFF2-40B4-BE49-F238E27FC236}">
                <a16:creationId xmlns:a16="http://schemas.microsoft.com/office/drawing/2014/main" id="{0225E3A9-F4C0-F84C-B9AD-26F96DDF67E3}"/>
              </a:ext>
            </a:extLst>
          </p:cNvPr>
          <p:cNvSpPr/>
          <p:nvPr/>
        </p:nvSpPr>
        <p:spPr>
          <a:xfrm>
            <a:off x="5471934" y="2977671"/>
            <a:ext cx="15328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sz="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169;p20">
            <a:extLst>
              <a:ext uri="{FF2B5EF4-FFF2-40B4-BE49-F238E27FC236}">
                <a16:creationId xmlns:a16="http://schemas.microsoft.com/office/drawing/2014/main" id="{263034B8-CC4C-6241-9272-F04E7DB629D8}"/>
              </a:ext>
            </a:extLst>
          </p:cNvPr>
          <p:cNvSpPr/>
          <p:nvPr/>
        </p:nvSpPr>
        <p:spPr>
          <a:xfrm>
            <a:off x="3377127" y="3836653"/>
            <a:ext cx="15328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169;p20">
            <a:extLst>
              <a:ext uri="{FF2B5EF4-FFF2-40B4-BE49-F238E27FC236}">
                <a16:creationId xmlns:a16="http://schemas.microsoft.com/office/drawing/2014/main" id="{041FA66B-A3B0-1C4B-B900-4B14EB3FF32A}"/>
              </a:ext>
            </a:extLst>
          </p:cNvPr>
          <p:cNvSpPr/>
          <p:nvPr/>
        </p:nvSpPr>
        <p:spPr>
          <a:xfrm>
            <a:off x="6491629" y="2877918"/>
            <a:ext cx="15328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Forma libre 1">
            <a:extLst>
              <a:ext uri="{FF2B5EF4-FFF2-40B4-BE49-F238E27FC236}">
                <a16:creationId xmlns:a16="http://schemas.microsoft.com/office/drawing/2014/main" id="{1DB7F6BB-63C4-244C-9883-8A601D788B0B}"/>
              </a:ext>
            </a:extLst>
          </p:cNvPr>
          <p:cNvSpPr/>
          <p:nvPr/>
        </p:nvSpPr>
        <p:spPr>
          <a:xfrm>
            <a:off x="2404927" y="1902798"/>
            <a:ext cx="4476858" cy="2367926"/>
          </a:xfrm>
          <a:custGeom>
            <a:avLst/>
            <a:gdLst>
              <a:gd name="connsiteX0" fmla="*/ 0 w 4455718"/>
              <a:gd name="connsiteY0" fmla="*/ 0 h 2367926"/>
              <a:gd name="connsiteX1" fmla="*/ 0 w 4455718"/>
              <a:gd name="connsiteY1" fmla="*/ 2367926 h 2367926"/>
              <a:gd name="connsiteX2" fmla="*/ 4455718 w 4455718"/>
              <a:gd name="connsiteY2" fmla="*/ 2367926 h 23679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455718" h="2367926">
                <a:moveTo>
                  <a:pt x="0" y="0"/>
                </a:moveTo>
                <a:lnTo>
                  <a:pt x="0" y="2367926"/>
                </a:lnTo>
                <a:lnTo>
                  <a:pt x="4455718" y="2367926"/>
                </a:ln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81" name="Google Shape;169;p20">
            <a:extLst>
              <a:ext uri="{FF2B5EF4-FFF2-40B4-BE49-F238E27FC236}">
                <a16:creationId xmlns:a16="http://schemas.microsoft.com/office/drawing/2014/main" id="{4760D85D-4F26-ED4F-820E-AE5F4131DC51}"/>
              </a:ext>
            </a:extLst>
          </p:cNvPr>
          <p:cNvSpPr/>
          <p:nvPr/>
        </p:nvSpPr>
        <p:spPr>
          <a:xfrm>
            <a:off x="4430073" y="3836653"/>
            <a:ext cx="15328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169;p20">
            <a:extLst>
              <a:ext uri="{FF2B5EF4-FFF2-40B4-BE49-F238E27FC236}">
                <a16:creationId xmlns:a16="http://schemas.microsoft.com/office/drawing/2014/main" id="{3E65D801-13E5-BD48-A5B9-150E5B7C7ED3}"/>
              </a:ext>
            </a:extLst>
          </p:cNvPr>
          <p:cNvSpPr/>
          <p:nvPr/>
        </p:nvSpPr>
        <p:spPr>
          <a:xfrm>
            <a:off x="5466393" y="3836653"/>
            <a:ext cx="15328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169;p20">
            <a:extLst>
              <a:ext uri="{FF2B5EF4-FFF2-40B4-BE49-F238E27FC236}">
                <a16:creationId xmlns:a16="http://schemas.microsoft.com/office/drawing/2014/main" id="{A4431A05-0749-CA4A-B018-2660BC385852}"/>
              </a:ext>
            </a:extLst>
          </p:cNvPr>
          <p:cNvSpPr/>
          <p:nvPr/>
        </p:nvSpPr>
        <p:spPr>
          <a:xfrm>
            <a:off x="6502713" y="3836653"/>
            <a:ext cx="15328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Rectángulo 59">
            <a:extLst>
              <a:ext uri="{FF2B5EF4-FFF2-40B4-BE49-F238E27FC236}">
                <a16:creationId xmlns:a16="http://schemas.microsoft.com/office/drawing/2014/main" id="{7E9375A5-BE68-DA48-B59E-10F9E8560851}"/>
              </a:ext>
            </a:extLst>
          </p:cNvPr>
          <p:cNvSpPr/>
          <p:nvPr/>
        </p:nvSpPr>
        <p:spPr>
          <a:xfrm>
            <a:off x="5549829" y="1730911"/>
            <a:ext cx="290705" cy="83436"/>
          </a:xfrm>
          <a:prstGeom prst="rect">
            <a:avLst/>
          </a:prstGeom>
          <a:solidFill>
            <a:srgbClr val="E3DC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85" name="Rectángulo 84">
            <a:extLst>
              <a:ext uri="{FF2B5EF4-FFF2-40B4-BE49-F238E27FC236}">
                <a16:creationId xmlns:a16="http://schemas.microsoft.com/office/drawing/2014/main" id="{C5D3F64E-E209-3840-BE1D-39E819A94D87}"/>
              </a:ext>
            </a:extLst>
          </p:cNvPr>
          <p:cNvSpPr/>
          <p:nvPr/>
        </p:nvSpPr>
        <p:spPr>
          <a:xfrm>
            <a:off x="6162080" y="1730911"/>
            <a:ext cx="290705" cy="83436"/>
          </a:xfrm>
          <a:prstGeom prst="rect">
            <a:avLst/>
          </a:prstGeom>
          <a:solidFill>
            <a:srgbClr val="DDEEC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1"/>
          <p:cNvSpPr/>
          <p:nvPr/>
        </p:nvSpPr>
        <p:spPr>
          <a:xfrm>
            <a:off x="2286000" y="969977"/>
            <a:ext cx="457200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DEFECTOS ACTIVOS POR MÓDULO O COMPONENTE</a:t>
            </a:r>
            <a:br>
              <a:rPr lang="es-PE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PE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(AGRUPAMIENTO DE DEFECTOS)</a:t>
            </a:r>
            <a:endParaRPr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77" name="Google Shape;177;p21"/>
          <p:cNvGrpSpPr/>
          <p:nvPr/>
        </p:nvGrpSpPr>
        <p:grpSpPr>
          <a:xfrm>
            <a:off x="2583896" y="1693333"/>
            <a:ext cx="3976208" cy="3564475"/>
            <a:chOff x="2368148" y="1693333"/>
            <a:chExt cx="3976209" cy="3564475"/>
          </a:xfrm>
        </p:grpSpPr>
        <p:grpSp>
          <p:nvGrpSpPr>
            <p:cNvPr id="178" name="Google Shape;178;p21"/>
            <p:cNvGrpSpPr/>
            <p:nvPr/>
          </p:nvGrpSpPr>
          <p:grpSpPr>
            <a:xfrm>
              <a:off x="2910806" y="3768233"/>
              <a:ext cx="3191329" cy="1489576"/>
              <a:chOff x="2910808" y="3768233"/>
              <a:chExt cx="3191328" cy="1489576"/>
            </a:xfrm>
          </p:grpSpPr>
          <p:sp>
            <p:nvSpPr>
              <p:cNvPr id="179" name="Google Shape;179;p21"/>
              <p:cNvSpPr txBox="1"/>
              <p:nvPr/>
            </p:nvSpPr>
            <p:spPr>
              <a:xfrm rot="5400000">
                <a:off x="5319149" y="4289610"/>
                <a:ext cx="1304365" cy="2616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PE" sz="11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Data Access Layer</a:t>
                </a:r>
                <a:endParaRPr/>
              </a:p>
            </p:txBody>
          </p:sp>
          <p:sp>
            <p:nvSpPr>
              <p:cNvPr id="180" name="Google Shape;180;p21"/>
              <p:cNvSpPr txBox="1"/>
              <p:nvPr/>
            </p:nvSpPr>
            <p:spPr>
              <a:xfrm rot="5400000">
                <a:off x="4833864" y="4289610"/>
                <a:ext cx="1304365" cy="2616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PE" sz="11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Stored Procedures</a:t>
                </a:r>
                <a:endParaRPr/>
              </a:p>
            </p:txBody>
          </p:sp>
          <p:sp>
            <p:nvSpPr>
              <p:cNvPr id="181" name="Google Shape;181;p21"/>
              <p:cNvSpPr txBox="1"/>
              <p:nvPr/>
            </p:nvSpPr>
            <p:spPr>
              <a:xfrm rot="5400000">
                <a:off x="4348578" y="4289610"/>
                <a:ext cx="1304365" cy="2616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PE" sz="11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Website UI</a:t>
                </a:r>
                <a:endParaRPr/>
              </a:p>
            </p:txBody>
          </p:sp>
          <p:sp>
            <p:nvSpPr>
              <p:cNvPr id="182" name="Google Shape;182;p21"/>
              <p:cNvSpPr txBox="1"/>
              <p:nvPr/>
            </p:nvSpPr>
            <p:spPr>
              <a:xfrm rot="5400000">
                <a:off x="3863291" y="4289610"/>
                <a:ext cx="1304365" cy="2616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PE" sz="11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Admin UI</a:t>
                </a:r>
                <a:endParaRPr/>
              </a:p>
            </p:txBody>
          </p:sp>
          <p:sp>
            <p:nvSpPr>
              <p:cNvPr id="183" name="Google Shape;183;p21"/>
              <p:cNvSpPr txBox="1"/>
              <p:nvPr/>
            </p:nvSpPr>
            <p:spPr>
              <a:xfrm rot="5400000">
                <a:off x="3378003" y="4289610"/>
                <a:ext cx="1304365" cy="2616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PE" sz="11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Billing</a:t>
                </a:r>
                <a:endParaRPr/>
              </a:p>
            </p:txBody>
          </p:sp>
          <p:sp>
            <p:nvSpPr>
              <p:cNvPr id="184" name="Google Shape;184;p21"/>
              <p:cNvSpPr txBox="1"/>
              <p:nvPr/>
            </p:nvSpPr>
            <p:spPr>
              <a:xfrm rot="5400000">
                <a:off x="2873749" y="4289610"/>
                <a:ext cx="1304365" cy="2616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PE" sz="11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Web Services</a:t>
                </a:r>
                <a:endParaRPr/>
              </a:p>
            </p:txBody>
          </p:sp>
          <p:sp>
            <p:nvSpPr>
              <p:cNvPr id="185" name="Google Shape;185;p21"/>
              <p:cNvSpPr txBox="1"/>
              <p:nvPr/>
            </p:nvSpPr>
            <p:spPr>
              <a:xfrm rot="5400000">
                <a:off x="2296826" y="4382216"/>
                <a:ext cx="1489574" cy="2616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PE" sz="11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Business Components</a:t>
                </a:r>
                <a:endParaRPr/>
              </a:p>
            </p:txBody>
          </p:sp>
        </p:grpSp>
        <p:sp>
          <p:nvSpPr>
            <p:cNvPr id="186" name="Google Shape;186;p21"/>
            <p:cNvSpPr txBox="1"/>
            <p:nvPr/>
          </p:nvSpPr>
          <p:spPr>
            <a:xfrm rot="-5400000">
              <a:off x="1771810" y="2484642"/>
              <a:ext cx="1454285" cy="2616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11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Active Bug Count</a:t>
              </a:r>
              <a:endParaRPr/>
            </a:p>
          </p:txBody>
        </p:sp>
        <p:sp>
          <p:nvSpPr>
            <p:cNvPr id="187" name="Google Shape;187;p21"/>
            <p:cNvSpPr/>
            <p:nvPr/>
          </p:nvSpPr>
          <p:spPr>
            <a:xfrm>
              <a:off x="2889966" y="3264614"/>
              <a:ext cx="294374" cy="503618"/>
            </a:xfrm>
            <a:prstGeom prst="rect">
              <a:avLst/>
            </a:prstGeom>
            <a:solidFill>
              <a:srgbClr val="00B1C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" name="Google Shape;188;p21"/>
            <p:cNvSpPr/>
            <p:nvPr/>
          </p:nvSpPr>
          <p:spPr>
            <a:xfrm>
              <a:off x="3383859" y="3136370"/>
              <a:ext cx="294374" cy="631862"/>
            </a:xfrm>
            <a:prstGeom prst="rect">
              <a:avLst/>
            </a:prstGeom>
            <a:solidFill>
              <a:srgbClr val="00B1C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9" name="Google Shape;189;p21"/>
            <p:cNvSpPr/>
            <p:nvPr/>
          </p:nvSpPr>
          <p:spPr>
            <a:xfrm>
              <a:off x="3867519" y="3519616"/>
              <a:ext cx="294374" cy="248616"/>
            </a:xfrm>
            <a:prstGeom prst="rect">
              <a:avLst/>
            </a:prstGeom>
            <a:solidFill>
              <a:srgbClr val="00B1C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0" name="Google Shape;190;p21"/>
            <p:cNvSpPr/>
            <p:nvPr/>
          </p:nvSpPr>
          <p:spPr>
            <a:xfrm>
              <a:off x="4359283" y="2647354"/>
              <a:ext cx="294374" cy="1120878"/>
            </a:xfrm>
            <a:prstGeom prst="rect">
              <a:avLst/>
            </a:prstGeom>
            <a:solidFill>
              <a:srgbClr val="00B1C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1" name="Google Shape;191;p21"/>
            <p:cNvSpPr/>
            <p:nvPr/>
          </p:nvSpPr>
          <p:spPr>
            <a:xfrm>
              <a:off x="4851047" y="2424021"/>
              <a:ext cx="294374" cy="1344211"/>
            </a:xfrm>
            <a:prstGeom prst="rect">
              <a:avLst/>
            </a:prstGeom>
            <a:solidFill>
              <a:srgbClr val="00B1C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2" name="Google Shape;192;p21"/>
            <p:cNvSpPr/>
            <p:nvPr/>
          </p:nvSpPr>
          <p:spPr>
            <a:xfrm>
              <a:off x="5342811" y="3264614"/>
              <a:ext cx="294374" cy="503618"/>
            </a:xfrm>
            <a:prstGeom prst="rect">
              <a:avLst/>
            </a:prstGeom>
            <a:solidFill>
              <a:srgbClr val="00B1C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" name="Google Shape;193;p21"/>
            <p:cNvSpPr/>
            <p:nvPr/>
          </p:nvSpPr>
          <p:spPr>
            <a:xfrm>
              <a:off x="5826668" y="3136370"/>
              <a:ext cx="294374" cy="631862"/>
            </a:xfrm>
            <a:prstGeom prst="rect">
              <a:avLst/>
            </a:prstGeom>
            <a:solidFill>
              <a:srgbClr val="00B1C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94" name="Google Shape;194;p21"/>
            <p:cNvCxnSpPr/>
            <p:nvPr/>
          </p:nvCxnSpPr>
          <p:spPr>
            <a:xfrm rot="10800000">
              <a:off x="2675467" y="3768232"/>
              <a:ext cx="3668889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95" name="Google Shape;195;p21"/>
            <p:cNvCxnSpPr/>
            <p:nvPr/>
          </p:nvCxnSpPr>
          <p:spPr>
            <a:xfrm rot="10800000">
              <a:off x="2688435" y="1693333"/>
              <a:ext cx="0" cy="2074899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</p:grpSp>
      <p:sp>
        <p:nvSpPr>
          <p:cNvPr id="23" name="Rectangle 5">
            <a:extLst>
              <a:ext uri="{FF2B5EF4-FFF2-40B4-BE49-F238E27FC236}">
                <a16:creationId xmlns:a16="http://schemas.microsoft.com/office/drawing/2014/main" id="{17EA9AD0-BEFB-C74B-94A1-5139646E235D}"/>
              </a:ext>
            </a:extLst>
          </p:cNvPr>
          <p:cNvSpPr/>
          <p:nvPr/>
        </p:nvSpPr>
        <p:spPr>
          <a:xfrm>
            <a:off x="503238" y="376232"/>
            <a:ext cx="3300666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/>
              </a:rPr>
              <a:t>SEGUIMIENTO DE PRUEBAS</a:t>
            </a:r>
            <a:endParaRPr lang="es-PE" sz="1000" dirty="0">
              <a:solidFill>
                <a:schemeClr val="bg1">
                  <a:lumMod val="6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2"/>
          <p:cNvSpPr/>
          <p:nvPr/>
        </p:nvSpPr>
        <p:spPr>
          <a:xfrm>
            <a:off x="2823445" y="920927"/>
            <a:ext cx="3497111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TENDENCIA DE DEFECTOS POR TIEMPO</a:t>
            </a:r>
            <a:endParaRPr sz="16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428A669F-224F-7D44-A185-B6C684985717}"/>
              </a:ext>
            </a:extLst>
          </p:cNvPr>
          <p:cNvSpPr/>
          <p:nvPr/>
        </p:nvSpPr>
        <p:spPr>
          <a:xfrm>
            <a:off x="503238" y="376232"/>
            <a:ext cx="3300666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/>
              </a:rPr>
              <a:t>SEGUIMIENTO DE PRUEBAS</a:t>
            </a:r>
            <a:endParaRPr lang="es-PE" sz="1000" dirty="0">
              <a:solidFill>
                <a:schemeClr val="bg1">
                  <a:lumMod val="6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91" name="Grupo 90">
            <a:extLst>
              <a:ext uri="{FF2B5EF4-FFF2-40B4-BE49-F238E27FC236}">
                <a16:creationId xmlns:a16="http://schemas.microsoft.com/office/drawing/2014/main" id="{77F0C2AA-B143-F843-B232-FE475A26DF6F}"/>
              </a:ext>
            </a:extLst>
          </p:cNvPr>
          <p:cNvGrpSpPr/>
          <p:nvPr/>
        </p:nvGrpSpPr>
        <p:grpSpPr>
          <a:xfrm>
            <a:off x="1351586" y="1659098"/>
            <a:ext cx="6799604" cy="3134975"/>
            <a:chOff x="1351586" y="1659098"/>
            <a:chExt cx="6799604" cy="3134975"/>
          </a:xfrm>
        </p:grpSpPr>
        <p:cxnSp>
          <p:nvCxnSpPr>
            <p:cNvPr id="99" name="Conector recto 98">
              <a:extLst>
                <a:ext uri="{FF2B5EF4-FFF2-40B4-BE49-F238E27FC236}">
                  <a16:creationId xmlns:a16="http://schemas.microsoft.com/office/drawing/2014/main" id="{FDEBA7C7-F2F2-5A4A-86DB-842D2790CFB7}"/>
                </a:ext>
              </a:extLst>
            </p:cNvPr>
            <p:cNvCxnSpPr/>
            <p:nvPr/>
          </p:nvCxnSpPr>
          <p:spPr>
            <a:xfrm>
              <a:off x="1859436" y="3579082"/>
              <a:ext cx="4502999" cy="13648"/>
            </a:xfrm>
            <a:prstGeom prst="line">
              <a:avLst/>
            </a:prstGeom>
            <a:ln w="19050">
              <a:solidFill>
                <a:srgbClr val="8087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Conector recto 99">
              <a:extLst>
                <a:ext uri="{FF2B5EF4-FFF2-40B4-BE49-F238E27FC236}">
                  <a16:creationId xmlns:a16="http://schemas.microsoft.com/office/drawing/2014/main" id="{ECE76797-AF12-BE4B-ACB5-024874684E62}"/>
                </a:ext>
              </a:extLst>
            </p:cNvPr>
            <p:cNvCxnSpPr/>
            <p:nvPr/>
          </p:nvCxnSpPr>
          <p:spPr>
            <a:xfrm>
              <a:off x="1859436" y="3938846"/>
              <a:ext cx="4502999" cy="13648"/>
            </a:xfrm>
            <a:prstGeom prst="line">
              <a:avLst/>
            </a:prstGeom>
            <a:ln w="19050">
              <a:solidFill>
                <a:srgbClr val="8087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Rectángulo 35">
              <a:extLst>
                <a:ext uri="{FF2B5EF4-FFF2-40B4-BE49-F238E27FC236}">
                  <a16:creationId xmlns:a16="http://schemas.microsoft.com/office/drawing/2014/main" id="{7D1C2027-04CB-3147-8F17-2C2C3EDDC382}"/>
                </a:ext>
              </a:extLst>
            </p:cNvPr>
            <p:cNvSpPr/>
            <p:nvPr/>
          </p:nvSpPr>
          <p:spPr>
            <a:xfrm>
              <a:off x="1904407" y="1743737"/>
              <a:ext cx="4458028" cy="2551481"/>
            </a:xfrm>
            <a:prstGeom prst="rect">
              <a:avLst/>
            </a:prstGeom>
            <a:noFill/>
            <a:ln>
              <a:solidFill>
                <a:srgbClr val="80879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183" name="Rectángulo 182">
              <a:extLst>
                <a:ext uri="{FF2B5EF4-FFF2-40B4-BE49-F238E27FC236}">
                  <a16:creationId xmlns:a16="http://schemas.microsoft.com/office/drawing/2014/main" id="{B50D5313-3B46-6F46-BB74-D1A9BD08871B}"/>
                </a:ext>
              </a:extLst>
            </p:cNvPr>
            <p:cNvSpPr/>
            <p:nvPr/>
          </p:nvSpPr>
          <p:spPr>
            <a:xfrm>
              <a:off x="1936436" y="4070973"/>
              <a:ext cx="104633" cy="104633"/>
            </a:xfrm>
            <a:prstGeom prst="rect">
              <a:avLst/>
            </a:prstGeom>
            <a:solidFill>
              <a:srgbClr val="EE46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cxnSp>
          <p:nvCxnSpPr>
            <p:cNvPr id="90" name="Conector recto 89">
              <a:extLst>
                <a:ext uri="{FF2B5EF4-FFF2-40B4-BE49-F238E27FC236}">
                  <a16:creationId xmlns:a16="http://schemas.microsoft.com/office/drawing/2014/main" id="{A3561166-0168-5341-AC69-DF2ADB5089BD}"/>
                </a:ext>
              </a:extLst>
            </p:cNvPr>
            <p:cNvCxnSpPr/>
            <p:nvPr/>
          </p:nvCxnSpPr>
          <p:spPr>
            <a:xfrm>
              <a:off x="1859436" y="2121289"/>
              <a:ext cx="4502999" cy="13648"/>
            </a:xfrm>
            <a:prstGeom prst="line">
              <a:avLst/>
            </a:prstGeom>
            <a:ln w="19050">
              <a:solidFill>
                <a:srgbClr val="8087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Conector recto 95">
              <a:extLst>
                <a:ext uri="{FF2B5EF4-FFF2-40B4-BE49-F238E27FC236}">
                  <a16:creationId xmlns:a16="http://schemas.microsoft.com/office/drawing/2014/main" id="{B1058038-0141-6747-A492-B55E2C23024C}"/>
                </a:ext>
              </a:extLst>
            </p:cNvPr>
            <p:cNvCxnSpPr/>
            <p:nvPr/>
          </p:nvCxnSpPr>
          <p:spPr>
            <a:xfrm>
              <a:off x="1859436" y="2477306"/>
              <a:ext cx="4502999" cy="13648"/>
            </a:xfrm>
            <a:prstGeom prst="line">
              <a:avLst/>
            </a:prstGeom>
            <a:ln w="19050">
              <a:solidFill>
                <a:srgbClr val="8087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Conector recto 96">
              <a:extLst>
                <a:ext uri="{FF2B5EF4-FFF2-40B4-BE49-F238E27FC236}">
                  <a16:creationId xmlns:a16="http://schemas.microsoft.com/office/drawing/2014/main" id="{E02E24FE-F8E1-394A-A7EC-1EBD9DDBB554}"/>
                </a:ext>
              </a:extLst>
            </p:cNvPr>
            <p:cNvCxnSpPr/>
            <p:nvPr/>
          </p:nvCxnSpPr>
          <p:spPr>
            <a:xfrm>
              <a:off x="1859436" y="2855807"/>
              <a:ext cx="4502999" cy="13648"/>
            </a:xfrm>
            <a:prstGeom prst="line">
              <a:avLst/>
            </a:prstGeom>
            <a:ln w="19050">
              <a:solidFill>
                <a:srgbClr val="8087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Conector recto 97">
              <a:extLst>
                <a:ext uri="{FF2B5EF4-FFF2-40B4-BE49-F238E27FC236}">
                  <a16:creationId xmlns:a16="http://schemas.microsoft.com/office/drawing/2014/main" id="{DBD05597-9577-D049-A77D-D99AB669591A}"/>
                </a:ext>
              </a:extLst>
            </p:cNvPr>
            <p:cNvCxnSpPr/>
            <p:nvPr/>
          </p:nvCxnSpPr>
          <p:spPr>
            <a:xfrm>
              <a:off x="1859436" y="3219318"/>
              <a:ext cx="4502999" cy="13648"/>
            </a:xfrm>
            <a:prstGeom prst="line">
              <a:avLst/>
            </a:prstGeom>
            <a:ln w="19050">
              <a:solidFill>
                <a:srgbClr val="8087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Elipse 8">
              <a:extLst>
                <a:ext uri="{FF2B5EF4-FFF2-40B4-BE49-F238E27FC236}">
                  <a16:creationId xmlns:a16="http://schemas.microsoft.com/office/drawing/2014/main" id="{A07454C9-4119-454B-9221-2B520D232AAB}"/>
                </a:ext>
              </a:extLst>
            </p:cNvPr>
            <p:cNvSpPr/>
            <p:nvPr/>
          </p:nvSpPr>
          <p:spPr>
            <a:xfrm>
              <a:off x="2117680" y="3836097"/>
              <a:ext cx="104633" cy="104633"/>
            </a:xfrm>
            <a:prstGeom prst="ellipse">
              <a:avLst/>
            </a:prstGeom>
            <a:solidFill>
              <a:srgbClr val="715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10" name="Elipse 9">
              <a:extLst>
                <a:ext uri="{FF2B5EF4-FFF2-40B4-BE49-F238E27FC236}">
                  <a16:creationId xmlns:a16="http://schemas.microsoft.com/office/drawing/2014/main" id="{D375227E-6D76-1247-B3A2-25122E1FC01B}"/>
                </a:ext>
              </a:extLst>
            </p:cNvPr>
            <p:cNvSpPr/>
            <p:nvPr/>
          </p:nvSpPr>
          <p:spPr>
            <a:xfrm>
              <a:off x="2266463" y="3759021"/>
              <a:ext cx="104633" cy="104633"/>
            </a:xfrm>
            <a:prstGeom prst="ellipse">
              <a:avLst/>
            </a:prstGeom>
            <a:solidFill>
              <a:srgbClr val="715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11" name="Elipse 10">
              <a:extLst>
                <a:ext uri="{FF2B5EF4-FFF2-40B4-BE49-F238E27FC236}">
                  <a16:creationId xmlns:a16="http://schemas.microsoft.com/office/drawing/2014/main" id="{689EF0E7-12E5-464C-AF8C-DE7FEDB72195}"/>
                </a:ext>
              </a:extLst>
            </p:cNvPr>
            <p:cNvSpPr/>
            <p:nvPr/>
          </p:nvSpPr>
          <p:spPr>
            <a:xfrm>
              <a:off x="2425687" y="3708979"/>
              <a:ext cx="104633" cy="104633"/>
            </a:xfrm>
            <a:prstGeom prst="ellipse">
              <a:avLst/>
            </a:prstGeom>
            <a:solidFill>
              <a:srgbClr val="715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12" name="Elipse 11">
              <a:extLst>
                <a:ext uri="{FF2B5EF4-FFF2-40B4-BE49-F238E27FC236}">
                  <a16:creationId xmlns:a16="http://schemas.microsoft.com/office/drawing/2014/main" id="{F1FF03F7-4A4E-8144-A8E9-CD88960AD5B5}"/>
                </a:ext>
              </a:extLst>
            </p:cNvPr>
            <p:cNvSpPr/>
            <p:nvPr/>
          </p:nvSpPr>
          <p:spPr>
            <a:xfrm>
              <a:off x="2575813" y="3668036"/>
              <a:ext cx="104633" cy="104633"/>
            </a:xfrm>
            <a:prstGeom prst="ellipse">
              <a:avLst/>
            </a:prstGeom>
            <a:solidFill>
              <a:srgbClr val="715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13" name="Elipse 12">
              <a:extLst>
                <a:ext uri="{FF2B5EF4-FFF2-40B4-BE49-F238E27FC236}">
                  <a16:creationId xmlns:a16="http://schemas.microsoft.com/office/drawing/2014/main" id="{AA7B85A0-34F1-194B-A647-82BCF7E26CAE}"/>
                </a:ext>
              </a:extLst>
            </p:cNvPr>
            <p:cNvSpPr/>
            <p:nvPr/>
          </p:nvSpPr>
          <p:spPr>
            <a:xfrm>
              <a:off x="2730488" y="3581600"/>
              <a:ext cx="104633" cy="104633"/>
            </a:xfrm>
            <a:prstGeom prst="ellipse">
              <a:avLst/>
            </a:prstGeom>
            <a:solidFill>
              <a:srgbClr val="715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14" name="Elipse 13">
              <a:extLst>
                <a:ext uri="{FF2B5EF4-FFF2-40B4-BE49-F238E27FC236}">
                  <a16:creationId xmlns:a16="http://schemas.microsoft.com/office/drawing/2014/main" id="{2B7CCF46-3E29-F648-BBBE-E8C95E0B9D1F}"/>
                </a:ext>
              </a:extLst>
            </p:cNvPr>
            <p:cNvSpPr/>
            <p:nvPr/>
          </p:nvSpPr>
          <p:spPr>
            <a:xfrm>
              <a:off x="2894261" y="3513361"/>
              <a:ext cx="104633" cy="104633"/>
            </a:xfrm>
            <a:prstGeom prst="ellipse">
              <a:avLst/>
            </a:prstGeom>
            <a:solidFill>
              <a:srgbClr val="715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15" name="Elipse 14">
              <a:extLst>
                <a:ext uri="{FF2B5EF4-FFF2-40B4-BE49-F238E27FC236}">
                  <a16:creationId xmlns:a16="http://schemas.microsoft.com/office/drawing/2014/main" id="{D573A235-3ADA-6049-A2F9-EE708AE8241D}"/>
                </a:ext>
              </a:extLst>
            </p:cNvPr>
            <p:cNvSpPr/>
            <p:nvPr/>
          </p:nvSpPr>
          <p:spPr>
            <a:xfrm>
              <a:off x="3062583" y="3436024"/>
              <a:ext cx="104633" cy="104633"/>
            </a:xfrm>
            <a:prstGeom prst="ellipse">
              <a:avLst/>
            </a:prstGeom>
            <a:solidFill>
              <a:srgbClr val="715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16" name="Elipse 15">
              <a:extLst>
                <a:ext uri="{FF2B5EF4-FFF2-40B4-BE49-F238E27FC236}">
                  <a16:creationId xmlns:a16="http://schemas.microsoft.com/office/drawing/2014/main" id="{00D2062C-0B0C-824B-8038-C31D9EE2898D}"/>
                </a:ext>
              </a:extLst>
            </p:cNvPr>
            <p:cNvSpPr/>
            <p:nvPr/>
          </p:nvSpPr>
          <p:spPr>
            <a:xfrm>
              <a:off x="3212709" y="3326842"/>
              <a:ext cx="104633" cy="104633"/>
            </a:xfrm>
            <a:prstGeom prst="ellipse">
              <a:avLst/>
            </a:prstGeom>
            <a:solidFill>
              <a:srgbClr val="715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17" name="Elipse 16">
              <a:extLst>
                <a:ext uri="{FF2B5EF4-FFF2-40B4-BE49-F238E27FC236}">
                  <a16:creationId xmlns:a16="http://schemas.microsoft.com/office/drawing/2014/main" id="{250EE36C-83B6-AE47-9B27-50843C9C3881}"/>
                </a:ext>
              </a:extLst>
            </p:cNvPr>
            <p:cNvSpPr/>
            <p:nvPr/>
          </p:nvSpPr>
          <p:spPr>
            <a:xfrm>
              <a:off x="3367384" y="3067534"/>
              <a:ext cx="104633" cy="104633"/>
            </a:xfrm>
            <a:prstGeom prst="ellipse">
              <a:avLst/>
            </a:prstGeom>
            <a:solidFill>
              <a:srgbClr val="715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18" name="Elipse 17">
              <a:extLst>
                <a:ext uri="{FF2B5EF4-FFF2-40B4-BE49-F238E27FC236}">
                  <a16:creationId xmlns:a16="http://schemas.microsoft.com/office/drawing/2014/main" id="{47D72211-FB1A-AC4D-9C4B-1452DA886F1A}"/>
                </a:ext>
              </a:extLst>
            </p:cNvPr>
            <p:cNvSpPr/>
            <p:nvPr/>
          </p:nvSpPr>
          <p:spPr>
            <a:xfrm>
              <a:off x="3535706" y="2908310"/>
              <a:ext cx="104633" cy="104633"/>
            </a:xfrm>
            <a:prstGeom prst="ellipse">
              <a:avLst/>
            </a:prstGeom>
            <a:solidFill>
              <a:srgbClr val="715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19" name="Elipse 18">
              <a:extLst>
                <a:ext uri="{FF2B5EF4-FFF2-40B4-BE49-F238E27FC236}">
                  <a16:creationId xmlns:a16="http://schemas.microsoft.com/office/drawing/2014/main" id="{A26B4CEF-11A0-1F48-8BE3-81DF0FD2A48B}"/>
                </a:ext>
              </a:extLst>
            </p:cNvPr>
            <p:cNvSpPr/>
            <p:nvPr/>
          </p:nvSpPr>
          <p:spPr>
            <a:xfrm>
              <a:off x="3685832" y="2649003"/>
              <a:ext cx="104633" cy="104633"/>
            </a:xfrm>
            <a:prstGeom prst="ellipse">
              <a:avLst/>
            </a:prstGeom>
            <a:solidFill>
              <a:srgbClr val="715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20" name="Elipse 19">
              <a:extLst>
                <a:ext uri="{FF2B5EF4-FFF2-40B4-BE49-F238E27FC236}">
                  <a16:creationId xmlns:a16="http://schemas.microsoft.com/office/drawing/2014/main" id="{1E72AA76-E0A7-9243-8045-CFD8293D5973}"/>
                </a:ext>
              </a:extLst>
            </p:cNvPr>
            <p:cNvSpPr/>
            <p:nvPr/>
          </p:nvSpPr>
          <p:spPr>
            <a:xfrm>
              <a:off x="3849605" y="2371498"/>
              <a:ext cx="104633" cy="104633"/>
            </a:xfrm>
            <a:prstGeom prst="ellipse">
              <a:avLst/>
            </a:prstGeom>
            <a:solidFill>
              <a:srgbClr val="715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21" name="Elipse 20">
              <a:extLst>
                <a:ext uri="{FF2B5EF4-FFF2-40B4-BE49-F238E27FC236}">
                  <a16:creationId xmlns:a16="http://schemas.microsoft.com/office/drawing/2014/main" id="{F61EC7FE-E906-9540-B779-909CCB75EBB8}"/>
                </a:ext>
              </a:extLst>
            </p:cNvPr>
            <p:cNvSpPr/>
            <p:nvPr/>
          </p:nvSpPr>
          <p:spPr>
            <a:xfrm>
              <a:off x="4013379" y="2271415"/>
              <a:ext cx="104633" cy="104633"/>
            </a:xfrm>
            <a:prstGeom prst="ellipse">
              <a:avLst/>
            </a:prstGeom>
            <a:solidFill>
              <a:srgbClr val="715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22" name="Elipse 21">
              <a:extLst>
                <a:ext uri="{FF2B5EF4-FFF2-40B4-BE49-F238E27FC236}">
                  <a16:creationId xmlns:a16="http://schemas.microsoft.com/office/drawing/2014/main" id="{BCF18FF9-1695-924A-BCBF-499BC131E5BF}"/>
                </a:ext>
              </a:extLst>
            </p:cNvPr>
            <p:cNvSpPr/>
            <p:nvPr/>
          </p:nvSpPr>
          <p:spPr>
            <a:xfrm>
              <a:off x="4163504" y="2121289"/>
              <a:ext cx="104633" cy="104633"/>
            </a:xfrm>
            <a:prstGeom prst="ellipse">
              <a:avLst/>
            </a:prstGeom>
            <a:solidFill>
              <a:srgbClr val="715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23" name="Elipse 22">
              <a:extLst>
                <a:ext uri="{FF2B5EF4-FFF2-40B4-BE49-F238E27FC236}">
                  <a16:creationId xmlns:a16="http://schemas.microsoft.com/office/drawing/2014/main" id="{3B23DC34-45B0-D44D-A4C4-D5717DD4A549}"/>
                </a:ext>
              </a:extLst>
            </p:cNvPr>
            <p:cNvSpPr/>
            <p:nvPr/>
          </p:nvSpPr>
          <p:spPr>
            <a:xfrm>
              <a:off x="4327277" y="2103092"/>
              <a:ext cx="104633" cy="104633"/>
            </a:xfrm>
            <a:prstGeom prst="ellipse">
              <a:avLst/>
            </a:prstGeom>
            <a:solidFill>
              <a:srgbClr val="715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24" name="Elipse 23">
              <a:extLst>
                <a:ext uri="{FF2B5EF4-FFF2-40B4-BE49-F238E27FC236}">
                  <a16:creationId xmlns:a16="http://schemas.microsoft.com/office/drawing/2014/main" id="{6516E97F-2AB0-DC4F-A822-89A525809C7B}"/>
                </a:ext>
              </a:extLst>
            </p:cNvPr>
            <p:cNvSpPr/>
            <p:nvPr/>
          </p:nvSpPr>
          <p:spPr>
            <a:xfrm>
              <a:off x="4481952" y="2030304"/>
              <a:ext cx="104633" cy="104633"/>
            </a:xfrm>
            <a:prstGeom prst="ellipse">
              <a:avLst/>
            </a:prstGeom>
            <a:solidFill>
              <a:srgbClr val="715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25" name="Elipse 24">
              <a:extLst>
                <a:ext uri="{FF2B5EF4-FFF2-40B4-BE49-F238E27FC236}">
                  <a16:creationId xmlns:a16="http://schemas.microsoft.com/office/drawing/2014/main" id="{6766E2EF-FAA1-2E47-9239-B0A4EC247948}"/>
                </a:ext>
              </a:extLst>
            </p:cNvPr>
            <p:cNvSpPr/>
            <p:nvPr/>
          </p:nvSpPr>
          <p:spPr>
            <a:xfrm>
              <a:off x="4645725" y="2162233"/>
              <a:ext cx="104633" cy="104633"/>
            </a:xfrm>
            <a:prstGeom prst="ellipse">
              <a:avLst/>
            </a:prstGeom>
            <a:solidFill>
              <a:srgbClr val="715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26" name="Elipse 25">
              <a:extLst>
                <a:ext uri="{FF2B5EF4-FFF2-40B4-BE49-F238E27FC236}">
                  <a16:creationId xmlns:a16="http://schemas.microsoft.com/office/drawing/2014/main" id="{FAC4FDE9-515F-094C-8414-9C5FB31B423A}"/>
                </a:ext>
              </a:extLst>
            </p:cNvPr>
            <p:cNvSpPr/>
            <p:nvPr/>
          </p:nvSpPr>
          <p:spPr>
            <a:xfrm>
              <a:off x="4800399" y="2335104"/>
              <a:ext cx="104633" cy="104633"/>
            </a:xfrm>
            <a:prstGeom prst="ellipse">
              <a:avLst/>
            </a:prstGeom>
            <a:solidFill>
              <a:srgbClr val="715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27" name="Elipse 26">
              <a:extLst>
                <a:ext uri="{FF2B5EF4-FFF2-40B4-BE49-F238E27FC236}">
                  <a16:creationId xmlns:a16="http://schemas.microsoft.com/office/drawing/2014/main" id="{0B676536-9C2C-5F4D-8464-338C306FE8E5}"/>
                </a:ext>
              </a:extLst>
            </p:cNvPr>
            <p:cNvSpPr/>
            <p:nvPr/>
          </p:nvSpPr>
          <p:spPr>
            <a:xfrm>
              <a:off x="4964172" y="2394244"/>
              <a:ext cx="104633" cy="104633"/>
            </a:xfrm>
            <a:prstGeom prst="ellipse">
              <a:avLst/>
            </a:prstGeom>
            <a:solidFill>
              <a:srgbClr val="715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28" name="Elipse 27">
              <a:extLst>
                <a:ext uri="{FF2B5EF4-FFF2-40B4-BE49-F238E27FC236}">
                  <a16:creationId xmlns:a16="http://schemas.microsoft.com/office/drawing/2014/main" id="{F52EE161-6A6C-C146-869E-58FDB97E3D2D}"/>
                </a:ext>
              </a:extLst>
            </p:cNvPr>
            <p:cNvSpPr/>
            <p:nvPr/>
          </p:nvSpPr>
          <p:spPr>
            <a:xfrm>
              <a:off x="5114298" y="2435187"/>
              <a:ext cx="104633" cy="104633"/>
            </a:xfrm>
            <a:prstGeom prst="ellipse">
              <a:avLst/>
            </a:prstGeom>
            <a:solidFill>
              <a:srgbClr val="715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29" name="Elipse 28">
              <a:extLst>
                <a:ext uri="{FF2B5EF4-FFF2-40B4-BE49-F238E27FC236}">
                  <a16:creationId xmlns:a16="http://schemas.microsoft.com/office/drawing/2014/main" id="{75C1F34D-7763-D743-9910-434AF4EB7426}"/>
                </a:ext>
              </a:extLst>
            </p:cNvPr>
            <p:cNvSpPr/>
            <p:nvPr/>
          </p:nvSpPr>
          <p:spPr>
            <a:xfrm>
              <a:off x="5273522" y="2517074"/>
              <a:ext cx="104633" cy="104633"/>
            </a:xfrm>
            <a:prstGeom prst="ellipse">
              <a:avLst/>
            </a:prstGeom>
            <a:solidFill>
              <a:srgbClr val="715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30" name="Elipse 29">
              <a:extLst>
                <a:ext uri="{FF2B5EF4-FFF2-40B4-BE49-F238E27FC236}">
                  <a16:creationId xmlns:a16="http://schemas.microsoft.com/office/drawing/2014/main" id="{F2ED4FC2-3DCB-4140-8B45-7473B3FE6A94}"/>
                </a:ext>
              </a:extLst>
            </p:cNvPr>
            <p:cNvSpPr/>
            <p:nvPr/>
          </p:nvSpPr>
          <p:spPr>
            <a:xfrm>
              <a:off x="5441844" y="2585313"/>
              <a:ext cx="104633" cy="104633"/>
            </a:xfrm>
            <a:prstGeom prst="ellipse">
              <a:avLst/>
            </a:prstGeom>
            <a:solidFill>
              <a:srgbClr val="715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31" name="Elipse 30">
              <a:extLst>
                <a:ext uri="{FF2B5EF4-FFF2-40B4-BE49-F238E27FC236}">
                  <a16:creationId xmlns:a16="http://schemas.microsoft.com/office/drawing/2014/main" id="{32639762-2694-3C4E-97F3-E57DD123D8AD}"/>
                </a:ext>
              </a:extLst>
            </p:cNvPr>
            <p:cNvSpPr/>
            <p:nvPr/>
          </p:nvSpPr>
          <p:spPr>
            <a:xfrm>
              <a:off x="5601068" y="2717241"/>
              <a:ext cx="104633" cy="104633"/>
            </a:xfrm>
            <a:prstGeom prst="ellipse">
              <a:avLst/>
            </a:prstGeom>
            <a:solidFill>
              <a:srgbClr val="715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32" name="Elipse 31">
              <a:extLst>
                <a:ext uri="{FF2B5EF4-FFF2-40B4-BE49-F238E27FC236}">
                  <a16:creationId xmlns:a16="http://schemas.microsoft.com/office/drawing/2014/main" id="{579003ED-F211-BC41-9ECC-67DC625EF15E}"/>
                </a:ext>
              </a:extLst>
            </p:cNvPr>
            <p:cNvSpPr/>
            <p:nvPr/>
          </p:nvSpPr>
          <p:spPr>
            <a:xfrm>
              <a:off x="5751194" y="2912859"/>
              <a:ext cx="104633" cy="104633"/>
            </a:xfrm>
            <a:prstGeom prst="ellipse">
              <a:avLst/>
            </a:prstGeom>
            <a:solidFill>
              <a:srgbClr val="715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33" name="Elipse 32">
              <a:extLst>
                <a:ext uri="{FF2B5EF4-FFF2-40B4-BE49-F238E27FC236}">
                  <a16:creationId xmlns:a16="http://schemas.microsoft.com/office/drawing/2014/main" id="{16C5110C-8934-BC41-9627-06CCB886430F}"/>
                </a:ext>
              </a:extLst>
            </p:cNvPr>
            <p:cNvSpPr/>
            <p:nvPr/>
          </p:nvSpPr>
          <p:spPr>
            <a:xfrm>
              <a:off x="5910418" y="3072083"/>
              <a:ext cx="104633" cy="104633"/>
            </a:xfrm>
            <a:prstGeom prst="ellipse">
              <a:avLst/>
            </a:prstGeom>
            <a:solidFill>
              <a:srgbClr val="715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34" name="Elipse 33">
              <a:extLst>
                <a:ext uri="{FF2B5EF4-FFF2-40B4-BE49-F238E27FC236}">
                  <a16:creationId xmlns:a16="http://schemas.microsoft.com/office/drawing/2014/main" id="{384F7D63-79A4-4643-A39E-9309987B97DB}"/>
                </a:ext>
              </a:extLst>
            </p:cNvPr>
            <p:cNvSpPr/>
            <p:nvPr/>
          </p:nvSpPr>
          <p:spPr>
            <a:xfrm>
              <a:off x="6074191" y="3144871"/>
              <a:ext cx="104633" cy="104633"/>
            </a:xfrm>
            <a:prstGeom prst="ellipse">
              <a:avLst/>
            </a:prstGeom>
            <a:solidFill>
              <a:srgbClr val="715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35" name="Elipse 34">
              <a:extLst>
                <a:ext uri="{FF2B5EF4-FFF2-40B4-BE49-F238E27FC236}">
                  <a16:creationId xmlns:a16="http://schemas.microsoft.com/office/drawing/2014/main" id="{C63FB973-97EB-DA4F-AC54-07B71B09B8B2}"/>
                </a:ext>
              </a:extLst>
            </p:cNvPr>
            <p:cNvSpPr/>
            <p:nvPr/>
          </p:nvSpPr>
          <p:spPr>
            <a:xfrm>
              <a:off x="6233415" y="3176716"/>
              <a:ext cx="104633" cy="104633"/>
            </a:xfrm>
            <a:prstGeom prst="ellipse">
              <a:avLst/>
            </a:prstGeom>
            <a:solidFill>
              <a:srgbClr val="715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3" name="Rectángulo 2">
              <a:extLst>
                <a:ext uri="{FF2B5EF4-FFF2-40B4-BE49-F238E27FC236}">
                  <a16:creationId xmlns:a16="http://schemas.microsoft.com/office/drawing/2014/main" id="{A9F87074-9959-C542-819E-0C35A7D1B708}"/>
                </a:ext>
              </a:extLst>
            </p:cNvPr>
            <p:cNvSpPr/>
            <p:nvPr/>
          </p:nvSpPr>
          <p:spPr>
            <a:xfrm>
              <a:off x="2102690" y="3968287"/>
              <a:ext cx="104633" cy="104633"/>
            </a:xfrm>
            <a:prstGeom prst="rect">
              <a:avLst/>
            </a:prstGeom>
            <a:solidFill>
              <a:srgbClr val="EE46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37" name="Rectángulo 36">
              <a:extLst>
                <a:ext uri="{FF2B5EF4-FFF2-40B4-BE49-F238E27FC236}">
                  <a16:creationId xmlns:a16="http://schemas.microsoft.com/office/drawing/2014/main" id="{724292BB-92B1-594D-8616-9C82EC4FAA40}"/>
                </a:ext>
              </a:extLst>
            </p:cNvPr>
            <p:cNvSpPr/>
            <p:nvPr/>
          </p:nvSpPr>
          <p:spPr>
            <a:xfrm>
              <a:off x="2271012" y="4004681"/>
              <a:ext cx="104633" cy="104633"/>
            </a:xfrm>
            <a:prstGeom prst="rect">
              <a:avLst/>
            </a:prstGeom>
            <a:solidFill>
              <a:srgbClr val="EE46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38" name="Rectángulo 37">
              <a:extLst>
                <a:ext uri="{FF2B5EF4-FFF2-40B4-BE49-F238E27FC236}">
                  <a16:creationId xmlns:a16="http://schemas.microsoft.com/office/drawing/2014/main" id="{7B27EC8E-C862-B940-9199-98922E626BDE}"/>
                </a:ext>
              </a:extLst>
            </p:cNvPr>
            <p:cNvSpPr/>
            <p:nvPr/>
          </p:nvSpPr>
          <p:spPr>
            <a:xfrm>
              <a:off x="2416588" y="4031977"/>
              <a:ext cx="104633" cy="104633"/>
            </a:xfrm>
            <a:prstGeom prst="rect">
              <a:avLst/>
            </a:prstGeom>
            <a:solidFill>
              <a:srgbClr val="EE46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39" name="Rectángulo 38">
              <a:extLst>
                <a:ext uri="{FF2B5EF4-FFF2-40B4-BE49-F238E27FC236}">
                  <a16:creationId xmlns:a16="http://schemas.microsoft.com/office/drawing/2014/main" id="{3C409914-CB47-4A40-97B0-DEEA19328672}"/>
                </a:ext>
              </a:extLst>
            </p:cNvPr>
            <p:cNvSpPr/>
            <p:nvPr/>
          </p:nvSpPr>
          <p:spPr>
            <a:xfrm>
              <a:off x="2575812" y="3986485"/>
              <a:ext cx="104633" cy="104633"/>
            </a:xfrm>
            <a:prstGeom prst="rect">
              <a:avLst/>
            </a:prstGeom>
            <a:solidFill>
              <a:srgbClr val="EE46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40" name="Rectángulo 39">
              <a:extLst>
                <a:ext uri="{FF2B5EF4-FFF2-40B4-BE49-F238E27FC236}">
                  <a16:creationId xmlns:a16="http://schemas.microsoft.com/office/drawing/2014/main" id="{F8CC0A85-12CD-1241-AD27-6A5898278B4C}"/>
                </a:ext>
              </a:extLst>
            </p:cNvPr>
            <p:cNvSpPr/>
            <p:nvPr/>
          </p:nvSpPr>
          <p:spPr>
            <a:xfrm>
              <a:off x="2735036" y="3968288"/>
              <a:ext cx="104633" cy="104633"/>
            </a:xfrm>
            <a:prstGeom prst="rect">
              <a:avLst/>
            </a:prstGeom>
            <a:solidFill>
              <a:srgbClr val="EE46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41" name="Rectángulo 40">
              <a:extLst>
                <a:ext uri="{FF2B5EF4-FFF2-40B4-BE49-F238E27FC236}">
                  <a16:creationId xmlns:a16="http://schemas.microsoft.com/office/drawing/2014/main" id="{B1594C42-B49F-6D44-B194-6701F61DCFD1}"/>
                </a:ext>
              </a:extLst>
            </p:cNvPr>
            <p:cNvSpPr/>
            <p:nvPr/>
          </p:nvSpPr>
          <p:spPr>
            <a:xfrm>
              <a:off x="2898809" y="3954640"/>
              <a:ext cx="104633" cy="104633"/>
            </a:xfrm>
            <a:prstGeom prst="rect">
              <a:avLst/>
            </a:prstGeom>
            <a:solidFill>
              <a:srgbClr val="EE46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42" name="Rectángulo 41">
              <a:extLst>
                <a:ext uri="{FF2B5EF4-FFF2-40B4-BE49-F238E27FC236}">
                  <a16:creationId xmlns:a16="http://schemas.microsoft.com/office/drawing/2014/main" id="{6D12C14C-523E-3E44-8FC8-20F8671CE2E9}"/>
                </a:ext>
              </a:extLst>
            </p:cNvPr>
            <p:cNvSpPr/>
            <p:nvPr/>
          </p:nvSpPr>
          <p:spPr>
            <a:xfrm>
              <a:off x="3058033" y="3886401"/>
              <a:ext cx="104633" cy="104633"/>
            </a:xfrm>
            <a:prstGeom prst="rect">
              <a:avLst/>
            </a:prstGeom>
            <a:solidFill>
              <a:srgbClr val="EE46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43" name="Rectángulo 42">
              <a:extLst>
                <a:ext uri="{FF2B5EF4-FFF2-40B4-BE49-F238E27FC236}">
                  <a16:creationId xmlns:a16="http://schemas.microsoft.com/office/drawing/2014/main" id="{17A9FEFE-FB2A-1246-AEA7-F2CE817F18B4}"/>
                </a:ext>
              </a:extLst>
            </p:cNvPr>
            <p:cNvSpPr/>
            <p:nvPr/>
          </p:nvSpPr>
          <p:spPr>
            <a:xfrm>
              <a:off x="3208159" y="3863655"/>
              <a:ext cx="104633" cy="104633"/>
            </a:xfrm>
            <a:prstGeom prst="rect">
              <a:avLst/>
            </a:prstGeom>
            <a:solidFill>
              <a:srgbClr val="EE46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44" name="Rectángulo 43">
              <a:extLst>
                <a:ext uri="{FF2B5EF4-FFF2-40B4-BE49-F238E27FC236}">
                  <a16:creationId xmlns:a16="http://schemas.microsoft.com/office/drawing/2014/main" id="{329AEB68-5D0F-2149-9660-F7AF9237347F}"/>
                </a:ext>
              </a:extLst>
            </p:cNvPr>
            <p:cNvSpPr/>
            <p:nvPr/>
          </p:nvSpPr>
          <p:spPr>
            <a:xfrm>
              <a:off x="3362833" y="3704431"/>
              <a:ext cx="104633" cy="104633"/>
            </a:xfrm>
            <a:prstGeom prst="rect">
              <a:avLst/>
            </a:prstGeom>
            <a:solidFill>
              <a:srgbClr val="EE46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45" name="Rectángulo 44">
              <a:extLst>
                <a:ext uri="{FF2B5EF4-FFF2-40B4-BE49-F238E27FC236}">
                  <a16:creationId xmlns:a16="http://schemas.microsoft.com/office/drawing/2014/main" id="{053050FD-28AB-7242-AF43-8419929B3FA0}"/>
                </a:ext>
              </a:extLst>
            </p:cNvPr>
            <p:cNvSpPr/>
            <p:nvPr/>
          </p:nvSpPr>
          <p:spPr>
            <a:xfrm>
              <a:off x="3535704" y="3799965"/>
              <a:ext cx="104633" cy="104633"/>
            </a:xfrm>
            <a:prstGeom prst="rect">
              <a:avLst/>
            </a:prstGeom>
            <a:solidFill>
              <a:srgbClr val="EE46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46" name="Rectángulo 45">
              <a:extLst>
                <a:ext uri="{FF2B5EF4-FFF2-40B4-BE49-F238E27FC236}">
                  <a16:creationId xmlns:a16="http://schemas.microsoft.com/office/drawing/2014/main" id="{B0404C4C-C3F0-BE4B-8015-041ED0633FDA}"/>
                </a:ext>
              </a:extLst>
            </p:cNvPr>
            <p:cNvSpPr/>
            <p:nvPr/>
          </p:nvSpPr>
          <p:spPr>
            <a:xfrm>
              <a:off x="3681280" y="3699881"/>
              <a:ext cx="104633" cy="104633"/>
            </a:xfrm>
            <a:prstGeom prst="rect">
              <a:avLst/>
            </a:prstGeom>
            <a:solidFill>
              <a:srgbClr val="EE46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47" name="Rectángulo 46">
              <a:extLst>
                <a:ext uri="{FF2B5EF4-FFF2-40B4-BE49-F238E27FC236}">
                  <a16:creationId xmlns:a16="http://schemas.microsoft.com/office/drawing/2014/main" id="{21DBB07A-C316-DD42-A6B2-EFF40425B8E6}"/>
                </a:ext>
              </a:extLst>
            </p:cNvPr>
            <p:cNvSpPr/>
            <p:nvPr/>
          </p:nvSpPr>
          <p:spPr>
            <a:xfrm>
              <a:off x="3854152" y="3672585"/>
              <a:ext cx="104633" cy="104633"/>
            </a:xfrm>
            <a:prstGeom prst="rect">
              <a:avLst/>
            </a:prstGeom>
            <a:solidFill>
              <a:srgbClr val="EE46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48" name="Rectángulo 47">
              <a:extLst>
                <a:ext uri="{FF2B5EF4-FFF2-40B4-BE49-F238E27FC236}">
                  <a16:creationId xmlns:a16="http://schemas.microsoft.com/office/drawing/2014/main" id="{343DA551-18CF-9548-BDBE-666C234DFD2B}"/>
                </a:ext>
              </a:extLst>
            </p:cNvPr>
            <p:cNvSpPr/>
            <p:nvPr/>
          </p:nvSpPr>
          <p:spPr>
            <a:xfrm>
              <a:off x="4008827" y="3804513"/>
              <a:ext cx="104633" cy="104633"/>
            </a:xfrm>
            <a:prstGeom prst="rect">
              <a:avLst/>
            </a:prstGeom>
            <a:solidFill>
              <a:srgbClr val="EE46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49" name="Rectángulo 48">
              <a:extLst>
                <a:ext uri="{FF2B5EF4-FFF2-40B4-BE49-F238E27FC236}">
                  <a16:creationId xmlns:a16="http://schemas.microsoft.com/office/drawing/2014/main" id="{77DF3916-B25B-3340-BB79-9F3805456220}"/>
                </a:ext>
              </a:extLst>
            </p:cNvPr>
            <p:cNvSpPr/>
            <p:nvPr/>
          </p:nvSpPr>
          <p:spPr>
            <a:xfrm>
              <a:off x="4168050" y="3695331"/>
              <a:ext cx="104633" cy="104633"/>
            </a:xfrm>
            <a:prstGeom prst="rect">
              <a:avLst/>
            </a:prstGeom>
            <a:solidFill>
              <a:srgbClr val="EE46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50" name="Rectángulo 49">
              <a:extLst>
                <a:ext uri="{FF2B5EF4-FFF2-40B4-BE49-F238E27FC236}">
                  <a16:creationId xmlns:a16="http://schemas.microsoft.com/office/drawing/2014/main" id="{45968D5D-D339-B842-9B90-CEB79F4AB60C}"/>
                </a:ext>
              </a:extLst>
            </p:cNvPr>
            <p:cNvSpPr/>
            <p:nvPr/>
          </p:nvSpPr>
          <p:spPr>
            <a:xfrm>
              <a:off x="4322725" y="3813612"/>
              <a:ext cx="104633" cy="104633"/>
            </a:xfrm>
            <a:prstGeom prst="rect">
              <a:avLst/>
            </a:prstGeom>
            <a:solidFill>
              <a:srgbClr val="EE46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51" name="Rectángulo 50">
              <a:extLst>
                <a:ext uri="{FF2B5EF4-FFF2-40B4-BE49-F238E27FC236}">
                  <a16:creationId xmlns:a16="http://schemas.microsoft.com/office/drawing/2014/main" id="{34B3DA84-35A5-F047-8DE4-90CFBB9C6944}"/>
                </a:ext>
              </a:extLst>
            </p:cNvPr>
            <p:cNvSpPr/>
            <p:nvPr/>
          </p:nvSpPr>
          <p:spPr>
            <a:xfrm>
              <a:off x="4477400" y="3704430"/>
              <a:ext cx="104633" cy="104633"/>
            </a:xfrm>
            <a:prstGeom prst="rect">
              <a:avLst/>
            </a:prstGeom>
            <a:solidFill>
              <a:srgbClr val="EE46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52" name="Rectángulo 51">
              <a:extLst>
                <a:ext uri="{FF2B5EF4-FFF2-40B4-BE49-F238E27FC236}">
                  <a16:creationId xmlns:a16="http://schemas.microsoft.com/office/drawing/2014/main" id="{4BC97F87-4D67-EF44-B5FB-5D74C45344C2}"/>
                </a:ext>
              </a:extLst>
            </p:cNvPr>
            <p:cNvSpPr/>
            <p:nvPr/>
          </p:nvSpPr>
          <p:spPr>
            <a:xfrm>
              <a:off x="4636624" y="3804513"/>
              <a:ext cx="104633" cy="104633"/>
            </a:xfrm>
            <a:prstGeom prst="rect">
              <a:avLst/>
            </a:prstGeom>
            <a:solidFill>
              <a:srgbClr val="EE46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53" name="Rectángulo 52">
              <a:extLst>
                <a:ext uri="{FF2B5EF4-FFF2-40B4-BE49-F238E27FC236}">
                  <a16:creationId xmlns:a16="http://schemas.microsoft.com/office/drawing/2014/main" id="{1100BFD6-757C-554B-A8CF-F1B8F094708A}"/>
                </a:ext>
              </a:extLst>
            </p:cNvPr>
            <p:cNvSpPr/>
            <p:nvPr/>
          </p:nvSpPr>
          <p:spPr>
            <a:xfrm>
              <a:off x="4800397" y="4141158"/>
              <a:ext cx="104633" cy="104633"/>
            </a:xfrm>
            <a:prstGeom prst="rect">
              <a:avLst/>
            </a:prstGeom>
            <a:solidFill>
              <a:srgbClr val="EE46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54" name="Rectángulo 53">
              <a:extLst>
                <a:ext uri="{FF2B5EF4-FFF2-40B4-BE49-F238E27FC236}">
                  <a16:creationId xmlns:a16="http://schemas.microsoft.com/office/drawing/2014/main" id="{FF6800A1-FDDA-054D-A35B-44286C40F377}"/>
                </a:ext>
              </a:extLst>
            </p:cNvPr>
            <p:cNvSpPr/>
            <p:nvPr/>
          </p:nvSpPr>
          <p:spPr>
            <a:xfrm>
              <a:off x="4968720" y="4113862"/>
              <a:ext cx="104633" cy="104633"/>
            </a:xfrm>
            <a:prstGeom prst="rect">
              <a:avLst/>
            </a:prstGeom>
            <a:solidFill>
              <a:srgbClr val="EE46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55" name="Rectángulo 54">
              <a:extLst>
                <a:ext uri="{FF2B5EF4-FFF2-40B4-BE49-F238E27FC236}">
                  <a16:creationId xmlns:a16="http://schemas.microsoft.com/office/drawing/2014/main" id="{5E85ACBD-A53F-DB45-BEC9-E162A11359EE}"/>
                </a:ext>
              </a:extLst>
            </p:cNvPr>
            <p:cNvSpPr/>
            <p:nvPr/>
          </p:nvSpPr>
          <p:spPr>
            <a:xfrm>
              <a:off x="5123395" y="4200298"/>
              <a:ext cx="104633" cy="104633"/>
            </a:xfrm>
            <a:prstGeom prst="rect">
              <a:avLst/>
            </a:prstGeom>
            <a:solidFill>
              <a:srgbClr val="EE46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56" name="Rectángulo 55">
              <a:extLst>
                <a:ext uri="{FF2B5EF4-FFF2-40B4-BE49-F238E27FC236}">
                  <a16:creationId xmlns:a16="http://schemas.microsoft.com/office/drawing/2014/main" id="{3C1BC218-EC4F-C845-BFAD-08D8ACAA9EA2}"/>
                </a:ext>
              </a:extLst>
            </p:cNvPr>
            <p:cNvSpPr/>
            <p:nvPr/>
          </p:nvSpPr>
          <p:spPr>
            <a:xfrm>
              <a:off x="5273521" y="4054722"/>
              <a:ext cx="104633" cy="104633"/>
            </a:xfrm>
            <a:prstGeom prst="rect">
              <a:avLst/>
            </a:prstGeom>
            <a:solidFill>
              <a:srgbClr val="EE46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57" name="Rectángulo 56">
              <a:extLst>
                <a:ext uri="{FF2B5EF4-FFF2-40B4-BE49-F238E27FC236}">
                  <a16:creationId xmlns:a16="http://schemas.microsoft.com/office/drawing/2014/main" id="{685A6157-E846-EC42-97D3-5BB2077DB722}"/>
                </a:ext>
              </a:extLst>
            </p:cNvPr>
            <p:cNvSpPr/>
            <p:nvPr/>
          </p:nvSpPr>
          <p:spPr>
            <a:xfrm>
              <a:off x="5423646" y="4213946"/>
              <a:ext cx="104633" cy="104633"/>
            </a:xfrm>
            <a:prstGeom prst="rect">
              <a:avLst/>
            </a:prstGeom>
            <a:solidFill>
              <a:srgbClr val="EE46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58" name="Rectángulo 57">
              <a:extLst>
                <a:ext uri="{FF2B5EF4-FFF2-40B4-BE49-F238E27FC236}">
                  <a16:creationId xmlns:a16="http://schemas.microsoft.com/office/drawing/2014/main" id="{2FE138C1-0575-5D4B-8142-DD6D527F7E54}"/>
                </a:ext>
              </a:extLst>
            </p:cNvPr>
            <p:cNvSpPr/>
            <p:nvPr/>
          </p:nvSpPr>
          <p:spPr>
            <a:xfrm>
              <a:off x="5601067" y="4245791"/>
              <a:ext cx="104633" cy="104633"/>
            </a:xfrm>
            <a:prstGeom prst="rect">
              <a:avLst/>
            </a:prstGeom>
            <a:solidFill>
              <a:srgbClr val="EE46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59" name="Rectángulo 58">
              <a:extLst>
                <a:ext uri="{FF2B5EF4-FFF2-40B4-BE49-F238E27FC236}">
                  <a16:creationId xmlns:a16="http://schemas.microsoft.com/office/drawing/2014/main" id="{92F5310B-4938-9E4C-A37F-25AEBB2ED19E}"/>
                </a:ext>
              </a:extLst>
            </p:cNvPr>
            <p:cNvSpPr/>
            <p:nvPr/>
          </p:nvSpPr>
          <p:spPr>
            <a:xfrm>
              <a:off x="5751192" y="4254890"/>
              <a:ext cx="104633" cy="104633"/>
            </a:xfrm>
            <a:prstGeom prst="rect">
              <a:avLst/>
            </a:prstGeom>
            <a:solidFill>
              <a:srgbClr val="EE46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60" name="Rectángulo 59">
              <a:extLst>
                <a:ext uri="{FF2B5EF4-FFF2-40B4-BE49-F238E27FC236}">
                  <a16:creationId xmlns:a16="http://schemas.microsoft.com/office/drawing/2014/main" id="{4542538C-C5EF-254E-9F70-D69AE86E0850}"/>
                </a:ext>
              </a:extLst>
            </p:cNvPr>
            <p:cNvSpPr/>
            <p:nvPr/>
          </p:nvSpPr>
          <p:spPr>
            <a:xfrm>
              <a:off x="5910416" y="4250341"/>
              <a:ext cx="104633" cy="104633"/>
            </a:xfrm>
            <a:prstGeom prst="rect">
              <a:avLst/>
            </a:prstGeom>
            <a:solidFill>
              <a:srgbClr val="EE46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61" name="Rectángulo 60">
              <a:extLst>
                <a:ext uri="{FF2B5EF4-FFF2-40B4-BE49-F238E27FC236}">
                  <a16:creationId xmlns:a16="http://schemas.microsoft.com/office/drawing/2014/main" id="{0C1F0058-DDB3-C147-87AF-00FCE0D510F5}"/>
                </a:ext>
              </a:extLst>
            </p:cNvPr>
            <p:cNvSpPr/>
            <p:nvPr/>
          </p:nvSpPr>
          <p:spPr>
            <a:xfrm>
              <a:off x="6065090" y="4204848"/>
              <a:ext cx="104633" cy="104633"/>
            </a:xfrm>
            <a:prstGeom prst="rect">
              <a:avLst/>
            </a:prstGeom>
            <a:solidFill>
              <a:srgbClr val="EE46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4" name="Triángulo 3">
              <a:extLst>
                <a:ext uri="{FF2B5EF4-FFF2-40B4-BE49-F238E27FC236}">
                  <a16:creationId xmlns:a16="http://schemas.microsoft.com/office/drawing/2014/main" id="{3A8C40A4-D688-AC42-AA8A-DB7AED40E9AC}"/>
                </a:ext>
              </a:extLst>
            </p:cNvPr>
            <p:cNvSpPr/>
            <p:nvPr/>
          </p:nvSpPr>
          <p:spPr>
            <a:xfrm>
              <a:off x="1938917" y="4245791"/>
              <a:ext cx="104633" cy="104633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64" name="Triángulo 63">
              <a:extLst>
                <a:ext uri="{FF2B5EF4-FFF2-40B4-BE49-F238E27FC236}">
                  <a16:creationId xmlns:a16="http://schemas.microsoft.com/office/drawing/2014/main" id="{023949BE-76C9-6C46-BC06-AEAB37399FB0}"/>
                </a:ext>
              </a:extLst>
            </p:cNvPr>
            <p:cNvSpPr/>
            <p:nvPr/>
          </p:nvSpPr>
          <p:spPr>
            <a:xfrm>
              <a:off x="2116338" y="4223045"/>
              <a:ext cx="104633" cy="104633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65" name="Triángulo 64">
              <a:extLst>
                <a:ext uri="{FF2B5EF4-FFF2-40B4-BE49-F238E27FC236}">
                  <a16:creationId xmlns:a16="http://schemas.microsoft.com/office/drawing/2014/main" id="{4F590605-1B44-F745-BA39-457D4BD0D7E1}"/>
                </a:ext>
              </a:extLst>
            </p:cNvPr>
            <p:cNvSpPr/>
            <p:nvPr/>
          </p:nvSpPr>
          <p:spPr>
            <a:xfrm>
              <a:off x="2261914" y="4063821"/>
              <a:ext cx="104633" cy="104633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66" name="Triángulo 65">
              <a:extLst>
                <a:ext uri="{FF2B5EF4-FFF2-40B4-BE49-F238E27FC236}">
                  <a16:creationId xmlns:a16="http://schemas.microsoft.com/office/drawing/2014/main" id="{4E223390-1895-2845-A91C-C295F628B1C6}"/>
                </a:ext>
              </a:extLst>
            </p:cNvPr>
            <p:cNvSpPr/>
            <p:nvPr/>
          </p:nvSpPr>
          <p:spPr>
            <a:xfrm>
              <a:off x="2425688" y="4091116"/>
              <a:ext cx="104633" cy="104633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67" name="Triángulo 66">
              <a:extLst>
                <a:ext uri="{FF2B5EF4-FFF2-40B4-BE49-F238E27FC236}">
                  <a16:creationId xmlns:a16="http://schemas.microsoft.com/office/drawing/2014/main" id="{13597594-FE5B-9A44-B30A-D522523FAF94}"/>
                </a:ext>
              </a:extLst>
            </p:cNvPr>
            <p:cNvSpPr/>
            <p:nvPr/>
          </p:nvSpPr>
          <p:spPr>
            <a:xfrm>
              <a:off x="2575813" y="4036525"/>
              <a:ext cx="104633" cy="104633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68" name="Triángulo 67">
              <a:extLst>
                <a:ext uri="{FF2B5EF4-FFF2-40B4-BE49-F238E27FC236}">
                  <a16:creationId xmlns:a16="http://schemas.microsoft.com/office/drawing/2014/main" id="{147081A6-6CF2-374E-9A7C-0E36C3815230}"/>
                </a:ext>
              </a:extLst>
            </p:cNvPr>
            <p:cNvSpPr/>
            <p:nvPr/>
          </p:nvSpPr>
          <p:spPr>
            <a:xfrm>
              <a:off x="2739586" y="4054722"/>
              <a:ext cx="104633" cy="104633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69" name="Triángulo 68">
              <a:extLst>
                <a:ext uri="{FF2B5EF4-FFF2-40B4-BE49-F238E27FC236}">
                  <a16:creationId xmlns:a16="http://schemas.microsoft.com/office/drawing/2014/main" id="{EF901F9F-1F4A-8547-9107-C3A1208D4D76}"/>
                </a:ext>
              </a:extLst>
            </p:cNvPr>
            <p:cNvSpPr/>
            <p:nvPr/>
          </p:nvSpPr>
          <p:spPr>
            <a:xfrm>
              <a:off x="2894260" y="4022877"/>
              <a:ext cx="104633" cy="104633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70" name="Triángulo 69">
              <a:extLst>
                <a:ext uri="{FF2B5EF4-FFF2-40B4-BE49-F238E27FC236}">
                  <a16:creationId xmlns:a16="http://schemas.microsoft.com/office/drawing/2014/main" id="{95A5B06B-3D0A-0F4B-9562-8DADE414BC4C}"/>
                </a:ext>
              </a:extLst>
            </p:cNvPr>
            <p:cNvSpPr/>
            <p:nvPr/>
          </p:nvSpPr>
          <p:spPr>
            <a:xfrm>
              <a:off x="3058033" y="3963736"/>
              <a:ext cx="104633" cy="104633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71" name="Triángulo 70">
              <a:extLst>
                <a:ext uri="{FF2B5EF4-FFF2-40B4-BE49-F238E27FC236}">
                  <a16:creationId xmlns:a16="http://schemas.microsoft.com/office/drawing/2014/main" id="{6B5716A1-42A8-0B4C-A5BD-341001C65E1F}"/>
                </a:ext>
              </a:extLst>
            </p:cNvPr>
            <p:cNvSpPr/>
            <p:nvPr/>
          </p:nvSpPr>
          <p:spPr>
            <a:xfrm>
              <a:off x="3212709" y="3954640"/>
              <a:ext cx="100084" cy="136475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72" name="Triángulo 71">
              <a:extLst>
                <a:ext uri="{FF2B5EF4-FFF2-40B4-BE49-F238E27FC236}">
                  <a16:creationId xmlns:a16="http://schemas.microsoft.com/office/drawing/2014/main" id="{88F45210-457D-F14C-BA2B-433D8438B826}"/>
                </a:ext>
              </a:extLst>
            </p:cNvPr>
            <p:cNvSpPr/>
            <p:nvPr/>
          </p:nvSpPr>
          <p:spPr>
            <a:xfrm>
              <a:off x="3371933" y="3940992"/>
              <a:ext cx="100084" cy="136475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73" name="Triángulo 72">
              <a:extLst>
                <a:ext uri="{FF2B5EF4-FFF2-40B4-BE49-F238E27FC236}">
                  <a16:creationId xmlns:a16="http://schemas.microsoft.com/office/drawing/2014/main" id="{F893A3B5-7CBB-3A42-8F00-E9394A822B57}"/>
                </a:ext>
              </a:extLst>
            </p:cNvPr>
            <p:cNvSpPr/>
            <p:nvPr/>
          </p:nvSpPr>
          <p:spPr>
            <a:xfrm>
              <a:off x="3540255" y="3922795"/>
              <a:ext cx="100084" cy="136475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74" name="Triángulo 73">
              <a:extLst>
                <a:ext uri="{FF2B5EF4-FFF2-40B4-BE49-F238E27FC236}">
                  <a16:creationId xmlns:a16="http://schemas.microsoft.com/office/drawing/2014/main" id="{606F91BA-43D0-5240-B4B4-024BF2FBAD84}"/>
                </a:ext>
              </a:extLst>
            </p:cNvPr>
            <p:cNvSpPr/>
            <p:nvPr/>
          </p:nvSpPr>
          <p:spPr>
            <a:xfrm>
              <a:off x="3690380" y="3959189"/>
              <a:ext cx="100084" cy="136475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75" name="Triángulo 74">
              <a:extLst>
                <a:ext uri="{FF2B5EF4-FFF2-40B4-BE49-F238E27FC236}">
                  <a16:creationId xmlns:a16="http://schemas.microsoft.com/office/drawing/2014/main" id="{5385958D-9213-A145-9776-C03FDB4A66F3}"/>
                </a:ext>
              </a:extLst>
            </p:cNvPr>
            <p:cNvSpPr/>
            <p:nvPr/>
          </p:nvSpPr>
          <p:spPr>
            <a:xfrm>
              <a:off x="3854153" y="3940992"/>
              <a:ext cx="100084" cy="136475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76" name="Triángulo 75">
              <a:extLst>
                <a:ext uri="{FF2B5EF4-FFF2-40B4-BE49-F238E27FC236}">
                  <a16:creationId xmlns:a16="http://schemas.microsoft.com/office/drawing/2014/main" id="{08549560-EAAC-AD42-A6D2-88B46FBC9623}"/>
                </a:ext>
              </a:extLst>
            </p:cNvPr>
            <p:cNvSpPr/>
            <p:nvPr/>
          </p:nvSpPr>
          <p:spPr>
            <a:xfrm>
              <a:off x="4013377" y="3877302"/>
              <a:ext cx="100084" cy="136475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77" name="Triángulo 76">
              <a:extLst>
                <a:ext uri="{FF2B5EF4-FFF2-40B4-BE49-F238E27FC236}">
                  <a16:creationId xmlns:a16="http://schemas.microsoft.com/office/drawing/2014/main" id="{E25BC73A-A45D-8044-AF75-55C7F22B0A7E}"/>
                </a:ext>
              </a:extLst>
            </p:cNvPr>
            <p:cNvSpPr/>
            <p:nvPr/>
          </p:nvSpPr>
          <p:spPr>
            <a:xfrm>
              <a:off x="4172601" y="3836359"/>
              <a:ext cx="100084" cy="136475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79" name="Triángulo 78">
              <a:extLst>
                <a:ext uri="{FF2B5EF4-FFF2-40B4-BE49-F238E27FC236}">
                  <a16:creationId xmlns:a16="http://schemas.microsoft.com/office/drawing/2014/main" id="{3ED48EE2-687F-1043-B8C7-6922BEF96A42}"/>
                </a:ext>
              </a:extLst>
            </p:cNvPr>
            <p:cNvSpPr/>
            <p:nvPr/>
          </p:nvSpPr>
          <p:spPr>
            <a:xfrm>
              <a:off x="4653251" y="3640741"/>
              <a:ext cx="100084" cy="136475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80" name="Triángulo 79">
              <a:extLst>
                <a:ext uri="{FF2B5EF4-FFF2-40B4-BE49-F238E27FC236}">
                  <a16:creationId xmlns:a16="http://schemas.microsoft.com/office/drawing/2014/main" id="{E8CD93B8-1209-3F42-B501-42CC23943789}"/>
                </a:ext>
              </a:extLst>
            </p:cNvPr>
            <p:cNvSpPr/>
            <p:nvPr/>
          </p:nvSpPr>
          <p:spPr>
            <a:xfrm>
              <a:off x="4791300" y="3940992"/>
              <a:ext cx="100084" cy="136475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83" name="Triángulo 82">
              <a:extLst>
                <a:ext uri="{FF2B5EF4-FFF2-40B4-BE49-F238E27FC236}">
                  <a16:creationId xmlns:a16="http://schemas.microsoft.com/office/drawing/2014/main" id="{0D150F83-F70D-704A-A9A3-4B6280D2B10F}"/>
                </a:ext>
              </a:extLst>
            </p:cNvPr>
            <p:cNvSpPr/>
            <p:nvPr/>
          </p:nvSpPr>
          <p:spPr>
            <a:xfrm>
              <a:off x="5278070" y="3977386"/>
              <a:ext cx="100084" cy="136475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85" name="Triángulo 84">
              <a:extLst>
                <a:ext uri="{FF2B5EF4-FFF2-40B4-BE49-F238E27FC236}">
                  <a16:creationId xmlns:a16="http://schemas.microsoft.com/office/drawing/2014/main" id="{702E7584-518D-7940-9494-56FC789B3D50}"/>
                </a:ext>
              </a:extLst>
            </p:cNvPr>
            <p:cNvSpPr/>
            <p:nvPr/>
          </p:nvSpPr>
          <p:spPr>
            <a:xfrm>
              <a:off x="5605616" y="4072920"/>
              <a:ext cx="100084" cy="136475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86" name="Triángulo 85">
              <a:extLst>
                <a:ext uri="{FF2B5EF4-FFF2-40B4-BE49-F238E27FC236}">
                  <a16:creationId xmlns:a16="http://schemas.microsoft.com/office/drawing/2014/main" id="{0A4B8CF3-73A9-164C-9EBA-2B37A27FF1D1}"/>
                </a:ext>
              </a:extLst>
            </p:cNvPr>
            <p:cNvSpPr/>
            <p:nvPr/>
          </p:nvSpPr>
          <p:spPr>
            <a:xfrm>
              <a:off x="5760291" y="4054723"/>
              <a:ext cx="100084" cy="136475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87" name="Triángulo 86">
              <a:extLst>
                <a:ext uri="{FF2B5EF4-FFF2-40B4-BE49-F238E27FC236}">
                  <a16:creationId xmlns:a16="http://schemas.microsoft.com/office/drawing/2014/main" id="{1C68FDCF-3127-2844-A95A-C0444E42AF03}"/>
                </a:ext>
              </a:extLst>
            </p:cNvPr>
            <p:cNvSpPr/>
            <p:nvPr/>
          </p:nvSpPr>
          <p:spPr>
            <a:xfrm>
              <a:off x="5901318" y="4068370"/>
              <a:ext cx="100084" cy="136475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88" name="Triángulo 87">
              <a:extLst>
                <a:ext uri="{FF2B5EF4-FFF2-40B4-BE49-F238E27FC236}">
                  <a16:creationId xmlns:a16="http://schemas.microsoft.com/office/drawing/2014/main" id="{07C2E121-0D81-714E-9278-9BFF9F0E579A}"/>
                </a:ext>
              </a:extLst>
            </p:cNvPr>
            <p:cNvSpPr/>
            <p:nvPr/>
          </p:nvSpPr>
          <p:spPr>
            <a:xfrm>
              <a:off x="6078738" y="4127510"/>
              <a:ext cx="100084" cy="136475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5" name="Forma libre 4">
              <a:extLst>
                <a:ext uri="{FF2B5EF4-FFF2-40B4-BE49-F238E27FC236}">
                  <a16:creationId xmlns:a16="http://schemas.microsoft.com/office/drawing/2014/main" id="{81F90306-2364-8A47-A6F4-7A1974AF920B}"/>
                </a:ext>
              </a:extLst>
            </p:cNvPr>
            <p:cNvSpPr/>
            <p:nvPr/>
          </p:nvSpPr>
          <p:spPr>
            <a:xfrm>
              <a:off x="2016256" y="2103092"/>
              <a:ext cx="4289946" cy="1998366"/>
            </a:xfrm>
            <a:custGeom>
              <a:avLst/>
              <a:gdLst>
                <a:gd name="connsiteX0" fmla="*/ 0 w 4271749"/>
                <a:gd name="connsiteY0" fmla="*/ 1956180 h 1956180"/>
                <a:gd name="connsiteX1" fmla="*/ 109182 w 4271749"/>
                <a:gd name="connsiteY1" fmla="*/ 1792406 h 1956180"/>
                <a:gd name="connsiteX2" fmla="*/ 159224 w 4271749"/>
                <a:gd name="connsiteY2" fmla="*/ 1751463 h 1956180"/>
                <a:gd name="connsiteX3" fmla="*/ 268406 w 4271749"/>
                <a:gd name="connsiteY3" fmla="*/ 1719618 h 1956180"/>
                <a:gd name="connsiteX4" fmla="*/ 409433 w 4271749"/>
                <a:gd name="connsiteY4" fmla="*/ 1674126 h 1956180"/>
                <a:gd name="connsiteX5" fmla="*/ 568657 w 4271749"/>
                <a:gd name="connsiteY5" fmla="*/ 1624084 h 1956180"/>
                <a:gd name="connsiteX6" fmla="*/ 741528 w 4271749"/>
                <a:gd name="connsiteY6" fmla="*/ 1533099 h 1956180"/>
                <a:gd name="connsiteX7" fmla="*/ 905302 w 4271749"/>
                <a:gd name="connsiteY7" fmla="*/ 1487606 h 1956180"/>
                <a:gd name="connsiteX8" fmla="*/ 1055427 w 4271749"/>
                <a:gd name="connsiteY8" fmla="*/ 1396621 h 1956180"/>
                <a:gd name="connsiteX9" fmla="*/ 1210102 w 4271749"/>
                <a:gd name="connsiteY9" fmla="*/ 1287439 h 1956180"/>
                <a:gd name="connsiteX10" fmla="*/ 1264693 w 4271749"/>
                <a:gd name="connsiteY10" fmla="*/ 1223750 h 1956180"/>
                <a:gd name="connsiteX11" fmla="*/ 1378424 w 4271749"/>
                <a:gd name="connsiteY11" fmla="*/ 1059977 h 1956180"/>
                <a:gd name="connsiteX12" fmla="*/ 1419367 w 4271749"/>
                <a:gd name="connsiteY12" fmla="*/ 987189 h 1956180"/>
                <a:gd name="connsiteX13" fmla="*/ 1537648 w 4271749"/>
                <a:gd name="connsiteY13" fmla="*/ 891654 h 1956180"/>
                <a:gd name="connsiteX14" fmla="*/ 1692323 w 4271749"/>
                <a:gd name="connsiteY14" fmla="*/ 645995 h 1956180"/>
                <a:gd name="connsiteX15" fmla="*/ 1728717 w 4271749"/>
                <a:gd name="connsiteY15" fmla="*/ 555009 h 1956180"/>
                <a:gd name="connsiteX16" fmla="*/ 1846997 w 4271749"/>
                <a:gd name="connsiteY16" fmla="*/ 345744 h 1956180"/>
                <a:gd name="connsiteX17" fmla="*/ 2001672 w 4271749"/>
                <a:gd name="connsiteY17" fmla="*/ 232012 h 1956180"/>
                <a:gd name="connsiteX18" fmla="*/ 2160896 w 4271749"/>
                <a:gd name="connsiteY18" fmla="*/ 100084 h 1956180"/>
                <a:gd name="connsiteX19" fmla="*/ 2306472 w 4271749"/>
                <a:gd name="connsiteY19" fmla="*/ 45493 h 1956180"/>
                <a:gd name="connsiteX20" fmla="*/ 2506639 w 4271749"/>
                <a:gd name="connsiteY20" fmla="*/ 0 h 1956180"/>
                <a:gd name="connsiteX21" fmla="*/ 2647666 w 4271749"/>
                <a:gd name="connsiteY21" fmla="*/ 81887 h 1956180"/>
                <a:gd name="connsiteX22" fmla="*/ 2802340 w 4271749"/>
                <a:gd name="connsiteY22" fmla="*/ 263857 h 1956180"/>
                <a:gd name="connsiteX23" fmla="*/ 2861481 w 4271749"/>
                <a:gd name="connsiteY23" fmla="*/ 309350 h 1956180"/>
                <a:gd name="connsiteX24" fmla="*/ 2906973 w 4271749"/>
                <a:gd name="connsiteY24" fmla="*/ 327547 h 1956180"/>
                <a:gd name="connsiteX25" fmla="*/ 3043451 w 4271749"/>
                <a:gd name="connsiteY25" fmla="*/ 359392 h 1956180"/>
                <a:gd name="connsiteX26" fmla="*/ 3166281 w 4271749"/>
                <a:gd name="connsiteY26" fmla="*/ 382138 h 1956180"/>
                <a:gd name="connsiteX27" fmla="*/ 3275463 w 4271749"/>
                <a:gd name="connsiteY27" fmla="*/ 445827 h 1956180"/>
                <a:gd name="connsiteX28" fmla="*/ 3430137 w 4271749"/>
                <a:gd name="connsiteY28" fmla="*/ 523165 h 1956180"/>
                <a:gd name="connsiteX29" fmla="*/ 3584812 w 4271749"/>
                <a:gd name="connsiteY29" fmla="*/ 650544 h 1956180"/>
                <a:gd name="connsiteX30" fmla="*/ 3762233 w 4271749"/>
                <a:gd name="connsiteY30" fmla="*/ 823415 h 1956180"/>
                <a:gd name="connsiteX31" fmla="*/ 3916908 w 4271749"/>
                <a:gd name="connsiteY31" fmla="*/ 991738 h 1956180"/>
                <a:gd name="connsiteX32" fmla="*/ 3966949 w 4271749"/>
                <a:gd name="connsiteY32" fmla="*/ 1046329 h 1956180"/>
                <a:gd name="connsiteX33" fmla="*/ 4062484 w 4271749"/>
                <a:gd name="connsiteY33" fmla="*/ 1073624 h 1956180"/>
                <a:gd name="connsiteX34" fmla="*/ 4271749 w 4271749"/>
                <a:gd name="connsiteY34" fmla="*/ 1123666 h 19561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271749" h="1956180">
                  <a:moveTo>
                    <a:pt x="0" y="1956180"/>
                  </a:moveTo>
                  <a:lnTo>
                    <a:pt x="109182" y="1792406"/>
                  </a:lnTo>
                  <a:lnTo>
                    <a:pt x="159224" y="1751463"/>
                  </a:lnTo>
                  <a:lnTo>
                    <a:pt x="268406" y="1719618"/>
                  </a:lnTo>
                  <a:lnTo>
                    <a:pt x="409433" y="1674126"/>
                  </a:lnTo>
                  <a:lnTo>
                    <a:pt x="568657" y="1624084"/>
                  </a:lnTo>
                  <a:lnTo>
                    <a:pt x="741528" y="1533099"/>
                  </a:lnTo>
                  <a:lnTo>
                    <a:pt x="905302" y="1487606"/>
                  </a:lnTo>
                  <a:lnTo>
                    <a:pt x="1055427" y="1396621"/>
                  </a:lnTo>
                  <a:lnTo>
                    <a:pt x="1210102" y="1287439"/>
                  </a:lnTo>
                  <a:lnTo>
                    <a:pt x="1264693" y="1223750"/>
                  </a:lnTo>
                  <a:lnTo>
                    <a:pt x="1378424" y="1059977"/>
                  </a:lnTo>
                  <a:lnTo>
                    <a:pt x="1419367" y="987189"/>
                  </a:lnTo>
                  <a:lnTo>
                    <a:pt x="1537648" y="891654"/>
                  </a:lnTo>
                  <a:lnTo>
                    <a:pt x="1692323" y="645995"/>
                  </a:lnTo>
                  <a:lnTo>
                    <a:pt x="1728717" y="555009"/>
                  </a:lnTo>
                  <a:lnTo>
                    <a:pt x="1846997" y="345744"/>
                  </a:lnTo>
                  <a:lnTo>
                    <a:pt x="2001672" y="232012"/>
                  </a:lnTo>
                  <a:lnTo>
                    <a:pt x="2160896" y="100084"/>
                  </a:lnTo>
                  <a:lnTo>
                    <a:pt x="2306472" y="45493"/>
                  </a:lnTo>
                  <a:lnTo>
                    <a:pt x="2506639" y="0"/>
                  </a:lnTo>
                  <a:lnTo>
                    <a:pt x="2647666" y="81887"/>
                  </a:lnTo>
                  <a:lnTo>
                    <a:pt x="2802340" y="263857"/>
                  </a:lnTo>
                  <a:lnTo>
                    <a:pt x="2861481" y="309350"/>
                  </a:lnTo>
                  <a:lnTo>
                    <a:pt x="2906973" y="327547"/>
                  </a:lnTo>
                  <a:lnTo>
                    <a:pt x="3043451" y="359392"/>
                  </a:lnTo>
                  <a:lnTo>
                    <a:pt x="3166281" y="382138"/>
                  </a:lnTo>
                  <a:lnTo>
                    <a:pt x="3275463" y="445827"/>
                  </a:lnTo>
                  <a:lnTo>
                    <a:pt x="3430137" y="523165"/>
                  </a:lnTo>
                  <a:lnTo>
                    <a:pt x="3584812" y="650544"/>
                  </a:lnTo>
                  <a:lnTo>
                    <a:pt x="3762233" y="823415"/>
                  </a:lnTo>
                  <a:lnTo>
                    <a:pt x="3916908" y="991738"/>
                  </a:lnTo>
                  <a:lnTo>
                    <a:pt x="3966949" y="1046329"/>
                  </a:lnTo>
                  <a:lnTo>
                    <a:pt x="4062484" y="1073624"/>
                  </a:lnTo>
                  <a:lnTo>
                    <a:pt x="4271749" y="1123666"/>
                  </a:lnTo>
                </a:path>
              </a:pathLst>
            </a:custGeom>
            <a:noFill/>
            <a:ln w="15875">
              <a:solidFill>
                <a:srgbClr val="715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6" name="Forma libre 5">
              <a:extLst>
                <a:ext uri="{FF2B5EF4-FFF2-40B4-BE49-F238E27FC236}">
                  <a16:creationId xmlns:a16="http://schemas.microsoft.com/office/drawing/2014/main" id="{3701D6C3-712F-9C46-AAFB-A7393EDBA9C7}"/>
                </a:ext>
              </a:extLst>
            </p:cNvPr>
            <p:cNvSpPr/>
            <p:nvPr/>
          </p:nvSpPr>
          <p:spPr>
            <a:xfrm>
              <a:off x="2016255" y="3718078"/>
              <a:ext cx="4289946" cy="591403"/>
            </a:xfrm>
            <a:custGeom>
              <a:avLst/>
              <a:gdLst>
                <a:gd name="connsiteX0" fmla="*/ 0 w 4289946"/>
                <a:gd name="connsiteY0" fmla="*/ 395785 h 591403"/>
                <a:gd name="connsiteX1" fmla="*/ 100084 w 4289946"/>
                <a:gd name="connsiteY1" fmla="*/ 332095 h 591403"/>
                <a:gd name="connsiteX2" fmla="*/ 250209 w 4289946"/>
                <a:gd name="connsiteY2" fmla="*/ 336644 h 591403"/>
                <a:gd name="connsiteX3" fmla="*/ 423081 w 4289946"/>
                <a:gd name="connsiteY3" fmla="*/ 359391 h 591403"/>
                <a:gd name="connsiteX4" fmla="*/ 504967 w 4289946"/>
                <a:gd name="connsiteY4" fmla="*/ 359391 h 591403"/>
                <a:gd name="connsiteX5" fmla="*/ 577755 w 4289946"/>
                <a:gd name="connsiteY5" fmla="*/ 336644 h 591403"/>
                <a:gd name="connsiteX6" fmla="*/ 736979 w 4289946"/>
                <a:gd name="connsiteY6" fmla="*/ 318447 h 591403"/>
                <a:gd name="connsiteX7" fmla="*/ 905302 w 4289946"/>
                <a:gd name="connsiteY7" fmla="*/ 304800 h 591403"/>
                <a:gd name="connsiteX8" fmla="*/ 1059976 w 4289946"/>
                <a:gd name="connsiteY8" fmla="*/ 245659 h 591403"/>
                <a:gd name="connsiteX9" fmla="*/ 1182806 w 4289946"/>
                <a:gd name="connsiteY9" fmla="*/ 213814 h 591403"/>
                <a:gd name="connsiteX10" fmla="*/ 1278340 w 4289946"/>
                <a:gd name="connsiteY10" fmla="*/ 209265 h 591403"/>
                <a:gd name="connsiteX11" fmla="*/ 1369325 w 4289946"/>
                <a:gd name="connsiteY11" fmla="*/ 77337 h 591403"/>
                <a:gd name="connsiteX12" fmla="*/ 1455761 w 4289946"/>
                <a:gd name="connsiteY12" fmla="*/ 72788 h 591403"/>
                <a:gd name="connsiteX13" fmla="*/ 1546746 w 4289946"/>
                <a:gd name="connsiteY13" fmla="*/ 109182 h 591403"/>
                <a:gd name="connsiteX14" fmla="*/ 1624084 w 4289946"/>
                <a:gd name="connsiteY14" fmla="*/ 104632 h 591403"/>
                <a:gd name="connsiteX15" fmla="*/ 1737815 w 4289946"/>
                <a:gd name="connsiteY15" fmla="*/ 40943 h 591403"/>
                <a:gd name="connsiteX16" fmla="*/ 1869743 w 4289946"/>
                <a:gd name="connsiteY16" fmla="*/ 0 h 591403"/>
                <a:gd name="connsiteX17" fmla="*/ 2006221 w 4289946"/>
                <a:gd name="connsiteY17" fmla="*/ 95534 h 591403"/>
                <a:gd name="connsiteX18" fmla="*/ 2101755 w 4289946"/>
                <a:gd name="connsiteY18" fmla="*/ 127379 h 591403"/>
                <a:gd name="connsiteX19" fmla="*/ 2192740 w 4289946"/>
                <a:gd name="connsiteY19" fmla="*/ 31844 h 591403"/>
                <a:gd name="connsiteX20" fmla="*/ 2361063 w 4289946"/>
                <a:gd name="connsiteY20" fmla="*/ 122829 h 591403"/>
                <a:gd name="connsiteX21" fmla="*/ 2488442 w 4289946"/>
                <a:gd name="connsiteY21" fmla="*/ 59140 h 591403"/>
                <a:gd name="connsiteX22" fmla="*/ 2670412 w 4289946"/>
                <a:gd name="connsiteY22" fmla="*/ 81886 h 591403"/>
                <a:gd name="connsiteX23" fmla="*/ 2825087 w 4289946"/>
                <a:gd name="connsiteY23" fmla="*/ 450376 h 591403"/>
                <a:gd name="connsiteX24" fmla="*/ 3011606 w 4289946"/>
                <a:gd name="connsiteY24" fmla="*/ 459474 h 591403"/>
                <a:gd name="connsiteX25" fmla="*/ 3157182 w 4289946"/>
                <a:gd name="connsiteY25" fmla="*/ 532262 h 591403"/>
                <a:gd name="connsiteX26" fmla="*/ 3307308 w 4289946"/>
                <a:gd name="connsiteY26" fmla="*/ 413982 h 591403"/>
                <a:gd name="connsiteX27" fmla="*/ 3443785 w 4289946"/>
                <a:gd name="connsiteY27" fmla="*/ 514065 h 591403"/>
                <a:gd name="connsiteX28" fmla="*/ 3543869 w 4289946"/>
                <a:gd name="connsiteY28" fmla="*/ 577755 h 591403"/>
                <a:gd name="connsiteX29" fmla="*/ 3698543 w 4289946"/>
                <a:gd name="connsiteY29" fmla="*/ 582304 h 591403"/>
                <a:gd name="connsiteX30" fmla="*/ 3930555 w 4289946"/>
                <a:gd name="connsiteY30" fmla="*/ 591403 h 591403"/>
                <a:gd name="connsiteX31" fmla="*/ 4089779 w 4289946"/>
                <a:gd name="connsiteY31" fmla="*/ 541361 h 591403"/>
                <a:gd name="connsiteX32" fmla="*/ 4289946 w 4289946"/>
                <a:gd name="connsiteY32" fmla="*/ 582304 h 5914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4289946" h="591403">
                  <a:moveTo>
                    <a:pt x="0" y="395785"/>
                  </a:moveTo>
                  <a:lnTo>
                    <a:pt x="100084" y="332095"/>
                  </a:lnTo>
                  <a:lnTo>
                    <a:pt x="250209" y="336644"/>
                  </a:lnTo>
                  <a:lnTo>
                    <a:pt x="423081" y="359391"/>
                  </a:lnTo>
                  <a:lnTo>
                    <a:pt x="504967" y="359391"/>
                  </a:lnTo>
                  <a:lnTo>
                    <a:pt x="577755" y="336644"/>
                  </a:lnTo>
                  <a:lnTo>
                    <a:pt x="736979" y="318447"/>
                  </a:lnTo>
                  <a:lnTo>
                    <a:pt x="905302" y="304800"/>
                  </a:lnTo>
                  <a:lnTo>
                    <a:pt x="1059976" y="245659"/>
                  </a:lnTo>
                  <a:lnTo>
                    <a:pt x="1182806" y="213814"/>
                  </a:lnTo>
                  <a:lnTo>
                    <a:pt x="1278340" y="209265"/>
                  </a:lnTo>
                  <a:lnTo>
                    <a:pt x="1369325" y="77337"/>
                  </a:lnTo>
                  <a:lnTo>
                    <a:pt x="1455761" y="72788"/>
                  </a:lnTo>
                  <a:lnTo>
                    <a:pt x="1546746" y="109182"/>
                  </a:lnTo>
                  <a:lnTo>
                    <a:pt x="1624084" y="104632"/>
                  </a:lnTo>
                  <a:lnTo>
                    <a:pt x="1737815" y="40943"/>
                  </a:lnTo>
                  <a:lnTo>
                    <a:pt x="1869743" y="0"/>
                  </a:lnTo>
                  <a:lnTo>
                    <a:pt x="2006221" y="95534"/>
                  </a:lnTo>
                  <a:lnTo>
                    <a:pt x="2101755" y="127379"/>
                  </a:lnTo>
                  <a:lnTo>
                    <a:pt x="2192740" y="31844"/>
                  </a:lnTo>
                  <a:lnTo>
                    <a:pt x="2361063" y="122829"/>
                  </a:lnTo>
                  <a:lnTo>
                    <a:pt x="2488442" y="59140"/>
                  </a:lnTo>
                  <a:lnTo>
                    <a:pt x="2670412" y="81886"/>
                  </a:lnTo>
                  <a:lnTo>
                    <a:pt x="2825087" y="450376"/>
                  </a:lnTo>
                  <a:lnTo>
                    <a:pt x="3011606" y="459474"/>
                  </a:lnTo>
                  <a:lnTo>
                    <a:pt x="3157182" y="532262"/>
                  </a:lnTo>
                  <a:lnTo>
                    <a:pt x="3307308" y="413982"/>
                  </a:lnTo>
                  <a:lnTo>
                    <a:pt x="3443785" y="514065"/>
                  </a:lnTo>
                  <a:lnTo>
                    <a:pt x="3543869" y="577755"/>
                  </a:lnTo>
                  <a:lnTo>
                    <a:pt x="3698543" y="582304"/>
                  </a:lnTo>
                  <a:lnTo>
                    <a:pt x="3930555" y="591403"/>
                  </a:lnTo>
                  <a:lnTo>
                    <a:pt x="4089779" y="541361"/>
                  </a:lnTo>
                  <a:lnTo>
                    <a:pt x="4289946" y="582304"/>
                  </a:lnTo>
                </a:path>
              </a:pathLst>
            </a:custGeom>
            <a:noFill/>
            <a:ln w="15875">
              <a:solidFill>
                <a:srgbClr val="EE463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8" name="Forma libre 7">
              <a:extLst>
                <a:ext uri="{FF2B5EF4-FFF2-40B4-BE49-F238E27FC236}">
                  <a16:creationId xmlns:a16="http://schemas.microsoft.com/office/drawing/2014/main" id="{504F1DF8-65EA-EF44-8F29-9978864D8610}"/>
                </a:ext>
              </a:extLst>
            </p:cNvPr>
            <p:cNvSpPr/>
            <p:nvPr/>
          </p:nvSpPr>
          <p:spPr>
            <a:xfrm>
              <a:off x="1994348" y="3729339"/>
              <a:ext cx="4305924" cy="565879"/>
            </a:xfrm>
            <a:custGeom>
              <a:avLst/>
              <a:gdLst>
                <a:gd name="connsiteX0" fmla="*/ 0 w 4305924"/>
                <a:gd name="connsiteY0" fmla="*/ 565879 h 565879"/>
                <a:gd name="connsiteX1" fmla="*/ 157397 w 4305924"/>
                <a:gd name="connsiteY1" fmla="*/ 565879 h 565879"/>
                <a:gd name="connsiteX2" fmla="*/ 303551 w 4305924"/>
                <a:gd name="connsiteY2" fmla="*/ 427219 h 565879"/>
                <a:gd name="connsiteX3" fmla="*/ 352269 w 4305924"/>
                <a:gd name="connsiteY3" fmla="*/ 400987 h 565879"/>
                <a:gd name="connsiteX4" fmla="*/ 475938 w 4305924"/>
                <a:gd name="connsiteY4" fmla="*/ 404734 h 565879"/>
                <a:gd name="connsiteX5" fmla="*/ 588364 w 4305924"/>
                <a:gd name="connsiteY5" fmla="*/ 367259 h 565879"/>
                <a:gd name="connsiteX6" fmla="*/ 790731 w 4305924"/>
                <a:gd name="connsiteY6" fmla="*/ 382249 h 565879"/>
                <a:gd name="connsiteX7" fmla="*/ 959370 w 4305924"/>
                <a:gd name="connsiteY7" fmla="*/ 341026 h 565879"/>
                <a:gd name="connsiteX8" fmla="*/ 1083039 w 4305924"/>
                <a:gd name="connsiteY8" fmla="*/ 318541 h 565879"/>
                <a:gd name="connsiteX9" fmla="*/ 1109272 w 4305924"/>
                <a:gd name="connsiteY9" fmla="*/ 292308 h 565879"/>
                <a:gd name="connsiteX10" fmla="*/ 1262921 w 4305924"/>
                <a:gd name="connsiteY10" fmla="*/ 307298 h 565879"/>
                <a:gd name="connsiteX11" fmla="*/ 1296649 w 4305924"/>
                <a:gd name="connsiteY11" fmla="*/ 296056 h 565879"/>
                <a:gd name="connsiteX12" fmla="*/ 1427813 w 4305924"/>
                <a:gd name="connsiteY12" fmla="*/ 288560 h 565879"/>
                <a:gd name="connsiteX13" fmla="*/ 1573967 w 4305924"/>
                <a:gd name="connsiteY13" fmla="*/ 273570 h 565879"/>
                <a:gd name="connsiteX14" fmla="*/ 1622685 w 4305924"/>
                <a:gd name="connsiteY14" fmla="*/ 273570 h 565879"/>
                <a:gd name="connsiteX15" fmla="*/ 1761344 w 4305924"/>
                <a:gd name="connsiteY15" fmla="*/ 314793 h 565879"/>
                <a:gd name="connsiteX16" fmla="*/ 1900003 w 4305924"/>
                <a:gd name="connsiteY16" fmla="*/ 292308 h 565879"/>
                <a:gd name="connsiteX17" fmla="*/ 1952469 w 4305924"/>
                <a:gd name="connsiteY17" fmla="*/ 258580 h 565879"/>
                <a:gd name="connsiteX18" fmla="*/ 2083633 w 4305924"/>
                <a:gd name="connsiteY18" fmla="*/ 224852 h 565879"/>
                <a:gd name="connsiteX19" fmla="*/ 2229787 w 4305924"/>
                <a:gd name="connsiteY19" fmla="*/ 176134 h 565879"/>
                <a:gd name="connsiteX20" fmla="*/ 2432154 w 4305924"/>
                <a:gd name="connsiteY20" fmla="*/ 131164 h 565879"/>
                <a:gd name="connsiteX21" fmla="*/ 2552075 w 4305924"/>
                <a:gd name="connsiteY21" fmla="*/ 104931 h 565879"/>
                <a:gd name="connsiteX22" fmla="*/ 2731957 w 4305924"/>
                <a:gd name="connsiteY22" fmla="*/ 0 h 565879"/>
                <a:gd name="connsiteX23" fmla="*/ 2851879 w 4305924"/>
                <a:gd name="connsiteY23" fmla="*/ 277318 h 565879"/>
                <a:gd name="connsiteX24" fmla="*/ 3031761 w 4305924"/>
                <a:gd name="connsiteY24" fmla="*/ 385997 h 565879"/>
                <a:gd name="connsiteX25" fmla="*/ 3177915 w 4305924"/>
                <a:gd name="connsiteY25" fmla="*/ 483433 h 565879"/>
                <a:gd name="connsiteX26" fmla="*/ 3339059 w 4305924"/>
                <a:gd name="connsiteY26" fmla="*/ 326036 h 565879"/>
                <a:gd name="connsiteX27" fmla="*/ 3496456 w 4305924"/>
                <a:gd name="connsiteY27" fmla="*/ 472190 h 565879"/>
                <a:gd name="connsiteX28" fmla="*/ 3687580 w 4305924"/>
                <a:gd name="connsiteY28" fmla="*/ 423472 h 565879"/>
                <a:gd name="connsiteX29" fmla="*/ 3822492 w 4305924"/>
                <a:gd name="connsiteY29" fmla="*/ 389744 h 565879"/>
                <a:gd name="connsiteX30" fmla="*/ 3983636 w 4305924"/>
                <a:gd name="connsiteY30" fmla="*/ 419724 h 565879"/>
                <a:gd name="connsiteX31" fmla="*/ 4156023 w 4305924"/>
                <a:gd name="connsiteY31" fmla="*/ 468442 h 565879"/>
                <a:gd name="connsiteX32" fmla="*/ 4268449 w 4305924"/>
                <a:gd name="connsiteY32" fmla="*/ 528403 h 565879"/>
                <a:gd name="connsiteX33" fmla="*/ 4305924 w 4305924"/>
                <a:gd name="connsiteY33" fmla="*/ 532151 h 5658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4305924" h="565879">
                  <a:moveTo>
                    <a:pt x="0" y="565879"/>
                  </a:moveTo>
                  <a:lnTo>
                    <a:pt x="157397" y="565879"/>
                  </a:lnTo>
                  <a:lnTo>
                    <a:pt x="303551" y="427219"/>
                  </a:lnTo>
                  <a:lnTo>
                    <a:pt x="352269" y="400987"/>
                  </a:lnTo>
                  <a:lnTo>
                    <a:pt x="475938" y="404734"/>
                  </a:lnTo>
                  <a:lnTo>
                    <a:pt x="588364" y="367259"/>
                  </a:lnTo>
                  <a:lnTo>
                    <a:pt x="790731" y="382249"/>
                  </a:lnTo>
                  <a:lnTo>
                    <a:pt x="959370" y="341026"/>
                  </a:lnTo>
                  <a:lnTo>
                    <a:pt x="1083039" y="318541"/>
                  </a:lnTo>
                  <a:lnTo>
                    <a:pt x="1109272" y="292308"/>
                  </a:lnTo>
                  <a:lnTo>
                    <a:pt x="1262921" y="307298"/>
                  </a:lnTo>
                  <a:lnTo>
                    <a:pt x="1296649" y="296056"/>
                  </a:lnTo>
                  <a:lnTo>
                    <a:pt x="1427813" y="288560"/>
                  </a:lnTo>
                  <a:lnTo>
                    <a:pt x="1573967" y="273570"/>
                  </a:lnTo>
                  <a:lnTo>
                    <a:pt x="1622685" y="273570"/>
                  </a:lnTo>
                  <a:lnTo>
                    <a:pt x="1761344" y="314793"/>
                  </a:lnTo>
                  <a:lnTo>
                    <a:pt x="1900003" y="292308"/>
                  </a:lnTo>
                  <a:lnTo>
                    <a:pt x="1952469" y="258580"/>
                  </a:lnTo>
                  <a:lnTo>
                    <a:pt x="2083633" y="224852"/>
                  </a:lnTo>
                  <a:lnTo>
                    <a:pt x="2229787" y="176134"/>
                  </a:lnTo>
                  <a:lnTo>
                    <a:pt x="2432154" y="131164"/>
                  </a:lnTo>
                  <a:lnTo>
                    <a:pt x="2552075" y="104931"/>
                  </a:lnTo>
                  <a:lnTo>
                    <a:pt x="2731957" y="0"/>
                  </a:lnTo>
                  <a:lnTo>
                    <a:pt x="2851879" y="277318"/>
                  </a:lnTo>
                  <a:lnTo>
                    <a:pt x="3031761" y="385997"/>
                  </a:lnTo>
                  <a:lnTo>
                    <a:pt x="3177915" y="483433"/>
                  </a:lnTo>
                  <a:lnTo>
                    <a:pt x="3339059" y="326036"/>
                  </a:lnTo>
                  <a:lnTo>
                    <a:pt x="3496456" y="472190"/>
                  </a:lnTo>
                  <a:lnTo>
                    <a:pt x="3687580" y="423472"/>
                  </a:lnTo>
                  <a:lnTo>
                    <a:pt x="3822492" y="389744"/>
                  </a:lnTo>
                  <a:lnTo>
                    <a:pt x="3983636" y="419724"/>
                  </a:lnTo>
                  <a:lnTo>
                    <a:pt x="4156023" y="468442"/>
                  </a:lnTo>
                  <a:lnTo>
                    <a:pt x="4268449" y="528403"/>
                  </a:lnTo>
                  <a:lnTo>
                    <a:pt x="4305924" y="532151"/>
                  </a:lnTo>
                </a:path>
              </a:pathLst>
            </a:custGeom>
            <a:noFill/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cxnSp>
          <p:nvCxnSpPr>
            <p:cNvPr id="101" name="Conector recto 100">
              <a:extLst>
                <a:ext uri="{FF2B5EF4-FFF2-40B4-BE49-F238E27FC236}">
                  <a16:creationId xmlns:a16="http://schemas.microsoft.com/office/drawing/2014/main" id="{69646F08-2AE4-444A-9218-858826DC4C9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08154" y="4301619"/>
              <a:ext cx="0" cy="52112"/>
            </a:xfrm>
            <a:prstGeom prst="line">
              <a:avLst/>
            </a:prstGeom>
            <a:ln w="19050">
              <a:solidFill>
                <a:srgbClr val="8087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Conector recto 105">
              <a:extLst>
                <a:ext uri="{FF2B5EF4-FFF2-40B4-BE49-F238E27FC236}">
                  <a16:creationId xmlns:a16="http://schemas.microsoft.com/office/drawing/2014/main" id="{51DF78EF-8968-6548-A2F7-2DD27AAC45E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95335" y="4301619"/>
              <a:ext cx="0" cy="52112"/>
            </a:xfrm>
            <a:prstGeom prst="line">
              <a:avLst/>
            </a:prstGeom>
            <a:ln w="19050">
              <a:solidFill>
                <a:srgbClr val="8087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Conector recto 110">
              <a:extLst>
                <a:ext uri="{FF2B5EF4-FFF2-40B4-BE49-F238E27FC236}">
                  <a16:creationId xmlns:a16="http://schemas.microsoft.com/office/drawing/2014/main" id="{4902171B-3367-7D45-982C-653A3A5A032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56480" y="4301619"/>
              <a:ext cx="0" cy="52112"/>
            </a:xfrm>
            <a:prstGeom prst="line">
              <a:avLst/>
            </a:prstGeom>
            <a:ln w="19050">
              <a:solidFill>
                <a:srgbClr val="8087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Conector recto 111">
              <a:extLst>
                <a:ext uri="{FF2B5EF4-FFF2-40B4-BE49-F238E27FC236}">
                  <a16:creationId xmlns:a16="http://schemas.microsoft.com/office/drawing/2014/main" id="{AAF721DD-8551-084E-9DC0-89C5BCC1F33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13877" y="4301619"/>
              <a:ext cx="0" cy="52112"/>
            </a:xfrm>
            <a:prstGeom prst="line">
              <a:avLst/>
            </a:prstGeom>
            <a:ln w="19050">
              <a:solidFill>
                <a:srgbClr val="8087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Conector recto 116">
              <a:extLst>
                <a:ext uri="{FF2B5EF4-FFF2-40B4-BE49-F238E27FC236}">
                  <a16:creationId xmlns:a16="http://schemas.microsoft.com/office/drawing/2014/main" id="{80AE70C7-4839-D44B-BE83-3CF7CCC4DA7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75022" y="4301619"/>
              <a:ext cx="0" cy="52112"/>
            </a:xfrm>
            <a:prstGeom prst="line">
              <a:avLst/>
            </a:prstGeom>
            <a:ln w="19050">
              <a:solidFill>
                <a:srgbClr val="8087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Conector recto 117">
              <a:extLst>
                <a:ext uri="{FF2B5EF4-FFF2-40B4-BE49-F238E27FC236}">
                  <a16:creationId xmlns:a16="http://schemas.microsoft.com/office/drawing/2014/main" id="{578EF6E6-8059-2647-9E5F-683D556913B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32419" y="4301619"/>
              <a:ext cx="0" cy="64802"/>
            </a:xfrm>
            <a:prstGeom prst="line">
              <a:avLst/>
            </a:prstGeom>
            <a:ln w="19050">
              <a:solidFill>
                <a:srgbClr val="8087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Conector recto 119">
              <a:extLst>
                <a:ext uri="{FF2B5EF4-FFF2-40B4-BE49-F238E27FC236}">
                  <a16:creationId xmlns:a16="http://schemas.microsoft.com/office/drawing/2014/main" id="{EC32B661-B8A8-DF43-97FA-5AC21CED8DA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86068" y="4301619"/>
              <a:ext cx="0" cy="52112"/>
            </a:xfrm>
            <a:prstGeom prst="line">
              <a:avLst/>
            </a:prstGeom>
            <a:ln w="19050">
              <a:solidFill>
                <a:srgbClr val="8087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Conector recto 121">
              <a:extLst>
                <a:ext uri="{FF2B5EF4-FFF2-40B4-BE49-F238E27FC236}">
                  <a16:creationId xmlns:a16="http://schemas.microsoft.com/office/drawing/2014/main" id="{46E02921-A03D-6B4F-8182-57536A32859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54708" y="4301619"/>
              <a:ext cx="0" cy="52112"/>
            </a:xfrm>
            <a:prstGeom prst="line">
              <a:avLst/>
            </a:prstGeom>
            <a:ln w="19050">
              <a:solidFill>
                <a:srgbClr val="8087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Conector recto 122">
              <a:extLst>
                <a:ext uri="{FF2B5EF4-FFF2-40B4-BE49-F238E27FC236}">
                  <a16:creationId xmlns:a16="http://schemas.microsoft.com/office/drawing/2014/main" id="{B23866DE-07DF-4447-B517-D8B93392E80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04610" y="4301619"/>
              <a:ext cx="0" cy="52112"/>
            </a:xfrm>
            <a:prstGeom prst="line">
              <a:avLst/>
            </a:prstGeom>
            <a:ln w="19050">
              <a:solidFill>
                <a:srgbClr val="8087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Conector recto 123">
              <a:extLst>
                <a:ext uri="{FF2B5EF4-FFF2-40B4-BE49-F238E27FC236}">
                  <a16:creationId xmlns:a16="http://schemas.microsoft.com/office/drawing/2014/main" id="{EFDB320A-ECAA-FC4B-8871-5EBA72C1C62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69502" y="4301619"/>
              <a:ext cx="0" cy="52112"/>
            </a:xfrm>
            <a:prstGeom prst="line">
              <a:avLst/>
            </a:prstGeom>
            <a:ln w="19050">
              <a:solidFill>
                <a:srgbClr val="8087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Conector recto 124">
              <a:extLst>
                <a:ext uri="{FF2B5EF4-FFF2-40B4-BE49-F238E27FC236}">
                  <a16:creationId xmlns:a16="http://schemas.microsoft.com/office/drawing/2014/main" id="{DBC7CD2A-E3F1-354B-AE7F-06D922AF162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23151" y="4301619"/>
              <a:ext cx="0" cy="52112"/>
            </a:xfrm>
            <a:prstGeom prst="line">
              <a:avLst/>
            </a:prstGeom>
            <a:ln w="19050">
              <a:solidFill>
                <a:srgbClr val="8087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Conector recto 129">
              <a:extLst>
                <a:ext uri="{FF2B5EF4-FFF2-40B4-BE49-F238E27FC236}">
                  <a16:creationId xmlns:a16="http://schemas.microsoft.com/office/drawing/2014/main" id="{77783C8E-CF4C-A543-AE44-A13787B0841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91790" y="4301619"/>
              <a:ext cx="0" cy="52112"/>
            </a:xfrm>
            <a:prstGeom prst="line">
              <a:avLst/>
            </a:prstGeom>
            <a:ln w="19050">
              <a:solidFill>
                <a:srgbClr val="8087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Conector recto 130">
              <a:extLst>
                <a:ext uri="{FF2B5EF4-FFF2-40B4-BE49-F238E27FC236}">
                  <a16:creationId xmlns:a16="http://schemas.microsoft.com/office/drawing/2014/main" id="{3E7FAD6F-D89E-CE40-B1D8-7860649C7D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45439" y="4301619"/>
              <a:ext cx="0" cy="52112"/>
            </a:xfrm>
            <a:prstGeom prst="line">
              <a:avLst/>
            </a:prstGeom>
            <a:ln w="19050">
              <a:solidFill>
                <a:srgbClr val="8087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Conector recto 131">
              <a:extLst>
                <a:ext uri="{FF2B5EF4-FFF2-40B4-BE49-F238E27FC236}">
                  <a16:creationId xmlns:a16="http://schemas.microsoft.com/office/drawing/2014/main" id="{17161B0F-4B23-6445-9B62-4D7A79C1FF0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10331" y="4301619"/>
              <a:ext cx="0" cy="52112"/>
            </a:xfrm>
            <a:prstGeom prst="line">
              <a:avLst/>
            </a:prstGeom>
            <a:ln w="19050">
              <a:solidFill>
                <a:srgbClr val="8087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Conector recto 132">
              <a:extLst>
                <a:ext uri="{FF2B5EF4-FFF2-40B4-BE49-F238E27FC236}">
                  <a16:creationId xmlns:a16="http://schemas.microsoft.com/office/drawing/2014/main" id="{22490AFD-E6CB-F340-BF9A-C48B5528444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67728" y="4301619"/>
              <a:ext cx="0" cy="52112"/>
            </a:xfrm>
            <a:prstGeom prst="line">
              <a:avLst/>
            </a:prstGeom>
            <a:ln w="19050">
              <a:solidFill>
                <a:srgbClr val="8087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Conector recto 133">
              <a:extLst>
                <a:ext uri="{FF2B5EF4-FFF2-40B4-BE49-F238E27FC236}">
                  <a16:creationId xmlns:a16="http://schemas.microsoft.com/office/drawing/2014/main" id="{E5F11F20-DAC0-9944-9022-3BE38B04053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13882" y="4301619"/>
              <a:ext cx="0" cy="52112"/>
            </a:xfrm>
            <a:prstGeom prst="line">
              <a:avLst/>
            </a:prstGeom>
            <a:ln w="19050">
              <a:solidFill>
                <a:srgbClr val="8087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Conector recto 134">
              <a:extLst>
                <a:ext uri="{FF2B5EF4-FFF2-40B4-BE49-F238E27FC236}">
                  <a16:creationId xmlns:a16="http://schemas.microsoft.com/office/drawing/2014/main" id="{6AA2A370-8DEF-104B-82BE-8F36222640D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75026" y="4301619"/>
              <a:ext cx="0" cy="52112"/>
            </a:xfrm>
            <a:prstGeom prst="line">
              <a:avLst/>
            </a:prstGeom>
            <a:ln w="19050">
              <a:solidFill>
                <a:srgbClr val="8087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Conector recto 135">
              <a:extLst>
                <a:ext uri="{FF2B5EF4-FFF2-40B4-BE49-F238E27FC236}">
                  <a16:creationId xmlns:a16="http://schemas.microsoft.com/office/drawing/2014/main" id="{E849AFD8-DA21-BA4C-974B-B06CAE6DE3E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39918" y="4301619"/>
              <a:ext cx="0" cy="52112"/>
            </a:xfrm>
            <a:prstGeom prst="line">
              <a:avLst/>
            </a:prstGeom>
            <a:ln w="19050">
              <a:solidFill>
                <a:srgbClr val="8087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Conector recto 140">
              <a:extLst>
                <a:ext uri="{FF2B5EF4-FFF2-40B4-BE49-F238E27FC236}">
                  <a16:creationId xmlns:a16="http://schemas.microsoft.com/office/drawing/2014/main" id="{9496BBF7-45E2-E243-AE54-058E3D5B57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97315" y="4301619"/>
              <a:ext cx="0" cy="52112"/>
            </a:xfrm>
            <a:prstGeom prst="line">
              <a:avLst/>
            </a:prstGeom>
            <a:ln w="19050">
              <a:solidFill>
                <a:srgbClr val="8087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Conector recto 141">
              <a:extLst>
                <a:ext uri="{FF2B5EF4-FFF2-40B4-BE49-F238E27FC236}">
                  <a16:creationId xmlns:a16="http://schemas.microsoft.com/office/drawing/2014/main" id="{28D10D17-6E90-054C-99F9-C023636D490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54712" y="4301619"/>
              <a:ext cx="0" cy="52112"/>
            </a:xfrm>
            <a:prstGeom prst="line">
              <a:avLst/>
            </a:prstGeom>
            <a:ln w="19050">
              <a:solidFill>
                <a:srgbClr val="8087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Conector recto 142">
              <a:extLst>
                <a:ext uri="{FF2B5EF4-FFF2-40B4-BE49-F238E27FC236}">
                  <a16:creationId xmlns:a16="http://schemas.microsoft.com/office/drawing/2014/main" id="{4C8FE9BB-4C02-694C-8C90-8CB8A058449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19603" y="4301619"/>
              <a:ext cx="0" cy="52112"/>
            </a:xfrm>
            <a:prstGeom prst="line">
              <a:avLst/>
            </a:prstGeom>
            <a:ln w="19050">
              <a:solidFill>
                <a:srgbClr val="8087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Conector recto 143">
              <a:extLst>
                <a:ext uri="{FF2B5EF4-FFF2-40B4-BE49-F238E27FC236}">
                  <a16:creationId xmlns:a16="http://schemas.microsoft.com/office/drawing/2014/main" id="{584E14FC-7E29-DD4D-8033-E881605BC67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65757" y="4301619"/>
              <a:ext cx="0" cy="52112"/>
            </a:xfrm>
            <a:prstGeom prst="line">
              <a:avLst/>
            </a:prstGeom>
            <a:ln w="19050">
              <a:solidFill>
                <a:srgbClr val="8087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9" name="Google Shape;201;p22">
              <a:extLst>
                <a:ext uri="{FF2B5EF4-FFF2-40B4-BE49-F238E27FC236}">
                  <a16:creationId xmlns:a16="http://schemas.microsoft.com/office/drawing/2014/main" id="{590D3F5E-84AB-A74F-BDC8-710E676343C8}"/>
                </a:ext>
              </a:extLst>
            </p:cNvPr>
            <p:cNvSpPr/>
            <p:nvPr/>
          </p:nvSpPr>
          <p:spPr>
            <a:xfrm>
              <a:off x="1546271" y="1659098"/>
              <a:ext cx="270053" cy="1692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11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140</a:t>
              </a:r>
              <a:endParaRPr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" name="Google Shape;201;p22">
              <a:extLst>
                <a:ext uri="{FF2B5EF4-FFF2-40B4-BE49-F238E27FC236}">
                  <a16:creationId xmlns:a16="http://schemas.microsoft.com/office/drawing/2014/main" id="{755F8D80-BD31-9E47-A2D1-3ACF6BABDBC4}"/>
                </a:ext>
              </a:extLst>
            </p:cNvPr>
            <p:cNvSpPr/>
            <p:nvPr/>
          </p:nvSpPr>
          <p:spPr>
            <a:xfrm>
              <a:off x="1546271" y="2045395"/>
              <a:ext cx="270053" cy="1692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11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120</a:t>
              </a:r>
              <a:endParaRPr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" name="Google Shape;201;p22">
              <a:extLst>
                <a:ext uri="{FF2B5EF4-FFF2-40B4-BE49-F238E27FC236}">
                  <a16:creationId xmlns:a16="http://schemas.microsoft.com/office/drawing/2014/main" id="{E8E96D00-A92C-F844-91AF-C88F124647E7}"/>
                </a:ext>
              </a:extLst>
            </p:cNvPr>
            <p:cNvSpPr/>
            <p:nvPr/>
          </p:nvSpPr>
          <p:spPr>
            <a:xfrm>
              <a:off x="1546271" y="2382794"/>
              <a:ext cx="270053" cy="1692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11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100</a:t>
              </a:r>
              <a:endParaRPr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" name="Google Shape;201;p22">
              <a:extLst>
                <a:ext uri="{FF2B5EF4-FFF2-40B4-BE49-F238E27FC236}">
                  <a16:creationId xmlns:a16="http://schemas.microsoft.com/office/drawing/2014/main" id="{EC0F2C5E-6A7B-1E4C-B3AF-80FFC6633291}"/>
                </a:ext>
              </a:extLst>
            </p:cNvPr>
            <p:cNvSpPr/>
            <p:nvPr/>
          </p:nvSpPr>
          <p:spPr>
            <a:xfrm>
              <a:off x="1546271" y="2769091"/>
              <a:ext cx="270053" cy="1692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11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80</a:t>
              </a:r>
              <a:endParaRPr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" name="Google Shape;201;p22">
              <a:extLst>
                <a:ext uri="{FF2B5EF4-FFF2-40B4-BE49-F238E27FC236}">
                  <a16:creationId xmlns:a16="http://schemas.microsoft.com/office/drawing/2014/main" id="{1E9C737F-73DD-2748-A978-686CD1AB7E16}"/>
                </a:ext>
              </a:extLst>
            </p:cNvPr>
            <p:cNvSpPr/>
            <p:nvPr/>
          </p:nvSpPr>
          <p:spPr>
            <a:xfrm>
              <a:off x="1546271" y="3130939"/>
              <a:ext cx="270053" cy="1692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11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60</a:t>
              </a:r>
              <a:endParaRPr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" name="Google Shape;201;p22">
              <a:extLst>
                <a:ext uri="{FF2B5EF4-FFF2-40B4-BE49-F238E27FC236}">
                  <a16:creationId xmlns:a16="http://schemas.microsoft.com/office/drawing/2014/main" id="{D44932EC-7840-714C-936D-CDCC8847ADB6}"/>
                </a:ext>
              </a:extLst>
            </p:cNvPr>
            <p:cNvSpPr/>
            <p:nvPr/>
          </p:nvSpPr>
          <p:spPr>
            <a:xfrm>
              <a:off x="1546271" y="3478117"/>
              <a:ext cx="270053" cy="1692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11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40</a:t>
              </a:r>
              <a:endParaRPr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" name="Google Shape;201;p22">
              <a:extLst>
                <a:ext uri="{FF2B5EF4-FFF2-40B4-BE49-F238E27FC236}">
                  <a16:creationId xmlns:a16="http://schemas.microsoft.com/office/drawing/2014/main" id="{AF573C11-5FFD-7048-9E91-4D95BD056D64}"/>
                </a:ext>
              </a:extLst>
            </p:cNvPr>
            <p:cNvSpPr/>
            <p:nvPr/>
          </p:nvSpPr>
          <p:spPr>
            <a:xfrm>
              <a:off x="1546271" y="3820406"/>
              <a:ext cx="270053" cy="1692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11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20</a:t>
              </a:r>
              <a:endParaRPr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" name="Google Shape;201;p22">
              <a:extLst>
                <a:ext uri="{FF2B5EF4-FFF2-40B4-BE49-F238E27FC236}">
                  <a16:creationId xmlns:a16="http://schemas.microsoft.com/office/drawing/2014/main" id="{8DE86553-6E36-BB40-B87D-93327F52F96B}"/>
                </a:ext>
              </a:extLst>
            </p:cNvPr>
            <p:cNvSpPr/>
            <p:nvPr/>
          </p:nvSpPr>
          <p:spPr>
            <a:xfrm>
              <a:off x="1546271" y="4206703"/>
              <a:ext cx="270053" cy="1692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11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0</a:t>
              </a:r>
              <a:endParaRPr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" name="Google Shape;201;p22">
              <a:extLst>
                <a:ext uri="{FF2B5EF4-FFF2-40B4-BE49-F238E27FC236}">
                  <a16:creationId xmlns:a16="http://schemas.microsoft.com/office/drawing/2014/main" id="{4FF51035-B896-2749-B54B-E55A72F48C69}"/>
                </a:ext>
              </a:extLst>
            </p:cNvPr>
            <p:cNvSpPr/>
            <p:nvPr/>
          </p:nvSpPr>
          <p:spPr>
            <a:xfrm>
              <a:off x="1912503" y="4387649"/>
              <a:ext cx="172041" cy="1692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11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" name="Google Shape;201;p22">
              <a:extLst>
                <a:ext uri="{FF2B5EF4-FFF2-40B4-BE49-F238E27FC236}">
                  <a16:creationId xmlns:a16="http://schemas.microsoft.com/office/drawing/2014/main" id="{5106BFC0-7604-1C4B-946D-6A73CA9F7D0B}"/>
                </a:ext>
              </a:extLst>
            </p:cNvPr>
            <p:cNvSpPr/>
            <p:nvPr/>
          </p:nvSpPr>
          <p:spPr>
            <a:xfrm>
              <a:off x="2225453" y="4387649"/>
              <a:ext cx="172041" cy="1692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11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" name="Google Shape;201;p22">
              <a:extLst>
                <a:ext uri="{FF2B5EF4-FFF2-40B4-BE49-F238E27FC236}">
                  <a16:creationId xmlns:a16="http://schemas.microsoft.com/office/drawing/2014/main" id="{51ED339F-B87C-DC4C-A636-32880B410633}"/>
                </a:ext>
              </a:extLst>
            </p:cNvPr>
            <p:cNvSpPr/>
            <p:nvPr/>
          </p:nvSpPr>
          <p:spPr>
            <a:xfrm>
              <a:off x="2514147" y="4387649"/>
              <a:ext cx="172041" cy="1692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11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" name="Google Shape;201;p22">
              <a:extLst>
                <a:ext uri="{FF2B5EF4-FFF2-40B4-BE49-F238E27FC236}">
                  <a16:creationId xmlns:a16="http://schemas.microsoft.com/office/drawing/2014/main" id="{56C8B182-FF78-0E40-B15B-3A555A758085}"/>
                </a:ext>
              </a:extLst>
            </p:cNvPr>
            <p:cNvSpPr/>
            <p:nvPr/>
          </p:nvSpPr>
          <p:spPr>
            <a:xfrm>
              <a:off x="2831986" y="4387649"/>
              <a:ext cx="172041" cy="1692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11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7</a:t>
              </a:r>
              <a:endParaRPr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" name="Google Shape;201;p22">
              <a:extLst>
                <a:ext uri="{FF2B5EF4-FFF2-40B4-BE49-F238E27FC236}">
                  <a16:creationId xmlns:a16="http://schemas.microsoft.com/office/drawing/2014/main" id="{259E4C00-F061-E04B-90F5-B40FCCB2B468}"/>
                </a:ext>
              </a:extLst>
            </p:cNvPr>
            <p:cNvSpPr/>
            <p:nvPr/>
          </p:nvSpPr>
          <p:spPr>
            <a:xfrm>
              <a:off x="3144935" y="4387649"/>
              <a:ext cx="172041" cy="1692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11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9</a:t>
              </a:r>
              <a:endParaRPr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" name="Google Shape;201;p22">
              <a:extLst>
                <a:ext uri="{FF2B5EF4-FFF2-40B4-BE49-F238E27FC236}">
                  <a16:creationId xmlns:a16="http://schemas.microsoft.com/office/drawing/2014/main" id="{5E6172A7-EF18-2F42-983F-7503CC7E6754}"/>
                </a:ext>
              </a:extLst>
            </p:cNvPr>
            <p:cNvSpPr/>
            <p:nvPr/>
          </p:nvSpPr>
          <p:spPr>
            <a:xfrm>
              <a:off x="3462774" y="4387649"/>
              <a:ext cx="172041" cy="1692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11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11</a:t>
              </a:r>
              <a:endParaRPr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" name="Google Shape;201;p22">
              <a:extLst>
                <a:ext uri="{FF2B5EF4-FFF2-40B4-BE49-F238E27FC236}">
                  <a16:creationId xmlns:a16="http://schemas.microsoft.com/office/drawing/2014/main" id="{781C9B34-3AA8-1D4D-BFFE-A455BCEFFBA7}"/>
                </a:ext>
              </a:extLst>
            </p:cNvPr>
            <p:cNvSpPr/>
            <p:nvPr/>
          </p:nvSpPr>
          <p:spPr>
            <a:xfrm>
              <a:off x="3790393" y="4387649"/>
              <a:ext cx="172041" cy="1692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11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13</a:t>
              </a:r>
              <a:endParaRPr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4" name="Google Shape;201;p22">
              <a:extLst>
                <a:ext uri="{FF2B5EF4-FFF2-40B4-BE49-F238E27FC236}">
                  <a16:creationId xmlns:a16="http://schemas.microsoft.com/office/drawing/2014/main" id="{5AE9380A-A474-DD42-BC58-421BDC3D8630}"/>
                </a:ext>
              </a:extLst>
            </p:cNvPr>
            <p:cNvSpPr/>
            <p:nvPr/>
          </p:nvSpPr>
          <p:spPr>
            <a:xfrm>
              <a:off x="4108233" y="4387649"/>
              <a:ext cx="172041" cy="1692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11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15</a:t>
              </a:r>
              <a:endParaRPr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" name="Google Shape;201;p22">
              <a:extLst>
                <a:ext uri="{FF2B5EF4-FFF2-40B4-BE49-F238E27FC236}">
                  <a16:creationId xmlns:a16="http://schemas.microsoft.com/office/drawing/2014/main" id="{ABEDB67D-C644-234F-8EA5-F5DAF91D78E6}"/>
                </a:ext>
              </a:extLst>
            </p:cNvPr>
            <p:cNvSpPr/>
            <p:nvPr/>
          </p:nvSpPr>
          <p:spPr>
            <a:xfrm>
              <a:off x="4421183" y="4387649"/>
              <a:ext cx="172041" cy="1692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11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17</a:t>
              </a:r>
              <a:endParaRPr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" name="Google Shape;201;p22">
              <a:extLst>
                <a:ext uri="{FF2B5EF4-FFF2-40B4-BE49-F238E27FC236}">
                  <a16:creationId xmlns:a16="http://schemas.microsoft.com/office/drawing/2014/main" id="{946B0738-6519-234B-9380-8323D9583D52}"/>
                </a:ext>
              </a:extLst>
            </p:cNvPr>
            <p:cNvSpPr/>
            <p:nvPr/>
          </p:nvSpPr>
          <p:spPr>
            <a:xfrm>
              <a:off x="4753692" y="4387649"/>
              <a:ext cx="172041" cy="1692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11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19</a:t>
              </a:r>
              <a:endParaRPr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" name="Google Shape;201;p22">
              <a:extLst>
                <a:ext uri="{FF2B5EF4-FFF2-40B4-BE49-F238E27FC236}">
                  <a16:creationId xmlns:a16="http://schemas.microsoft.com/office/drawing/2014/main" id="{10435A63-2140-024A-ADD7-387C47E1B63D}"/>
                </a:ext>
              </a:extLst>
            </p:cNvPr>
            <p:cNvSpPr/>
            <p:nvPr/>
          </p:nvSpPr>
          <p:spPr>
            <a:xfrm>
              <a:off x="5022633" y="4387649"/>
              <a:ext cx="172041" cy="1692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11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21</a:t>
              </a:r>
              <a:endParaRPr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" name="Google Shape;201;p22">
              <a:extLst>
                <a:ext uri="{FF2B5EF4-FFF2-40B4-BE49-F238E27FC236}">
                  <a16:creationId xmlns:a16="http://schemas.microsoft.com/office/drawing/2014/main" id="{98C56C94-8A77-A14C-B702-BC7F6A4C448C}"/>
                </a:ext>
              </a:extLst>
            </p:cNvPr>
            <p:cNvSpPr/>
            <p:nvPr/>
          </p:nvSpPr>
          <p:spPr>
            <a:xfrm>
              <a:off x="5369812" y="4387649"/>
              <a:ext cx="172041" cy="1692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11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23</a:t>
              </a:r>
              <a:endParaRPr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" name="Google Shape;201;p22">
              <a:extLst>
                <a:ext uri="{FF2B5EF4-FFF2-40B4-BE49-F238E27FC236}">
                  <a16:creationId xmlns:a16="http://schemas.microsoft.com/office/drawing/2014/main" id="{5B478B71-5F85-444C-B37E-A1909AAE7502}"/>
                </a:ext>
              </a:extLst>
            </p:cNvPr>
            <p:cNvSpPr/>
            <p:nvPr/>
          </p:nvSpPr>
          <p:spPr>
            <a:xfrm>
              <a:off x="5677871" y="4387649"/>
              <a:ext cx="172041" cy="1692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11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25</a:t>
              </a:r>
              <a:endParaRPr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" name="Google Shape;201;p22">
              <a:extLst>
                <a:ext uri="{FF2B5EF4-FFF2-40B4-BE49-F238E27FC236}">
                  <a16:creationId xmlns:a16="http://schemas.microsoft.com/office/drawing/2014/main" id="{65A32151-F185-D64A-8A8B-2BAEF5FC6186}"/>
                </a:ext>
              </a:extLst>
            </p:cNvPr>
            <p:cNvSpPr/>
            <p:nvPr/>
          </p:nvSpPr>
          <p:spPr>
            <a:xfrm>
              <a:off x="6005490" y="4387649"/>
              <a:ext cx="172041" cy="1692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11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27</a:t>
              </a:r>
              <a:endParaRPr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" name="Google Shape;201;p22">
              <a:extLst>
                <a:ext uri="{FF2B5EF4-FFF2-40B4-BE49-F238E27FC236}">
                  <a16:creationId xmlns:a16="http://schemas.microsoft.com/office/drawing/2014/main" id="{CFA20EBC-2D2B-3844-9313-BC36052CE700}"/>
                </a:ext>
              </a:extLst>
            </p:cNvPr>
            <p:cNvSpPr/>
            <p:nvPr/>
          </p:nvSpPr>
          <p:spPr>
            <a:xfrm>
              <a:off x="3513939" y="4624796"/>
              <a:ext cx="1193992" cy="1692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1100" b="1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Week</a:t>
              </a:r>
              <a:endParaRPr sz="11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" name="Google Shape;201;p22">
              <a:extLst>
                <a:ext uri="{FF2B5EF4-FFF2-40B4-BE49-F238E27FC236}">
                  <a16:creationId xmlns:a16="http://schemas.microsoft.com/office/drawing/2014/main" id="{3EDFFD7B-2708-B842-8C88-B9C0B7F2F8C4}"/>
                </a:ext>
              </a:extLst>
            </p:cNvPr>
            <p:cNvSpPr/>
            <p:nvPr/>
          </p:nvSpPr>
          <p:spPr>
            <a:xfrm rot="16200000">
              <a:off x="839229" y="2911096"/>
              <a:ext cx="1193992" cy="1692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1100" b="1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Defects</a:t>
              </a:r>
              <a:endParaRPr sz="11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" name="Google Shape;201;p22">
              <a:extLst>
                <a:ext uri="{FF2B5EF4-FFF2-40B4-BE49-F238E27FC236}">
                  <a16:creationId xmlns:a16="http://schemas.microsoft.com/office/drawing/2014/main" id="{B83FB8B4-FF25-CC44-A245-4E4D107BCCE5}"/>
                </a:ext>
              </a:extLst>
            </p:cNvPr>
            <p:cNvSpPr/>
            <p:nvPr/>
          </p:nvSpPr>
          <p:spPr>
            <a:xfrm>
              <a:off x="7211784" y="1707763"/>
              <a:ext cx="939406" cy="49859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9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New defects found</a:t>
              </a:r>
            </a:p>
            <a:p>
              <a:pPr marL="0" marR="0" lvl="0" indent="0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9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Detects closed</a:t>
              </a:r>
            </a:p>
            <a:p>
              <a:pPr marL="0" marR="0" lvl="0" indent="0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9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Defects open</a:t>
              </a:r>
              <a:endParaRPr sz="9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74" name="Conector recto 173">
              <a:extLst>
                <a:ext uri="{FF2B5EF4-FFF2-40B4-BE49-F238E27FC236}">
                  <a16:creationId xmlns:a16="http://schemas.microsoft.com/office/drawing/2014/main" id="{B4C37840-656B-3741-B171-64FF87543BA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805165" y="1781442"/>
              <a:ext cx="297056" cy="2882"/>
            </a:xfrm>
            <a:prstGeom prst="line">
              <a:avLst/>
            </a:prstGeom>
            <a:ln w="19050">
              <a:solidFill>
                <a:srgbClr val="EE463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6" name="Rectángulo 175">
              <a:extLst>
                <a:ext uri="{FF2B5EF4-FFF2-40B4-BE49-F238E27FC236}">
                  <a16:creationId xmlns:a16="http://schemas.microsoft.com/office/drawing/2014/main" id="{0B8EB0E4-24F2-1C45-8745-056A6AF27848}"/>
                </a:ext>
              </a:extLst>
            </p:cNvPr>
            <p:cNvSpPr/>
            <p:nvPr/>
          </p:nvSpPr>
          <p:spPr>
            <a:xfrm>
              <a:off x="6905994" y="1728996"/>
              <a:ext cx="104633" cy="104633"/>
            </a:xfrm>
            <a:prstGeom prst="rect">
              <a:avLst/>
            </a:prstGeom>
            <a:solidFill>
              <a:srgbClr val="EE46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cxnSp>
          <p:nvCxnSpPr>
            <p:cNvPr id="177" name="Conector recto 176">
              <a:extLst>
                <a:ext uri="{FF2B5EF4-FFF2-40B4-BE49-F238E27FC236}">
                  <a16:creationId xmlns:a16="http://schemas.microsoft.com/office/drawing/2014/main" id="{3D5A15EF-50AE-0E4F-9112-AD2F0125121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805165" y="1967256"/>
              <a:ext cx="297056" cy="288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9" name="Triángulo 178">
              <a:extLst>
                <a:ext uri="{FF2B5EF4-FFF2-40B4-BE49-F238E27FC236}">
                  <a16:creationId xmlns:a16="http://schemas.microsoft.com/office/drawing/2014/main" id="{E9E89CDC-0428-E148-93AA-6B2FF5878482}"/>
                </a:ext>
              </a:extLst>
            </p:cNvPr>
            <p:cNvSpPr/>
            <p:nvPr/>
          </p:nvSpPr>
          <p:spPr>
            <a:xfrm>
              <a:off x="6901083" y="1894886"/>
              <a:ext cx="100084" cy="136475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cxnSp>
          <p:nvCxnSpPr>
            <p:cNvPr id="180" name="Conector recto 179">
              <a:extLst>
                <a:ext uri="{FF2B5EF4-FFF2-40B4-BE49-F238E27FC236}">
                  <a16:creationId xmlns:a16="http://schemas.microsoft.com/office/drawing/2014/main" id="{7D3CA344-5718-9749-A8D3-27EDFE77FE7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805165" y="2172629"/>
              <a:ext cx="297056" cy="2882"/>
            </a:xfrm>
            <a:prstGeom prst="line">
              <a:avLst/>
            </a:prstGeom>
            <a:ln w="19050">
              <a:solidFill>
                <a:srgbClr val="715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2" name="Elipse 181">
              <a:extLst>
                <a:ext uri="{FF2B5EF4-FFF2-40B4-BE49-F238E27FC236}">
                  <a16:creationId xmlns:a16="http://schemas.microsoft.com/office/drawing/2014/main" id="{DC7C4CC7-5092-824E-A62E-64097479D616}"/>
                </a:ext>
              </a:extLst>
            </p:cNvPr>
            <p:cNvSpPr/>
            <p:nvPr/>
          </p:nvSpPr>
          <p:spPr>
            <a:xfrm>
              <a:off x="6899037" y="2110039"/>
              <a:ext cx="104633" cy="104633"/>
            </a:xfrm>
            <a:prstGeom prst="ellipse">
              <a:avLst/>
            </a:prstGeom>
            <a:solidFill>
              <a:srgbClr val="715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cxnSp>
          <p:nvCxnSpPr>
            <p:cNvPr id="115" name="Conector recto 114">
              <a:extLst>
                <a:ext uri="{FF2B5EF4-FFF2-40B4-BE49-F238E27FC236}">
                  <a16:creationId xmlns:a16="http://schemas.microsoft.com/office/drawing/2014/main" id="{64A5BB56-72A1-6F45-B4F0-FA405910D33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73503" y="4282818"/>
              <a:ext cx="211186" cy="11243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Rectángulo 61">
              <a:extLst>
                <a:ext uri="{FF2B5EF4-FFF2-40B4-BE49-F238E27FC236}">
                  <a16:creationId xmlns:a16="http://schemas.microsoft.com/office/drawing/2014/main" id="{21ADFC44-6DA3-9742-BB2F-072596D9C6E2}"/>
                </a:ext>
              </a:extLst>
            </p:cNvPr>
            <p:cNvSpPr/>
            <p:nvPr/>
          </p:nvSpPr>
          <p:spPr>
            <a:xfrm>
              <a:off x="6228863" y="4259439"/>
              <a:ext cx="104633" cy="104633"/>
            </a:xfrm>
            <a:prstGeom prst="rect">
              <a:avLst/>
            </a:prstGeom>
            <a:solidFill>
              <a:srgbClr val="EE46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89" name="Triángulo 88">
              <a:extLst>
                <a:ext uri="{FF2B5EF4-FFF2-40B4-BE49-F238E27FC236}">
                  <a16:creationId xmlns:a16="http://schemas.microsoft.com/office/drawing/2014/main" id="{C41ED2F4-3D7A-964A-8970-EF2709760DFD}"/>
                </a:ext>
              </a:extLst>
            </p:cNvPr>
            <p:cNvSpPr/>
            <p:nvPr/>
          </p:nvSpPr>
          <p:spPr>
            <a:xfrm>
              <a:off x="6233413" y="4191200"/>
              <a:ext cx="100084" cy="136475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81" name="Triángulo 80">
              <a:extLst>
                <a:ext uri="{FF2B5EF4-FFF2-40B4-BE49-F238E27FC236}">
                  <a16:creationId xmlns:a16="http://schemas.microsoft.com/office/drawing/2014/main" id="{C8019963-F15F-5947-88FE-4D152DB80355}"/>
                </a:ext>
              </a:extLst>
            </p:cNvPr>
            <p:cNvSpPr/>
            <p:nvPr/>
          </p:nvSpPr>
          <p:spPr>
            <a:xfrm>
              <a:off x="4973270" y="4054723"/>
              <a:ext cx="100084" cy="136475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82" name="Triángulo 81">
              <a:extLst>
                <a:ext uri="{FF2B5EF4-FFF2-40B4-BE49-F238E27FC236}">
                  <a16:creationId xmlns:a16="http://schemas.microsoft.com/office/drawing/2014/main" id="{87CDBC0B-7933-2945-AEB9-0EAD65DBDDF1}"/>
                </a:ext>
              </a:extLst>
            </p:cNvPr>
            <p:cNvSpPr/>
            <p:nvPr/>
          </p:nvSpPr>
          <p:spPr>
            <a:xfrm>
              <a:off x="5123396" y="4141159"/>
              <a:ext cx="100084" cy="136475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84" name="Triángulo 83">
              <a:extLst>
                <a:ext uri="{FF2B5EF4-FFF2-40B4-BE49-F238E27FC236}">
                  <a16:creationId xmlns:a16="http://schemas.microsoft.com/office/drawing/2014/main" id="{404BB6CE-B6C5-9540-8A80-51D10131C949}"/>
                </a:ext>
              </a:extLst>
            </p:cNvPr>
            <p:cNvSpPr/>
            <p:nvPr/>
          </p:nvSpPr>
          <p:spPr>
            <a:xfrm>
              <a:off x="5441843" y="4145708"/>
              <a:ext cx="100084" cy="136475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78" name="Triángulo 77">
              <a:extLst>
                <a:ext uri="{FF2B5EF4-FFF2-40B4-BE49-F238E27FC236}">
                  <a16:creationId xmlns:a16="http://schemas.microsoft.com/office/drawing/2014/main" id="{27D710A3-10AE-DA44-BAE1-0D46CCB24362}"/>
                </a:ext>
              </a:extLst>
            </p:cNvPr>
            <p:cNvSpPr/>
            <p:nvPr/>
          </p:nvSpPr>
          <p:spPr>
            <a:xfrm>
              <a:off x="4491049" y="3749923"/>
              <a:ext cx="100084" cy="136475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2" name="Elipse 1">
              <a:extLst>
                <a:ext uri="{FF2B5EF4-FFF2-40B4-BE49-F238E27FC236}">
                  <a16:creationId xmlns:a16="http://schemas.microsoft.com/office/drawing/2014/main" id="{AE4FE119-CD71-5B4C-8237-E5D8115A2369}"/>
                </a:ext>
              </a:extLst>
            </p:cNvPr>
            <p:cNvSpPr/>
            <p:nvPr/>
          </p:nvSpPr>
          <p:spPr>
            <a:xfrm>
              <a:off x="1938917" y="4072920"/>
              <a:ext cx="104633" cy="104633"/>
            </a:xfrm>
            <a:prstGeom prst="ellipse">
              <a:avLst/>
            </a:prstGeom>
            <a:solidFill>
              <a:srgbClr val="715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cxnSp>
          <p:nvCxnSpPr>
            <p:cNvPr id="333" name="Conector recto 332">
              <a:extLst>
                <a:ext uri="{FF2B5EF4-FFF2-40B4-BE49-F238E27FC236}">
                  <a16:creationId xmlns:a16="http://schemas.microsoft.com/office/drawing/2014/main" id="{9B5BEE54-8A47-0946-9668-A68FB4084213}"/>
                </a:ext>
              </a:extLst>
            </p:cNvPr>
            <p:cNvCxnSpPr>
              <a:cxnSpLocks/>
            </p:cNvCxnSpPr>
            <p:nvPr/>
          </p:nvCxnSpPr>
          <p:spPr>
            <a:xfrm>
              <a:off x="1848388" y="1743737"/>
              <a:ext cx="98549" cy="0"/>
            </a:xfrm>
            <a:prstGeom prst="line">
              <a:avLst/>
            </a:prstGeom>
            <a:ln w="19050">
              <a:solidFill>
                <a:srgbClr val="8087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4" name="Conector recto 333">
              <a:extLst>
                <a:ext uri="{FF2B5EF4-FFF2-40B4-BE49-F238E27FC236}">
                  <a16:creationId xmlns:a16="http://schemas.microsoft.com/office/drawing/2014/main" id="{F0AC3B58-A127-7C42-A3F1-472F44CF9398}"/>
                </a:ext>
              </a:extLst>
            </p:cNvPr>
            <p:cNvCxnSpPr>
              <a:cxnSpLocks/>
            </p:cNvCxnSpPr>
            <p:nvPr/>
          </p:nvCxnSpPr>
          <p:spPr>
            <a:xfrm>
              <a:off x="1848388" y="4295550"/>
              <a:ext cx="98549" cy="0"/>
            </a:xfrm>
            <a:prstGeom prst="line">
              <a:avLst/>
            </a:prstGeom>
            <a:ln w="19050">
              <a:solidFill>
                <a:srgbClr val="8087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>
            <a:extLst>
              <a:ext uri="{FF2B5EF4-FFF2-40B4-BE49-F238E27FC236}">
                <a16:creationId xmlns:a16="http://schemas.microsoft.com/office/drawing/2014/main" id="{DA7E0060-CD04-1A4B-AB88-7AF869FA1014}"/>
              </a:ext>
            </a:extLst>
          </p:cNvPr>
          <p:cNvSpPr/>
          <p:nvPr/>
        </p:nvSpPr>
        <p:spPr>
          <a:xfrm>
            <a:off x="503238" y="376232"/>
            <a:ext cx="3300666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/>
              </a:rPr>
              <a:t>SEGUIMIENTO DE PRUEBAS</a:t>
            </a:r>
            <a:endParaRPr lang="es-PE" sz="1000" dirty="0">
              <a:solidFill>
                <a:schemeClr val="bg1">
                  <a:lumMod val="6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90A77C19-8E5A-E442-B622-BF23F5D4F21D}"/>
              </a:ext>
            </a:extLst>
          </p:cNvPr>
          <p:cNvSpPr/>
          <p:nvPr/>
        </p:nvSpPr>
        <p:spPr>
          <a:xfrm>
            <a:off x="503236" y="916472"/>
            <a:ext cx="7636423" cy="31700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R="0" lvl="0" algn="l" rtl="0"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1600"/>
            </a:pPr>
            <a:r>
              <a:rPr lang="es-ES" sz="2000" b="1" dirty="0">
                <a:solidFill>
                  <a:srgbClr val="EE4639"/>
                </a:solidFill>
                <a:latin typeface="Graphik Bold" panose="020B0503030202060203" pitchFamily="34" charset="77"/>
                <a:cs typeface="Calibri" charset="0"/>
              </a:rPr>
              <a:t>+ 04.</a:t>
            </a:r>
            <a:br>
              <a:rPr lang="es-ES" sz="1600" b="1" dirty="0">
                <a:solidFill>
                  <a:srgbClr val="EE4639"/>
                </a:solidFill>
                <a:latin typeface="Calibri" charset="0"/>
                <a:cs typeface="Calibri" charset="0"/>
              </a:rPr>
            </a:br>
            <a:r>
              <a:rPr lang="es-PE" sz="1600" b="1" dirty="0">
                <a:solidFill>
                  <a:srgbClr val="EE4639"/>
                </a:solidFill>
                <a:latin typeface="Calibri" charset="0"/>
                <a:cs typeface="Calibri" charset="0"/>
                <a:sym typeface="Calibri"/>
              </a:rPr>
              <a:t>CRITERIOS PARA DETENER LAS PRUEBAS</a:t>
            </a:r>
          </a:p>
          <a:p>
            <a:pPr marL="177800" marR="0" lvl="0" indent="-177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s-PE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Tiempo de prueba programado ha expirado.</a:t>
            </a:r>
            <a:endParaRPr lang="es-PE" sz="1500" dirty="0"/>
          </a:p>
          <a:p>
            <a:pPr marL="357188" marR="0" lvl="1" indent="-179388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s-PE" sz="15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Criterio débil. ¿Si el # de casos de prueba es inadecuado?</a:t>
            </a:r>
            <a:endParaRPr lang="es-PE" sz="1500" dirty="0"/>
          </a:p>
          <a:p>
            <a:pPr marL="357188" marR="0" lvl="0" indent="-179388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endParaRPr lang="es-PE" sz="15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7800" marR="0" lvl="0" indent="-177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s-PE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Algún número predefinido de defectos descubierto.</a:t>
            </a:r>
            <a:endParaRPr lang="es-PE" sz="1500" dirty="0"/>
          </a:p>
          <a:p>
            <a:pPr marL="357188" marR="0" lvl="1" indent="-179388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s-PE" sz="15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¿Cómo </a:t>
            </a:r>
            <a:r>
              <a:rPr lang="es-PE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determinar</a:t>
            </a:r>
            <a:r>
              <a:rPr lang="es-PE" sz="15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ese número? Es mejor usar defectos por unidad de tiempo y </a:t>
            </a:r>
            <a:br>
              <a:rPr lang="es-PE" sz="15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PE" sz="15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analizar tendencia.</a:t>
            </a:r>
            <a:endParaRPr lang="es-PE" sz="1500" dirty="0"/>
          </a:p>
          <a:p>
            <a:pPr marL="285750" marR="0" lvl="0" indent="-1841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endParaRPr lang="es-PE" sz="15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7800" marR="0" lvl="0" indent="-177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s-PE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Todas las pruebas formales se ejecutan sin detectar ningún defecto.</a:t>
            </a:r>
            <a:endParaRPr lang="es-PE" sz="1500" dirty="0"/>
          </a:p>
          <a:p>
            <a:pPr marL="357188" marR="0" lvl="1" indent="-179388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s-PE" sz="15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hay motivación por encontrar más defectos.</a:t>
            </a:r>
            <a:endParaRPr lang="es-PE" sz="1500" dirty="0"/>
          </a:p>
          <a:p>
            <a:pPr marL="285750" marR="0" lvl="0" indent="-1841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endParaRPr lang="es-PE" sz="15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7800" marR="0" lvl="0" indent="-177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s-PE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combinación de los criterios anteriores.</a:t>
            </a:r>
            <a:endParaRPr lang="es-PE" sz="15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4"/>
          <p:cNvSpPr/>
          <p:nvPr/>
        </p:nvSpPr>
        <p:spPr>
          <a:xfrm>
            <a:off x="2904396" y="914043"/>
            <a:ext cx="3335208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TENDENCIA DE DEFECTOS POR BUILD</a:t>
            </a:r>
            <a:endParaRPr sz="16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BE16ABA-1285-5D43-B6D8-201D649ED1E0}"/>
              </a:ext>
            </a:extLst>
          </p:cNvPr>
          <p:cNvSpPr/>
          <p:nvPr/>
        </p:nvSpPr>
        <p:spPr>
          <a:xfrm>
            <a:off x="503238" y="376232"/>
            <a:ext cx="3300666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/>
              </a:rPr>
              <a:t>SEGUIMIENTO DE PRUEBAS</a:t>
            </a:r>
            <a:endParaRPr lang="es-PE" sz="1000" dirty="0">
              <a:solidFill>
                <a:schemeClr val="bg1">
                  <a:lumMod val="6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49479282-8105-A14C-AD22-4DB37268BB6E}"/>
              </a:ext>
            </a:extLst>
          </p:cNvPr>
          <p:cNvGrpSpPr/>
          <p:nvPr/>
        </p:nvGrpSpPr>
        <p:grpSpPr>
          <a:xfrm>
            <a:off x="2402961" y="1655461"/>
            <a:ext cx="4444771" cy="3082794"/>
            <a:chOff x="2319318" y="1704359"/>
            <a:chExt cx="4591982" cy="3184896"/>
          </a:xfrm>
        </p:grpSpPr>
        <p:pic>
          <p:nvPicPr>
            <p:cNvPr id="9" name="Imagen 8">
              <a:extLst>
                <a:ext uri="{FF2B5EF4-FFF2-40B4-BE49-F238E27FC236}">
                  <a16:creationId xmlns:a16="http://schemas.microsoft.com/office/drawing/2014/main" id="{A80FE6A2-6CC5-CF4B-9585-2F019807572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6657" t="6313" b="9710"/>
            <a:stretch/>
          </p:blipFill>
          <p:spPr>
            <a:xfrm>
              <a:off x="2591476" y="1884126"/>
              <a:ext cx="4319824" cy="2856932"/>
            </a:xfrm>
            <a:prstGeom prst="rect">
              <a:avLst/>
            </a:prstGeom>
          </p:spPr>
        </p:pic>
        <p:sp>
          <p:nvSpPr>
            <p:cNvPr id="10" name="Google Shape;217;p24">
              <a:extLst>
                <a:ext uri="{FF2B5EF4-FFF2-40B4-BE49-F238E27FC236}">
                  <a16:creationId xmlns:a16="http://schemas.microsoft.com/office/drawing/2014/main" id="{1DAE6E14-564E-EF46-A336-7E68621F6143}"/>
                </a:ext>
              </a:extLst>
            </p:cNvPr>
            <p:cNvSpPr/>
            <p:nvPr/>
          </p:nvSpPr>
          <p:spPr>
            <a:xfrm>
              <a:off x="2904494" y="1704359"/>
              <a:ext cx="899410" cy="12311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800" b="1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Bug Arrival Rate</a:t>
              </a:r>
              <a:endParaRPr sz="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Google Shape;217;p24">
              <a:extLst>
                <a:ext uri="{FF2B5EF4-FFF2-40B4-BE49-F238E27FC236}">
                  <a16:creationId xmlns:a16="http://schemas.microsoft.com/office/drawing/2014/main" id="{226D07F0-1ABA-3A45-B359-9AB3E921EB38}"/>
                </a:ext>
              </a:extLst>
            </p:cNvPr>
            <p:cNvSpPr/>
            <p:nvPr/>
          </p:nvSpPr>
          <p:spPr>
            <a:xfrm>
              <a:off x="4301683" y="1704359"/>
              <a:ext cx="899410" cy="12311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800" b="1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Bug Resolved Rate</a:t>
              </a:r>
              <a:endParaRPr sz="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" name="Google Shape;217;p24">
              <a:extLst>
                <a:ext uri="{FF2B5EF4-FFF2-40B4-BE49-F238E27FC236}">
                  <a16:creationId xmlns:a16="http://schemas.microsoft.com/office/drawing/2014/main" id="{05A8753E-B4BD-6547-8E6E-82BD1724E1FA}"/>
                </a:ext>
              </a:extLst>
            </p:cNvPr>
            <p:cNvSpPr/>
            <p:nvPr/>
          </p:nvSpPr>
          <p:spPr>
            <a:xfrm>
              <a:off x="5712915" y="1704359"/>
              <a:ext cx="899410" cy="12311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800" b="1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Bug Closed Rate</a:t>
              </a:r>
              <a:endParaRPr sz="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5" name="Conector recto 4">
              <a:extLst>
                <a:ext uri="{FF2B5EF4-FFF2-40B4-BE49-F238E27FC236}">
                  <a16:creationId xmlns:a16="http://schemas.microsoft.com/office/drawing/2014/main" id="{23724916-17C8-A040-9553-23A0FA33629C}"/>
                </a:ext>
              </a:extLst>
            </p:cNvPr>
            <p:cNvCxnSpPr/>
            <p:nvPr/>
          </p:nvCxnSpPr>
          <p:spPr>
            <a:xfrm>
              <a:off x="2732060" y="1765914"/>
              <a:ext cx="190704" cy="0"/>
            </a:xfrm>
            <a:prstGeom prst="line">
              <a:avLst/>
            </a:prstGeom>
            <a:ln w="28575">
              <a:solidFill>
                <a:srgbClr val="496DA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ector recto 14">
              <a:extLst>
                <a:ext uri="{FF2B5EF4-FFF2-40B4-BE49-F238E27FC236}">
                  <a16:creationId xmlns:a16="http://schemas.microsoft.com/office/drawing/2014/main" id="{F6F2DE5C-C147-4443-9007-5B9BB0E18B72}"/>
                </a:ext>
              </a:extLst>
            </p:cNvPr>
            <p:cNvCxnSpPr/>
            <p:nvPr/>
          </p:nvCxnSpPr>
          <p:spPr>
            <a:xfrm>
              <a:off x="4043896" y="1765914"/>
              <a:ext cx="190704" cy="0"/>
            </a:xfrm>
            <a:prstGeom prst="line">
              <a:avLst/>
            </a:prstGeom>
            <a:ln w="28575">
              <a:solidFill>
                <a:srgbClr val="D8CF6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ector recto 15">
              <a:extLst>
                <a:ext uri="{FF2B5EF4-FFF2-40B4-BE49-F238E27FC236}">
                  <a16:creationId xmlns:a16="http://schemas.microsoft.com/office/drawing/2014/main" id="{FE082A02-CE07-B145-AFE0-6D3DF74A0714}"/>
                </a:ext>
              </a:extLst>
            </p:cNvPr>
            <p:cNvCxnSpPr/>
            <p:nvPr/>
          </p:nvCxnSpPr>
          <p:spPr>
            <a:xfrm>
              <a:off x="5571109" y="1770804"/>
              <a:ext cx="190704" cy="0"/>
            </a:xfrm>
            <a:prstGeom prst="line">
              <a:avLst/>
            </a:prstGeom>
            <a:ln w="28575">
              <a:solidFill>
                <a:srgbClr val="92C14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Google Shape;217;p24">
              <a:extLst>
                <a:ext uri="{FF2B5EF4-FFF2-40B4-BE49-F238E27FC236}">
                  <a16:creationId xmlns:a16="http://schemas.microsoft.com/office/drawing/2014/main" id="{3D174CC3-93DA-9745-8232-AFC7D74BB6AC}"/>
                </a:ext>
              </a:extLst>
            </p:cNvPr>
            <p:cNvSpPr/>
            <p:nvPr/>
          </p:nvSpPr>
          <p:spPr>
            <a:xfrm>
              <a:off x="2319318" y="1859676"/>
              <a:ext cx="260027" cy="12311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8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120</a:t>
              </a:r>
              <a:endParaRPr sz="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217;p24">
              <a:extLst>
                <a:ext uri="{FF2B5EF4-FFF2-40B4-BE49-F238E27FC236}">
                  <a16:creationId xmlns:a16="http://schemas.microsoft.com/office/drawing/2014/main" id="{5CEB2BC7-CE9E-9640-A4F4-B3F25077C4EC}"/>
                </a:ext>
              </a:extLst>
            </p:cNvPr>
            <p:cNvSpPr/>
            <p:nvPr/>
          </p:nvSpPr>
          <p:spPr>
            <a:xfrm>
              <a:off x="2319318" y="2299762"/>
              <a:ext cx="260027" cy="12311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8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100</a:t>
              </a:r>
              <a:endParaRPr sz="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217;p24">
              <a:extLst>
                <a:ext uri="{FF2B5EF4-FFF2-40B4-BE49-F238E27FC236}">
                  <a16:creationId xmlns:a16="http://schemas.microsoft.com/office/drawing/2014/main" id="{A5C1F432-7021-3B48-AA06-BD0E046AB655}"/>
                </a:ext>
              </a:extLst>
            </p:cNvPr>
            <p:cNvSpPr/>
            <p:nvPr/>
          </p:nvSpPr>
          <p:spPr>
            <a:xfrm>
              <a:off x="2319318" y="2769186"/>
              <a:ext cx="260027" cy="12311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8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80</a:t>
              </a:r>
              <a:endParaRPr sz="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" name="Google Shape;217;p24">
              <a:extLst>
                <a:ext uri="{FF2B5EF4-FFF2-40B4-BE49-F238E27FC236}">
                  <a16:creationId xmlns:a16="http://schemas.microsoft.com/office/drawing/2014/main" id="{251B50DD-338E-8042-A060-0CC5CEB382C3}"/>
                </a:ext>
              </a:extLst>
            </p:cNvPr>
            <p:cNvSpPr/>
            <p:nvPr/>
          </p:nvSpPr>
          <p:spPr>
            <a:xfrm>
              <a:off x="2319318" y="3204382"/>
              <a:ext cx="260027" cy="12311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8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60</a:t>
              </a:r>
              <a:endParaRPr sz="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217;p24">
              <a:extLst>
                <a:ext uri="{FF2B5EF4-FFF2-40B4-BE49-F238E27FC236}">
                  <a16:creationId xmlns:a16="http://schemas.microsoft.com/office/drawing/2014/main" id="{7F3551E9-C6AC-FB46-B1DA-E6192AA6D5F2}"/>
                </a:ext>
              </a:extLst>
            </p:cNvPr>
            <p:cNvSpPr/>
            <p:nvPr/>
          </p:nvSpPr>
          <p:spPr>
            <a:xfrm>
              <a:off x="2319318" y="3664027"/>
              <a:ext cx="260027" cy="12311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8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40</a:t>
              </a:r>
              <a:endParaRPr sz="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" name="Google Shape;217;p24">
              <a:extLst>
                <a:ext uri="{FF2B5EF4-FFF2-40B4-BE49-F238E27FC236}">
                  <a16:creationId xmlns:a16="http://schemas.microsoft.com/office/drawing/2014/main" id="{47FE6F0B-1B81-1E46-A9A9-FE2CC4378B65}"/>
                </a:ext>
              </a:extLst>
            </p:cNvPr>
            <p:cNvSpPr/>
            <p:nvPr/>
          </p:nvSpPr>
          <p:spPr>
            <a:xfrm>
              <a:off x="2319318" y="4123672"/>
              <a:ext cx="260027" cy="12311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8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20</a:t>
              </a:r>
              <a:endParaRPr sz="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" name="Google Shape;217;p24">
              <a:extLst>
                <a:ext uri="{FF2B5EF4-FFF2-40B4-BE49-F238E27FC236}">
                  <a16:creationId xmlns:a16="http://schemas.microsoft.com/office/drawing/2014/main" id="{E2FB33B6-D153-5743-8DF8-B6D80938CBE9}"/>
                </a:ext>
              </a:extLst>
            </p:cNvPr>
            <p:cNvSpPr/>
            <p:nvPr/>
          </p:nvSpPr>
          <p:spPr>
            <a:xfrm>
              <a:off x="2319318" y="4563757"/>
              <a:ext cx="260027" cy="12311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8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0</a:t>
              </a:r>
              <a:endParaRPr sz="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" name="Google Shape;217;p24">
              <a:extLst>
                <a:ext uri="{FF2B5EF4-FFF2-40B4-BE49-F238E27FC236}">
                  <a16:creationId xmlns:a16="http://schemas.microsoft.com/office/drawing/2014/main" id="{26F0DC51-24AA-B042-92DC-F00B6C8E0A2A}"/>
                </a:ext>
              </a:extLst>
            </p:cNvPr>
            <p:cNvSpPr/>
            <p:nvPr/>
          </p:nvSpPr>
          <p:spPr>
            <a:xfrm>
              <a:off x="2655076" y="4732906"/>
              <a:ext cx="4988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1000" b="1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Build 1</a:t>
              </a:r>
              <a:endParaRPr sz="1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" name="Google Shape;217;p24">
              <a:extLst>
                <a:ext uri="{FF2B5EF4-FFF2-40B4-BE49-F238E27FC236}">
                  <a16:creationId xmlns:a16="http://schemas.microsoft.com/office/drawing/2014/main" id="{9AA500F0-3F86-C347-8ACF-712C8BBB2E9E}"/>
                </a:ext>
              </a:extLst>
            </p:cNvPr>
            <p:cNvSpPr/>
            <p:nvPr/>
          </p:nvSpPr>
          <p:spPr>
            <a:xfrm>
              <a:off x="3403221" y="4732906"/>
              <a:ext cx="4988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1000" b="1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Build 2</a:t>
              </a:r>
              <a:endParaRPr sz="1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" name="Google Shape;217;p24">
              <a:extLst>
                <a:ext uri="{FF2B5EF4-FFF2-40B4-BE49-F238E27FC236}">
                  <a16:creationId xmlns:a16="http://schemas.microsoft.com/office/drawing/2014/main" id="{DB52758D-EFE9-5347-A1B4-406069C1876E}"/>
                </a:ext>
              </a:extLst>
            </p:cNvPr>
            <p:cNvSpPr/>
            <p:nvPr/>
          </p:nvSpPr>
          <p:spPr>
            <a:xfrm>
              <a:off x="4239383" y="4732906"/>
              <a:ext cx="4988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1000" b="1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Build 3</a:t>
              </a:r>
              <a:endParaRPr sz="1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" name="Google Shape;217;p24">
              <a:extLst>
                <a:ext uri="{FF2B5EF4-FFF2-40B4-BE49-F238E27FC236}">
                  <a16:creationId xmlns:a16="http://schemas.microsoft.com/office/drawing/2014/main" id="{6540A9E5-CE41-D54B-A389-CE8D31EC65DB}"/>
                </a:ext>
              </a:extLst>
            </p:cNvPr>
            <p:cNvSpPr/>
            <p:nvPr/>
          </p:nvSpPr>
          <p:spPr>
            <a:xfrm>
              <a:off x="5148893" y="4732906"/>
              <a:ext cx="4988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1000" b="1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Build 4</a:t>
              </a:r>
              <a:endParaRPr sz="1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" name="Google Shape;217;p24">
              <a:extLst>
                <a:ext uri="{FF2B5EF4-FFF2-40B4-BE49-F238E27FC236}">
                  <a16:creationId xmlns:a16="http://schemas.microsoft.com/office/drawing/2014/main" id="{9031D99F-7556-D848-8678-BE87136ED64F}"/>
                </a:ext>
              </a:extLst>
            </p:cNvPr>
            <p:cNvSpPr/>
            <p:nvPr/>
          </p:nvSpPr>
          <p:spPr>
            <a:xfrm>
              <a:off x="6000168" y="4735367"/>
              <a:ext cx="4988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1000" b="1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So on</a:t>
              </a:r>
              <a:endParaRPr sz="1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9" name="Conector recto 28">
              <a:extLst>
                <a:ext uri="{FF2B5EF4-FFF2-40B4-BE49-F238E27FC236}">
                  <a16:creationId xmlns:a16="http://schemas.microsoft.com/office/drawing/2014/main" id="{C76F45F9-0C8E-FF41-940C-1A4AA2C75565}"/>
                </a:ext>
              </a:extLst>
            </p:cNvPr>
            <p:cNvCxnSpPr>
              <a:cxnSpLocks/>
            </p:cNvCxnSpPr>
            <p:nvPr/>
          </p:nvCxnSpPr>
          <p:spPr>
            <a:xfrm>
              <a:off x="5980274" y="4846513"/>
              <a:ext cx="104268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5"/>
          <p:cNvSpPr/>
          <p:nvPr/>
        </p:nvSpPr>
        <p:spPr>
          <a:xfrm>
            <a:off x="2350214" y="943266"/>
            <a:ext cx="4443573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CLASIFICACIÓN DE DEFECTOS DIAGRAMA PARETO</a:t>
            </a:r>
            <a:endParaRPr sz="16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3A00E3B-2C14-F745-AA53-919E95702CEE}"/>
              </a:ext>
            </a:extLst>
          </p:cNvPr>
          <p:cNvSpPr/>
          <p:nvPr/>
        </p:nvSpPr>
        <p:spPr>
          <a:xfrm>
            <a:off x="503238" y="376232"/>
            <a:ext cx="3300666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/>
              </a:rPr>
              <a:t>SEGUIMIENTO DE PRUEBAS</a:t>
            </a:r>
            <a:endParaRPr lang="es-PE" sz="1000" dirty="0">
              <a:solidFill>
                <a:schemeClr val="bg1">
                  <a:lumMod val="6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143" name="Grupo 142">
            <a:extLst>
              <a:ext uri="{FF2B5EF4-FFF2-40B4-BE49-F238E27FC236}">
                <a16:creationId xmlns:a16="http://schemas.microsoft.com/office/drawing/2014/main" id="{55522D0E-1181-024D-861E-4743D8BA7DBE}"/>
              </a:ext>
            </a:extLst>
          </p:cNvPr>
          <p:cNvGrpSpPr/>
          <p:nvPr/>
        </p:nvGrpSpPr>
        <p:grpSpPr>
          <a:xfrm>
            <a:off x="1416171" y="1455539"/>
            <a:ext cx="6259481" cy="3778449"/>
            <a:chOff x="1416171" y="1203598"/>
            <a:chExt cx="6259481" cy="3778449"/>
          </a:xfrm>
        </p:grpSpPr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033B927D-83EA-4C44-8CFF-F5F017CDEEA5}"/>
                </a:ext>
              </a:extLst>
            </p:cNvPr>
            <p:cNvSpPr/>
            <p:nvPr/>
          </p:nvSpPr>
          <p:spPr>
            <a:xfrm>
              <a:off x="1915644" y="1557016"/>
              <a:ext cx="77750" cy="1371890"/>
            </a:xfrm>
            <a:prstGeom prst="rect">
              <a:avLst/>
            </a:prstGeom>
            <a:solidFill>
              <a:srgbClr val="00B1C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36" name="Rectángulo 35">
              <a:extLst>
                <a:ext uri="{FF2B5EF4-FFF2-40B4-BE49-F238E27FC236}">
                  <a16:creationId xmlns:a16="http://schemas.microsoft.com/office/drawing/2014/main" id="{8A74B622-5D7C-3F40-8B28-6156B8F687F4}"/>
                </a:ext>
              </a:extLst>
            </p:cNvPr>
            <p:cNvSpPr/>
            <p:nvPr/>
          </p:nvSpPr>
          <p:spPr>
            <a:xfrm>
              <a:off x="2100164" y="2084212"/>
              <a:ext cx="77750" cy="844693"/>
            </a:xfrm>
            <a:prstGeom prst="rect">
              <a:avLst/>
            </a:prstGeom>
            <a:solidFill>
              <a:srgbClr val="00B1C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59" name="Forma libre 58">
              <a:extLst>
                <a:ext uri="{FF2B5EF4-FFF2-40B4-BE49-F238E27FC236}">
                  <a16:creationId xmlns:a16="http://schemas.microsoft.com/office/drawing/2014/main" id="{0393D2D5-390E-824E-BF30-4DE0BA1D2192}"/>
                </a:ext>
              </a:extLst>
            </p:cNvPr>
            <p:cNvSpPr/>
            <p:nvPr/>
          </p:nvSpPr>
          <p:spPr>
            <a:xfrm>
              <a:off x="1960014" y="1570472"/>
              <a:ext cx="5064054" cy="984107"/>
            </a:xfrm>
            <a:custGeom>
              <a:avLst/>
              <a:gdLst>
                <a:gd name="connsiteX0" fmla="*/ 0 w 5064054"/>
                <a:gd name="connsiteY0" fmla="*/ 984107 h 984107"/>
                <a:gd name="connsiteX1" fmla="*/ 246027 w 5064054"/>
                <a:gd name="connsiteY1" fmla="*/ 729880 h 984107"/>
                <a:gd name="connsiteX2" fmla="*/ 533059 w 5064054"/>
                <a:gd name="connsiteY2" fmla="*/ 528958 h 984107"/>
                <a:gd name="connsiteX3" fmla="*/ 844693 w 5064054"/>
                <a:gd name="connsiteY3" fmla="*/ 336237 h 984107"/>
                <a:gd name="connsiteX4" fmla="*/ 992309 w 5064054"/>
                <a:gd name="connsiteY4" fmla="*/ 266529 h 984107"/>
                <a:gd name="connsiteX5" fmla="*/ 1185030 w 5064054"/>
                <a:gd name="connsiteY5" fmla="*/ 151716 h 984107"/>
                <a:gd name="connsiteX6" fmla="*/ 1381851 w 5064054"/>
                <a:gd name="connsiteY6" fmla="*/ 102511 h 984107"/>
                <a:gd name="connsiteX7" fmla="*/ 1943613 w 5064054"/>
                <a:gd name="connsiteY7" fmla="*/ 36904 h 984107"/>
                <a:gd name="connsiteX8" fmla="*/ 2525877 w 5064054"/>
                <a:gd name="connsiteY8" fmla="*/ 0 h 984107"/>
                <a:gd name="connsiteX9" fmla="*/ 3309062 w 5064054"/>
                <a:gd name="connsiteY9" fmla="*/ 4100 h 984107"/>
                <a:gd name="connsiteX10" fmla="*/ 4510494 w 5064054"/>
                <a:gd name="connsiteY10" fmla="*/ 12301 h 984107"/>
                <a:gd name="connsiteX11" fmla="*/ 5064054 w 5064054"/>
                <a:gd name="connsiteY11" fmla="*/ 8201 h 984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64054" h="984107">
                  <a:moveTo>
                    <a:pt x="0" y="984107"/>
                  </a:moveTo>
                  <a:lnTo>
                    <a:pt x="246027" y="729880"/>
                  </a:lnTo>
                  <a:lnTo>
                    <a:pt x="533059" y="528958"/>
                  </a:lnTo>
                  <a:lnTo>
                    <a:pt x="844693" y="336237"/>
                  </a:lnTo>
                  <a:lnTo>
                    <a:pt x="992309" y="266529"/>
                  </a:lnTo>
                  <a:lnTo>
                    <a:pt x="1185030" y="151716"/>
                  </a:lnTo>
                  <a:lnTo>
                    <a:pt x="1381851" y="102511"/>
                  </a:lnTo>
                  <a:lnTo>
                    <a:pt x="1943613" y="36904"/>
                  </a:lnTo>
                  <a:lnTo>
                    <a:pt x="2525877" y="0"/>
                  </a:lnTo>
                  <a:lnTo>
                    <a:pt x="3309062" y="4100"/>
                  </a:lnTo>
                  <a:lnTo>
                    <a:pt x="4510494" y="12301"/>
                  </a:lnTo>
                  <a:lnTo>
                    <a:pt x="5064054" y="8201"/>
                  </a:lnTo>
                </a:path>
              </a:pathLst>
            </a:custGeom>
            <a:noFill/>
            <a:ln w="15875">
              <a:solidFill>
                <a:srgbClr val="715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4" name="Rectángulo 3">
              <a:extLst>
                <a:ext uri="{FF2B5EF4-FFF2-40B4-BE49-F238E27FC236}">
                  <a16:creationId xmlns:a16="http://schemas.microsoft.com/office/drawing/2014/main" id="{A3A66D50-63B4-6242-B275-439270610406}"/>
                </a:ext>
              </a:extLst>
            </p:cNvPr>
            <p:cNvSpPr/>
            <p:nvPr/>
          </p:nvSpPr>
          <p:spPr>
            <a:xfrm rot="2979823" flipH="1">
              <a:off x="2315361" y="2160571"/>
              <a:ext cx="69705" cy="69705"/>
            </a:xfrm>
            <a:prstGeom prst="rect">
              <a:avLst/>
            </a:prstGeom>
            <a:solidFill>
              <a:srgbClr val="715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9" name="Rectángulo 8">
              <a:extLst>
                <a:ext uri="{FF2B5EF4-FFF2-40B4-BE49-F238E27FC236}">
                  <a16:creationId xmlns:a16="http://schemas.microsoft.com/office/drawing/2014/main" id="{5DE1616A-8424-BD4D-85D1-134E89199BBF}"/>
                </a:ext>
              </a:extLst>
            </p:cNvPr>
            <p:cNvSpPr/>
            <p:nvPr/>
          </p:nvSpPr>
          <p:spPr>
            <a:xfrm rot="2979823" flipH="1">
              <a:off x="2115418" y="2304086"/>
              <a:ext cx="69705" cy="69705"/>
            </a:xfrm>
            <a:prstGeom prst="rect">
              <a:avLst/>
            </a:prstGeom>
            <a:solidFill>
              <a:srgbClr val="715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0BFC9A4F-FF78-9C4C-879E-EE501507ABE7}"/>
                </a:ext>
              </a:extLst>
            </p:cNvPr>
            <p:cNvSpPr/>
            <p:nvPr/>
          </p:nvSpPr>
          <p:spPr>
            <a:xfrm rot="2979823" flipH="1">
              <a:off x="1929918" y="2517309"/>
              <a:ext cx="69705" cy="69705"/>
            </a:xfrm>
            <a:prstGeom prst="rect">
              <a:avLst/>
            </a:prstGeom>
            <a:solidFill>
              <a:srgbClr val="715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11" name="Rectángulo 10">
              <a:extLst>
                <a:ext uri="{FF2B5EF4-FFF2-40B4-BE49-F238E27FC236}">
                  <a16:creationId xmlns:a16="http://schemas.microsoft.com/office/drawing/2014/main" id="{E508396F-708E-3741-AC70-4A4F6659A44B}"/>
                </a:ext>
              </a:extLst>
            </p:cNvPr>
            <p:cNvSpPr/>
            <p:nvPr/>
          </p:nvSpPr>
          <p:spPr>
            <a:xfrm rot="2979823" flipH="1">
              <a:off x="2508080" y="2025257"/>
              <a:ext cx="69705" cy="69705"/>
            </a:xfrm>
            <a:prstGeom prst="rect">
              <a:avLst/>
            </a:prstGeom>
            <a:solidFill>
              <a:srgbClr val="715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12" name="Rectángulo 11">
              <a:extLst>
                <a:ext uri="{FF2B5EF4-FFF2-40B4-BE49-F238E27FC236}">
                  <a16:creationId xmlns:a16="http://schemas.microsoft.com/office/drawing/2014/main" id="{76A3F4C9-3A34-694A-B5AB-ED0C23809116}"/>
                </a:ext>
              </a:extLst>
            </p:cNvPr>
            <p:cNvSpPr/>
            <p:nvPr/>
          </p:nvSpPr>
          <p:spPr>
            <a:xfrm rot="2979823" flipH="1">
              <a:off x="2704901" y="1914545"/>
              <a:ext cx="69705" cy="69705"/>
            </a:xfrm>
            <a:prstGeom prst="rect">
              <a:avLst/>
            </a:prstGeom>
            <a:solidFill>
              <a:srgbClr val="715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13" name="Rectángulo 12">
              <a:extLst>
                <a:ext uri="{FF2B5EF4-FFF2-40B4-BE49-F238E27FC236}">
                  <a16:creationId xmlns:a16="http://schemas.microsoft.com/office/drawing/2014/main" id="{03AD4FF0-12D8-7E41-8015-2D53BA093132}"/>
                </a:ext>
              </a:extLst>
            </p:cNvPr>
            <p:cNvSpPr/>
            <p:nvPr/>
          </p:nvSpPr>
          <p:spPr>
            <a:xfrm rot="2979823" flipH="1">
              <a:off x="2901722" y="1807933"/>
              <a:ext cx="69705" cy="69705"/>
            </a:xfrm>
            <a:prstGeom prst="rect">
              <a:avLst/>
            </a:prstGeom>
            <a:solidFill>
              <a:srgbClr val="715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14" name="Rectángulo 13">
              <a:extLst>
                <a:ext uri="{FF2B5EF4-FFF2-40B4-BE49-F238E27FC236}">
                  <a16:creationId xmlns:a16="http://schemas.microsoft.com/office/drawing/2014/main" id="{53F849F5-C10B-7444-971F-2B1E5D5E6A82}"/>
                </a:ext>
              </a:extLst>
            </p:cNvPr>
            <p:cNvSpPr/>
            <p:nvPr/>
          </p:nvSpPr>
          <p:spPr>
            <a:xfrm rot="2979823" flipH="1">
              <a:off x="3086242" y="1701321"/>
              <a:ext cx="69705" cy="69705"/>
            </a:xfrm>
            <a:prstGeom prst="rect">
              <a:avLst/>
            </a:prstGeom>
            <a:solidFill>
              <a:srgbClr val="715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15" name="Rectángulo 14">
              <a:extLst>
                <a:ext uri="{FF2B5EF4-FFF2-40B4-BE49-F238E27FC236}">
                  <a16:creationId xmlns:a16="http://schemas.microsoft.com/office/drawing/2014/main" id="{5A8F43EA-33A5-D240-866C-8382BC72DB9E}"/>
                </a:ext>
              </a:extLst>
            </p:cNvPr>
            <p:cNvSpPr/>
            <p:nvPr/>
          </p:nvSpPr>
          <p:spPr>
            <a:xfrm rot="2979823" flipH="1">
              <a:off x="3283064" y="1648014"/>
              <a:ext cx="69705" cy="69705"/>
            </a:xfrm>
            <a:prstGeom prst="rect">
              <a:avLst/>
            </a:prstGeom>
            <a:solidFill>
              <a:srgbClr val="715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16" name="Rectángulo 15">
              <a:extLst>
                <a:ext uri="{FF2B5EF4-FFF2-40B4-BE49-F238E27FC236}">
                  <a16:creationId xmlns:a16="http://schemas.microsoft.com/office/drawing/2014/main" id="{D022008B-BECD-0F46-B96F-942D8C114123}"/>
                </a:ext>
              </a:extLst>
            </p:cNvPr>
            <p:cNvSpPr/>
            <p:nvPr/>
          </p:nvSpPr>
          <p:spPr>
            <a:xfrm rot="2979823" flipH="1">
              <a:off x="3475785" y="1615210"/>
              <a:ext cx="69705" cy="69705"/>
            </a:xfrm>
            <a:prstGeom prst="rect">
              <a:avLst/>
            </a:prstGeom>
            <a:solidFill>
              <a:srgbClr val="715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17" name="Rectángulo 16">
              <a:extLst>
                <a:ext uri="{FF2B5EF4-FFF2-40B4-BE49-F238E27FC236}">
                  <a16:creationId xmlns:a16="http://schemas.microsoft.com/office/drawing/2014/main" id="{F8421EB7-1FBF-F441-9C70-B4A83B17AEE2}"/>
                </a:ext>
              </a:extLst>
            </p:cNvPr>
            <p:cNvSpPr/>
            <p:nvPr/>
          </p:nvSpPr>
          <p:spPr>
            <a:xfrm rot="2979823" flipH="1">
              <a:off x="3676707" y="1598808"/>
              <a:ext cx="69705" cy="69705"/>
            </a:xfrm>
            <a:prstGeom prst="rect">
              <a:avLst/>
            </a:prstGeom>
            <a:solidFill>
              <a:srgbClr val="715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18" name="Rectángulo 17">
              <a:extLst>
                <a:ext uri="{FF2B5EF4-FFF2-40B4-BE49-F238E27FC236}">
                  <a16:creationId xmlns:a16="http://schemas.microsoft.com/office/drawing/2014/main" id="{94738926-3B86-674D-AF05-A2F0DB0BCB13}"/>
                </a:ext>
              </a:extLst>
            </p:cNvPr>
            <p:cNvSpPr/>
            <p:nvPr/>
          </p:nvSpPr>
          <p:spPr>
            <a:xfrm rot="2979823" flipH="1">
              <a:off x="3865327" y="1582406"/>
              <a:ext cx="69705" cy="69705"/>
            </a:xfrm>
            <a:prstGeom prst="rect">
              <a:avLst/>
            </a:prstGeom>
            <a:solidFill>
              <a:srgbClr val="715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19" name="Rectángulo 18">
              <a:extLst>
                <a:ext uri="{FF2B5EF4-FFF2-40B4-BE49-F238E27FC236}">
                  <a16:creationId xmlns:a16="http://schemas.microsoft.com/office/drawing/2014/main" id="{2683D35C-579F-0547-A1CB-43925DAB6C77}"/>
                </a:ext>
              </a:extLst>
            </p:cNvPr>
            <p:cNvSpPr/>
            <p:nvPr/>
          </p:nvSpPr>
          <p:spPr>
            <a:xfrm rot="2979823" flipH="1">
              <a:off x="4058048" y="1566004"/>
              <a:ext cx="69705" cy="69705"/>
            </a:xfrm>
            <a:prstGeom prst="rect">
              <a:avLst/>
            </a:prstGeom>
            <a:solidFill>
              <a:srgbClr val="715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20" name="Rectángulo 19">
              <a:extLst>
                <a:ext uri="{FF2B5EF4-FFF2-40B4-BE49-F238E27FC236}">
                  <a16:creationId xmlns:a16="http://schemas.microsoft.com/office/drawing/2014/main" id="{05691866-C7E3-F64B-BE2C-AEB7C83E08C5}"/>
                </a:ext>
              </a:extLst>
            </p:cNvPr>
            <p:cNvSpPr/>
            <p:nvPr/>
          </p:nvSpPr>
          <p:spPr>
            <a:xfrm rot="2979823" flipH="1">
              <a:off x="4250769" y="1545502"/>
              <a:ext cx="69705" cy="69705"/>
            </a:xfrm>
            <a:prstGeom prst="rect">
              <a:avLst/>
            </a:prstGeom>
            <a:solidFill>
              <a:srgbClr val="715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21" name="Rectángulo 20">
              <a:extLst>
                <a:ext uri="{FF2B5EF4-FFF2-40B4-BE49-F238E27FC236}">
                  <a16:creationId xmlns:a16="http://schemas.microsoft.com/office/drawing/2014/main" id="{FEB43C76-7A63-E943-950C-C8AD036EBDB1}"/>
                </a:ext>
              </a:extLst>
            </p:cNvPr>
            <p:cNvSpPr/>
            <p:nvPr/>
          </p:nvSpPr>
          <p:spPr>
            <a:xfrm rot="2979823" flipH="1">
              <a:off x="4447591" y="1541400"/>
              <a:ext cx="69705" cy="69705"/>
            </a:xfrm>
            <a:prstGeom prst="rect">
              <a:avLst/>
            </a:prstGeom>
            <a:solidFill>
              <a:srgbClr val="715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22" name="Rectángulo 21">
              <a:extLst>
                <a:ext uri="{FF2B5EF4-FFF2-40B4-BE49-F238E27FC236}">
                  <a16:creationId xmlns:a16="http://schemas.microsoft.com/office/drawing/2014/main" id="{4325D3A6-7581-264B-B24F-BDF5C7EE7341}"/>
                </a:ext>
              </a:extLst>
            </p:cNvPr>
            <p:cNvSpPr/>
            <p:nvPr/>
          </p:nvSpPr>
          <p:spPr>
            <a:xfrm rot="2979823" flipH="1">
              <a:off x="4623910" y="1537298"/>
              <a:ext cx="69705" cy="69705"/>
            </a:xfrm>
            <a:prstGeom prst="rect">
              <a:avLst/>
            </a:prstGeom>
            <a:solidFill>
              <a:srgbClr val="715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23" name="Rectángulo 22">
              <a:extLst>
                <a:ext uri="{FF2B5EF4-FFF2-40B4-BE49-F238E27FC236}">
                  <a16:creationId xmlns:a16="http://schemas.microsoft.com/office/drawing/2014/main" id="{1BC147E6-08E9-F14F-B405-2D8086668B49}"/>
                </a:ext>
              </a:extLst>
            </p:cNvPr>
            <p:cNvSpPr/>
            <p:nvPr/>
          </p:nvSpPr>
          <p:spPr>
            <a:xfrm rot="2979823" flipH="1">
              <a:off x="4820731" y="1537298"/>
              <a:ext cx="69705" cy="69705"/>
            </a:xfrm>
            <a:prstGeom prst="rect">
              <a:avLst/>
            </a:prstGeom>
            <a:solidFill>
              <a:srgbClr val="715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24" name="Rectángulo 23">
              <a:extLst>
                <a:ext uri="{FF2B5EF4-FFF2-40B4-BE49-F238E27FC236}">
                  <a16:creationId xmlns:a16="http://schemas.microsoft.com/office/drawing/2014/main" id="{41F2364C-2D57-1445-8E34-A1FDF885C9E5}"/>
                </a:ext>
              </a:extLst>
            </p:cNvPr>
            <p:cNvSpPr/>
            <p:nvPr/>
          </p:nvSpPr>
          <p:spPr>
            <a:xfrm rot="2979823" flipH="1">
              <a:off x="5017553" y="1541398"/>
              <a:ext cx="69705" cy="69705"/>
            </a:xfrm>
            <a:prstGeom prst="rect">
              <a:avLst/>
            </a:prstGeom>
            <a:solidFill>
              <a:srgbClr val="715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25" name="Rectángulo 24">
              <a:extLst>
                <a:ext uri="{FF2B5EF4-FFF2-40B4-BE49-F238E27FC236}">
                  <a16:creationId xmlns:a16="http://schemas.microsoft.com/office/drawing/2014/main" id="{83102B32-F9F0-4448-A6BB-8239F367B892}"/>
                </a:ext>
              </a:extLst>
            </p:cNvPr>
            <p:cNvSpPr/>
            <p:nvPr/>
          </p:nvSpPr>
          <p:spPr>
            <a:xfrm rot="2979823" flipH="1">
              <a:off x="5214375" y="1537298"/>
              <a:ext cx="69705" cy="69705"/>
            </a:xfrm>
            <a:prstGeom prst="rect">
              <a:avLst/>
            </a:prstGeom>
            <a:solidFill>
              <a:srgbClr val="715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26" name="Rectángulo 25">
              <a:extLst>
                <a:ext uri="{FF2B5EF4-FFF2-40B4-BE49-F238E27FC236}">
                  <a16:creationId xmlns:a16="http://schemas.microsoft.com/office/drawing/2014/main" id="{E96F5806-92BE-DA41-874A-206680564925}"/>
                </a:ext>
              </a:extLst>
            </p:cNvPr>
            <p:cNvSpPr/>
            <p:nvPr/>
          </p:nvSpPr>
          <p:spPr>
            <a:xfrm rot="2979823" flipH="1">
              <a:off x="5398895" y="1533197"/>
              <a:ext cx="69705" cy="69705"/>
            </a:xfrm>
            <a:prstGeom prst="rect">
              <a:avLst/>
            </a:prstGeom>
            <a:solidFill>
              <a:srgbClr val="715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27" name="Rectángulo 26">
              <a:extLst>
                <a:ext uri="{FF2B5EF4-FFF2-40B4-BE49-F238E27FC236}">
                  <a16:creationId xmlns:a16="http://schemas.microsoft.com/office/drawing/2014/main" id="{51942E24-2153-7849-A9BC-DCDE089B8E0E}"/>
                </a:ext>
              </a:extLst>
            </p:cNvPr>
            <p:cNvSpPr/>
            <p:nvPr/>
          </p:nvSpPr>
          <p:spPr>
            <a:xfrm rot="2979823" flipH="1">
              <a:off x="5599816" y="1541399"/>
              <a:ext cx="69705" cy="69705"/>
            </a:xfrm>
            <a:prstGeom prst="rect">
              <a:avLst/>
            </a:prstGeom>
            <a:solidFill>
              <a:srgbClr val="715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28" name="Rectángulo 27">
              <a:extLst>
                <a:ext uri="{FF2B5EF4-FFF2-40B4-BE49-F238E27FC236}">
                  <a16:creationId xmlns:a16="http://schemas.microsoft.com/office/drawing/2014/main" id="{9C39922F-0FAB-8F42-BC0D-31B0BF0B12CA}"/>
                </a:ext>
              </a:extLst>
            </p:cNvPr>
            <p:cNvSpPr/>
            <p:nvPr/>
          </p:nvSpPr>
          <p:spPr>
            <a:xfrm rot="2979823" flipH="1">
              <a:off x="5800738" y="1545500"/>
              <a:ext cx="69705" cy="69705"/>
            </a:xfrm>
            <a:prstGeom prst="rect">
              <a:avLst/>
            </a:prstGeom>
            <a:solidFill>
              <a:srgbClr val="715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29" name="Rectángulo 28">
              <a:extLst>
                <a:ext uri="{FF2B5EF4-FFF2-40B4-BE49-F238E27FC236}">
                  <a16:creationId xmlns:a16="http://schemas.microsoft.com/office/drawing/2014/main" id="{EA18EFE5-B1D7-5B42-86CE-E9700A3480E6}"/>
                </a:ext>
              </a:extLst>
            </p:cNvPr>
            <p:cNvSpPr/>
            <p:nvPr/>
          </p:nvSpPr>
          <p:spPr>
            <a:xfrm rot="2979823" flipH="1">
              <a:off x="5997559" y="1549600"/>
              <a:ext cx="69705" cy="69705"/>
            </a:xfrm>
            <a:prstGeom prst="rect">
              <a:avLst/>
            </a:prstGeom>
            <a:solidFill>
              <a:srgbClr val="715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30" name="Rectángulo 29">
              <a:extLst>
                <a:ext uri="{FF2B5EF4-FFF2-40B4-BE49-F238E27FC236}">
                  <a16:creationId xmlns:a16="http://schemas.microsoft.com/office/drawing/2014/main" id="{D60FEE55-0549-EE42-8579-A1F8ED940CEF}"/>
                </a:ext>
              </a:extLst>
            </p:cNvPr>
            <p:cNvSpPr/>
            <p:nvPr/>
          </p:nvSpPr>
          <p:spPr>
            <a:xfrm rot="2979823" flipH="1">
              <a:off x="6186178" y="1553700"/>
              <a:ext cx="69705" cy="69705"/>
            </a:xfrm>
            <a:prstGeom prst="rect">
              <a:avLst/>
            </a:prstGeom>
            <a:solidFill>
              <a:srgbClr val="715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31" name="Rectángulo 30">
              <a:extLst>
                <a:ext uri="{FF2B5EF4-FFF2-40B4-BE49-F238E27FC236}">
                  <a16:creationId xmlns:a16="http://schemas.microsoft.com/office/drawing/2014/main" id="{69523E5A-AEF5-B64B-AA2E-5F4118096E54}"/>
                </a:ext>
              </a:extLst>
            </p:cNvPr>
            <p:cNvSpPr/>
            <p:nvPr/>
          </p:nvSpPr>
          <p:spPr>
            <a:xfrm rot="2979823" flipH="1">
              <a:off x="6378899" y="1557801"/>
              <a:ext cx="69705" cy="69705"/>
            </a:xfrm>
            <a:prstGeom prst="rect">
              <a:avLst/>
            </a:prstGeom>
            <a:solidFill>
              <a:srgbClr val="715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32" name="Rectángulo 31">
              <a:extLst>
                <a:ext uri="{FF2B5EF4-FFF2-40B4-BE49-F238E27FC236}">
                  <a16:creationId xmlns:a16="http://schemas.microsoft.com/office/drawing/2014/main" id="{7EF07EC5-E199-3540-8D32-CE2C5F5E56F6}"/>
                </a:ext>
              </a:extLst>
            </p:cNvPr>
            <p:cNvSpPr/>
            <p:nvPr/>
          </p:nvSpPr>
          <p:spPr>
            <a:xfrm rot="2979823" flipH="1">
              <a:off x="6575722" y="1545500"/>
              <a:ext cx="69705" cy="69705"/>
            </a:xfrm>
            <a:prstGeom prst="rect">
              <a:avLst/>
            </a:prstGeom>
            <a:solidFill>
              <a:srgbClr val="715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33" name="Rectángulo 32">
              <a:extLst>
                <a:ext uri="{FF2B5EF4-FFF2-40B4-BE49-F238E27FC236}">
                  <a16:creationId xmlns:a16="http://schemas.microsoft.com/office/drawing/2014/main" id="{CA0CF016-D361-CB40-866F-A207F738ADF5}"/>
                </a:ext>
              </a:extLst>
            </p:cNvPr>
            <p:cNvSpPr/>
            <p:nvPr/>
          </p:nvSpPr>
          <p:spPr>
            <a:xfrm rot="2979823" flipH="1">
              <a:off x="6772544" y="1541401"/>
              <a:ext cx="69705" cy="69705"/>
            </a:xfrm>
            <a:prstGeom prst="rect">
              <a:avLst/>
            </a:prstGeom>
            <a:solidFill>
              <a:srgbClr val="715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34" name="Rectángulo 33">
              <a:extLst>
                <a:ext uri="{FF2B5EF4-FFF2-40B4-BE49-F238E27FC236}">
                  <a16:creationId xmlns:a16="http://schemas.microsoft.com/office/drawing/2014/main" id="{E90EAF4C-365E-BB40-9554-F5E6591BD992}"/>
                </a:ext>
              </a:extLst>
            </p:cNvPr>
            <p:cNvSpPr/>
            <p:nvPr/>
          </p:nvSpPr>
          <p:spPr>
            <a:xfrm rot="2979823" flipH="1">
              <a:off x="6965265" y="1545502"/>
              <a:ext cx="69705" cy="69705"/>
            </a:xfrm>
            <a:prstGeom prst="rect">
              <a:avLst/>
            </a:prstGeom>
            <a:solidFill>
              <a:srgbClr val="715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37" name="Rectángulo 36">
              <a:extLst>
                <a:ext uri="{FF2B5EF4-FFF2-40B4-BE49-F238E27FC236}">
                  <a16:creationId xmlns:a16="http://schemas.microsoft.com/office/drawing/2014/main" id="{EE171961-23BF-504A-AD57-108E361F68D5}"/>
                </a:ext>
              </a:extLst>
            </p:cNvPr>
            <p:cNvSpPr/>
            <p:nvPr/>
          </p:nvSpPr>
          <p:spPr>
            <a:xfrm>
              <a:off x="2288785" y="2424551"/>
              <a:ext cx="77750" cy="504354"/>
            </a:xfrm>
            <a:prstGeom prst="rect">
              <a:avLst/>
            </a:prstGeom>
            <a:solidFill>
              <a:srgbClr val="00B1C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38" name="Rectángulo 37">
              <a:extLst>
                <a:ext uri="{FF2B5EF4-FFF2-40B4-BE49-F238E27FC236}">
                  <a16:creationId xmlns:a16="http://schemas.microsoft.com/office/drawing/2014/main" id="{F21CB76F-9F58-F342-990E-191ED1234D66}"/>
                </a:ext>
              </a:extLst>
            </p:cNvPr>
            <p:cNvSpPr/>
            <p:nvPr/>
          </p:nvSpPr>
          <p:spPr>
            <a:xfrm>
              <a:off x="2481506" y="2473755"/>
              <a:ext cx="77750" cy="455149"/>
            </a:xfrm>
            <a:prstGeom prst="rect">
              <a:avLst/>
            </a:prstGeom>
            <a:solidFill>
              <a:srgbClr val="00B1C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39" name="Rectángulo 38">
              <a:extLst>
                <a:ext uri="{FF2B5EF4-FFF2-40B4-BE49-F238E27FC236}">
                  <a16:creationId xmlns:a16="http://schemas.microsoft.com/office/drawing/2014/main" id="{0EFE9394-E51B-874F-805E-DA7BD12542E0}"/>
                </a:ext>
              </a:extLst>
            </p:cNvPr>
            <p:cNvSpPr/>
            <p:nvPr/>
          </p:nvSpPr>
          <p:spPr>
            <a:xfrm>
              <a:off x="2690629" y="2473755"/>
              <a:ext cx="77750" cy="455149"/>
            </a:xfrm>
            <a:prstGeom prst="rect">
              <a:avLst/>
            </a:prstGeom>
            <a:solidFill>
              <a:srgbClr val="00B1C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40" name="Rectángulo 39">
              <a:extLst>
                <a:ext uri="{FF2B5EF4-FFF2-40B4-BE49-F238E27FC236}">
                  <a16:creationId xmlns:a16="http://schemas.microsoft.com/office/drawing/2014/main" id="{70132B7D-6CB5-D940-97BD-215CC5D51F5B}"/>
                </a:ext>
              </a:extLst>
            </p:cNvPr>
            <p:cNvSpPr/>
            <p:nvPr/>
          </p:nvSpPr>
          <p:spPr>
            <a:xfrm>
              <a:off x="2879249" y="2556898"/>
              <a:ext cx="77749" cy="372006"/>
            </a:xfrm>
            <a:prstGeom prst="rect">
              <a:avLst/>
            </a:prstGeom>
            <a:solidFill>
              <a:srgbClr val="00B1C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41" name="Rectángulo 40">
              <a:extLst>
                <a:ext uri="{FF2B5EF4-FFF2-40B4-BE49-F238E27FC236}">
                  <a16:creationId xmlns:a16="http://schemas.microsoft.com/office/drawing/2014/main" id="{C5F99E7B-15FE-A944-8AD8-6454C21360A5}"/>
                </a:ext>
              </a:extLst>
            </p:cNvPr>
            <p:cNvSpPr/>
            <p:nvPr/>
          </p:nvSpPr>
          <p:spPr>
            <a:xfrm>
              <a:off x="3084271" y="2556898"/>
              <a:ext cx="77749" cy="372006"/>
            </a:xfrm>
            <a:prstGeom prst="rect">
              <a:avLst/>
            </a:prstGeom>
            <a:solidFill>
              <a:srgbClr val="00B1C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42" name="Rectángulo 41">
              <a:extLst>
                <a:ext uri="{FF2B5EF4-FFF2-40B4-BE49-F238E27FC236}">
                  <a16:creationId xmlns:a16="http://schemas.microsoft.com/office/drawing/2014/main" id="{17015E98-EDD6-7942-BA60-1A66BDF89965}"/>
                </a:ext>
              </a:extLst>
            </p:cNvPr>
            <p:cNvSpPr/>
            <p:nvPr/>
          </p:nvSpPr>
          <p:spPr>
            <a:xfrm>
              <a:off x="3264690" y="2732084"/>
              <a:ext cx="77749" cy="196820"/>
            </a:xfrm>
            <a:prstGeom prst="rect">
              <a:avLst/>
            </a:prstGeom>
            <a:solidFill>
              <a:srgbClr val="00B1C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43" name="Rectángulo 42">
              <a:extLst>
                <a:ext uri="{FF2B5EF4-FFF2-40B4-BE49-F238E27FC236}">
                  <a16:creationId xmlns:a16="http://schemas.microsoft.com/office/drawing/2014/main" id="{49ECE353-2F92-184F-ACD1-5B99E390BC67}"/>
                </a:ext>
              </a:extLst>
            </p:cNvPr>
            <p:cNvSpPr/>
            <p:nvPr/>
          </p:nvSpPr>
          <p:spPr>
            <a:xfrm>
              <a:off x="3461511" y="2797690"/>
              <a:ext cx="77749" cy="131213"/>
            </a:xfrm>
            <a:prstGeom prst="rect">
              <a:avLst/>
            </a:prstGeom>
            <a:solidFill>
              <a:srgbClr val="00B1C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44" name="Rectángulo 43">
              <a:extLst>
                <a:ext uri="{FF2B5EF4-FFF2-40B4-BE49-F238E27FC236}">
                  <a16:creationId xmlns:a16="http://schemas.microsoft.com/office/drawing/2014/main" id="{14EB474C-2C59-2A46-9F6E-5634D157E91E}"/>
                </a:ext>
              </a:extLst>
            </p:cNvPr>
            <p:cNvSpPr/>
            <p:nvPr/>
          </p:nvSpPr>
          <p:spPr>
            <a:xfrm>
              <a:off x="3658333" y="2862786"/>
              <a:ext cx="77749" cy="66117"/>
            </a:xfrm>
            <a:prstGeom prst="rect">
              <a:avLst/>
            </a:prstGeom>
            <a:solidFill>
              <a:srgbClr val="00B1C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45" name="Rectángulo 44">
              <a:extLst>
                <a:ext uri="{FF2B5EF4-FFF2-40B4-BE49-F238E27FC236}">
                  <a16:creationId xmlns:a16="http://schemas.microsoft.com/office/drawing/2014/main" id="{C4317226-0AAA-3745-ABF5-4BF3CBBD681A}"/>
                </a:ext>
              </a:extLst>
            </p:cNvPr>
            <p:cNvSpPr/>
            <p:nvPr/>
          </p:nvSpPr>
          <p:spPr>
            <a:xfrm>
              <a:off x="3851054" y="2862786"/>
              <a:ext cx="77749" cy="66117"/>
            </a:xfrm>
            <a:prstGeom prst="rect">
              <a:avLst/>
            </a:prstGeom>
            <a:solidFill>
              <a:srgbClr val="00B1C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46" name="Rectángulo 45">
              <a:extLst>
                <a:ext uri="{FF2B5EF4-FFF2-40B4-BE49-F238E27FC236}">
                  <a16:creationId xmlns:a16="http://schemas.microsoft.com/office/drawing/2014/main" id="{E5435D75-AEEF-5242-A7EF-867B35D59C45}"/>
                </a:ext>
              </a:extLst>
            </p:cNvPr>
            <p:cNvSpPr/>
            <p:nvPr/>
          </p:nvSpPr>
          <p:spPr>
            <a:xfrm>
              <a:off x="4043776" y="2862786"/>
              <a:ext cx="77749" cy="66117"/>
            </a:xfrm>
            <a:prstGeom prst="rect">
              <a:avLst/>
            </a:prstGeom>
            <a:solidFill>
              <a:srgbClr val="00B1C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47" name="Rectángulo 46">
              <a:extLst>
                <a:ext uri="{FF2B5EF4-FFF2-40B4-BE49-F238E27FC236}">
                  <a16:creationId xmlns:a16="http://schemas.microsoft.com/office/drawing/2014/main" id="{BB7E4B2C-CB78-1D45-A547-059ED2C8D39A}"/>
                </a:ext>
              </a:extLst>
            </p:cNvPr>
            <p:cNvSpPr/>
            <p:nvPr/>
          </p:nvSpPr>
          <p:spPr>
            <a:xfrm>
              <a:off x="4252898" y="2862786"/>
              <a:ext cx="77749" cy="66117"/>
            </a:xfrm>
            <a:prstGeom prst="rect">
              <a:avLst/>
            </a:prstGeom>
            <a:solidFill>
              <a:srgbClr val="00B1C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66C90556-3D2B-FE4F-BA08-F6D9C156A340}"/>
                </a:ext>
              </a:extLst>
            </p:cNvPr>
            <p:cNvCxnSpPr>
              <a:cxnSpLocks/>
            </p:cNvCxnSpPr>
            <p:nvPr/>
          </p:nvCxnSpPr>
          <p:spPr>
            <a:xfrm>
              <a:off x="1816499" y="1303943"/>
              <a:ext cx="533878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Conector recto 50">
              <a:extLst>
                <a:ext uri="{FF2B5EF4-FFF2-40B4-BE49-F238E27FC236}">
                  <a16:creationId xmlns:a16="http://schemas.microsoft.com/office/drawing/2014/main" id="{46624661-1988-C74B-91A2-CA3BCCAC0D71}"/>
                </a:ext>
              </a:extLst>
            </p:cNvPr>
            <p:cNvCxnSpPr>
              <a:cxnSpLocks/>
            </p:cNvCxnSpPr>
            <p:nvPr/>
          </p:nvCxnSpPr>
          <p:spPr>
            <a:xfrm>
              <a:off x="1816499" y="2935921"/>
              <a:ext cx="533878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Conector recto 51">
              <a:extLst>
                <a:ext uri="{FF2B5EF4-FFF2-40B4-BE49-F238E27FC236}">
                  <a16:creationId xmlns:a16="http://schemas.microsoft.com/office/drawing/2014/main" id="{683375BC-804B-1F4B-9838-16C71B03EFB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53404" y="1305546"/>
              <a:ext cx="0" cy="168368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Conector recto 55">
              <a:extLst>
                <a:ext uri="{FF2B5EF4-FFF2-40B4-BE49-F238E27FC236}">
                  <a16:creationId xmlns:a16="http://schemas.microsoft.com/office/drawing/2014/main" id="{6B9DAB5E-5458-DB47-95A7-4CC3C99BD06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97878" y="1305546"/>
              <a:ext cx="0" cy="168368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Conector recto 56">
              <a:extLst>
                <a:ext uri="{FF2B5EF4-FFF2-40B4-BE49-F238E27FC236}">
                  <a16:creationId xmlns:a16="http://schemas.microsoft.com/office/drawing/2014/main" id="{574801A8-457C-324F-A866-A93DA83D0FD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08874" y="1633579"/>
              <a:ext cx="73805" cy="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Conector recto 60">
              <a:extLst>
                <a:ext uri="{FF2B5EF4-FFF2-40B4-BE49-F238E27FC236}">
                  <a16:creationId xmlns:a16="http://schemas.microsoft.com/office/drawing/2014/main" id="{A9C3E67C-5678-B941-8AF5-B17FEA5C508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08874" y="1957515"/>
              <a:ext cx="73805" cy="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Conector recto 61">
              <a:extLst>
                <a:ext uri="{FF2B5EF4-FFF2-40B4-BE49-F238E27FC236}">
                  <a16:creationId xmlns:a16="http://schemas.microsoft.com/office/drawing/2014/main" id="{BF85E21F-478F-554A-A311-80A33F18DFB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08874" y="2281450"/>
              <a:ext cx="73805" cy="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Conector recto 62">
              <a:extLst>
                <a:ext uri="{FF2B5EF4-FFF2-40B4-BE49-F238E27FC236}">
                  <a16:creationId xmlns:a16="http://schemas.microsoft.com/office/drawing/2014/main" id="{45FA69D3-55E2-2149-8CBE-F0D22BDB52F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08874" y="2613587"/>
              <a:ext cx="73805" cy="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Conector recto 63">
              <a:extLst>
                <a:ext uri="{FF2B5EF4-FFF2-40B4-BE49-F238E27FC236}">
                  <a16:creationId xmlns:a16="http://schemas.microsoft.com/office/drawing/2014/main" id="{40316AE7-573A-8042-BC93-0175DBA8F01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61549" y="1576249"/>
              <a:ext cx="73805" cy="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Conector recto 64">
              <a:extLst>
                <a:ext uri="{FF2B5EF4-FFF2-40B4-BE49-F238E27FC236}">
                  <a16:creationId xmlns:a16="http://schemas.microsoft.com/office/drawing/2014/main" id="{B6988150-2B9B-1143-A27D-6B5EAC6C8AE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61549" y="1852151"/>
              <a:ext cx="73805" cy="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Conector recto 65">
              <a:extLst>
                <a:ext uri="{FF2B5EF4-FFF2-40B4-BE49-F238E27FC236}">
                  <a16:creationId xmlns:a16="http://schemas.microsoft.com/office/drawing/2014/main" id="{E748E0B1-7A26-C141-A624-F63A4AFCFB4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61549" y="2385213"/>
              <a:ext cx="73805" cy="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Conector recto 66">
              <a:extLst>
                <a:ext uri="{FF2B5EF4-FFF2-40B4-BE49-F238E27FC236}">
                  <a16:creationId xmlns:a16="http://schemas.microsoft.com/office/drawing/2014/main" id="{8846DFA4-C2E8-5841-B8B9-3E800CDFA8B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61549" y="2660018"/>
              <a:ext cx="73805" cy="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Conector recto 67">
              <a:extLst>
                <a:ext uri="{FF2B5EF4-FFF2-40B4-BE49-F238E27FC236}">
                  <a16:creationId xmlns:a16="http://schemas.microsoft.com/office/drawing/2014/main" id="{D9704610-FE40-7B48-A7F2-6E019B58852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61549" y="2117432"/>
              <a:ext cx="73805" cy="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Conector recto 68">
              <a:extLst>
                <a:ext uri="{FF2B5EF4-FFF2-40B4-BE49-F238E27FC236}">
                  <a16:creationId xmlns:a16="http://schemas.microsoft.com/office/drawing/2014/main" id="{9BD88BAE-9F39-C644-8E7B-509DAEF50FE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50800" y="2897415"/>
              <a:ext cx="0" cy="9181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Conector recto 70">
              <a:extLst>
                <a:ext uri="{FF2B5EF4-FFF2-40B4-BE49-F238E27FC236}">
                  <a16:creationId xmlns:a16="http://schemas.microsoft.com/office/drawing/2014/main" id="{F8EE02E1-C0E5-5C4E-A573-0C47FE16AB8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47622" y="2897415"/>
              <a:ext cx="0" cy="9181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Conector recto 71">
              <a:extLst>
                <a:ext uri="{FF2B5EF4-FFF2-40B4-BE49-F238E27FC236}">
                  <a16:creationId xmlns:a16="http://schemas.microsoft.com/office/drawing/2014/main" id="{1621DB67-22F0-744A-8BFD-EA4F2BAE795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44444" y="2897415"/>
              <a:ext cx="0" cy="9181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Conector recto 72">
              <a:extLst>
                <a:ext uri="{FF2B5EF4-FFF2-40B4-BE49-F238E27FC236}">
                  <a16:creationId xmlns:a16="http://schemas.microsoft.com/office/drawing/2014/main" id="{D84B8664-ED52-F942-83B6-FCFEFAC9A14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33064" y="2897415"/>
              <a:ext cx="0" cy="9181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Conector recto 73">
              <a:extLst>
                <a:ext uri="{FF2B5EF4-FFF2-40B4-BE49-F238E27FC236}">
                  <a16:creationId xmlns:a16="http://schemas.microsoft.com/office/drawing/2014/main" id="{6CDE64C1-018B-7241-ABBB-3FA59706A81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21684" y="2897415"/>
              <a:ext cx="0" cy="9181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Conector recto 74">
              <a:extLst>
                <a:ext uri="{FF2B5EF4-FFF2-40B4-BE49-F238E27FC236}">
                  <a16:creationId xmlns:a16="http://schemas.microsoft.com/office/drawing/2014/main" id="{2B57125F-37DF-B748-980B-DBEB2F7A5D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26706" y="2897415"/>
              <a:ext cx="0" cy="9181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Conector recto 75">
              <a:extLst>
                <a:ext uri="{FF2B5EF4-FFF2-40B4-BE49-F238E27FC236}">
                  <a16:creationId xmlns:a16="http://schemas.microsoft.com/office/drawing/2014/main" id="{C5F68751-3B8F-B14F-A5CB-DDD8134A8A2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27628" y="2897415"/>
              <a:ext cx="0" cy="9181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Conector recto 76">
              <a:extLst>
                <a:ext uri="{FF2B5EF4-FFF2-40B4-BE49-F238E27FC236}">
                  <a16:creationId xmlns:a16="http://schemas.microsoft.com/office/drawing/2014/main" id="{DE5E19C9-8AEC-1E4A-A7EE-B238A17C7C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24450" y="2897415"/>
              <a:ext cx="0" cy="9181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Conector recto 77">
              <a:extLst>
                <a:ext uri="{FF2B5EF4-FFF2-40B4-BE49-F238E27FC236}">
                  <a16:creationId xmlns:a16="http://schemas.microsoft.com/office/drawing/2014/main" id="{F8DD35DE-D4B6-8D47-BA10-63D7B363AB2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13071" y="2897415"/>
              <a:ext cx="0" cy="9181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Conector recto 78">
              <a:extLst>
                <a:ext uri="{FF2B5EF4-FFF2-40B4-BE49-F238E27FC236}">
                  <a16:creationId xmlns:a16="http://schemas.microsoft.com/office/drawing/2014/main" id="{09F02C83-DD5A-D840-AC92-76E41591D6D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01691" y="2897415"/>
              <a:ext cx="0" cy="9181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Conector recto 80">
              <a:extLst>
                <a:ext uri="{FF2B5EF4-FFF2-40B4-BE49-F238E27FC236}">
                  <a16:creationId xmlns:a16="http://schemas.microsoft.com/office/drawing/2014/main" id="{549D5B66-A324-A04E-8421-C301D8457A3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02613" y="2897415"/>
              <a:ext cx="0" cy="9181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Conector recto 81">
              <a:extLst>
                <a:ext uri="{FF2B5EF4-FFF2-40B4-BE49-F238E27FC236}">
                  <a16:creationId xmlns:a16="http://schemas.microsoft.com/office/drawing/2014/main" id="{9DA0130B-8409-D446-99D7-84C868AF881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91234" y="2897415"/>
              <a:ext cx="0" cy="9181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Conector recto 82">
              <a:extLst>
                <a:ext uri="{FF2B5EF4-FFF2-40B4-BE49-F238E27FC236}">
                  <a16:creationId xmlns:a16="http://schemas.microsoft.com/office/drawing/2014/main" id="{16117B0B-E283-784F-A792-0266D1AE4A5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92156" y="2897415"/>
              <a:ext cx="0" cy="9181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Conector recto 83">
              <a:extLst>
                <a:ext uri="{FF2B5EF4-FFF2-40B4-BE49-F238E27FC236}">
                  <a16:creationId xmlns:a16="http://schemas.microsoft.com/office/drawing/2014/main" id="{B434FE94-0B87-FB43-AABE-879A4151790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68476" y="2897415"/>
              <a:ext cx="0" cy="9181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Conector recto 84">
              <a:extLst>
                <a:ext uri="{FF2B5EF4-FFF2-40B4-BE49-F238E27FC236}">
                  <a16:creationId xmlns:a16="http://schemas.microsoft.com/office/drawing/2014/main" id="{912EC21F-1A6D-484B-9E35-3B9057F13CA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69398" y="2897415"/>
              <a:ext cx="0" cy="9181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Conector recto 85">
              <a:extLst>
                <a:ext uri="{FF2B5EF4-FFF2-40B4-BE49-F238E27FC236}">
                  <a16:creationId xmlns:a16="http://schemas.microsoft.com/office/drawing/2014/main" id="{D6ECDBDC-96B4-0748-9069-4E8B012F139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66219" y="2897415"/>
              <a:ext cx="0" cy="9181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Conector recto 86">
              <a:extLst>
                <a:ext uri="{FF2B5EF4-FFF2-40B4-BE49-F238E27FC236}">
                  <a16:creationId xmlns:a16="http://schemas.microsoft.com/office/drawing/2014/main" id="{E0895350-D2AC-F849-84D3-0EF870923D1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63040" y="2897415"/>
              <a:ext cx="0" cy="9181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Conector recto 87">
              <a:extLst>
                <a:ext uri="{FF2B5EF4-FFF2-40B4-BE49-F238E27FC236}">
                  <a16:creationId xmlns:a16="http://schemas.microsoft.com/office/drawing/2014/main" id="{967F5F38-D0D9-D549-91E3-0107BED3FC6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43460" y="2897415"/>
              <a:ext cx="0" cy="9181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Conector recto 88">
              <a:extLst>
                <a:ext uri="{FF2B5EF4-FFF2-40B4-BE49-F238E27FC236}">
                  <a16:creationId xmlns:a16="http://schemas.microsoft.com/office/drawing/2014/main" id="{A6175DD6-1A59-3640-AB1F-D635F816132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48482" y="2897415"/>
              <a:ext cx="0" cy="9181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Conector recto 89">
              <a:extLst>
                <a:ext uri="{FF2B5EF4-FFF2-40B4-BE49-F238E27FC236}">
                  <a16:creationId xmlns:a16="http://schemas.microsoft.com/office/drawing/2014/main" id="{120BBD83-43BC-6143-B0EB-0C8490D83E1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41203" y="2897415"/>
              <a:ext cx="0" cy="9181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Conector recto 90">
              <a:extLst>
                <a:ext uri="{FF2B5EF4-FFF2-40B4-BE49-F238E27FC236}">
                  <a16:creationId xmlns:a16="http://schemas.microsoft.com/office/drawing/2014/main" id="{F4ED1977-3D40-7648-A79A-CD3B593B63C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42125" y="2897415"/>
              <a:ext cx="0" cy="9181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Conector recto 91">
              <a:extLst>
                <a:ext uri="{FF2B5EF4-FFF2-40B4-BE49-F238E27FC236}">
                  <a16:creationId xmlns:a16="http://schemas.microsoft.com/office/drawing/2014/main" id="{E2787929-BC4E-284D-AE65-A40DB8CF769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38947" y="2897415"/>
              <a:ext cx="0" cy="9181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ector recto 92">
              <a:extLst>
                <a:ext uri="{FF2B5EF4-FFF2-40B4-BE49-F238E27FC236}">
                  <a16:creationId xmlns:a16="http://schemas.microsoft.com/office/drawing/2014/main" id="{73174336-2188-904D-B1C5-71D9A770C2A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27567" y="2897415"/>
              <a:ext cx="0" cy="9181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Conector recto 93">
              <a:extLst>
                <a:ext uri="{FF2B5EF4-FFF2-40B4-BE49-F238E27FC236}">
                  <a16:creationId xmlns:a16="http://schemas.microsoft.com/office/drawing/2014/main" id="{96DACBC1-44D9-A040-B6F1-B6FE8343D3F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20288" y="2897415"/>
              <a:ext cx="0" cy="9181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Conector recto 94">
              <a:extLst>
                <a:ext uri="{FF2B5EF4-FFF2-40B4-BE49-F238E27FC236}">
                  <a16:creationId xmlns:a16="http://schemas.microsoft.com/office/drawing/2014/main" id="{228675EA-4AE8-2F48-8879-31581231FF4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13010" y="2897415"/>
              <a:ext cx="0" cy="9181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Conector recto 95">
              <a:extLst>
                <a:ext uri="{FF2B5EF4-FFF2-40B4-BE49-F238E27FC236}">
                  <a16:creationId xmlns:a16="http://schemas.microsoft.com/office/drawing/2014/main" id="{E0253C20-0586-664B-9BAD-005891FA49D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05731" y="2897415"/>
              <a:ext cx="0" cy="9181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7" name="Google Shape;224;p25">
              <a:extLst>
                <a:ext uri="{FF2B5EF4-FFF2-40B4-BE49-F238E27FC236}">
                  <a16:creationId xmlns:a16="http://schemas.microsoft.com/office/drawing/2014/main" id="{1C2BF6C8-FBFD-6446-B6D2-3CEBC81EE91F}"/>
                </a:ext>
              </a:extLst>
            </p:cNvPr>
            <p:cNvSpPr/>
            <p:nvPr/>
          </p:nvSpPr>
          <p:spPr>
            <a:xfrm rot="16200000">
              <a:off x="1396264" y="3473030"/>
              <a:ext cx="1086538" cy="12311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8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Missing Statements</a:t>
              </a:r>
              <a:endParaRPr sz="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" name="Google Shape;224;p25">
              <a:extLst>
                <a:ext uri="{FF2B5EF4-FFF2-40B4-BE49-F238E27FC236}">
                  <a16:creationId xmlns:a16="http://schemas.microsoft.com/office/drawing/2014/main" id="{54B57C9A-E1B6-D04B-8964-9BBA9BCD69B5}"/>
                </a:ext>
              </a:extLst>
            </p:cNvPr>
            <p:cNvSpPr/>
            <p:nvPr/>
          </p:nvSpPr>
          <p:spPr>
            <a:xfrm rot="16200000">
              <a:off x="6016421" y="3925126"/>
              <a:ext cx="1990729" cy="12311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8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Failures Caused by Previous Files</a:t>
              </a:r>
              <a:endParaRPr sz="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" name="Google Shape;224;p25">
              <a:extLst>
                <a:ext uri="{FF2B5EF4-FFF2-40B4-BE49-F238E27FC236}">
                  <a16:creationId xmlns:a16="http://schemas.microsoft.com/office/drawing/2014/main" id="{0F7FFA53-5558-8F4F-BA70-2B7F4CEC9C02}"/>
                </a:ext>
              </a:extLst>
            </p:cNvPr>
            <p:cNvSpPr/>
            <p:nvPr/>
          </p:nvSpPr>
          <p:spPr>
            <a:xfrm rot="16200000">
              <a:off x="1597186" y="3473030"/>
              <a:ext cx="1086538" cy="12311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8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Misspelled/Cosmetic</a:t>
              </a:r>
              <a:endParaRPr sz="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" name="Google Shape;224;p25">
              <a:extLst>
                <a:ext uri="{FF2B5EF4-FFF2-40B4-BE49-F238E27FC236}">
                  <a16:creationId xmlns:a16="http://schemas.microsoft.com/office/drawing/2014/main" id="{16AE792E-3CEC-F647-A5A6-2B398621DE76}"/>
                </a:ext>
              </a:extLst>
            </p:cNvPr>
            <p:cNvSpPr/>
            <p:nvPr/>
          </p:nvSpPr>
          <p:spPr>
            <a:xfrm rot="16200000">
              <a:off x="1794007" y="3473030"/>
              <a:ext cx="1086538" cy="12311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8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Missing Condition</a:t>
              </a:r>
              <a:endParaRPr sz="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" name="Google Shape;224;p25">
              <a:extLst>
                <a:ext uri="{FF2B5EF4-FFF2-40B4-BE49-F238E27FC236}">
                  <a16:creationId xmlns:a16="http://schemas.microsoft.com/office/drawing/2014/main" id="{6D59221B-5DE3-414F-8E82-C2B63D885C35}"/>
                </a:ext>
              </a:extLst>
            </p:cNvPr>
            <p:cNvSpPr/>
            <p:nvPr/>
          </p:nvSpPr>
          <p:spPr>
            <a:xfrm rot="16200000">
              <a:off x="1986728" y="3473030"/>
              <a:ext cx="1086538" cy="12311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8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Requirements Change</a:t>
              </a:r>
              <a:endParaRPr sz="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" name="Google Shape;224;p25">
              <a:extLst>
                <a:ext uri="{FF2B5EF4-FFF2-40B4-BE49-F238E27FC236}">
                  <a16:creationId xmlns:a16="http://schemas.microsoft.com/office/drawing/2014/main" id="{0873F159-93F0-EF4D-B374-0AE980A4DEA9}"/>
                </a:ext>
              </a:extLst>
            </p:cNvPr>
            <p:cNvSpPr/>
            <p:nvPr/>
          </p:nvSpPr>
          <p:spPr>
            <a:xfrm rot="16200000">
              <a:off x="2183550" y="3473030"/>
              <a:ext cx="1086538" cy="12311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8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Extreme Conditions</a:t>
              </a:r>
              <a:endParaRPr sz="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" name="Google Shape;224;p25">
              <a:extLst>
                <a:ext uri="{FF2B5EF4-FFF2-40B4-BE49-F238E27FC236}">
                  <a16:creationId xmlns:a16="http://schemas.microsoft.com/office/drawing/2014/main" id="{CCD97072-2C00-574F-9C34-5AE360A95285}"/>
                </a:ext>
              </a:extLst>
            </p:cNvPr>
            <p:cNvSpPr/>
            <p:nvPr/>
          </p:nvSpPr>
          <p:spPr>
            <a:xfrm rot="16200000">
              <a:off x="2384472" y="3473030"/>
              <a:ext cx="1086538" cy="12311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8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Not a Problem</a:t>
              </a:r>
              <a:endParaRPr sz="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" name="Google Shape;224;p25">
              <a:extLst>
                <a:ext uri="{FF2B5EF4-FFF2-40B4-BE49-F238E27FC236}">
                  <a16:creationId xmlns:a16="http://schemas.microsoft.com/office/drawing/2014/main" id="{D3C6B8EE-6E78-B648-A920-2DCB384D3207}"/>
                </a:ext>
              </a:extLst>
            </p:cNvPr>
            <p:cNvSpPr/>
            <p:nvPr/>
          </p:nvSpPr>
          <p:spPr>
            <a:xfrm rot="16200000">
              <a:off x="2573093" y="3473030"/>
              <a:ext cx="1086538" cy="12311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8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New Requirement</a:t>
              </a:r>
              <a:endParaRPr sz="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224;p25">
              <a:extLst>
                <a:ext uri="{FF2B5EF4-FFF2-40B4-BE49-F238E27FC236}">
                  <a16:creationId xmlns:a16="http://schemas.microsoft.com/office/drawing/2014/main" id="{45F30959-1CC8-AC45-93B0-27A099436626}"/>
                </a:ext>
              </a:extLst>
            </p:cNvPr>
            <p:cNvSpPr/>
            <p:nvPr/>
          </p:nvSpPr>
          <p:spPr>
            <a:xfrm rot="16200000">
              <a:off x="2774014" y="3473030"/>
              <a:ext cx="1086538" cy="12311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8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Misinterpretation</a:t>
              </a:r>
              <a:endParaRPr sz="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" name="Google Shape;224;p25">
              <a:extLst>
                <a:ext uri="{FF2B5EF4-FFF2-40B4-BE49-F238E27FC236}">
                  <a16:creationId xmlns:a16="http://schemas.microsoft.com/office/drawing/2014/main" id="{2959B9D2-950F-AB4D-9552-7484D3C0C25D}"/>
                </a:ext>
              </a:extLst>
            </p:cNvPr>
            <p:cNvSpPr/>
            <p:nvPr/>
          </p:nvSpPr>
          <p:spPr>
            <a:xfrm rot="16200000">
              <a:off x="2966736" y="3473030"/>
              <a:ext cx="1086538" cy="12311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8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Duplicate Logic</a:t>
              </a:r>
              <a:endParaRPr sz="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" name="Google Shape;224;p25">
              <a:extLst>
                <a:ext uri="{FF2B5EF4-FFF2-40B4-BE49-F238E27FC236}">
                  <a16:creationId xmlns:a16="http://schemas.microsoft.com/office/drawing/2014/main" id="{47F46D71-4BC3-D543-82AB-326B1B12D6FD}"/>
                </a:ext>
              </a:extLst>
            </p:cNvPr>
            <p:cNvSpPr/>
            <p:nvPr/>
          </p:nvSpPr>
          <p:spPr>
            <a:xfrm rot="16200000">
              <a:off x="2693011" y="3925127"/>
              <a:ext cx="1990729" cy="12311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8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Information Not Published in UIS/SRS etc</a:t>
              </a:r>
              <a:endParaRPr sz="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224;p25">
              <a:extLst>
                <a:ext uri="{FF2B5EF4-FFF2-40B4-BE49-F238E27FC236}">
                  <a16:creationId xmlns:a16="http://schemas.microsoft.com/office/drawing/2014/main" id="{BEECE7F2-9DBC-6149-B642-70EDE8131B66}"/>
                </a:ext>
              </a:extLst>
            </p:cNvPr>
            <p:cNvSpPr/>
            <p:nvPr/>
          </p:nvSpPr>
          <p:spPr>
            <a:xfrm rot="16200000">
              <a:off x="2908283" y="3925126"/>
              <a:ext cx="1990729" cy="12311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8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Design Error</a:t>
              </a:r>
              <a:endParaRPr sz="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224;p25">
              <a:extLst>
                <a:ext uri="{FF2B5EF4-FFF2-40B4-BE49-F238E27FC236}">
                  <a16:creationId xmlns:a16="http://schemas.microsoft.com/office/drawing/2014/main" id="{EA8CEED5-23DD-BA41-81EC-75DF7EAC7753}"/>
                </a:ext>
              </a:extLst>
            </p:cNvPr>
            <p:cNvSpPr/>
            <p:nvPr/>
          </p:nvSpPr>
          <p:spPr>
            <a:xfrm rot="16200000">
              <a:off x="3113306" y="3925126"/>
              <a:ext cx="1990729" cy="12311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8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Wrong Dimension</a:t>
              </a:r>
              <a:endParaRPr sz="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" name="Google Shape;224;p25">
              <a:extLst>
                <a:ext uri="{FF2B5EF4-FFF2-40B4-BE49-F238E27FC236}">
                  <a16:creationId xmlns:a16="http://schemas.microsoft.com/office/drawing/2014/main" id="{02E36B12-FBB8-3343-BA98-9B5CDABE3965}"/>
                </a:ext>
              </a:extLst>
            </p:cNvPr>
            <p:cNvSpPr/>
            <p:nvPr/>
          </p:nvSpPr>
          <p:spPr>
            <a:xfrm rot="16200000">
              <a:off x="3277324" y="3925126"/>
              <a:ext cx="1990729" cy="12311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8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Save Recall</a:t>
              </a:r>
              <a:endParaRPr sz="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" name="Google Shape;224;p25">
              <a:extLst>
                <a:ext uri="{FF2B5EF4-FFF2-40B4-BE49-F238E27FC236}">
                  <a16:creationId xmlns:a16="http://schemas.microsoft.com/office/drawing/2014/main" id="{480B4728-1FEB-BF4F-A21F-55C387781429}"/>
                </a:ext>
              </a:extLst>
            </p:cNvPr>
            <p:cNvSpPr/>
            <p:nvPr/>
          </p:nvSpPr>
          <p:spPr>
            <a:xfrm rot="16200000">
              <a:off x="3474145" y="3925126"/>
              <a:ext cx="1990729" cy="12311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8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Feedback/Redefined Required</a:t>
              </a:r>
              <a:endParaRPr sz="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" name="Google Shape;224;p25">
              <a:extLst>
                <a:ext uri="{FF2B5EF4-FFF2-40B4-BE49-F238E27FC236}">
                  <a16:creationId xmlns:a16="http://schemas.microsoft.com/office/drawing/2014/main" id="{03DF5905-CF89-E247-B056-1336C37CD0D9}"/>
                </a:ext>
              </a:extLst>
            </p:cNvPr>
            <p:cNvSpPr/>
            <p:nvPr/>
          </p:nvSpPr>
          <p:spPr>
            <a:xfrm rot="16200000">
              <a:off x="3683269" y="3925126"/>
              <a:ext cx="1990729" cy="12311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8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Wrong Function Call</a:t>
              </a:r>
              <a:endParaRPr sz="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" name="Google Shape;224;p25">
              <a:extLst>
                <a:ext uri="{FF2B5EF4-FFF2-40B4-BE49-F238E27FC236}">
                  <a16:creationId xmlns:a16="http://schemas.microsoft.com/office/drawing/2014/main" id="{210A7AC5-EE85-C64E-864A-60D39D3844B8}"/>
                </a:ext>
              </a:extLst>
            </p:cNvPr>
            <p:cNvSpPr/>
            <p:nvPr/>
          </p:nvSpPr>
          <p:spPr>
            <a:xfrm rot="16200000">
              <a:off x="3875990" y="3925126"/>
              <a:ext cx="1990729" cy="12311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8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Unnecessary Function Code/Call</a:t>
              </a:r>
              <a:endParaRPr sz="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" name="Google Shape;224;p25">
              <a:extLst>
                <a:ext uri="{FF2B5EF4-FFF2-40B4-BE49-F238E27FC236}">
                  <a16:creationId xmlns:a16="http://schemas.microsoft.com/office/drawing/2014/main" id="{BE292FE1-FBDD-F84A-BF90-CC56E876FBD7}"/>
                </a:ext>
              </a:extLst>
            </p:cNvPr>
            <p:cNvSpPr/>
            <p:nvPr/>
          </p:nvSpPr>
          <p:spPr>
            <a:xfrm rot="16200000">
              <a:off x="4060510" y="3925126"/>
              <a:ext cx="1990729" cy="12311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8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Loop Iteration</a:t>
              </a:r>
              <a:endParaRPr sz="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" name="Google Shape;224;p25">
              <a:extLst>
                <a:ext uri="{FF2B5EF4-FFF2-40B4-BE49-F238E27FC236}">
                  <a16:creationId xmlns:a16="http://schemas.microsoft.com/office/drawing/2014/main" id="{8A71C086-0695-664E-8A50-691B304789BC}"/>
                </a:ext>
              </a:extLst>
            </p:cNvPr>
            <p:cNvSpPr/>
            <p:nvPr/>
          </p:nvSpPr>
          <p:spPr>
            <a:xfrm rot="16200000">
              <a:off x="4265532" y="3925126"/>
              <a:ext cx="1990729" cy="12311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8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Sequence Correction</a:t>
              </a:r>
              <a:endParaRPr sz="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" name="Google Shape;224;p25">
              <a:extLst>
                <a:ext uri="{FF2B5EF4-FFF2-40B4-BE49-F238E27FC236}">
                  <a16:creationId xmlns:a16="http://schemas.microsoft.com/office/drawing/2014/main" id="{BDC04898-8561-9B45-93F6-1C33DC03BDA9}"/>
                </a:ext>
              </a:extLst>
            </p:cNvPr>
            <p:cNvSpPr/>
            <p:nvPr/>
          </p:nvSpPr>
          <p:spPr>
            <a:xfrm rot="16200000">
              <a:off x="4454153" y="3925126"/>
              <a:ext cx="1990729" cy="12311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8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Operator Error</a:t>
              </a:r>
              <a:endParaRPr sz="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" name="Google Shape;224;p25">
              <a:extLst>
                <a:ext uri="{FF2B5EF4-FFF2-40B4-BE49-F238E27FC236}">
                  <a16:creationId xmlns:a16="http://schemas.microsoft.com/office/drawing/2014/main" id="{AB77ED9E-DA9F-D648-9717-0DA140FF0665}"/>
                </a:ext>
              </a:extLst>
            </p:cNvPr>
            <p:cNvSpPr/>
            <p:nvPr/>
          </p:nvSpPr>
          <p:spPr>
            <a:xfrm rot="16200000">
              <a:off x="4655075" y="3925126"/>
              <a:ext cx="1990729" cy="12311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8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Precision Loss</a:t>
              </a:r>
              <a:endParaRPr sz="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" name="Google Shape;224;p25">
              <a:extLst>
                <a:ext uri="{FF2B5EF4-FFF2-40B4-BE49-F238E27FC236}">
                  <a16:creationId xmlns:a16="http://schemas.microsoft.com/office/drawing/2014/main" id="{96CDB933-6749-FE4B-9136-79B0469C3779}"/>
                </a:ext>
              </a:extLst>
            </p:cNvPr>
            <p:cNvSpPr/>
            <p:nvPr/>
          </p:nvSpPr>
          <p:spPr>
            <a:xfrm rot="16200000">
              <a:off x="4851896" y="3925126"/>
              <a:ext cx="1990729" cy="12311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8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Missing Computation</a:t>
              </a:r>
              <a:endParaRPr sz="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" name="Google Shape;224;p25">
              <a:extLst>
                <a:ext uri="{FF2B5EF4-FFF2-40B4-BE49-F238E27FC236}">
                  <a16:creationId xmlns:a16="http://schemas.microsoft.com/office/drawing/2014/main" id="{1C3BE07F-18C0-EB43-A92E-00DD4EA13733}"/>
                </a:ext>
              </a:extLst>
            </p:cNvPr>
            <p:cNvSpPr/>
            <p:nvPr/>
          </p:nvSpPr>
          <p:spPr>
            <a:xfrm rot="16200000">
              <a:off x="5044617" y="3925126"/>
              <a:ext cx="1990729" cy="12311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8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Sign Convention Fault</a:t>
              </a:r>
              <a:endParaRPr sz="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" name="Google Shape;224;p25">
              <a:extLst>
                <a:ext uri="{FF2B5EF4-FFF2-40B4-BE49-F238E27FC236}">
                  <a16:creationId xmlns:a16="http://schemas.microsoft.com/office/drawing/2014/main" id="{12602A33-8E34-9342-9F4D-43110C1DA6EE}"/>
                </a:ext>
              </a:extLst>
            </p:cNvPr>
            <p:cNvSpPr/>
            <p:nvPr/>
          </p:nvSpPr>
          <p:spPr>
            <a:xfrm rot="16200000">
              <a:off x="5241439" y="3925126"/>
              <a:ext cx="1990729" cy="12311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8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Initialization</a:t>
              </a:r>
              <a:endParaRPr sz="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" name="Google Shape;224;p25">
              <a:extLst>
                <a:ext uri="{FF2B5EF4-FFF2-40B4-BE49-F238E27FC236}">
                  <a16:creationId xmlns:a16="http://schemas.microsoft.com/office/drawing/2014/main" id="{263EBE56-BE60-5346-A25C-108CF571AAC0}"/>
                </a:ext>
              </a:extLst>
            </p:cNvPr>
            <p:cNvSpPr/>
            <p:nvPr/>
          </p:nvSpPr>
          <p:spPr>
            <a:xfrm rot="16200000">
              <a:off x="5434160" y="3925126"/>
              <a:ext cx="1990729" cy="12311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8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Declaration</a:t>
              </a:r>
              <a:endParaRPr sz="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" name="Google Shape;224;p25">
              <a:extLst>
                <a:ext uri="{FF2B5EF4-FFF2-40B4-BE49-F238E27FC236}">
                  <a16:creationId xmlns:a16="http://schemas.microsoft.com/office/drawing/2014/main" id="{2A065F87-1EE1-7E49-907A-C02C6697404C}"/>
                </a:ext>
              </a:extLst>
            </p:cNvPr>
            <p:cNvSpPr/>
            <p:nvPr/>
          </p:nvSpPr>
          <p:spPr>
            <a:xfrm rot="16200000">
              <a:off x="5618680" y="3925126"/>
              <a:ext cx="1990729" cy="12311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8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Wrong Data Access</a:t>
              </a:r>
              <a:endParaRPr sz="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" name="Google Shape;224;p25">
              <a:extLst>
                <a:ext uri="{FF2B5EF4-FFF2-40B4-BE49-F238E27FC236}">
                  <a16:creationId xmlns:a16="http://schemas.microsoft.com/office/drawing/2014/main" id="{87591EDB-4EB4-9947-A317-9A457998A08B}"/>
                </a:ext>
              </a:extLst>
            </p:cNvPr>
            <p:cNvSpPr/>
            <p:nvPr/>
          </p:nvSpPr>
          <p:spPr>
            <a:xfrm rot="16200000">
              <a:off x="5827803" y="3925126"/>
              <a:ext cx="1990729" cy="12311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8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Incorrect Scope</a:t>
              </a:r>
              <a:endParaRPr sz="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" name="Google Shape;224;p25">
              <a:extLst>
                <a:ext uri="{FF2B5EF4-FFF2-40B4-BE49-F238E27FC236}">
                  <a16:creationId xmlns:a16="http://schemas.microsoft.com/office/drawing/2014/main" id="{5B9DA465-C4D3-754F-81A1-0643C914F29E}"/>
                </a:ext>
              </a:extLst>
            </p:cNvPr>
            <p:cNvSpPr/>
            <p:nvPr/>
          </p:nvSpPr>
          <p:spPr>
            <a:xfrm>
              <a:off x="1583310" y="1216442"/>
              <a:ext cx="180359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10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25</a:t>
              </a:r>
              <a:endParaRPr sz="1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" name="Google Shape;224;p25">
              <a:extLst>
                <a:ext uri="{FF2B5EF4-FFF2-40B4-BE49-F238E27FC236}">
                  <a16:creationId xmlns:a16="http://schemas.microsoft.com/office/drawing/2014/main" id="{1A51C465-A8B5-3E4C-A67E-54645CDFE245}"/>
                </a:ext>
              </a:extLst>
            </p:cNvPr>
            <p:cNvSpPr/>
            <p:nvPr/>
          </p:nvSpPr>
          <p:spPr>
            <a:xfrm>
              <a:off x="1583310" y="1532177"/>
              <a:ext cx="180359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10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20</a:t>
              </a:r>
              <a:endParaRPr sz="1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" name="Google Shape;224;p25">
              <a:extLst>
                <a:ext uri="{FF2B5EF4-FFF2-40B4-BE49-F238E27FC236}">
                  <a16:creationId xmlns:a16="http://schemas.microsoft.com/office/drawing/2014/main" id="{A1D814DA-C2C7-BA4F-B80D-089F30FDA8B0}"/>
                </a:ext>
              </a:extLst>
            </p:cNvPr>
            <p:cNvSpPr/>
            <p:nvPr/>
          </p:nvSpPr>
          <p:spPr>
            <a:xfrm>
              <a:off x="1583310" y="1864314"/>
              <a:ext cx="180359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10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15</a:t>
              </a:r>
              <a:endParaRPr sz="1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" name="Google Shape;224;p25">
              <a:extLst>
                <a:ext uri="{FF2B5EF4-FFF2-40B4-BE49-F238E27FC236}">
                  <a16:creationId xmlns:a16="http://schemas.microsoft.com/office/drawing/2014/main" id="{A9DC6FB2-8281-A743-9601-1E08C5896FAC}"/>
                </a:ext>
              </a:extLst>
            </p:cNvPr>
            <p:cNvSpPr/>
            <p:nvPr/>
          </p:nvSpPr>
          <p:spPr>
            <a:xfrm>
              <a:off x="1583310" y="2188249"/>
              <a:ext cx="180359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10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10</a:t>
              </a:r>
              <a:endParaRPr sz="1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" name="Google Shape;224;p25">
              <a:extLst>
                <a:ext uri="{FF2B5EF4-FFF2-40B4-BE49-F238E27FC236}">
                  <a16:creationId xmlns:a16="http://schemas.microsoft.com/office/drawing/2014/main" id="{F8ECF4C0-5857-094C-8487-37637245FDC3}"/>
                </a:ext>
              </a:extLst>
            </p:cNvPr>
            <p:cNvSpPr/>
            <p:nvPr/>
          </p:nvSpPr>
          <p:spPr>
            <a:xfrm>
              <a:off x="1583310" y="2512184"/>
              <a:ext cx="180359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10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sz="1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" name="Google Shape;224;p25">
              <a:extLst>
                <a:ext uri="{FF2B5EF4-FFF2-40B4-BE49-F238E27FC236}">
                  <a16:creationId xmlns:a16="http://schemas.microsoft.com/office/drawing/2014/main" id="{DBF8CC26-6347-2641-A9D9-4478E5DC7DD0}"/>
                </a:ext>
              </a:extLst>
            </p:cNvPr>
            <p:cNvSpPr/>
            <p:nvPr/>
          </p:nvSpPr>
          <p:spPr>
            <a:xfrm>
              <a:off x="1583310" y="2836119"/>
              <a:ext cx="180359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10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0</a:t>
              </a:r>
              <a:endParaRPr sz="1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" name="Google Shape;224;p25">
              <a:extLst>
                <a:ext uri="{FF2B5EF4-FFF2-40B4-BE49-F238E27FC236}">
                  <a16:creationId xmlns:a16="http://schemas.microsoft.com/office/drawing/2014/main" id="{DAC2660F-E674-A040-86F2-BA996D2884DA}"/>
                </a:ext>
              </a:extLst>
            </p:cNvPr>
            <p:cNvSpPr/>
            <p:nvPr/>
          </p:nvSpPr>
          <p:spPr>
            <a:xfrm>
              <a:off x="7186220" y="1216442"/>
              <a:ext cx="306028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10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120%</a:t>
              </a:r>
              <a:endParaRPr sz="1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" name="Google Shape;224;p25">
              <a:extLst>
                <a:ext uri="{FF2B5EF4-FFF2-40B4-BE49-F238E27FC236}">
                  <a16:creationId xmlns:a16="http://schemas.microsoft.com/office/drawing/2014/main" id="{85E4B7BA-B032-454C-B396-518D74FB8996}"/>
                </a:ext>
              </a:extLst>
            </p:cNvPr>
            <p:cNvSpPr/>
            <p:nvPr/>
          </p:nvSpPr>
          <p:spPr>
            <a:xfrm>
              <a:off x="7186220" y="1495273"/>
              <a:ext cx="306028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10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100%</a:t>
              </a:r>
              <a:endParaRPr sz="1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" name="Google Shape;224;p25">
              <a:extLst>
                <a:ext uri="{FF2B5EF4-FFF2-40B4-BE49-F238E27FC236}">
                  <a16:creationId xmlns:a16="http://schemas.microsoft.com/office/drawing/2014/main" id="{28E086E1-3B0B-BE46-BA4E-E978BB593A51}"/>
                </a:ext>
              </a:extLst>
            </p:cNvPr>
            <p:cNvSpPr/>
            <p:nvPr/>
          </p:nvSpPr>
          <p:spPr>
            <a:xfrm>
              <a:off x="7186220" y="1761802"/>
              <a:ext cx="306028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10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80%</a:t>
              </a:r>
              <a:endParaRPr sz="1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" name="Google Shape;224;p25">
              <a:extLst>
                <a:ext uri="{FF2B5EF4-FFF2-40B4-BE49-F238E27FC236}">
                  <a16:creationId xmlns:a16="http://schemas.microsoft.com/office/drawing/2014/main" id="{1400E2D3-655D-C14C-BE93-5B5223FBD2D7}"/>
                </a:ext>
              </a:extLst>
            </p:cNvPr>
            <p:cNvSpPr/>
            <p:nvPr/>
          </p:nvSpPr>
          <p:spPr>
            <a:xfrm>
              <a:off x="7186220" y="2028332"/>
              <a:ext cx="306028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10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60%</a:t>
              </a:r>
              <a:endParaRPr sz="1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" name="Google Shape;224;p25">
              <a:extLst>
                <a:ext uri="{FF2B5EF4-FFF2-40B4-BE49-F238E27FC236}">
                  <a16:creationId xmlns:a16="http://schemas.microsoft.com/office/drawing/2014/main" id="{F56D4110-7181-F04B-9C4D-CB2E1A0E94F1}"/>
                </a:ext>
              </a:extLst>
            </p:cNvPr>
            <p:cNvSpPr/>
            <p:nvPr/>
          </p:nvSpPr>
          <p:spPr>
            <a:xfrm>
              <a:off x="7186220" y="2294861"/>
              <a:ext cx="306028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10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40%</a:t>
              </a:r>
              <a:endParaRPr sz="1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" name="Google Shape;224;p25">
              <a:extLst>
                <a:ext uri="{FF2B5EF4-FFF2-40B4-BE49-F238E27FC236}">
                  <a16:creationId xmlns:a16="http://schemas.microsoft.com/office/drawing/2014/main" id="{99ABB708-4921-3247-B176-F0BEB1D7B53C}"/>
                </a:ext>
              </a:extLst>
            </p:cNvPr>
            <p:cNvSpPr/>
            <p:nvPr/>
          </p:nvSpPr>
          <p:spPr>
            <a:xfrm>
              <a:off x="7186220" y="2573692"/>
              <a:ext cx="306028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10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20%</a:t>
              </a:r>
              <a:endParaRPr sz="1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" name="Google Shape;224;p25">
              <a:extLst>
                <a:ext uri="{FF2B5EF4-FFF2-40B4-BE49-F238E27FC236}">
                  <a16:creationId xmlns:a16="http://schemas.microsoft.com/office/drawing/2014/main" id="{D64B451D-10CD-D44D-B3D1-BDC9FBEE8937}"/>
                </a:ext>
              </a:extLst>
            </p:cNvPr>
            <p:cNvSpPr/>
            <p:nvPr/>
          </p:nvSpPr>
          <p:spPr>
            <a:xfrm>
              <a:off x="7186220" y="2836120"/>
              <a:ext cx="306028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10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0%</a:t>
              </a:r>
              <a:endParaRPr sz="1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" name="Google Shape;224;p25">
              <a:extLst>
                <a:ext uri="{FF2B5EF4-FFF2-40B4-BE49-F238E27FC236}">
                  <a16:creationId xmlns:a16="http://schemas.microsoft.com/office/drawing/2014/main" id="{02C25D8C-609A-F549-8E35-8CD6433A0E00}"/>
                </a:ext>
              </a:extLst>
            </p:cNvPr>
            <p:cNvSpPr/>
            <p:nvPr/>
          </p:nvSpPr>
          <p:spPr>
            <a:xfrm rot="16200000">
              <a:off x="599133" y="2020636"/>
              <a:ext cx="1803353" cy="1692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1100" b="1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Quantity in Numbers</a:t>
              </a:r>
              <a:endParaRPr sz="11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" name="Google Shape;224;p25">
              <a:extLst>
                <a:ext uri="{FF2B5EF4-FFF2-40B4-BE49-F238E27FC236}">
                  <a16:creationId xmlns:a16="http://schemas.microsoft.com/office/drawing/2014/main" id="{B1D7B497-A53B-8A47-81FE-FE9BC9173C3C}"/>
                </a:ext>
              </a:extLst>
            </p:cNvPr>
            <p:cNvSpPr/>
            <p:nvPr/>
          </p:nvSpPr>
          <p:spPr>
            <a:xfrm rot="5400000">
              <a:off x="6689337" y="2196811"/>
              <a:ext cx="1803353" cy="1692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1100" b="1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Cumulative Percentage</a:t>
              </a:r>
              <a:endParaRPr sz="11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" name="Rectángulo 139">
              <a:extLst>
                <a:ext uri="{FF2B5EF4-FFF2-40B4-BE49-F238E27FC236}">
                  <a16:creationId xmlns:a16="http://schemas.microsoft.com/office/drawing/2014/main" id="{9B64B606-D50A-594C-AF0A-2A3F4B88D029}"/>
                </a:ext>
              </a:extLst>
            </p:cNvPr>
            <p:cNvSpPr/>
            <p:nvPr/>
          </p:nvSpPr>
          <p:spPr>
            <a:xfrm rot="2979823" flipH="1">
              <a:off x="7555036" y="1407129"/>
              <a:ext cx="69705" cy="69705"/>
            </a:xfrm>
            <a:prstGeom prst="rect">
              <a:avLst/>
            </a:prstGeom>
            <a:solidFill>
              <a:srgbClr val="715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cxnSp>
          <p:nvCxnSpPr>
            <p:cNvPr id="142" name="Conector recto 141">
              <a:extLst>
                <a:ext uri="{FF2B5EF4-FFF2-40B4-BE49-F238E27FC236}">
                  <a16:creationId xmlns:a16="http://schemas.microsoft.com/office/drawing/2014/main" id="{164E3F9E-671B-A549-AD80-01FC8B4AAEBC}"/>
                </a:ext>
              </a:extLst>
            </p:cNvPr>
            <p:cNvCxnSpPr>
              <a:cxnSpLocks/>
            </p:cNvCxnSpPr>
            <p:nvPr/>
          </p:nvCxnSpPr>
          <p:spPr>
            <a:xfrm>
              <a:off x="7589993" y="1332362"/>
              <a:ext cx="0" cy="219239"/>
            </a:xfrm>
            <a:prstGeom prst="line">
              <a:avLst/>
            </a:prstGeom>
            <a:ln w="19050">
              <a:solidFill>
                <a:srgbClr val="715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4" name="Google Shape;224;p25">
              <a:extLst>
                <a:ext uri="{FF2B5EF4-FFF2-40B4-BE49-F238E27FC236}">
                  <a16:creationId xmlns:a16="http://schemas.microsoft.com/office/drawing/2014/main" id="{AC0C35E9-A453-CE47-AC05-A48A1F86250C}"/>
                </a:ext>
              </a:extLst>
            </p:cNvPr>
            <p:cNvSpPr/>
            <p:nvPr/>
          </p:nvSpPr>
          <p:spPr>
            <a:xfrm>
              <a:off x="3531640" y="4778479"/>
              <a:ext cx="1803353" cy="1692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1100" b="1" dirty="0">
                  <a:solidFill>
                    <a:srgbClr val="7150A0"/>
                  </a:solidFill>
                  <a:latin typeface="Calibri"/>
                  <a:ea typeface="Calibri"/>
                  <a:cs typeface="Calibri"/>
                  <a:sym typeface="Calibri"/>
                </a:rPr>
                <a:t>Error Types</a:t>
              </a:r>
              <a:endParaRPr sz="1100" b="1" dirty="0">
                <a:solidFill>
                  <a:srgbClr val="7150A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41" name="Conector recto de flecha 140">
              <a:extLst>
                <a:ext uri="{FF2B5EF4-FFF2-40B4-BE49-F238E27FC236}">
                  <a16:creationId xmlns:a16="http://schemas.microsoft.com/office/drawing/2014/main" id="{58BBB65A-EB1A-3A48-A357-9A6D632215FC}"/>
                </a:ext>
              </a:extLst>
            </p:cNvPr>
            <p:cNvCxnSpPr/>
            <p:nvPr/>
          </p:nvCxnSpPr>
          <p:spPr>
            <a:xfrm>
              <a:off x="4871354" y="4879197"/>
              <a:ext cx="230178" cy="0"/>
            </a:xfrm>
            <a:prstGeom prst="straightConnector1">
              <a:avLst/>
            </a:prstGeom>
            <a:ln w="15875">
              <a:solidFill>
                <a:srgbClr val="715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6"/>
          <p:cNvSpPr/>
          <p:nvPr/>
        </p:nvSpPr>
        <p:spPr>
          <a:xfrm>
            <a:off x="503238" y="912813"/>
            <a:ext cx="3889375" cy="3277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s-PE" sz="1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DATOS OBTENIDOS DE LAS PRUEBAS</a:t>
            </a:r>
            <a:endParaRPr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82563" marR="0" lvl="0" indent="-182563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PE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Casos de pruebas diseñados.</a:t>
            </a:r>
            <a:endParaRPr sz="1600" dirty="0"/>
          </a:p>
          <a:p>
            <a:pPr marL="182563" marR="0" lvl="0" indent="-182563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82563" marR="0" lvl="0" indent="-182563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PE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Casos de prueba diseñados </a:t>
            </a:r>
            <a:br>
              <a:rPr lang="es-PE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PE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(planeado vs. real).</a:t>
            </a:r>
            <a:endParaRPr sz="1600" dirty="0"/>
          </a:p>
          <a:p>
            <a:pPr marL="182563" marR="0" lvl="0" indent="-182563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82563" marR="0" lvl="0" indent="-182563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PE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Métricas de defectos.</a:t>
            </a:r>
            <a:endParaRPr sz="1600" dirty="0"/>
          </a:p>
          <a:p>
            <a:pPr marL="182563" marR="0" lvl="0" indent="-182563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82563" marR="0" lvl="0" indent="-182563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PE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Métricas de ejecución de pruebas.</a:t>
            </a:r>
            <a:endParaRPr sz="1600" dirty="0"/>
          </a:p>
          <a:p>
            <a:pPr marL="182563" marR="0" lvl="0" indent="-182563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82563" marR="0" lvl="0" indent="-182563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PE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Métricas de cobertura.</a:t>
            </a:r>
            <a:endParaRPr sz="1600" dirty="0"/>
          </a:p>
          <a:p>
            <a:pPr marL="182563" marR="0" lvl="0" indent="-182563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82563" marR="0" lvl="0" indent="-182563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PE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Los parámetros de gestión.</a:t>
            </a:r>
            <a:endParaRPr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E04119E9-2B4E-1846-919A-820790F59B5B}"/>
              </a:ext>
            </a:extLst>
          </p:cNvPr>
          <p:cNvSpPr/>
          <p:nvPr/>
        </p:nvSpPr>
        <p:spPr>
          <a:xfrm>
            <a:off x="503238" y="376232"/>
            <a:ext cx="3300666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/>
              </a:rPr>
              <a:t>SEGUIMIENTO DE PRUEBAS</a:t>
            </a:r>
            <a:endParaRPr lang="es-PE" sz="1000" dirty="0">
              <a:solidFill>
                <a:schemeClr val="bg1">
                  <a:lumMod val="6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0B3DB29-D908-214E-9E49-5812A61AC1F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751387" y="0"/>
            <a:ext cx="4392613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7"/>
          <p:cNvSpPr/>
          <p:nvPr/>
        </p:nvSpPr>
        <p:spPr>
          <a:xfrm>
            <a:off x="503238" y="912813"/>
            <a:ext cx="3889375" cy="303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s-PE" sz="1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REPORTES INTERNOS</a:t>
            </a:r>
            <a:endParaRPr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82563" marR="0" lvl="0" indent="-182563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PE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Diseño de la prueba diaria / estado de ejecución.</a:t>
            </a:r>
            <a:endParaRPr dirty="0"/>
          </a:p>
          <a:p>
            <a:pPr marL="182563" marR="0" lvl="0" indent="-182563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82563" marR="0" lvl="0" indent="-182563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PE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Estado de defecto diaria.</a:t>
            </a:r>
            <a:endParaRPr dirty="0"/>
          </a:p>
          <a:p>
            <a:pPr marL="182563" marR="0" lvl="0" indent="-182563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82563" marR="0" lvl="0" indent="-182563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PE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Tendencia defecto semanal.</a:t>
            </a:r>
            <a:endParaRPr dirty="0"/>
          </a:p>
          <a:p>
            <a:pPr marL="182563" marR="0" lvl="0" indent="-182563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82563" marR="0" lvl="0" indent="-182563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PE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Informes de entorno de pruebas diarias y el estado.</a:t>
            </a:r>
            <a:endParaRPr dirty="0"/>
          </a:p>
          <a:p>
            <a:pPr marL="182563" marR="0" lvl="0" indent="-182563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82563" marR="0" lvl="0" indent="-182563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PE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Disponibilidad de recursos.</a:t>
            </a:r>
            <a:endParaRPr dirty="0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D3B5B601-119E-F24D-98CA-F47A8053D5F9}"/>
              </a:ext>
            </a:extLst>
          </p:cNvPr>
          <p:cNvSpPr/>
          <p:nvPr/>
        </p:nvSpPr>
        <p:spPr>
          <a:xfrm>
            <a:off x="503238" y="376232"/>
            <a:ext cx="3300666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/>
              </a:rPr>
              <a:t>SEGUIMIENTO DE PRUEBAS</a:t>
            </a:r>
            <a:endParaRPr lang="es-PE" sz="1000" dirty="0">
              <a:solidFill>
                <a:schemeClr val="bg1">
                  <a:lumMod val="6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A41B5F2D-4CEA-3640-B8D0-62973C49CFF0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751388" y="0"/>
            <a:ext cx="4392612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8"/>
          <p:cNvSpPr/>
          <p:nvPr/>
        </p:nvSpPr>
        <p:spPr>
          <a:xfrm>
            <a:off x="503238" y="912813"/>
            <a:ext cx="7697900" cy="4065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s-PE" sz="1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REPORTE EXTERNOS</a:t>
            </a:r>
            <a:endParaRPr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82563" marR="0" lvl="0" indent="-18256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PE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Tablero de mandos que muestra el estado de la prueba y el defecto actual.</a:t>
            </a:r>
            <a:endParaRPr dirty="0"/>
          </a:p>
          <a:p>
            <a:pPr marL="182563" marR="0" lvl="0" indent="-18256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82563" marR="0" lvl="0" indent="-18256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PE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Informes sobre recursos y presupuesto.</a:t>
            </a:r>
            <a:endParaRPr dirty="0"/>
          </a:p>
          <a:p>
            <a:pPr marL="182563" marR="0" lvl="0" indent="-18256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82563" marR="0" lvl="0" indent="-18256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PE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Gráfico de mitigación de riesgos.</a:t>
            </a:r>
            <a:endParaRPr dirty="0"/>
          </a:p>
          <a:p>
            <a:pPr marL="182563" marR="0" lvl="0" indent="-18256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82563" marR="0" lvl="0" indent="-18256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PE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Pruebas de cobertura (o requisitos basados en el riesgo).</a:t>
            </a:r>
            <a:endParaRPr dirty="0"/>
          </a:p>
          <a:p>
            <a:pPr marL="182563" marR="0" lvl="0" indent="-18256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82563" marR="0" lvl="0" indent="-18256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PE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Tendencias de defectos.</a:t>
            </a:r>
            <a:endParaRPr dirty="0"/>
          </a:p>
          <a:p>
            <a:pPr marL="182563" marR="0" lvl="0" indent="-18256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82563" marR="0" lvl="0" indent="-18256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PE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Hitos.</a:t>
            </a:r>
            <a:endParaRPr dirty="0"/>
          </a:p>
          <a:p>
            <a:pPr marL="182563" marR="0" lvl="0" indent="-18256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82563" marR="0" lvl="0" indent="-18256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PE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Indicadores de salud del proyecto (rojo, amarillo, verde).</a:t>
            </a:r>
            <a:endParaRPr dirty="0"/>
          </a:p>
          <a:p>
            <a:pPr marL="182563" marR="0" lvl="0" indent="-18256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82563" marR="0" lvl="0" indent="-18256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PE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Métricas predictivas. </a:t>
            </a:r>
            <a:endParaRPr dirty="0"/>
          </a:p>
          <a:p>
            <a:pPr marL="182563" marR="0" lvl="0" indent="-18256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82563" marR="0" lvl="0" indent="-18256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PE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Recomendaciones de Continuar / No Continuar.</a:t>
            </a:r>
            <a:endParaRPr dirty="0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3EACFC14-482B-A241-9C43-1B6ECC74362D}"/>
              </a:ext>
            </a:extLst>
          </p:cNvPr>
          <p:cNvSpPr/>
          <p:nvPr/>
        </p:nvSpPr>
        <p:spPr>
          <a:xfrm>
            <a:off x="503238" y="376232"/>
            <a:ext cx="3300666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/>
              </a:rPr>
              <a:t>SEGUIMIENTO DE PRUEBAS</a:t>
            </a:r>
            <a:endParaRPr lang="es-PE" sz="1000" dirty="0">
              <a:solidFill>
                <a:schemeClr val="bg1">
                  <a:lumMod val="6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9"/>
          <p:cNvSpPr/>
          <p:nvPr/>
        </p:nvSpPr>
        <p:spPr>
          <a:xfrm>
            <a:off x="503238" y="912813"/>
            <a:ext cx="8172450" cy="815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s-PE" sz="1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MEDIR LAS PRUEBAS</a:t>
            </a:r>
            <a:endParaRPr sz="10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82563" marR="0" lvl="0" indent="-182563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s-PE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 el proceso a través del cual se asignan números o símbolos a los </a:t>
            </a:r>
            <a:r>
              <a:rPr lang="es-PE" sz="15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atributos</a:t>
            </a:r>
            <a:r>
              <a:rPr lang="es-PE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las </a:t>
            </a:r>
            <a:r>
              <a:rPr lang="es-PE" sz="15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entidades</a:t>
            </a:r>
            <a:r>
              <a:rPr lang="es-PE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del mundo real, de tal forma que los caracteriza de una manera clara y definida a través de </a:t>
            </a:r>
            <a:r>
              <a:rPr lang="es-PE" sz="15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reglas.</a:t>
            </a:r>
            <a:endParaRPr sz="1500" dirty="0"/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1453CA23-0E8D-9548-94E8-5CC9AF9E4BAC}"/>
              </a:ext>
            </a:extLst>
          </p:cNvPr>
          <p:cNvSpPr/>
          <p:nvPr/>
        </p:nvSpPr>
        <p:spPr>
          <a:xfrm>
            <a:off x="503238" y="376232"/>
            <a:ext cx="3300666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/>
              </a:rPr>
              <a:t>SEGUIMIENTO DE PRUEBAS</a:t>
            </a:r>
            <a:endParaRPr lang="es-PE" sz="1000" dirty="0">
              <a:solidFill>
                <a:schemeClr val="bg1">
                  <a:lumMod val="6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996B995C-F39A-2947-B55E-FB9FDAD107F0}"/>
              </a:ext>
            </a:extLst>
          </p:cNvPr>
          <p:cNvGrpSpPr/>
          <p:nvPr/>
        </p:nvGrpSpPr>
        <p:grpSpPr>
          <a:xfrm>
            <a:off x="1146532" y="1970218"/>
            <a:ext cx="6885861" cy="2705670"/>
            <a:chOff x="1262586" y="1970218"/>
            <a:chExt cx="6885861" cy="2705670"/>
          </a:xfrm>
        </p:grpSpPr>
        <p:sp>
          <p:nvSpPr>
            <p:cNvPr id="13" name="Rectángulo redondeado 12">
              <a:extLst>
                <a:ext uri="{FF2B5EF4-FFF2-40B4-BE49-F238E27FC236}">
                  <a16:creationId xmlns:a16="http://schemas.microsoft.com/office/drawing/2014/main" id="{75487AB9-BEB0-8E42-BDA8-FF6496A9D753}"/>
                </a:ext>
              </a:extLst>
            </p:cNvPr>
            <p:cNvSpPr/>
            <p:nvPr/>
          </p:nvSpPr>
          <p:spPr>
            <a:xfrm>
              <a:off x="2326279" y="1970218"/>
              <a:ext cx="5822168" cy="827251"/>
            </a:xfrm>
            <a:prstGeom prst="roundRect">
              <a:avLst/>
            </a:prstGeom>
            <a:solidFill>
              <a:srgbClr val="FFD8D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623888" lvl="1" indent="-169863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lr>
                  <a:srgbClr val="EE4639"/>
                </a:buClr>
                <a:buSzPct val="100000"/>
                <a:buFont typeface="Arial" charset="0"/>
                <a:buChar char="•"/>
              </a:pPr>
              <a:r>
                <a:rPr lang="es-PE" dirty="0">
                  <a:solidFill>
                    <a:schemeClr val="tx1"/>
                  </a:solidFill>
                  <a:latin typeface="Calibri" charset="0"/>
                  <a:ea typeface="+mn-ea"/>
                  <a:cs typeface="Calibri" charset="0"/>
                  <a:sym typeface="Calibri"/>
                </a:rPr>
                <a:t>Objeto de interés sobre el cual se quiere medir.</a:t>
              </a:r>
              <a:endParaRPr lang="es-PE" dirty="0">
                <a:solidFill>
                  <a:schemeClr val="tx1"/>
                </a:solidFill>
                <a:latin typeface="Calibri" charset="0"/>
                <a:ea typeface="+mn-ea"/>
                <a:cs typeface="Calibri" charset="0"/>
              </a:endParaRPr>
            </a:p>
          </p:txBody>
        </p:sp>
        <p:sp>
          <p:nvSpPr>
            <p:cNvPr id="14" name="Redondear rectángulo de esquina del mismo lado 13">
              <a:extLst>
                <a:ext uri="{FF2B5EF4-FFF2-40B4-BE49-F238E27FC236}">
                  <a16:creationId xmlns:a16="http://schemas.microsoft.com/office/drawing/2014/main" id="{9368FB3C-4F53-D941-823A-7F051ADE2063}"/>
                </a:ext>
              </a:extLst>
            </p:cNvPr>
            <p:cNvSpPr/>
            <p:nvPr/>
          </p:nvSpPr>
          <p:spPr>
            <a:xfrm rot="16200000">
              <a:off x="1569957" y="1662847"/>
              <a:ext cx="827251" cy="1441993"/>
            </a:xfrm>
            <a:prstGeom prst="round2SameRect">
              <a:avLst/>
            </a:prstGeom>
            <a:solidFill>
              <a:srgbClr val="EE46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sz="1400" dirty="0">
                <a:latin typeface="Calibri" panose="020F0502020204030204" pitchFamily="34" charset="0"/>
              </a:endParaRPr>
            </a:p>
          </p:txBody>
        </p:sp>
        <p:sp>
          <p:nvSpPr>
            <p:cNvPr id="15" name="CuadroTexto 14">
              <a:extLst>
                <a:ext uri="{FF2B5EF4-FFF2-40B4-BE49-F238E27FC236}">
                  <a16:creationId xmlns:a16="http://schemas.microsoft.com/office/drawing/2014/main" id="{0234433B-D907-8341-81EE-7C89344B8D48}"/>
                </a:ext>
              </a:extLst>
            </p:cNvPr>
            <p:cNvSpPr txBox="1"/>
            <p:nvPr/>
          </p:nvSpPr>
          <p:spPr>
            <a:xfrm>
              <a:off x="1277688" y="2280193"/>
              <a:ext cx="1426891" cy="215444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1400" b="1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Entidad</a:t>
              </a:r>
              <a:endParaRPr lang="es-PE" b="1" dirty="0"/>
            </a:p>
          </p:txBody>
        </p:sp>
        <p:sp>
          <p:nvSpPr>
            <p:cNvPr id="16" name="Rectángulo redondeado 15">
              <a:extLst>
                <a:ext uri="{FF2B5EF4-FFF2-40B4-BE49-F238E27FC236}">
                  <a16:creationId xmlns:a16="http://schemas.microsoft.com/office/drawing/2014/main" id="{87087902-277E-6148-8AE3-08B251C0F28A}"/>
                </a:ext>
              </a:extLst>
            </p:cNvPr>
            <p:cNvSpPr/>
            <p:nvPr/>
          </p:nvSpPr>
          <p:spPr>
            <a:xfrm>
              <a:off x="2326279" y="2898795"/>
              <a:ext cx="5822168" cy="827251"/>
            </a:xfrm>
            <a:prstGeom prst="roundRect">
              <a:avLst/>
            </a:prstGeom>
            <a:solidFill>
              <a:srgbClr val="FFD8D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623888" lvl="1" indent="-169863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lr>
                  <a:srgbClr val="EE4639"/>
                </a:buClr>
                <a:buSzPct val="100000"/>
                <a:buFont typeface="Arial" charset="0"/>
                <a:buChar char="•"/>
              </a:pPr>
              <a:r>
                <a:rPr lang="es-PE" dirty="0">
                  <a:solidFill>
                    <a:schemeClr val="tx1"/>
                  </a:solidFill>
                  <a:latin typeface="Calibri" charset="0"/>
                  <a:ea typeface="+mn-ea"/>
                  <a:cs typeface="Calibri" charset="0"/>
                  <a:sym typeface="Calibri"/>
                </a:rPr>
                <a:t>Características de la entidad que se quiere medir.</a:t>
              </a:r>
              <a:endParaRPr lang="es-PE" dirty="0">
                <a:solidFill>
                  <a:schemeClr val="tx1"/>
                </a:solidFill>
                <a:latin typeface="Calibri" charset="0"/>
                <a:ea typeface="+mn-ea"/>
                <a:cs typeface="Calibri" charset="0"/>
              </a:endParaRPr>
            </a:p>
          </p:txBody>
        </p:sp>
        <p:sp>
          <p:nvSpPr>
            <p:cNvPr id="17" name="Redondear rectángulo de esquina del mismo lado 16">
              <a:extLst>
                <a:ext uri="{FF2B5EF4-FFF2-40B4-BE49-F238E27FC236}">
                  <a16:creationId xmlns:a16="http://schemas.microsoft.com/office/drawing/2014/main" id="{6E825484-8E7C-2B45-9B60-9F1AF4ACD0CF}"/>
                </a:ext>
              </a:extLst>
            </p:cNvPr>
            <p:cNvSpPr/>
            <p:nvPr/>
          </p:nvSpPr>
          <p:spPr>
            <a:xfrm rot="16200000">
              <a:off x="1569957" y="2591424"/>
              <a:ext cx="827251" cy="1441993"/>
            </a:xfrm>
            <a:prstGeom prst="round2SameRect">
              <a:avLst/>
            </a:prstGeom>
            <a:solidFill>
              <a:srgbClr val="EE46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sz="1400" dirty="0">
                <a:latin typeface="Calibri" panose="020F0502020204030204" pitchFamily="34" charset="0"/>
              </a:endParaRPr>
            </a:p>
          </p:txBody>
        </p:sp>
        <p:sp>
          <p:nvSpPr>
            <p:cNvPr id="18" name="CuadroTexto 17">
              <a:extLst>
                <a:ext uri="{FF2B5EF4-FFF2-40B4-BE49-F238E27FC236}">
                  <a16:creationId xmlns:a16="http://schemas.microsoft.com/office/drawing/2014/main" id="{17F80717-B900-494D-AAEE-D14AC521238B}"/>
                </a:ext>
              </a:extLst>
            </p:cNvPr>
            <p:cNvSpPr txBox="1"/>
            <p:nvPr/>
          </p:nvSpPr>
          <p:spPr>
            <a:xfrm>
              <a:off x="1277688" y="3208770"/>
              <a:ext cx="1426891" cy="215444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s-PE" b="1" dirty="0">
                  <a:solidFill>
                    <a:schemeClr val="lt1"/>
                  </a:solidFill>
                  <a:latin typeface="Calibri"/>
                  <a:cs typeface="Calibri"/>
                  <a:sym typeface="Calibri"/>
                </a:rPr>
                <a:t>Atributos</a:t>
              </a:r>
              <a:endParaRPr lang="es-PE" b="1" dirty="0">
                <a:solidFill>
                  <a:schemeClr val="lt1"/>
                </a:solidFill>
                <a:latin typeface="Calibri"/>
                <a:cs typeface="Calibri"/>
              </a:endParaRPr>
            </a:p>
          </p:txBody>
        </p:sp>
        <p:sp>
          <p:nvSpPr>
            <p:cNvPr id="19" name="Rectángulo redondeado 18">
              <a:extLst>
                <a:ext uri="{FF2B5EF4-FFF2-40B4-BE49-F238E27FC236}">
                  <a16:creationId xmlns:a16="http://schemas.microsoft.com/office/drawing/2014/main" id="{E039B02D-8461-4D48-925E-38E53F3E0941}"/>
                </a:ext>
              </a:extLst>
            </p:cNvPr>
            <p:cNvSpPr/>
            <p:nvPr/>
          </p:nvSpPr>
          <p:spPr>
            <a:xfrm>
              <a:off x="2326279" y="3848637"/>
              <a:ext cx="5822168" cy="827251"/>
            </a:xfrm>
            <a:prstGeom prst="roundRect">
              <a:avLst/>
            </a:prstGeom>
            <a:solidFill>
              <a:srgbClr val="FFD8D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623888" lvl="1" indent="-169863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lr>
                  <a:srgbClr val="EE4639"/>
                </a:buClr>
                <a:buSzPct val="100000"/>
                <a:buFont typeface="Arial" charset="0"/>
                <a:buChar char="•"/>
              </a:pPr>
              <a:r>
                <a:rPr lang="es-PE" dirty="0">
                  <a:solidFill>
                    <a:schemeClr val="tx1"/>
                  </a:solidFill>
                  <a:latin typeface="Calibri" charset="0"/>
                  <a:ea typeface="+mn-ea"/>
                  <a:cs typeface="Calibri" charset="0"/>
                  <a:sym typeface="Calibri"/>
                </a:rPr>
                <a:t>Rango de valores posibles o permitidos que sirven de referencia si </a:t>
              </a:r>
              <a:br>
                <a:rPr lang="es-PE" dirty="0">
                  <a:solidFill>
                    <a:schemeClr val="tx1"/>
                  </a:solidFill>
                  <a:latin typeface="Calibri" charset="0"/>
                  <a:ea typeface="+mn-ea"/>
                  <a:cs typeface="Calibri" charset="0"/>
                  <a:sym typeface="Calibri"/>
                </a:rPr>
              </a:br>
              <a:r>
                <a:rPr lang="es-PE" dirty="0">
                  <a:solidFill>
                    <a:schemeClr val="tx1"/>
                  </a:solidFill>
                  <a:latin typeface="Calibri" charset="0"/>
                  <a:ea typeface="+mn-ea"/>
                  <a:cs typeface="Calibri" charset="0"/>
                  <a:sym typeface="Calibri"/>
                </a:rPr>
                <a:t>se ha alcanzado o se ha logrado un resultado o comportamiento esperado.</a:t>
              </a:r>
              <a:endParaRPr lang="es-PE" dirty="0">
                <a:solidFill>
                  <a:schemeClr val="tx1"/>
                </a:solidFill>
                <a:latin typeface="Calibri" charset="0"/>
                <a:ea typeface="+mn-ea"/>
                <a:cs typeface="Calibri" charset="0"/>
              </a:endParaRPr>
            </a:p>
          </p:txBody>
        </p:sp>
        <p:sp>
          <p:nvSpPr>
            <p:cNvPr id="20" name="Redondear rectángulo de esquina del mismo lado 19">
              <a:extLst>
                <a:ext uri="{FF2B5EF4-FFF2-40B4-BE49-F238E27FC236}">
                  <a16:creationId xmlns:a16="http://schemas.microsoft.com/office/drawing/2014/main" id="{4FC705E2-BF8E-244E-8642-71D2BDEC65C7}"/>
                </a:ext>
              </a:extLst>
            </p:cNvPr>
            <p:cNvSpPr/>
            <p:nvPr/>
          </p:nvSpPr>
          <p:spPr>
            <a:xfrm rot="16200000">
              <a:off x="1569957" y="3541266"/>
              <a:ext cx="827251" cy="1441993"/>
            </a:xfrm>
            <a:prstGeom prst="round2SameRect">
              <a:avLst/>
            </a:prstGeom>
            <a:solidFill>
              <a:srgbClr val="EE46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sz="1400" dirty="0">
                <a:latin typeface="Calibri" panose="020F0502020204030204" pitchFamily="34" charset="0"/>
              </a:endParaRPr>
            </a:p>
          </p:txBody>
        </p:sp>
        <p:sp>
          <p:nvSpPr>
            <p:cNvPr id="21" name="CuadroTexto 20">
              <a:extLst>
                <a:ext uri="{FF2B5EF4-FFF2-40B4-BE49-F238E27FC236}">
                  <a16:creationId xmlns:a16="http://schemas.microsoft.com/office/drawing/2014/main" id="{FA1FD2BB-5051-E744-8C25-C7A6730F9273}"/>
                </a:ext>
              </a:extLst>
            </p:cNvPr>
            <p:cNvSpPr txBox="1"/>
            <p:nvPr/>
          </p:nvSpPr>
          <p:spPr>
            <a:xfrm>
              <a:off x="1277688" y="4158612"/>
              <a:ext cx="1426891" cy="215444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s-PE" b="1" dirty="0">
                  <a:solidFill>
                    <a:schemeClr val="lt1"/>
                  </a:solidFill>
                  <a:latin typeface="Calibri"/>
                  <a:cs typeface="Calibri"/>
                  <a:sym typeface="Calibri"/>
                </a:rPr>
                <a:t>Regla o Escala</a:t>
              </a:r>
              <a:endParaRPr lang="es-PE" b="1" dirty="0">
                <a:solidFill>
                  <a:schemeClr val="lt1"/>
                </a:solidFill>
                <a:latin typeface="Calibri"/>
                <a:cs typeface="Calibri"/>
              </a:endParaRPr>
            </a:p>
          </p:txBody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333;p23">
            <a:extLst>
              <a:ext uri="{FF2B5EF4-FFF2-40B4-BE49-F238E27FC236}">
                <a16:creationId xmlns:a16="http://schemas.microsoft.com/office/drawing/2014/main" id="{D4C7C63A-4860-2E46-9FD0-ACB3645A6BB6}"/>
              </a:ext>
            </a:extLst>
          </p:cNvPr>
          <p:cNvSpPr/>
          <p:nvPr/>
        </p:nvSpPr>
        <p:spPr>
          <a:xfrm>
            <a:off x="4569773" y="1683324"/>
            <a:ext cx="3175640" cy="501005"/>
          </a:xfrm>
          <a:prstGeom prst="roundRect">
            <a:avLst>
              <a:gd name="adj" fmla="val 18326"/>
            </a:avLst>
          </a:prstGeom>
          <a:solidFill>
            <a:srgbClr val="00B1C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1430" lvl="0" indent="0" algn="ctr">
              <a:buSzPts val="2000"/>
              <a:buFont typeface="Arial"/>
              <a:buNone/>
            </a:pPr>
            <a:r>
              <a:rPr lang="es-PE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/>
              </a:rPr>
              <a:t>MEDIDAS INDIRECTAS</a:t>
            </a:r>
            <a:endParaRPr lang="es-PE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Google Shape;335;p23">
            <a:extLst>
              <a:ext uri="{FF2B5EF4-FFF2-40B4-BE49-F238E27FC236}">
                <a16:creationId xmlns:a16="http://schemas.microsoft.com/office/drawing/2014/main" id="{86EAFFEA-15E4-4A41-B873-CF3B212903E2}"/>
              </a:ext>
            </a:extLst>
          </p:cNvPr>
          <p:cNvSpPr/>
          <p:nvPr/>
        </p:nvSpPr>
        <p:spPr>
          <a:xfrm>
            <a:off x="4569773" y="2257874"/>
            <a:ext cx="3175640" cy="2707313"/>
          </a:xfrm>
          <a:prstGeom prst="roundRect">
            <a:avLst>
              <a:gd name="adj" fmla="val 4409"/>
            </a:avLst>
          </a:prstGeom>
          <a:solidFill>
            <a:srgbClr val="D1EFF4"/>
          </a:solidFill>
          <a:ln>
            <a:noFill/>
          </a:ln>
        </p:spPr>
        <p:txBody>
          <a:bodyPr spcFirstLastPara="1" wrap="square" lIns="108000" tIns="108000" rIns="108000" bIns="45700" anchor="t" anchorCtr="0">
            <a:noAutofit/>
          </a:bodyPr>
          <a:lstStyle/>
          <a:p>
            <a:pPr marL="46038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3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Entre otros:</a:t>
            </a:r>
            <a:endParaRPr lang="es-PE" sz="1300" dirty="0"/>
          </a:p>
          <a:p>
            <a:pPr marL="222250" lvl="1" indent="-134938">
              <a:buClr>
                <a:srgbClr val="00B1C2"/>
              </a:buClr>
              <a:buSzPct val="100000"/>
              <a:buFont typeface="Arial" panose="020B0604020202020204" pitchFamily="34" charset="0"/>
              <a:buChar char="•"/>
            </a:pPr>
            <a:r>
              <a:rPr lang="es-PE" sz="1300" dirty="0">
                <a:latin typeface="Calibri" panose="020F0502020204030204" pitchFamily="34" charset="0"/>
                <a:ea typeface="+mj-lt"/>
                <a:cs typeface="Calibri" panose="020F0502020204030204" pitchFamily="34" charset="0"/>
                <a:sym typeface="Calibri"/>
              </a:rPr>
              <a:t>Nivel de Funcionalidad</a:t>
            </a:r>
            <a:endParaRPr lang="es-PE" sz="1300" dirty="0">
              <a:latin typeface="Calibri" panose="020F0502020204030204" pitchFamily="34" charset="0"/>
              <a:ea typeface="+mj-lt"/>
              <a:cs typeface="Calibri" panose="020F0502020204030204" pitchFamily="34" charset="0"/>
            </a:endParaRPr>
          </a:p>
          <a:p>
            <a:pPr marL="222250" lvl="1" indent="-134938">
              <a:buClr>
                <a:srgbClr val="00B1C2"/>
              </a:buClr>
              <a:buSzPct val="100000"/>
              <a:buFont typeface="Arial" panose="020B0604020202020204" pitchFamily="34" charset="0"/>
              <a:buChar char="•"/>
            </a:pPr>
            <a:r>
              <a:rPr lang="es-PE" sz="1300" dirty="0">
                <a:latin typeface="Calibri" panose="020F0502020204030204" pitchFamily="34" charset="0"/>
                <a:ea typeface="+mj-lt"/>
                <a:cs typeface="Calibri" panose="020F0502020204030204" pitchFamily="34" charset="0"/>
                <a:sym typeface="Calibri"/>
              </a:rPr>
              <a:t>Nivel de Usabilidad</a:t>
            </a:r>
            <a:endParaRPr lang="es-PE" sz="1300" dirty="0">
              <a:latin typeface="Calibri" panose="020F0502020204030204" pitchFamily="34" charset="0"/>
              <a:ea typeface="+mj-lt"/>
              <a:cs typeface="Calibri" panose="020F0502020204030204" pitchFamily="34" charset="0"/>
            </a:endParaRPr>
          </a:p>
          <a:p>
            <a:pPr marL="222250" lvl="1" indent="-134938">
              <a:buClr>
                <a:srgbClr val="00B1C2"/>
              </a:buClr>
              <a:buSzPct val="100000"/>
              <a:buFont typeface="Arial" panose="020B0604020202020204" pitchFamily="34" charset="0"/>
              <a:buChar char="•"/>
            </a:pPr>
            <a:r>
              <a:rPr lang="es-PE" sz="1300" dirty="0">
                <a:latin typeface="Calibri" panose="020F0502020204030204" pitchFamily="34" charset="0"/>
                <a:ea typeface="+mj-lt"/>
                <a:cs typeface="Calibri" panose="020F0502020204030204" pitchFamily="34" charset="0"/>
                <a:sym typeface="Calibri"/>
              </a:rPr>
              <a:t>Nivel de Portabilidad</a:t>
            </a:r>
            <a:endParaRPr lang="es-PE" sz="1300" dirty="0">
              <a:latin typeface="Calibri" panose="020F0502020204030204" pitchFamily="34" charset="0"/>
              <a:ea typeface="+mj-lt"/>
              <a:cs typeface="Calibri" panose="020F0502020204030204" pitchFamily="34" charset="0"/>
            </a:endParaRPr>
          </a:p>
          <a:p>
            <a:pPr marL="222250" lvl="1" indent="-134938">
              <a:buClr>
                <a:srgbClr val="00B1C2"/>
              </a:buClr>
              <a:buSzPct val="100000"/>
              <a:buFont typeface="Arial" panose="020B0604020202020204" pitchFamily="34" charset="0"/>
              <a:buChar char="•"/>
            </a:pPr>
            <a:r>
              <a:rPr lang="es-PE" sz="1300" dirty="0">
                <a:latin typeface="Calibri" panose="020F0502020204030204" pitchFamily="34" charset="0"/>
                <a:ea typeface="+mj-lt"/>
                <a:cs typeface="Calibri" panose="020F0502020204030204" pitchFamily="34" charset="0"/>
                <a:sym typeface="Calibri"/>
              </a:rPr>
              <a:t>Nivel de Mantenibilidad</a:t>
            </a:r>
            <a:endParaRPr lang="es-PE" sz="1300" dirty="0">
              <a:latin typeface="Calibri" panose="020F0502020204030204" pitchFamily="34" charset="0"/>
              <a:ea typeface="+mj-lt"/>
              <a:cs typeface="Calibri" panose="020F0502020204030204" pitchFamily="34" charset="0"/>
            </a:endParaRPr>
          </a:p>
          <a:p>
            <a:pPr marL="222250" lvl="1" indent="-134938">
              <a:buClr>
                <a:srgbClr val="00B1C2"/>
              </a:buClr>
              <a:buSzPct val="100000"/>
              <a:buFont typeface="Arial" panose="020B0604020202020204" pitchFamily="34" charset="0"/>
              <a:buChar char="•"/>
            </a:pPr>
            <a:r>
              <a:rPr lang="es-PE" sz="1300" dirty="0">
                <a:latin typeface="Calibri" panose="020F0502020204030204" pitchFamily="34" charset="0"/>
                <a:ea typeface="+mj-lt"/>
                <a:cs typeface="Calibri" panose="020F0502020204030204" pitchFamily="34" charset="0"/>
                <a:sym typeface="Calibri"/>
              </a:rPr>
              <a:t>Nivel de Complejidad</a:t>
            </a:r>
            <a:endParaRPr lang="es-PE" sz="1300" dirty="0">
              <a:latin typeface="Calibri" panose="020F0502020204030204" pitchFamily="34" charset="0"/>
              <a:ea typeface="+mj-lt"/>
              <a:cs typeface="Calibri" panose="020F0502020204030204" pitchFamily="34" charset="0"/>
            </a:endParaRPr>
          </a:p>
          <a:p>
            <a:pPr marL="222250" lvl="1" indent="-134938">
              <a:buClr>
                <a:srgbClr val="00B1C2"/>
              </a:buClr>
              <a:buSzPct val="100000"/>
              <a:buFont typeface="Arial" panose="020B0604020202020204" pitchFamily="34" charset="0"/>
              <a:buChar char="•"/>
            </a:pPr>
            <a:r>
              <a:rPr lang="es-PE" sz="1300" dirty="0">
                <a:latin typeface="Calibri" panose="020F0502020204030204" pitchFamily="34" charset="0"/>
                <a:ea typeface="+mj-lt"/>
                <a:cs typeface="Calibri" panose="020F0502020204030204" pitchFamily="34" charset="0"/>
                <a:sym typeface="Calibri"/>
              </a:rPr>
              <a:t>Nivel de Eficiencia</a:t>
            </a:r>
            <a:endParaRPr lang="es-ES_tradnl" dirty="0">
              <a:latin typeface="Calibri" panose="020F0502020204030204" pitchFamily="34" charset="0"/>
              <a:ea typeface="+mj-lt"/>
              <a:cs typeface="Calibri" panose="020F0502020204030204" pitchFamily="34" charset="0"/>
              <a:sym typeface="Calibri"/>
            </a:endParaRPr>
          </a:p>
        </p:txBody>
      </p:sp>
      <p:grpSp>
        <p:nvGrpSpPr>
          <p:cNvPr id="25" name="Agrupar 9">
            <a:extLst>
              <a:ext uri="{FF2B5EF4-FFF2-40B4-BE49-F238E27FC236}">
                <a16:creationId xmlns:a16="http://schemas.microsoft.com/office/drawing/2014/main" id="{DC5D169F-4319-5B40-8448-9A6016D6D1E4}"/>
              </a:ext>
            </a:extLst>
          </p:cNvPr>
          <p:cNvGrpSpPr/>
          <p:nvPr/>
        </p:nvGrpSpPr>
        <p:grpSpPr>
          <a:xfrm>
            <a:off x="4354007" y="1731953"/>
            <a:ext cx="459474" cy="403823"/>
            <a:chOff x="5892512" y="2805541"/>
            <a:chExt cx="459474" cy="403823"/>
          </a:xfrm>
        </p:grpSpPr>
        <p:sp>
          <p:nvSpPr>
            <p:cNvPr id="26" name="Elipse 25">
              <a:extLst>
                <a:ext uri="{FF2B5EF4-FFF2-40B4-BE49-F238E27FC236}">
                  <a16:creationId xmlns:a16="http://schemas.microsoft.com/office/drawing/2014/main" id="{371BE6FD-1C42-0B42-A386-7F4CB1660569}"/>
                </a:ext>
              </a:extLst>
            </p:cNvPr>
            <p:cNvSpPr/>
            <p:nvPr/>
          </p:nvSpPr>
          <p:spPr>
            <a:xfrm>
              <a:off x="5956277" y="2824919"/>
              <a:ext cx="395709" cy="376075"/>
            </a:xfrm>
            <a:prstGeom prst="ellipse">
              <a:avLst/>
            </a:prstGeom>
            <a:solidFill>
              <a:srgbClr val="0B828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sz="1300" dirty="0">
                <a:latin typeface="Calibri" panose="020F0502020204030204" pitchFamily="34" charset="0"/>
              </a:endParaRPr>
            </a:p>
          </p:txBody>
        </p:sp>
        <p:sp>
          <p:nvSpPr>
            <p:cNvPr id="27" name="Elipse 26">
              <a:extLst>
                <a:ext uri="{FF2B5EF4-FFF2-40B4-BE49-F238E27FC236}">
                  <a16:creationId xmlns:a16="http://schemas.microsoft.com/office/drawing/2014/main" id="{B12CE387-273C-D747-A9A5-6E3C0D478643}"/>
                </a:ext>
              </a:extLst>
            </p:cNvPr>
            <p:cNvSpPr/>
            <p:nvPr/>
          </p:nvSpPr>
          <p:spPr>
            <a:xfrm>
              <a:off x="5892512" y="2805541"/>
              <a:ext cx="424906" cy="40382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sz="1300" dirty="0">
                <a:latin typeface="Calibri" panose="020F0502020204030204" pitchFamily="34" charset="0"/>
              </a:endParaRPr>
            </a:p>
          </p:txBody>
        </p:sp>
        <p:sp>
          <p:nvSpPr>
            <p:cNvPr id="28" name="Triángulo 27">
              <a:extLst>
                <a:ext uri="{FF2B5EF4-FFF2-40B4-BE49-F238E27FC236}">
                  <a16:creationId xmlns:a16="http://schemas.microsoft.com/office/drawing/2014/main" id="{C12159A6-2A41-D840-898A-FBDC970202AA}"/>
                </a:ext>
              </a:extLst>
            </p:cNvPr>
            <p:cNvSpPr/>
            <p:nvPr/>
          </p:nvSpPr>
          <p:spPr>
            <a:xfrm rot="5400000">
              <a:off x="6076285" y="2946262"/>
              <a:ext cx="186870" cy="122381"/>
            </a:xfrm>
            <a:prstGeom prst="triangle">
              <a:avLst/>
            </a:prstGeom>
            <a:solidFill>
              <a:srgbClr val="00B1C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sz="1300" dirty="0">
                <a:latin typeface="Calibri" panose="020F0502020204030204" pitchFamily="34" charset="0"/>
              </a:endParaRPr>
            </a:p>
          </p:txBody>
        </p:sp>
      </p:grpSp>
      <p:sp>
        <p:nvSpPr>
          <p:cNvPr id="9" name="Rectangle 5">
            <a:extLst>
              <a:ext uri="{FF2B5EF4-FFF2-40B4-BE49-F238E27FC236}">
                <a16:creationId xmlns:a16="http://schemas.microsoft.com/office/drawing/2014/main" id="{4CE7B7CE-6BAC-564A-BDAA-57EEDA9C440A}"/>
              </a:ext>
            </a:extLst>
          </p:cNvPr>
          <p:cNvSpPr/>
          <p:nvPr/>
        </p:nvSpPr>
        <p:spPr>
          <a:xfrm>
            <a:off x="503238" y="376232"/>
            <a:ext cx="3300666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/>
              </a:rPr>
              <a:t>SEGUIMIENTO DE PRUEBAS</a:t>
            </a:r>
            <a:endParaRPr lang="es-PE" sz="1000" dirty="0">
              <a:solidFill>
                <a:schemeClr val="bg1">
                  <a:lumMod val="6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Google Shape;333;p23">
            <a:extLst>
              <a:ext uri="{FF2B5EF4-FFF2-40B4-BE49-F238E27FC236}">
                <a16:creationId xmlns:a16="http://schemas.microsoft.com/office/drawing/2014/main" id="{8902F94E-4A3D-764A-9BBC-AA03210B70F1}"/>
              </a:ext>
            </a:extLst>
          </p:cNvPr>
          <p:cNvSpPr/>
          <p:nvPr/>
        </p:nvSpPr>
        <p:spPr>
          <a:xfrm>
            <a:off x="1216973" y="1683324"/>
            <a:ext cx="3175640" cy="501005"/>
          </a:xfrm>
          <a:prstGeom prst="roundRect">
            <a:avLst>
              <a:gd name="adj" fmla="val 18326"/>
            </a:avLst>
          </a:prstGeom>
          <a:solidFill>
            <a:srgbClr val="00B1C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1430" lvl="0" indent="0" algn="ctr">
              <a:buSzPts val="2000"/>
              <a:buFont typeface="Arial"/>
              <a:buNone/>
            </a:pPr>
            <a:r>
              <a:rPr lang="es-PE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/>
              </a:rPr>
              <a:t>MEDIDAS DIRECTAS</a:t>
            </a:r>
            <a:endParaRPr lang="es-PE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Google Shape;335;p23">
            <a:extLst>
              <a:ext uri="{FF2B5EF4-FFF2-40B4-BE49-F238E27FC236}">
                <a16:creationId xmlns:a16="http://schemas.microsoft.com/office/drawing/2014/main" id="{0A38277F-C93B-5943-87E0-73E2C9681295}"/>
              </a:ext>
            </a:extLst>
          </p:cNvPr>
          <p:cNvSpPr/>
          <p:nvPr/>
        </p:nvSpPr>
        <p:spPr>
          <a:xfrm>
            <a:off x="1216973" y="2257874"/>
            <a:ext cx="3175640" cy="2707313"/>
          </a:xfrm>
          <a:prstGeom prst="roundRect">
            <a:avLst>
              <a:gd name="adj" fmla="val 4409"/>
            </a:avLst>
          </a:prstGeom>
          <a:solidFill>
            <a:srgbClr val="D1EFF4"/>
          </a:solidFill>
          <a:ln>
            <a:noFill/>
          </a:ln>
        </p:spPr>
        <p:txBody>
          <a:bodyPr spcFirstLastPara="1" wrap="square" lIns="108000" tIns="108000" rIns="108000" bIns="45700" anchor="t" anchorCtr="0">
            <a:noAutofit/>
          </a:bodyPr>
          <a:lstStyle/>
          <a:p>
            <a:pPr marL="46038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3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Entre otros:</a:t>
            </a:r>
            <a:endParaRPr lang="es-PE" sz="1300" dirty="0"/>
          </a:p>
          <a:p>
            <a:pPr marL="222250" lvl="1" indent="-134938">
              <a:buClr>
                <a:srgbClr val="00B1C2"/>
              </a:buClr>
              <a:buSzPct val="100000"/>
              <a:buFont typeface="Arial" panose="020B0604020202020204" pitchFamily="34" charset="0"/>
              <a:buChar char="•"/>
            </a:pPr>
            <a:r>
              <a:rPr lang="es-PE" sz="1300" dirty="0">
                <a:latin typeface="Calibri" panose="020F0502020204030204" pitchFamily="34" charset="0"/>
                <a:ea typeface="+mj-lt"/>
                <a:cs typeface="Calibri" panose="020F0502020204030204" pitchFamily="34" charset="0"/>
                <a:sym typeface="Calibri"/>
              </a:rPr>
              <a:t>Costo de producción del software</a:t>
            </a:r>
            <a:endParaRPr lang="es-PE" sz="1300" dirty="0">
              <a:latin typeface="Calibri" panose="020F0502020204030204" pitchFamily="34" charset="0"/>
              <a:ea typeface="+mj-lt"/>
              <a:cs typeface="Calibri" panose="020F0502020204030204" pitchFamily="34" charset="0"/>
            </a:endParaRPr>
          </a:p>
          <a:p>
            <a:pPr marL="222250" lvl="1" indent="-134938">
              <a:buClr>
                <a:srgbClr val="00B1C2"/>
              </a:buClr>
              <a:buSzPct val="100000"/>
              <a:buFont typeface="Arial" panose="020B0604020202020204" pitchFamily="34" charset="0"/>
              <a:buChar char="•"/>
            </a:pPr>
            <a:r>
              <a:rPr lang="es-PE" sz="1300" dirty="0">
                <a:latin typeface="Calibri" panose="020F0502020204030204" pitchFamily="34" charset="0"/>
                <a:ea typeface="+mj-lt"/>
                <a:cs typeface="Calibri" panose="020F0502020204030204" pitchFamily="34" charset="0"/>
                <a:sym typeface="Calibri"/>
              </a:rPr>
              <a:t>Esfuerzo humano (número de horas hombre)</a:t>
            </a:r>
            <a:endParaRPr lang="es-PE" sz="1300" dirty="0">
              <a:latin typeface="Calibri" panose="020F0502020204030204" pitchFamily="34" charset="0"/>
              <a:ea typeface="+mj-lt"/>
              <a:cs typeface="Calibri" panose="020F0502020204030204" pitchFamily="34" charset="0"/>
            </a:endParaRPr>
          </a:p>
          <a:p>
            <a:pPr marL="222250" lvl="1" indent="-134938">
              <a:buClr>
                <a:srgbClr val="00B1C2"/>
              </a:buClr>
              <a:buSzPct val="100000"/>
              <a:buFont typeface="Arial" panose="020B0604020202020204" pitchFamily="34" charset="0"/>
              <a:buChar char="•"/>
            </a:pPr>
            <a:r>
              <a:rPr lang="es-PE" sz="1300" dirty="0">
                <a:latin typeface="Calibri" panose="020F0502020204030204" pitchFamily="34" charset="0"/>
                <a:ea typeface="+mj-lt"/>
                <a:cs typeface="Calibri" panose="020F0502020204030204" pitchFamily="34" charset="0"/>
                <a:sym typeface="Calibri"/>
              </a:rPr>
              <a:t>Número de líneas de código</a:t>
            </a:r>
            <a:endParaRPr lang="es-PE" sz="1300" dirty="0">
              <a:latin typeface="Calibri" panose="020F0502020204030204" pitchFamily="34" charset="0"/>
              <a:ea typeface="+mj-lt"/>
              <a:cs typeface="Calibri" panose="020F0502020204030204" pitchFamily="34" charset="0"/>
            </a:endParaRPr>
          </a:p>
          <a:p>
            <a:pPr marL="222250" lvl="1" indent="-134938">
              <a:buClr>
                <a:srgbClr val="00B1C2"/>
              </a:buClr>
              <a:buSzPct val="100000"/>
              <a:buFont typeface="Arial" panose="020B0604020202020204" pitchFamily="34" charset="0"/>
              <a:buChar char="•"/>
            </a:pPr>
            <a:r>
              <a:rPr lang="es-PE" sz="1300" dirty="0">
                <a:latin typeface="Calibri" panose="020F0502020204030204" pitchFamily="34" charset="0"/>
                <a:ea typeface="+mj-lt"/>
                <a:cs typeface="Calibri" panose="020F0502020204030204" pitchFamily="34" charset="0"/>
                <a:sym typeface="Calibri"/>
              </a:rPr>
              <a:t>Velocidad de ejecución de un componente</a:t>
            </a:r>
            <a:endParaRPr lang="es-PE" sz="1300" dirty="0">
              <a:latin typeface="Calibri" panose="020F0502020204030204" pitchFamily="34" charset="0"/>
              <a:ea typeface="+mj-lt"/>
              <a:cs typeface="Calibri" panose="020F0502020204030204" pitchFamily="34" charset="0"/>
            </a:endParaRPr>
          </a:p>
          <a:p>
            <a:pPr marL="222250" lvl="1" indent="-134938">
              <a:buClr>
                <a:srgbClr val="00B1C2"/>
              </a:buClr>
              <a:buSzPct val="100000"/>
              <a:buFont typeface="Arial" panose="020B0604020202020204" pitchFamily="34" charset="0"/>
              <a:buChar char="•"/>
            </a:pPr>
            <a:r>
              <a:rPr lang="es-PE" sz="1300" dirty="0">
                <a:latin typeface="Calibri" panose="020F0502020204030204" pitchFamily="34" charset="0"/>
                <a:ea typeface="+mj-lt"/>
                <a:cs typeface="Calibri" panose="020F0502020204030204" pitchFamily="34" charset="0"/>
                <a:sym typeface="Calibri"/>
              </a:rPr>
              <a:t>Tamaño de memoria requerido / consumido</a:t>
            </a:r>
            <a:endParaRPr lang="es-PE" sz="1300" dirty="0">
              <a:latin typeface="Calibri" panose="020F0502020204030204" pitchFamily="34" charset="0"/>
              <a:ea typeface="+mj-lt"/>
              <a:cs typeface="Calibri" panose="020F0502020204030204" pitchFamily="34" charset="0"/>
            </a:endParaRPr>
          </a:p>
          <a:p>
            <a:pPr marL="222250" lvl="1" indent="-134938">
              <a:buClr>
                <a:srgbClr val="00B1C2"/>
              </a:buClr>
              <a:buSzPct val="100000"/>
              <a:buFont typeface="Arial" panose="020B0604020202020204" pitchFamily="34" charset="0"/>
              <a:buChar char="•"/>
            </a:pPr>
            <a:r>
              <a:rPr lang="es-PE" sz="1300" dirty="0">
                <a:latin typeface="Calibri" panose="020F0502020204030204" pitchFamily="34" charset="0"/>
                <a:ea typeface="+mj-lt"/>
                <a:cs typeface="Calibri" panose="020F0502020204030204" pitchFamily="34" charset="0"/>
                <a:sym typeface="Calibri"/>
              </a:rPr>
              <a:t>Número de defectos</a:t>
            </a:r>
            <a:endParaRPr lang="es-PE" sz="1300" dirty="0">
              <a:latin typeface="Calibri" panose="020F0502020204030204" pitchFamily="34" charset="0"/>
              <a:ea typeface="+mj-lt"/>
              <a:cs typeface="Calibri" panose="020F0502020204030204" pitchFamily="34" charset="0"/>
            </a:endParaRPr>
          </a:p>
          <a:p>
            <a:pPr marL="222250" lvl="1" indent="-134938">
              <a:buClr>
                <a:srgbClr val="00B1C2"/>
              </a:buClr>
              <a:buSzPct val="100000"/>
              <a:buFont typeface="Arial" panose="020B0604020202020204" pitchFamily="34" charset="0"/>
              <a:buChar char="•"/>
            </a:pPr>
            <a:r>
              <a:rPr lang="es-PE" sz="1300" dirty="0">
                <a:latin typeface="Calibri" panose="020F0502020204030204" pitchFamily="34" charset="0"/>
                <a:ea typeface="+mj-lt"/>
                <a:cs typeface="Calibri" panose="020F0502020204030204" pitchFamily="34" charset="0"/>
                <a:sym typeface="Calibri"/>
              </a:rPr>
              <a:t>Número de casos de pruebas </a:t>
            </a:r>
            <a:br>
              <a:rPr lang="es-PE" sz="1300" dirty="0">
                <a:latin typeface="Calibri" panose="020F0502020204030204" pitchFamily="34" charset="0"/>
                <a:ea typeface="+mj-lt"/>
                <a:cs typeface="Calibri" panose="020F0502020204030204" pitchFamily="34" charset="0"/>
                <a:sym typeface="Calibri"/>
              </a:rPr>
            </a:br>
            <a:r>
              <a:rPr lang="es-PE" sz="1300" dirty="0">
                <a:latin typeface="Calibri" panose="020F0502020204030204" pitchFamily="34" charset="0"/>
                <a:ea typeface="+mj-lt"/>
                <a:cs typeface="Calibri" panose="020F0502020204030204" pitchFamily="34" charset="0"/>
                <a:sym typeface="Calibri"/>
              </a:rPr>
              <a:t>de software</a:t>
            </a:r>
            <a:endParaRPr lang="es-ES_tradnl" dirty="0">
              <a:latin typeface="Calibri" panose="020F0502020204030204" pitchFamily="34" charset="0"/>
              <a:ea typeface="+mj-lt"/>
              <a:cs typeface="Calibri" panose="020F0502020204030204" pitchFamily="34" charset="0"/>
              <a:sym typeface="Calibri"/>
            </a:endParaRPr>
          </a:p>
        </p:txBody>
      </p:sp>
      <p:grpSp>
        <p:nvGrpSpPr>
          <p:cNvPr id="13" name="Agrupar 9">
            <a:extLst>
              <a:ext uri="{FF2B5EF4-FFF2-40B4-BE49-F238E27FC236}">
                <a16:creationId xmlns:a16="http://schemas.microsoft.com/office/drawing/2014/main" id="{7561B821-DA7B-AE43-AECE-60563C47DCC6}"/>
              </a:ext>
            </a:extLst>
          </p:cNvPr>
          <p:cNvGrpSpPr/>
          <p:nvPr/>
        </p:nvGrpSpPr>
        <p:grpSpPr>
          <a:xfrm>
            <a:off x="1001207" y="1731953"/>
            <a:ext cx="459474" cy="403823"/>
            <a:chOff x="5892512" y="2805541"/>
            <a:chExt cx="459474" cy="403823"/>
          </a:xfrm>
        </p:grpSpPr>
        <p:sp>
          <p:nvSpPr>
            <p:cNvPr id="20" name="Elipse 19">
              <a:extLst>
                <a:ext uri="{FF2B5EF4-FFF2-40B4-BE49-F238E27FC236}">
                  <a16:creationId xmlns:a16="http://schemas.microsoft.com/office/drawing/2014/main" id="{7FCB244F-10A9-1C42-B86F-11F8B9AE3E8E}"/>
                </a:ext>
              </a:extLst>
            </p:cNvPr>
            <p:cNvSpPr/>
            <p:nvPr/>
          </p:nvSpPr>
          <p:spPr>
            <a:xfrm>
              <a:off x="5956277" y="2824919"/>
              <a:ext cx="395709" cy="376075"/>
            </a:xfrm>
            <a:prstGeom prst="ellipse">
              <a:avLst/>
            </a:prstGeom>
            <a:solidFill>
              <a:srgbClr val="0B828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sz="1300" dirty="0">
                <a:latin typeface="Calibri" panose="020F0502020204030204" pitchFamily="34" charset="0"/>
              </a:endParaRPr>
            </a:p>
          </p:txBody>
        </p:sp>
        <p:sp>
          <p:nvSpPr>
            <p:cNvPr id="21" name="Elipse 20">
              <a:extLst>
                <a:ext uri="{FF2B5EF4-FFF2-40B4-BE49-F238E27FC236}">
                  <a16:creationId xmlns:a16="http://schemas.microsoft.com/office/drawing/2014/main" id="{F86EF4AA-398B-0E4A-9196-850BAB1E1025}"/>
                </a:ext>
              </a:extLst>
            </p:cNvPr>
            <p:cNvSpPr/>
            <p:nvPr/>
          </p:nvSpPr>
          <p:spPr>
            <a:xfrm>
              <a:off x="5892512" y="2805541"/>
              <a:ext cx="424906" cy="40382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sz="1300" dirty="0">
                <a:latin typeface="Calibri" panose="020F0502020204030204" pitchFamily="34" charset="0"/>
              </a:endParaRPr>
            </a:p>
          </p:txBody>
        </p:sp>
        <p:sp>
          <p:nvSpPr>
            <p:cNvPr id="22" name="Triángulo 21">
              <a:extLst>
                <a:ext uri="{FF2B5EF4-FFF2-40B4-BE49-F238E27FC236}">
                  <a16:creationId xmlns:a16="http://schemas.microsoft.com/office/drawing/2014/main" id="{AE36D9B9-7B25-8C42-A66F-280DE055280F}"/>
                </a:ext>
              </a:extLst>
            </p:cNvPr>
            <p:cNvSpPr/>
            <p:nvPr/>
          </p:nvSpPr>
          <p:spPr>
            <a:xfrm rot="5400000">
              <a:off x="6076285" y="2946262"/>
              <a:ext cx="186870" cy="122381"/>
            </a:xfrm>
            <a:prstGeom prst="triangle">
              <a:avLst/>
            </a:prstGeom>
            <a:solidFill>
              <a:srgbClr val="00B1C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sz="1300" dirty="0">
                <a:latin typeface="Calibri" panose="020F0502020204030204" pitchFamily="34" charset="0"/>
              </a:endParaRPr>
            </a:p>
          </p:txBody>
        </p:sp>
      </p:grpSp>
      <p:sp>
        <p:nvSpPr>
          <p:cNvPr id="29" name="Rectángulo 28">
            <a:extLst>
              <a:ext uri="{FF2B5EF4-FFF2-40B4-BE49-F238E27FC236}">
                <a16:creationId xmlns:a16="http://schemas.microsoft.com/office/drawing/2014/main" id="{665606A7-B02A-8C49-949D-4F9159D6AAE4}"/>
              </a:ext>
            </a:extLst>
          </p:cNvPr>
          <p:cNvSpPr/>
          <p:nvPr/>
        </p:nvSpPr>
        <p:spPr>
          <a:xfrm>
            <a:off x="503236" y="916472"/>
            <a:ext cx="7636423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buClr>
                <a:schemeClr val="dk1"/>
              </a:buClr>
              <a:buSzPts val="1600"/>
            </a:pPr>
            <a:r>
              <a:rPr lang="es-ES" sz="2000" b="1" dirty="0">
                <a:solidFill>
                  <a:srgbClr val="EE4639"/>
                </a:solidFill>
                <a:latin typeface="Graphik Bold" panose="020B0503030202060203" pitchFamily="34" charset="77"/>
                <a:cs typeface="Calibri" charset="0"/>
              </a:rPr>
              <a:t>+ 05.</a:t>
            </a:r>
            <a:br>
              <a:rPr lang="es-ES" sz="1600" b="1" dirty="0">
                <a:solidFill>
                  <a:srgbClr val="EE4639"/>
                </a:solidFill>
                <a:latin typeface="Calibri" charset="0"/>
                <a:cs typeface="Calibri" charset="0"/>
              </a:rPr>
            </a:br>
            <a:r>
              <a:rPr lang="es-PE" sz="1600" b="1" dirty="0">
                <a:solidFill>
                  <a:srgbClr val="EE4639"/>
                </a:solidFill>
                <a:latin typeface="Calibri" charset="0"/>
                <a:cs typeface="Calibri" charset="0"/>
                <a:sym typeface="Calibri"/>
              </a:rPr>
              <a:t>MEDICIÓN DE SOFTWARE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>
            <a:extLst>
              <a:ext uri="{FF2B5EF4-FFF2-40B4-BE49-F238E27FC236}">
                <a16:creationId xmlns:a16="http://schemas.microsoft.com/office/drawing/2014/main" id="{2BF982C6-AA4D-E349-9A59-BB1220651FC3}"/>
              </a:ext>
            </a:extLst>
          </p:cNvPr>
          <p:cNvSpPr/>
          <p:nvPr/>
        </p:nvSpPr>
        <p:spPr>
          <a:xfrm>
            <a:off x="503238" y="376232"/>
            <a:ext cx="3300666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/>
              </a:rPr>
              <a:t>SEGUIMIENTO DE PRUEBAS</a:t>
            </a:r>
            <a:endParaRPr lang="es-PE" sz="1000" dirty="0">
              <a:solidFill>
                <a:schemeClr val="bg1">
                  <a:lumMod val="6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C6EA8219-47B9-9D4B-83C8-C44EA7272D62}"/>
              </a:ext>
            </a:extLst>
          </p:cNvPr>
          <p:cNvSpPr/>
          <p:nvPr/>
        </p:nvSpPr>
        <p:spPr>
          <a:xfrm>
            <a:off x="503236" y="916472"/>
            <a:ext cx="7636423" cy="11233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buClr>
                <a:schemeClr val="dk1"/>
              </a:buClr>
              <a:buSzPts val="1600"/>
            </a:pPr>
            <a:r>
              <a:rPr lang="es-ES" sz="2000" b="1" dirty="0">
                <a:solidFill>
                  <a:srgbClr val="EE4639"/>
                </a:solidFill>
                <a:latin typeface="Graphik Bold" panose="020B0503030202060203" pitchFamily="34" charset="77"/>
                <a:cs typeface="Calibri" charset="0"/>
              </a:rPr>
              <a:t>+ 05.</a:t>
            </a:r>
            <a:br>
              <a:rPr lang="es-ES" sz="1600" b="1" dirty="0">
                <a:solidFill>
                  <a:srgbClr val="EE4639"/>
                </a:solidFill>
                <a:latin typeface="Calibri" charset="0"/>
                <a:cs typeface="Calibri" charset="0"/>
              </a:rPr>
            </a:br>
            <a:r>
              <a:rPr lang="es-PE" sz="1600" b="1" dirty="0">
                <a:solidFill>
                  <a:srgbClr val="EE4639"/>
                </a:solidFill>
                <a:latin typeface="Calibri" charset="0"/>
                <a:cs typeface="Calibri" charset="0"/>
                <a:sym typeface="Calibri"/>
              </a:rPr>
              <a:t>MEDICIÓN DE SOFTWARE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600" b="1" dirty="0">
                <a:solidFill>
                  <a:srgbClr val="7150A0"/>
                </a:solidFill>
                <a:latin typeface="Calibri"/>
                <a:ea typeface="Calibri"/>
                <a:cs typeface="Calibri"/>
                <a:sym typeface="Calibri"/>
              </a:rPr>
              <a:t>RAZONES PARA APLICAR MÉTRICAS DE SW</a:t>
            </a:r>
            <a:endParaRPr lang="es-PE" sz="1600" dirty="0">
              <a:solidFill>
                <a:srgbClr val="7150A0"/>
              </a:solidFill>
            </a:endParaRPr>
          </a:p>
          <a:p>
            <a:pPr marL="182563" marR="0" lvl="0" indent="-182563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PE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 tiene varias razones para medir un producto:</a:t>
            </a:r>
            <a:endParaRPr lang="es-PE" sz="1600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262E558B-83CE-ED48-8F5B-362D8B150DF2}"/>
              </a:ext>
            </a:extLst>
          </p:cNvPr>
          <p:cNvSpPr/>
          <p:nvPr/>
        </p:nvSpPr>
        <p:spPr>
          <a:xfrm>
            <a:off x="1488778" y="2226153"/>
            <a:ext cx="4186619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</a:pPr>
            <a:r>
              <a:rPr lang="es-PE" sz="1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Para indicar el </a:t>
            </a:r>
            <a:r>
              <a:rPr lang="es-PE" sz="1400" b="1" dirty="0">
                <a:solidFill>
                  <a:srgbClr val="EE4639"/>
                </a:solidFill>
                <a:latin typeface="Calibri"/>
                <a:ea typeface="Calibri"/>
                <a:cs typeface="Calibri"/>
                <a:sym typeface="Calibri"/>
              </a:rPr>
              <a:t>nivel de calida</a:t>
            </a:r>
            <a:r>
              <a:rPr lang="es-PE" sz="1400" b="1" dirty="0">
                <a:solidFill>
                  <a:srgbClr val="D2032B"/>
                </a:solidFill>
                <a:latin typeface="Calibri"/>
                <a:ea typeface="Calibri"/>
                <a:cs typeface="Calibri"/>
                <a:sym typeface="Calibri"/>
              </a:rPr>
              <a:t>d </a:t>
            </a:r>
            <a:r>
              <a:rPr lang="es-PE" sz="1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 un software.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FAA11482-C824-404E-AE28-6E7528CD911B}"/>
              </a:ext>
            </a:extLst>
          </p:cNvPr>
          <p:cNvSpPr/>
          <p:nvPr/>
        </p:nvSpPr>
        <p:spPr>
          <a:xfrm>
            <a:off x="684213" y="2128107"/>
            <a:ext cx="400819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s-ES" sz="2800" b="1" dirty="0">
                <a:solidFill>
                  <a:srgbClr val="7150A0"/>
                </a:solidFill>
                <a:latin typeface="Calibri" charset="0"/>
                <a:ea typeface="Calibri" charset="0"/>
                <a:cs typeface="Calibri" charset="0"/>
              </a:rPr>
              <a:t>01</a:t>
            </a:r>
            <a:endParaRPr lang="es-PE" sz="2800" b="1" dirty="0">
              <a:solidFill>
                <a:srgbClr val="7150A0"/>
              </a:solidFill>
              <a:latin typeface="Calibri" charset="0"/>
              <a:ea typeface="Calibri" charset="0"/>
              <a:cs typeface="Calibri" charset="0"/>
            </a:endParaRP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DCAE4B0C-CC11-9B41-9A83-E272F28D111E}"/>
              </a:ext>
            </a:extLst>
          </p:cNvPr>
          <p:cNvCxnSpPr>
            <a:cxnSpLocks/>
            <a:stCxn id="23" idx="4"/>
            <a:endCxn id="19" idx="0"/>
          </p:cNvCxnSpPr>
          <p:nvPr/>
        </p:nvCxnSpPr>
        <p:spPr>
          <a:xfrm>
            <a:off x="1274376" y="2349900"/>
            <a:ext cx="1" cy="1631824"/>
          </a:xfrm>
          <a:prstGeom prst="line">
            <a:avLst/>
          </a:prstGeom>
          <a:ln w="12700">
            <a:solidFill>
              <a:srgbClr val="715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ángulo 10">
            <a:extLst>
              <a:ext uri="{FF2B5EF4-FFF2-40B4-BE49-F238E27FC236}">
                <a16:creationId xmlns:a16="http://schemas.microsoft.com/office/drawing/2014/main" id="{62DBF044-6AB7-8C43-91A9-3A370620BC52}"/>
              </a:ext>
            </a:extLst>
          </p:cNvPr>
          <p:cNvSpPr/>
          <p:nvPr/>
        </p:nvSpPr>
        <p:spPr>
          <a:xfrm>
            <a:off x="684213" y="2630314"/>
            <a:ext cx="400819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s-ES" sz="2800" b="1" dirty="0">
                <a:solidFill>
                  <a:srgbClr val="7150A0"/>
                </a:solidFill>
                <a:latin typeface="Calibri" charset="0"/>
                <a:ea typeface="Calibri" charset="0"/>
                <a:cs typeface="Calibri" charset="0"/>
              </a:rPr>
              <a:t>02</a:t>
            </a:r>
            <a:endParaRPr lang="es-PE" sz="2800" b="1" dirty="0">
              <a:solidFill>
                <a:srgbClr val="7150A0"/>
              </a:solidFill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9F9287F4-236B-7D43-A6F6-A9FDE2EC1CE9}"/>
              </a:ext>
            </a:extLst>
          </p:cNvPr>
          <p:cNvSpPr/>
          <p:nvPr/>
        </p:nvSpPr>
        <p:spPr>
          <a:xfrm>
            <a:off x="684213" y="3872882"/>
            <a:ext cx="400819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s-ES" sz="2800" b="1" dirty="0">
                <a:solidFill>
                  <a:srgbClr val="7150A0"/>
                </a:solidFill>
                <a:latin typeface="Calibri" charset="0"/>
                <a:ea typeface="Calibri" charset="0"/>
                <a:cs typeface="Calibri" charset="0"/>
              </a:rPr>
              <a:t>04</a:t>
            </a:r>
            <a:endParaRPr lang="es-PE" sz="2800" b="1" dirty="0">
              <a:solidFill>
                <a:srgbClr val="7150A0"/>
              </a:solidFill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DDFA3CFD-50E4-3145-B562-F7BCCF3DC1EF}"/>
              </a:ext>
            </a:extLst>
          </p:cNvPr>
          <p:cNvSpPr/>
          <p:nvPr/>
        </p:nvSpPr>
        <p:spPr>
          <a:xfrm>
            <a:off x="1488778" y="2734417"/>
            <a:ext cx="5266439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</a:pPr>
            <a:r>
              <a:rPr lang="es-PE" sz="1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Para </a:t>
            </a:r>
            <a:r>
              <a:rPr lang="es-PE" sz="1400" b="1" dirty="0">
                <a:solidFill>
                  <a:srgbClr val="EE4639"/>
                </a:solidFill>
                <a:latin typeface="Calibri"/>
                <a:ea typeface="Calibri"/>
                <a:cs typeface="Calibri"/>
                <a:sym typeface="Calibri"/>
              </a:rPr>
              <a:t>evaluar la productividad de la gente </a:t>
            </a:r>
            <a:r>
              <a:rPr lang="es-PE" sz="1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 desarrolla el software.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25EE4CAE-6EFC-9947-AC38-AD7D9D3DC182}"/>
              </a:ext>
            </a:extLst>
          </p:cNvPr>
          <p:cNvSpPr/>
          <p:nvPr/>
        </p:nvSpPr>
        <p:spPr>
          <a:xfrm>
            <a:off x="1488778" y="3965750"/>
            <a:ext cx="5882398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</a:pPr>
            <a:r>
              <a:rPr lang="es-PE" sz="1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Para </a:t>
            </a:r>
            <a:r>
              <a:rPr lang="es-PE" sz="1400" b="1" dirty="0">
                <a:solidFill>
                  <a:srgbClr val="EE4639"/>
                </a:solidFill>
                <a:latin typeface="Calibri"/>
                <a:ea typeface="Calibri"/>
                <a:cs typeface="Calibri"/>
                <a:sym typeface="Calibri"/>
              </a:rPr>
              <a:t>establecer una línea base </a:t>
            </a:r>
            <a:r>
              <a:rPr lang="es-PE" sz="1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para la estimación futura.</a:t>
            </a:r>
            <a:endParaRPr lang="es-PE" sz="1400" dirty="0"/>
          </a:p>
        </p:txBody>
      </p:sp>
      <p:grpSp>
        <p:nvGrpSpPr>
          <p:cNvPr id="15" name="Agrupar 16">
            <a:extLst>
              <a:ext uri="{FF2B5EF4-FFF2-40B4-BE49-F238E27FC236}">
                <a16:creationId xmlns:a16="http://schemas.microsoft.com/office/drawing/2014/main" id="{E48B2E3D-87C5-1445-9711-09DBDB617C83}"/>
              </a:ext>
            </a:extLst>
          </p:cNvPr>
          <p:cNvGrpSpPr/>
          <p:nvPr/>
        </p:nvGrpSpPr>
        <p:grpSpPr>
          <a:xfrm>
            <a:off x="1203981" y="2739156"/>
            <a:ext cx="140792" cy="140258"/>
            <a:chOff x="3427964" y="2244682"/>
            <a:chExt cx="225891" cy="225034"/>
          </a:xfrm>
        </p:grpSpPr>
        <p:sp>
          <p:nvSpPr>
            <p:cNvPr id="16" name="Elipse 15">
              <a:extLst>
                <a:ext uri="{FF2B5EF4-FFF2-40B4-BE49-F238E27FC236}">
                  <a16:creationId xmlns:a16="http://schemas.microsoft.com/office/drawing/2014/main" id="{187A6956-8100-CF49-88D9-BF773853E3FB}"/>
                </a:ext>
              </a:extLst>
            </p:cNvPr>
            <p:cNvSpPr/>
            <p:nvPr/>
          </p:nvSpPr>
          <p:spPr>
            <a:xfrm>
              <a:off x="3427964" y="2244682"/>
              <a:ext cx="225891" cy="225034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714F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dirty="0">
                <a:latin typeface="Calibri" panose="020F0502020204030204" pitchFamily="34" charset="0"/>
              </a:endParaRPr>
            </a:p>
          </p:txBody>
        </p:sp>
        <p:sp>
          <p:nvSpPr>
            <p:cNvPr id="17" name="Elipse 16">
              <a:extLst>
                <a:ext uri="{FF2B5EF4-FFF2-40B4-BE49-F238E27FC236}">
                  <a16:creationId xmlns:a16="http://schemas.microsoft.com/office/drawing/2014/main" id="{ED4A66CD-804C-7D48-9CCF-42D1CE2B3A47}"/>
                </a:ext>
              </a:extLst>
            </p:cNvPr>
            <p:cNvSpPr/>
            <p:nvPr/>
          </p:nvSpPr>
          <p:spPr>
            <a:xfrm>
              <a:off x="3482167" y="2298680"/>
              <a:ext cx="117483" cy="117037"/>
            </a:xfrm>
            <a:prstGeom prst="ellipse">
              <a:avLst/>
            </a:prstGeom>
            <a:solidFill>
              <a:srgbClr val="714FA0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dirty="0">
                <a:latin typeface="Calibri" panose="020F0502020204030204" pitchFamily="34" charset="0"/>
              </a:endParaRPr>
            </a:p>
          </p:txBody>
        </p:sp>
      </p:grpSp>
      <p:grpSp>
        <p:nvGrpSpPr>
          <p:cNvPr id="18" name="Agrupar 26">
            <a:extLst>
              <a:ext uri="{FF2B5EF4-FFF2-40B4-BE49-F238E27FC236}">
                <a16:creationId xmlns:a16="http://schemas.microsoft.com/office/drawing/2014/main" id="{DC4915E1-CA58-6442-A0BF-3F56DEB70D95}"/>
              </a:ext>
            </a:extLst>
          </p:cNvPr>
          <p:cNvGrpSpPr/>
          <p:nvPr/>
        </p:nvGrpSpPr>
        <p:grpSpPr>
          <a:xfrm>
            <a:off x="1203981" y="3981724"/>
            <a:ext cx="140792" cy="140258"/>
            <a:chOff x="3427964" y="2244682"/>
            <a:chExt cx="225891" cy="225034"/>
          </a:xfrm>
        </p:grpSpPr>
        <p:sp>
          <p:nvSpPr>
            <p:cNvPr id="19" name="Elipse 18">
              <a:extLst>
                <a:ext uri="{FF2B5EF4-FFF2-40B4-BE49-F238E27FC236}">
                  <a16:creationId xmlns:a16="http://schemas.microsoft.com/office/drawing/2014/main" id="{BC4C0C14-0E5B-AA47-A484-F8C2447EDFE3}"/>
                </a:ext>
              </a:extLst>
            </p:cNvPr>
            <p:cNvSpPr/>
            <p:nvPr/>
          </p:nvSpPr>
          <p:spPr>
            <a:xfrm>
              <a:off x="3427964" y="2244682"/>
              <a:ext cx="225891" cy="225034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714F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dirty="0">
                <a:latin typeface="Calibri" panose="020F0502020204030204" pitchFamily="34" charset="0"/>
              </a:endParaRPr>
            </a:p>
          </p:txBody>
        </p:sp>
        <p:sp>
          <p:nvSpPr>
            <p:cNvPr id="20" name="Elipse 19">
              <a:extLst>
                <a:ext uri="{FF2B5EF4-FFF2-40B4-BE49-F238E27FC236}">
                  <a16:creationId xmlns:a16="http://schemas.microsoft.com/office/drawing/2014/main" id="{0B149B17-13B5-0D4F-8FE4-F517E4B28240}"/>
                </a:ext>
              </a:extLst>
            </p:cNvPr>
            <p:cNvSpPr/>
            <p:nvPr/>
          </p:nvSpPr>
          <p:spPr>
            <a:xfrm>
              <a:off x="3482167" y="2298680"/>
              <a:ext cx="117483" cy="117037"/>
            </a:xfrm>
            <a:prstGeom prst="ellipse">
              <a:avLst/>
            </a:prstGeom>
            <a:solidFill>
              <a:srgbClr val="714FA0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dirty="0">
                <a:latin typeface="Calibri" panose="020F0502020204030204" pitchFamily="34" charset="0"/>
              </a:endParaRPr>
            </a:p>
          </p:txBody>
        </p:sp>
      </p:grpSp>
      <p:grpSp>
        <p:nvGrpSpPr>
          <p:cNvPr id="21" name="Agrupar 29">
            <a:extLst>
              <a:ext uri="{FF2B5EF4-FFF2-40B4-BE49-F238E27FC236}">
                <a16:creationId xmlns:a16="http://schemas.microsoft.com/office/drawing/2014/main" id="{B210FEE5-357B-3940-8E7A-D106D5393F63}"/>
              </a:ext>
            </a:extLst>
          </p:cNvPr>
          <p:cNvGrpSpPr/>
          <p:nvPr/>
        </p:nvGrpSpPr>
        <p:grpSpPr>
          <a:xfrm>
            <a:off x="1203981" y="2243298"/>
            <a:ext cx="140792" cy="140258"/>
            <a:chOff x="3427964" y="2244682"/>
            <a:chExt cx="225891" cy="225034"/>
          </a:xfrm>
        </p:grpSpPr>
        <p:sp>
          <p:nvSpPr>
            <p:cNvPr id="22" name="Elipse 21">
              <a:extLst>
                <a:ext uri="{FF2B5EF4-FFF2-40B4-BE49-F238E27FC236}">
                  <a16:creationId xmlns:a16="http://schemas.microsoft.com/office/drawing/2014/main" id="{BDC5AE93-9397-D245-8A40-E5B4DDB8FEE3}"/>
                </a:ext>
              </a:extLst>
            </p:cNvPr>
            <p:cNvSpPr/>
            <p:nvPr/>
          </p:nvSpPr>
          <p:spPr>
            <a:xfrm>
              <a:off x="3427964" y="2244682"/>
              <a:ext cx="225891" cy="225034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714F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dirty="0">
                <a:latin typeface="Calibri" panose="020F0502020204030204" pitchFamily="34" charset="0"/>
              </a:endParaRPr>
            </a:p>
          </p:txBody>
        </p:sp>
        <p:sp>
          <p:nvSpPr>
            <p:cNvPr id="23" name="Elipse 22">
              <a:extLst>
                <a:ext uri="{FF2B5EF4-FFF2-40B4-BE49-F238E27FC236}">
                  <a16:creationId xmlns:a16="http://schemas.microsoft.com/office/drawing/2014/main" id="{D5E9F244-C985-FA47-A8E2-90E403D77215}"/>
                </a:ext>
              </a:extLst>
            </p:cNvPr>
            <p:cNvSpPr/>
            <p:nvPr/>
          </p:nvSpPr>
          <p:spPr>
            <a:xfrm>
              <a:off x="3482167" y="2298680"/>
              <a:ext cx="117483" cy="117037"/>
            </a:xfrm>
            <a:prstGeom prst="ellipse">
              <a:avLst/>
            </a:prstGeom>
            <a:solidFill>
              <a:srgbClr val="714FA0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dirty="0">
                <a:latin typeface="Calibri" panose="020F0502020204030204" pitchFamily="34" charset="0"/>
              </a:endParaRPr>
            </a:p>
          </p:txBody>
        </p:sp>
      </p:grpSp>
      <p:sp>
        <p:nvSpPr>
          <p:cNvPr id="25" name="Rectángulo 24">
            <a:extLst>
              <a:ext uri="{FF2B5EF4-FFF2-40B4-BE49-F238E27FC236}">
                <a16:creationId xmlns:a16="http://schemas.microsoft.com/office/drawing/2014/main" id="{F4833E94-73F8-0046-87AB-F808BA4BB973}"/>
              </a:ext>
            </a:extLst>
          </p:cNvPr>
          <p:cNvSpPr/>
          <p:nvPr/>
        </p:nvSpPr>
        <p:spPr>
          <a:xfrm>
            <a:off x="684213" y="3195928"/>
            <a:ext cx="400819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s-ES" sz="2800" b="1" dirty="0">
                <a:solidFill>
                  <a:srgbClr val="7150A0"/>
                </a:solidFill>
                <a:latin typeface="Calibri" charset="0"/>
                <a:ea typeface="Calibri" charset="0"/>
                <a:cs typeface="Calibri" charset="0"/>
              </a:rPr>
              <a:t>03</a:t>
            </a:r>
            <a:endParaRPr lang="es-PE" sz="2800" b="1" dirty="0">
              <a:solidFill>
                <a:srgbClr val="7150A0"/>
              </a:solidFill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92AD4838-E9D2-C94A-AC8C-0B0A787C23E5}"/>
              </a:ext>
            </a:extLst>
          </p:cNvPr>
          <p:cNvSpPr/>
          <p:nvPr/>
        </p:nvSpPr>
        <p:spPr>
          <a:xfrm>
            <a:off x="1488778" y="3288796"/>
            <a:ext cx="6329696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</a:pPr>
            <a:r>
              <a:rPr lang="es-PE" sz="1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Para </a:t>
            </a:r>
            <a:r>
              <a:rPr lang="es-PE" sz="1400" b="1" dirty="0">
                <a:solidFill>
                  <a:srgbClr val="EE4639"/>
                </a:solidFill>
                <a:latin typeface="Calibri"/>
                <a:ea typeface="Calibri"/>
                <a:cs typeface="Calibri"/>
                <a:sym typeface="Calibri"/>
              </a:rPr>
              <a:t>evaluar el real beneficio</a:t>
            </a:r>
            <a:r>
              <a:rPr lang="es-PE" sz="1400" dirty="0">
                <a:solidFill>
                  <a:srgbClr val="EE4639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s-PE" sz="1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derivado del uso de </a:t>
            </a:r>
            <a:r>
              <a:rPr lang="es-PE" sz="1400" b="1" dirty="0">
                <a:solidFill>
                  <a:srgbClr val="EE4639"/>
                </a:solidFill>
                <a:latin typeface="Calibri"/>
                <a:ea typeface="Calibri"/>
                <a:cs typeface="Calibri"/>
                <a:sym typeface="Calibri"/>
              </a:rPr>
              <a:t>nuevos métodos y herramientas </a:t>
            </a:r>
            <a:r>
              <a:rPr lang="es-PE" sz="1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 la ingeniería de software.</a:t>
            </a:r>
          </a:p>
        </p:txBody>
      </p:sp>
      <p:grpSp>
        <p:nvGrpSpPr>
          <p:cNvPr id="27" name="Agrupar 26">
            <a:extLst>
              <a:ext uri="{FF2B5EF4-FFF2-40B4-BE49-F238E27FC236}">
                <a16:creationId xmlns:a16="http://schemas.microsoft.com/office/drawing/2014/main" id="{AEA07FC8-0ACD-DE4A-B364-BB2665C4CD0B}"/>
              </a:ext>
            </a:extLst>
          </p:cNvPr>
          <p:cNvGrpSpPr/>
          <p:nvPr/>
        </p:nvGrpSpPr>
        <p:grpSpPr>
          <a:xfrm>
            <a:off x="1203981" y="3304770"/>
            <a:ext cx="140792" cy="140258"/>
            <a:chOff x="3427964" y="2244682"/>
            <a:chExt cx="225891" cy="225034"/>
          </a:xfrm>
        </p:grpSpPr>
        <p:sp>
          <p:nvSpPr>
            <p:cNvPr id="28" name="Elipse 27">
              <a:extLst>
                <a:ext uri="{FF2B5EF4-FFF2-40B4-BE49-F238E27FC236}">
                  <a16:creationId xmlns:a16="http://schemas.microsoft.com/office/drawing/2014/main" id="{A0270F13-329A-3346-A57E-4BB3576AAD4F}"/>
                </a:ext>
              </a:extLst>
            </p:cNvPr>
            <p:cNvSpPr/>
            <p:nvPr/>
          </p:nvSpPr>
          <p:spPr>
            <a:xfrm>
              <a:off x="3427964" y="2244682"/>
              <a:ext cx="225891" cy="225034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714F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dirty="0">
                <a:latin typeface="Calibri" panose="020F0502020204030204" pitchFamily="34" charset="0"/>
              </a:endParaRPr>
            </a:p>
          </p:txBody>
        </p:sp>
        <p:sp>
          <p:nvSpPr>
            <p:cNvPr id="29" name="Elipse 28">
              <a:extLst>
                <a:ext uri="{FF2B5EF4-FFF2-40B4-BE49-F238E27FC236}">
                  <a16:creationId xmlns:a16="http://schemas.microsoft.com/office/drawing/2014/main" id="{5E1B85B1-12D3-914B-B29D-BC91190C768E}"/>
                </a:ext>
              </a:extLst>
            </p:cNvPr>
            <p:cNvSpPr/>
            <p:nvPr/>
          </p:nvSpPr>
          <p:spPr>
            <a:xfrm>
              <a:off x="3482167" y="2298680"/>
              <a:ext cx="117483" cy="117037"/>
            </a:xfrm>
            <a:prstGeom prst="ellipse">
              <a:avLst/>
            </a:prstGeom>
            <a:solidFill>
              <a:srgbClr val="714FA0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dirty="0">
                <a:latin typeface="Calibri" panose="020F0502020204030204" pitchFamily="34" charset="0"/>
              </a:endParaRPr>
            </a:p>
          </p:txBody>
        </p:sp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>
            <a:extLst>
              <a:ext uri="{FF2B5EF4-FFF2-40B4-BE49-F238E27FC236}">
                <a16:creationId xmlns:a16="http://schemas.microsoft.com/office/drawing/2014/main" id="{E0361A59-058A-6C46-B19A-8BFBFA4D9E90}"/>
              </a:ext>
            </a:extLst>
          </p:cNvPr>
          <p:cNvSpPr/>
          <p:nvPr/>
        </p:nvSpPr>
        <p:spPr>
          <a:xfrm>
            <a:off x="503238" y="376232"/>
            <a:ext cx="3300666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/>
              </a:rPr>
              <a:t>SEGUIMIENTO DE PRUEBAS</a:t>
            </a:r>
            <a:endParaRPr lang="es-PE" sz="1000" dirty="0">
              <a:solidFill>
                <a:schemeClr val="bg1">
                  <a:lumMod val="6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28864DFC-2C8D-F94F-A3CC-85F5CACEC62B}"/>
              </a:ext>
            </a:extLst>
          </p:cNvPr>
          <p:cNvSpPr/>
          <p:nvPr/>
        </p:nvSpPr>
        <p:spPr>
          <a:xfrm>
            <a:off x="503236" y="916472"/>
            <a:ext cx="7636423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buClr>
                <a:schemeClr val="dk1"/>
              </a:buClr>
              <a:buSzPts val="1600"/>
            </a:pPr>
            <a:r>
              <a:rPr lang="es-ES" sz="2000" b="1" dirty="0">
                <a:solidFill>
                  <a:srgbClr val="EE4639"/>
                </a:solidFill>
                <a:latin typeface="Graphik Bold" panose="020B0503030202060203" pitchFamily="34" charset="77"/>
                <a:cs typeface="Calibri" charset="0"/>
              </a:rPr>
              <a:t>+ 06.</a:t>
            </a:r>
            <a:br>
              <a:rPr lang="es-ES" sz="1600" b="1" dirty="0">
                <a:solidFill>
                  <a:srgbClr val="EE4639"/>
                </a:solidFill>
                <a:latin typeface="Calibri" charset="0"/>
                <a:cs typeface="Calibri" charset="0"/>
              </a:rPr>
            </a:br>
            <a:r>
              <a:rPr lang="es-PE" sz="1600" b="1" dirty="0">
                <a:solidFill>
                  <a:srgbClr val="EE4639"/>
                </a:solidFill>
                <a:latin typeface="Calibri" charset="0"/>
                <a:cs typeface="Calibri" charset="0"/>
                <a:sym typeface="Calibri"/>
              </a:rPr>
              <a:t>SEGUIMIENTO DE PRUEBAS</a:t>
            </a:r>
          </a:p>
        </p:txBody>
      </p:sp>
      <p:graphicFrame>
        <p:nvGraphicFramePr>
          <p:cNvPr id="7" name="13 Tabla">
            <a:extLst>
              <a:ext uri="{FF2B5EF4-FFF2-40B4-BE49-F238E27FC236}">
                <a16:creationId xmlns:a16="http://schemas.microsoft.com/office/drawing/2014/main" id="{826581C0-BABB-0C41-8B9C-926B153812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5525742"/>
              </p:ext>
            </p:extLst>
          </p:nvPr>
        </p:nvGraphicFramePr>
        <p:xfrm>
          <a:off x="755650" y="2347384"/>
          <a:ext cx="7596188" cy="1495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82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23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2416">
                  <a:extLst>
                    <a:ext uri="{9D8B030D-6E8A-4147-A177-3AD203B41FA5}">
                      <a16:colId xmlns:a16="http://schemas.microsoft.com/office/drawing/2014/main" val="418973888"/>
                    </a:ext>
                  </a:extLst>
                </a:gridCol>
                <a:gridCol w="411062">
                  <a:extLst>
                    <a:ext uri="{9D8B030D-6E8A-4147-A177-3AD203B41FA5}">
                      <a16:colId xmlns:a16="http://schemas.microsoft.com/office/drawing/2014/main" val="3546887892"/>
                    </a:ext>
                  </a:extLst>
                </a:gridCol>
                <a:gridCol w="2607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0717">
                  <a:extLst>
                    <a:ext uri="{9D8B030D-6E8A-4147-A177-3AD203B41FA5}">
                      <a16:colId xmlns:a16="http://schemas.microsoft.com/office/drawing/2014/main" val="1636455039"/>
                    </a:ext>
                  </a:extLst>
                </a:gridCol>
                <a:gridCol w="260717">
                  <a:extLst>
                    <a:ext uri="{9D8B030D-6E8A-4147-A177-3AD203B41FA5}">
                      <a16:colId xmlns:a16="http://schemas.microsoft.com/office/drawing/2014/main" val="3706658717"/>
                    </a:ext>
                  </a:extLst>
                </a:gridCol>
                <a:gridCol w="284584">
                  <a:extLst>
                    <a:ext uri="{9D8B030D-6E8A-4147-A177-3AD203B41FA5}">
                      <a16:colId xmlns:a16="http://schemas.microsoft.com/office/drawing/2014/main" val="2774018823"/>
                    </a:ext>
                  </a:extLst>
                </a:gridCol>
                <a:gridCol w="260717">
                  <a:extLst>
                    <a:ext uri="{9D8B030D-6E8A-4147-A177-3AD203B41FA5}">
                      <a16:colId xmlns:a16="http://schemas.microsoft.com/office/drawing/2014/main" val="4195528247"/>
                    </a:ext>
                  </a:extLst>
                </a:gridCol>
                <a:gridCol w="256246">
                  <a:extLst>
                    <a:ext uri="{9D8B030D-6E8A-4147-A177-3AD203B41FA5}">
                      <a16:colId xmlns:a16="http://schemas.microsoft.com/office/drawing/2014/main" val="4092290460"/>
                    </a:ext>
                  </a:extLst>
                </a:gridCol>
                <a:gridCol w="256246">
                  <a:extLst>
                    <a:ext uri="{9D8B030D-6E8A-4147-A177-3AD203B41FA5}">
                      <a16:colId xmlns:a16="http://schemas.microsoft.com/office/drawing/2014/main" val="4086025292"/>
                    </a:ext>
                  </a:extLst>
                </a:gridCol>
                <a:gridCol w="256246">
                  <a:extLst>
                    <a:ext uri="{9D8B030D-6E8A-4147-A177-3AD203B41FA5}">
                      <a16:colId xmlns:a16="http://schemas.microsoft.com/office/drawing/2014/main" val="2523218694"/>
                    </a:ext>
                  </a:extLst>
                </a:gridCol>
                <a:gridCol w="256246">
                  <a:extLst>
                    <a:ext uri="{9D8B030D-6E8A-4147-A177-3AD203B41FA5}">
                      <a16:colId xmlns:a16="http://schemas.microsoft.com/office/drawing/2014/main" val="2103641360"/>
                    </a:ext>
                  </a:extLst>
                </a:gridCol>
                <a:gridCol w="256245">
                  <a:extLst>
                    <a:ext uri="{9D8B030D-6E8A-4147-A177-3AD203B41FA5}">
                      <a16:colId xmlns:a16="http://schemas.microsoft.com/office/drawing/2014/main" val="2297453530"/>
                    </a:ext>
                  </a:extLst>
                </a:gridCol>
                <a:gridCol w="254912">
                  <a:extLst>
                    <a:ext uri="{9D8B030D-6E8A-4147-A177-3AD203B41FA5}">
                      <a16:colId xmlns:a16="http://schemas.microsoft.com/office/drawing/2014/main" val="1538520262"/>
                    </a:ext>
                  </a:extLst>
                </a:gridCol>
                <a:gridCol w="254912">
                  <a:extLst>
                    <a:ext uri="{9D8B030D-6E8A-4147-A177-3AD203B41FA5}">
                      <a16:colId xmlns:a16="http://schemas.microsoft.com/office/drawing/2014/main" val="3371213017"/>
                    </a:ext>
                  </a:extLst>
                </a:gridCol>
                <a:gridCol w="254912">
                  <a:extLst>
                    <a:ext uri="{9D8B030D-6E8A-4147-A177-3AD203B41FA5}">
                      <a16:colId xmlns:a16="http://schemas.microsoft.com/office/drawing/2014/main" val="2268373193"/>
                    </a:ext>
                  </a:extLst>
                </a:gridCol>
                <a:gridCol w="254912">
                  <a:extLst>
                    <a:ext uri="{9D8B030D-6E8A-4147-A177-3AD203B41FA5}">
                      <a16:colId xmlns:a16="http://schemas.microsoft.com/office/drawing/2014/main" val="4225106561"/>
                    </a:ext>
                  </a:extLst>
                </a:gridCol>
                <a:gridCol w="250908">
                  <a:extLst>
                    <a:ext uri="{9D8B030D-6E8A-4147-A177-3AD203B41FA5}">
                      <a16:colId xmlns:a16="http://schemas.microsoft.com/office/drawing/2014/main" val="2103222250"/>
                    </a:ext>
                  </a:extLst>
                </a:gridCol>
                <a:gridCol w="280047">
                  <a:extLst>
                    <a:ext uri="{9D8B030D-6E8A-4147-A177-3AD203B41FA5}">
                      <a16:colId xmlns:a16="http://schemas.microsoft.com/office/drawing/2014/main" val="1742999387"/>
                    </a:ext>
                  </a:extLst>
                </a:gridCol>
                <a:gridCol w="292281">
                  <a:extLst>
                    <a:ext uri="{9D8B030D-6E8A-4147-A177-3AD203B41FA5}">
                      <a16:colId xmlns:a16="http://schemas.microsoft.com/office/drawing/2014/main" val="2263480007"/>
                    </a:ext>
                  </a:extLst>
                </a:gridCol>
                <a:gridCol w="267813">
                  <a:extLst>
                    <a:ext uri="{9D8B030D-6E8A-4147-A177-3AD203B41FA5}">
                      <a16:colId xmlns:a16="http://schemas.microsoft.com/office/drawing/2014/main" val="2223747381"/>
                    </a:ext>
                  </a:extLst>
                </a:gridCol>
                <a:gridCol w="304515">
                  <a:extLst>
                    <a:ext uri="{9D8B030D-6E8A-4147-A177-3AD203B41FA5}">
                      <a16:colId xmlns:a16="http://schemas.microsoft.com/office/drawing/2014/main" val="1004988584"/>
                    </a:ext>
                  </a:extLst>
                </a:gridCol>
                <a:gridCol w="261585">
                  <a:extLst>
                    <a:ext uri="{9D8B030D-6E8A-4147-A177-3AD203B41FA5}">
                      <a16:colId xmlns:a16="http://schemas.microsoft.com/office/drawing/2014/main" val="363442444"/>
                    </a:ext>
                  </a:extLst>
                </a:gridCol>
                <a:gridCol w="62665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90430">
                <a:tc rowSpan="3">
                  <a:txBody>
                    <a:bodyPr/>
                    <a:lstStyle/>
                    <a:p>
                      <a:pPr algn="ctr"/>
                      <a:r>
                        <a:rPr lang="es-ES_tradnl" sz="800" b="1" noProof="0" dirty="0">
                          <a:solidFill>
                            <a:schemeClr val="tx1"/>
                          </a:solidFill>
                          <a:latin typeface="Calibri" charset="0"/>
                          <a:cs typeface="Calibri" charset="0"/>
                        </a:rPr>
                        <a:t>MODULO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CASOS DE PRUEBA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CED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ES_tradnl" sz="800" b="1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EC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gridSpan="21"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DEFECTOS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s-ES_tradnl" sz="8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E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8627747"/>
                  </a:ext>
                </a:extLst>
              </a:tr>
              <a:tr h="190430">
                <a:tc vMerge="1">
                  <a:txBody>
                    <a:bodyPr/>
                    <a:lstStyle/>
                    <a:p>
                      <a:pPr algn="ctr"/>
                      <a:r>
                        <a:rPr lang="es-ES_tradnl" sz="800" b="1" noProof="0" dirty="0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MODULO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EC7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TOTAL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CED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EJECUTADOS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CED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ES_tradnl" sz="8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902" marR="82902" marT="41452" marB="41452" anchor="ctr">
                    <a:lnL w="12700" cap="flat" cmpd="sng" algn="ctr">
                      <a:solidFill>
                        <a:srgbClr val="92C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2C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92C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EC7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PENDIENTES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REINCIDENTES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ES_tradnl" sz="800" b="1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REGULARIZADOS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ES_tradnl" sz="800" b="1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CONFORMES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ES_tradnl" sz="800" b="1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TOTAL</a:t>
                      </a:r>
                    </a:p>
                    <a:p>
                      <a:pPr algn="ctr"/>
                      <a:r>
                        <a:rPr lang="es-ES_tradnl" sz="800" b="1" dirty="0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DEFECTOS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1955">
                <a:tc v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650" b="1" dirty="0">
                          <a:solidFill>
                            <a:srgbClr val="EE4639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Con </a:t>
                      </a:r>
                    </a:p>
                    <a:p>
                      <a:pPr algn="ctr"/>
                      <a:r>
                        <a:rPr lang="es-ES_tradnl" sz="650" b="1" dirty="0">
                          <a:solidFill>
                            <a:srgbClr val="EE4639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Problemas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C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650" b="1" dirty="0">
                          <a:solidFill>
                            <a:srgbClr val="7150A0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Sin </a:t>
                      </a:r>
                    </a:p>
                    <a:p>
                      <a:pPr algn="ctr"/>
                      <a:r>
                        <a:rPr lang="es-ES_tradnl" sz="650" b="1" dirty="0">
                          <a:solidFill>
                            <a:srgbClr val="7150A0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Problemas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C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46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78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D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Total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46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78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D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Total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46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78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D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Total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46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78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D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Total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55000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0914970"/>
                  </a:ext>
                </a:extLst>
              </a:tr>
              <a:tr h="238373">
                <a:tc>
                  <a:txBody>
                    <a:bodyPr/>
                    <a:lstStyle/>
                    <a:p>
                      <a:pPr algn="ctr"/>
                      <a:r>
                        <a:rPr lang="es-ES_tradnl" sz="900" b="1" dirty="0">
                          <a:latin typeface="Calibri" charset="0"/>
                          <a:ea typeface="Calibri" charset="0"/>
                          <a:cs typeface="Calibri" charset="0"/>
                        </a:rPr>
                        <a:t>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ea typeface="Calibri" charset="0"/>
                          <a:cs typeface="Calibri" panose="020F0502020204030204" pitchFamily="34" charset="0"/>
                        </a:rPr>
                        <a:t>40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C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C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8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C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ea typeface="Calibri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8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ea typeface="Calibri" charset="0"/>
                          <a:cs typeface="Calibri" panose="020F0502020204030204" pitchFamily="34" charset="0"/>
                        </a:rPr>
                        <a:t>46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3732">
                <a:tc>
                  <a:txBody>
                    <a:bodyPr/>
                    <a:lstStyle/>
                    <a:p>
                      <a:pPr algn="ctr"/>
                      <a:r>
                        <a:rPr lang="es-ES_tradnl" sz="900" b="1" dirty="0">
                          <a:latin typeface="Calibri" charset="0"/>
                          <a:ea typeface="Calibri" charset="0"/>
                          <a:cs typeface="Calibri" charset="0"/>
                        </a:rPr>
                        <a:t>2 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ea typeface="Calibri" charset="0"/>
                          <a:cs typeface="Calibri" panose="020F0502020204030204" pitchFamily="34" charset="0"/>
                        </a:rPr>
                        <a:t>50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C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C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C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ea typeface="Calibri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7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18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8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ea typeface="Calibri" charset="0"/>
                          <a:cs typeface="Calibri" panose="020F0502020204030204" pitchFamily="34" charset="0"/>
                        </a:rPr>
                        <a:t>53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6032">
                <a:tc>
                  <a:txBody>
                    <a:bodyPr/>
                    <a:lstStyle/>
                    <a:p>
                      <a:pPr algn="ctr"/>
                      <a:r>
                        <a:rPr lang="es-ES_tradnl" sz="900" b="1" dirty="0">
                          <a:latin typeface="Calibri" charset="0"/>
                          <a:ea typeface="Calibri" charset="0"/>
                          <a:cs typeface="Calibri" charset="0"/>
                        </a:rPr>
                        <a:t>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ea typeface="Calibri" charset="0"/>
                          <a:cs typeface="Calibri" panose="020F0502020204030204" pitchFamily="34" charset="0"/>
                        </a:rPr>
                        <a:t>20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C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8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C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C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ea typeface="Calibri" charset="0"/>
                          <a:cs typeface="Calibri" panose="020F0502020204030204" pitchFamily="34" charset="0"/>
                        </a:rPr>
                        <a:t>10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17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ea typeface="Calibri" charset="0"/>
                          <a:cs typeface="Calibri" panose="020F0502020204030204" pitchFamily="34" charset="0"/>
                        </a:rPr>
                        <a:t>65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4160">
                <a:tc>
                  <a:txBody>
                    <a:bodyPr/>
                    <a:lstStyle/>
                    <a:p>
                      <a:pPr algn="ctr"/>
                      <a:r>
                        <a:rPr lang="es-ES_tradnl" sz="900" b="1" dirty="0">
                          <a:latin typeface="Calibri" charset="0"/>
                          <a:ea typeface="Calibri" charset="0"/>
                          <a:cs typeface="Calibri" charset="0"/>
                        </a:rPr>
                        <a:t>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ea typeface="Calibri" charset="0"/>
                          <a:cs typeface="Calibri" panose="020F0502020204030204" pitchFamily="34" charset="0"/>
                        </a:rPr>
                        <a:t>60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C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C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C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ea typeface="Calibri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8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ea typeface="Calibri" charset="0"/>
                          <a:cs typeface="Calibri" panose="020F0502020204030204" pitchFamily="34" charset="0"/>
                        </a:rPr>
                        <a:t>41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2434817"/>
                  </a:ext>
                </a:extLst>
              </a:tr>
            </a:tbl>
          </a:graphicData>
        </a:graphic>
      </p:graphicFrame>
      <p:sp>
        <p:nvSpPr>
          <p:cNvPr id="8" name="Rectángulo 7">
            <a:extLst>
              <a:ext uri="{FF2B5EF4-FFF2-40B4-BE49-F238E27FC236}">
                <a16:creationId xmlns:a16="http://schemas.microsoft.com/office/drawing/2014/main" id="{7B2AEAC2-6519-5E4E-AA76-C54B1F45FD89}"/>
              </a:ext>
            </a:extLst>
          </p:cNvPr>
          <p:cNvSpPr/>
          <p:nvPr/>
        </p:nvSpPr>
        <p:spPr>
          <a:xfrm>
            <a:off x="2804348" y="1756795"/>
            <a:ext cx="3209782" cy="2308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buClr>
                <a:schemeClr val="dk1"/>
              </a:buClr>
              <a:buSzPts val="1600"/>
            </a:pPr>
            <a:r>
              <a:rPr lang="es-PE" sz="1500" b="1" dirty="0">
                <a:solidFill>
                  <a:srgbClr val="EE4639"/>
                </a:solidFill>
                <a:latin typeface="Calibri" charset="0"/>
                <a:cs typeface="Calibri" charset="0"/>
                <a:sym typeface="Calibri"/>
              </a:rPr>
              <a:t>Seguimiento del Avance de Pruebas</a:t>
            </a:r>
          </a:p>
        </p:txBody>
      </p:sp>
      <p:sp>
        <p:nvSpPr>
          <p:cNvPr id="2" name="Forma libre 1">
            <a:extLst>
              <a:ext uri="{FF2B5EF4-FFF2-40B4-BE49-F238E27FC236}">
                <a16:creationId xmlns:a16="http://schemas.microsoft.com/office/drawing/2014/main" id="{CF19B245-A174-0045-8991-A6A0C069E8B8}"/>
              </a:ext>
            </a:extLst>
          </p:cNvPr>
          <p:cNvSpPr/>
          <p:nvPr/>
        </p:nvSpPr>
        <p:spPr>
          <a:xfrm>
            <a:off x="1835888" y="1872173"/>
            <a:ext cx="879603" cy="367353"/>
          </a:xfrm>
          <a:custGeom>
            <a:avLst/>
            <a:gdLst>
              <a:gd name="connsiteX0" fmla="*/ 0 w 786938"/>
              <a:gd name="connsiteY0" fmla="*/ 338051 h 338051"/>
              <a:gd name="connsiteX1" fmla="*/ 0 w 786938"/>
              <a:gd name="connsiteY1" fmla="*/ 0 h 338051"/>
              <a:gd name="connsiteX2" fmla="*/ 786938 w 786938"/>
              <a:gd name="connsiteY2" fmla="*/ 0 h 3380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86938" h="338051">
                <a:moveTo>
                  <a:pt x="0" y="338051"/>
                </a:moveTo>
                <a:lnTo>
                  <a:pt x="0" y="0"/>
                </a:lnTo>
                <a:lnTo>
                  <a:pt x="786938" y="0"/>
                </a:lnTo>
              </a:path>
            </a:pathLst>
          </a:custGeom>
          <a:noFill/>
          <a:ln w="28575">
            <a:solidFill>
              <a:srgbClr val="EE4639"/>
            </a:solidFill>
            <a:head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9" name="Rectángulo redondeado 8">
            <a:extLst>
              <a:ext uri="{FF2B5EF4-FFF2-40B4-BE49-F238E27FC236}">
                <a16:creationId xmlns:a16="http://schemas.microsoft.com/office/drawing/2014/main" id="{77FBF356-8F33-2546-B8BB-ECE24DB07921}"/>
              </a:ext>
            </a:extLst>
          </p:cNvPr>
          <p:cNvSpPr/>
          <p:nvPr/>
        </p:nvSpPr>
        <p:spPr>
          <a:xfrm>
            <a:off x="1236641" y="2251746"/>
            <a:ext cx="1201759" cy="1698608"/>
          </a:xfrm>
          <a:prstGeom prst="roundRect">
            <a:avLst>
              <a:gd name="adj" fmla="val 8593"/>
            </a:avLst>
          </a:prstGeom>
          <a:noFill/>
          <a:ln>
            <a:solidFill>
              <a:srgbClr val="8087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hangingPunct="1">
              <a:defRPr/>
            </a:pPr>
            <a:endParaRPr lang="es-PE" sz="1400" b="1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0" name="Rectángulo redondeado 9">
            <a:extLst>
              <a:ext uri="{FF2B5EF4-FFF2-40B4-BE49-F238E27FC236}">
                <a16:creationId xmlns:a16="http://schemas.microsoft.com/office/drawing/2014/main" id="{E5B11D29-B6FE-404B-912A-D6F153CB9C88}"/>
              </a:ext>
            </a:extLst>
          </p:cNvPr>
          <p:cNvSpPr/>
          <p:nvPr/>
        </p:nvSpPr>
        <p:spPr>
          <a:xfrm>
            <a:off x="2438400" y="2251745"/>
            <a:ext cx="5913438" cy="1698609"/>
          </a:xfrm>
          <a:prstGeom prst="roundRect">
            <a:avLst>
              <a:gd name="adj" fmla="val 7897"/>
            </a:avLst>
          </a:prstGeom>
          <a:noFill/>
          <a:ln>
            <a:solidFill>
              <a:srgbClr val="8087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hangingPunct="1">
              <a:defRPr/>
            </a:pPr>
            <a:endParaRPr lang="es-PE" sz="1400" b="1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3" name="Forma libre 2">
            <a:extLst>
              <a:ext uri="{FF2B5EF4-FFF2-40B4-BE49-F238E27FC236}">
                <a16:creationId xmlns:a16="http://schemas.microsoft.com/office/drawing/2014/main" id="{356212DC-459C-F548-BD3F-6ED0A772FBD0}"/>
              </a:ext>
            </a:extLst>
          </p:cNvPr>
          <p:cNvSpPr/>
          <p:nvPr/>
        </p:nvSpPr>
        <p:spPr>
          <a:xfrm>
            <a:off x="7449880" y="3041497"/>
            <a:ext cx="1117772" cy="1235825"/>
          </a:xfrm>
          <a:custGeom>
            <a:avLst/>
            <a:gdLst>
              <a:gd name="connsiteX0" fmla="*/ 0 w 903316"/>
              <a:gd name="connsiteY0" fmla="*/ 1235825 h 1235825"/>
              <a:gd name="connsiteX1" fmla="*/ 903316 w 903316"/>
              <a:gd name="connsiteY1" fmla="*/ 1235825 h 1235825"/>
              <a:gd name="connsiteX2" fmla="*/ 903316 w 903316"/>
              <a:gd name="connsiteY2" fmla="*/ 0 h 1235825"/>
              <a:gd name="connsiteX3" fmla="*/ 742603 w 903316"/>
              <a:gd name="connsiteY3" fmla="*/ 0 h 1235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03316" h="1235825">
                <a:moveTo>
                  <a:pt x="0" y="1235825"/>
                </a:moveTo>
                <a:lnTo>
                  <a:pt x="903316" y="1235825"/>
                </a:lnTo>
                <a:lnTo>
                  <a:pt x="903316" y="0"/>
                </a:lnTo>
                <a:lnTo>
                  <a:pt x="742603" y="0"/>
                </a:lnTo>
              </a:path>
            </a:pathLst>
          </a:custGeom>
          <a:noFill/>
          <a:ln w="28575">
            <a:solidFill>
              <a:srgbClr val="EE4639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296B290F-5733-9943-AC69-9689B0BC3DD1}"/>
              </a:ext>
            </a:extLst>
          </p:cNvPr>
          <p:cNvSpPr/>
          <p:nvPr/>
        </p:nvSpPr>
        <p:spPr>
          <a:xfrm>
            <a:off x="4900831" y="4151098"/>
            <a:ext cx="2549049" cy="2308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buClr>
                <a:schemeClr val="dk1"/>
              </a:buClr>
              <a:buSzPts val="1600"/>
            </a:pPr>
            <a:r>
              <a:rPr lang="es-PE" sz="1500" b="1" dirty="0">
                <a:solidFill>
                  <a:srgbClr val="EE4639"/>
                </a:solidFill>
                <a:latin typeface="Calibri" charset="0"/>
                <a:cs typeface="Calibri" charset="0"/>
                <a:sym typeface="Calibri"/>
              </a:rPr>
              <a:t>Seguimiento de la Salud del SW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2d361c19c8b_0_26"/>
          <p:cNvSpPr/>
          <p:nvPr/>
        </p:nvSpPr>
        <p:spPr>
          <a:xfrm>
            <a:off x="503236" y="4582674"/>
            <a:ext cx="8232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80975" marR="0" lvl="0" indent="-18097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s-P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¿Cuál es el porcentaje de todos los casos de pruebas ejecutados sobre el total de casos?</a:t>
            </a:r>
            <a:endParaRPr dirty="0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7F314F6-A838-3F45-9606-63285A21CD1A}"/>
              </a:ext>
            </a:extLst>
          </p:cNvPr>
          <p:cNvSpPr/>
          <p:nvPr/>
        </p:nvSpPr>
        <p:spPr>
          <a:xfrm>
            <a:off x="503238" y="376232"/>
            <a:ext cx="3300666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/>
              </a:rPr>
              <a:t>SEGUIMIENTO DE PRUEBAS</a:t>
            </a:r>
            <a:endParaRPr lang="es-PE" sz="1000" dirty="0">
              <a:solidFill>
                <a:schemeClr val="bg1">
                  <a:lumMod val="6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4698E101-0A8B-D246-97B8-5620C2E243E4}"/>
              </a:ext>
            </a:extLst>
          </p:cNvPr>
          <p:cNvSpPr/>
          <p:nvPr/>
        </p:nvSpPr>
        <p:spPr>
          <a:xfrm>
            <a:off x="503236" y="916472"/>
            <a:ext cx="7636423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buClr>
                <a:schemeClr val="dk1"/>
              </a:buClr>
              <a:buSzPts val="1600"/>
            </a:pPr>
            <a:r>
              <a:rPr lang="es-ES" sz="2000" b="1" dirty="0">
                <a:solidFill>
                  <a:srgbClr val="EE4639"/>
                </a:solidFill>
                <a:latin typeface="Graphik Bold" panose="020B0503030202060203" pitchFamily="34" charset="77"/>
                <a:cs typeface="Calibri" charset="0"/>
              </a:rPr>
              <a:t>+ 06.</a:t>
            </a:r>
            <a:br>
              <a:rPr lang="es-ES" sz="1600" b="1" dirty="0">
                <a:solidFill>
                  <a:srgbClr val="EE4639"/>
                </a:solidFill>
                <a:latin typeface="Calibri" charset="0"/>
                <a:cs typeface="Calibri" charset="0"/>
              </a:rPr>
            </a:br>
            <a:r>
              <a:rPr lang="es-PE" sz="1600" b="1" dirty="0">
                <a:solidFill>
                  <a:srgbClr val="EE4639"/>
                </a:solidFill>
                <a:latin typeface="Calibri" charset="0"/>
                <a:cs typeface="Calibri" charset="0"/>
                <a:sym typeface="Calibri"/>
              </a:rPr>
              <a:t>SEGUIMIENTO DE PRUEBAS</a:t>
            </a:r>
          </a:p>
        </p:txBody>
      </p:sp>
      <p:graphicFrame>
        <p:nvGraphicFramePr>
          <p:cNvPr id="14" name="13 Tabla">
            <a:extLst>
              <a:ext uri="{FF2B5EF4-FFF2-40B4-BE49-F238E27FC236}">
                <a16:creationId xmlns:a16="http://schemas.microsoft.com/office/drawing/2014/main" id="{49A84881-98B8-C548-B37D-6E25DCE01F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6043917"/>
              </p:ext>
            </p:extLst>
          </p:nvPr>
        </p:nvGraphicFramePr>
        <p:xfrm>
          <a:off x="755650" y="2347384"/>
          <a:ext cx="7596188" cy="1495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82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23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2416">
                  <a:extLst>
                    <a:ext uri="{9D8B030D-6E8A-4147-A177-3AD203B41FA5}">
                      <a16:colId xmlns:a16="http://schemas.microsoft.com/office/drawing/2014/main" val="418973888"/>
                    </a:ext>
                  </a:extLst>
                </a:gridCol>
                <a:gridCol w="411062">
                  <a:extLst>
                    <a:ext uri="{9D8B030D-6E8A-4147-A177-3AD203B41FA5}">
                      <a16:colId xmlns:a16="http://schemas.microsoft.com/office/drawing/2014/main" val="3546887892"/>
                    </a:ext>
                  </a:extLst>
                </a:gridCol>
                <a:gridCol w="2607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0717">
                  <a:extLst>
                    <a:ext uri="{9D8B030D-6E8A-4147-A177-3AD203B41FA5}">
                      <a16:colId xmlns:a16="http://schemas.microsoft.com/office/drawing/2014/main" val="1636455039"/>
                    </a:ext>
                  </a:extLst>
                </a:gridCol>
                <a:gridCol w="260717">
                  <a:extLst>
                    <a:ext uri="{9D8B030D-6E8A-4147-A177-3AD203B41FA5}">
                      <a16:colId xmlns:a16="http://schemas.microsoft.com/office/drawing/2014/main" val="3706658717"/>
                    </a:ext>
                  </a:extLst>
                </a:gridCol>
                <a:gridCol w="284584">
                  <a:extLst>
                    <a:ext uri="{9D8B030D-6E8A-4147-A177-3AD203B41FA5}">
                      <a16:colId xmlns:a16="http://schemas.microsoft.com/office/drawing/2014/main" val="2774018823"/>
                    </a:ext>
                  </a:extLst>
                </a:gridCol>
                <a:gridCol w="260717">
                  <a:extLst>
                    <a:ext uri="{9D8B030D-6E8A-4147-A177-3AD203B41FA5}">
                      <a16:colId xmlns:a16="http://schemas.microsoft.com/office/drawing/2014/main" val="4195528247"/>
                    </a:ext>
                  </a:extLst>
                </a:gridCol>
                <a:gridCol w="256246">
                  <a:extLst>
                    <a:ext uri="{9D8B030D-6E8A-4147-A177-3AD203B41FA5}">
                      <a16:colId xmlns:a16="http://schemas.microsoft.com/office/drawing/2014/main" val="4092290460"/>
                    </a:ext>
                  </a:extLst>
                </a:gridCol>
                <a:gridCol w="256246">
                  <a:extLst>
                    <a:ext uri="{9D8B030D-6E8A-4147-A177-3AD203B41FA5}">
                      <a16:colId xmlns:a16="http://schemas.microsoft.com/office/drawing/2014/main" val="4086025292"/>
                    </a:ext>
                  </a:extLst>
                </a:gridCol>
                <a:gridCol w="256246">
                  <a:extLst>
                    <a:ext uri="{9D8B030D-6E8A-4147-A177-3AD203B41FA5}">
                      <a16:colId xmlns:a16="http://schemas.microsoft.com/office/drawing/2014/main" val="2523218694"/>
                    </a:ext>
                  </a:extLst>
                </a:gridCol>
                <a:gridCol w="256246">
                  <a:extLst>
                    <a:ext uri="{9D8B030D-6E8A-4147-A177-3AD203B41FA5}">
                      <a16:colId xmlns:a16="http://schemas.microsoft.com/office/drawing/2014/main" val="2103641360"/>
                    </a:ext>
                  </a:extLst>
                </a:gridCol>
                <a:gridCol w="256245">
                  <a:extLst>
                    <a:ext uri="{9D8B030D-6E8A-4147-A177-3AD203B41FA5}">
                      <a16:colId xmlns:a16="http://schemas.microsoft.com/office/drawing/2014/main" val="2297453530"/>
                    </a:ext>
                  </a:extLst>
                </a:gridCol>
                <a:gridCol w="254912">
                  <a:extLst>
                    <a:ext uri="{9D8B030D-6E8A-4147-A177-3AD203B41FA5}">
                      <a16:colId xmlns:a16="http://schemas.microsoft.com/office/drawing/2014/main" val="1538520262"/>
                    </a:ext>
                  </a:extLst>
                </a:gridCol>
                <a:gridCol w="254912">
                  <a:extLst>
                    <a:ext uri="{9D8B030D-6E8A-4147-A177-3AD203B41FA5}">
                      <a16:colId xmlns:a16="http://schemas.microsoft.com/office/drawing/2014/main" val="3371213017"/>
                    </a:ext>
                  </a:extLst>
                </a:gridCol>
                <a:gridCol w="254912">
                  <a:extLst>
                    <a:ext uri="{9D8B030D-6E8A-4147-A177-3AD203B41FA5}">
                      <a16:colId xmlns:a16="http://schemas.microsoft.com/office/drawing/2014/main" val="2268373193"/>
                    </a:ext>
                  </a:extLst>
                </a:gridCol>
                <a:gridCol w="254912">
                  <a:extLst>
                    <a:ext uri="{9D8B030D-6E8A-4147-A177-3AD203B41FA5}">
                      <a16:colId xmlns:a16="http://schemas.microsoft.com/office/drawing/2014/main" val="4225106561"/>
                    </a:ext>
                  </a:extLst>
                </a:gridCol>
                <a:gridCol w="250908">
                  <a:extLst>
                    <a:ext uri="{9D8B030D-6E8A-4147-A177-3AD203B41FA5}">
                      <a16:colId xmlns:a16="http://schemas.microsoft.com/office/drawing/2014/main" val="2103222250"/>
                    </a:ext>
                  </a:extLst>
                </a:gridCol>
                <a:gridCol w="280047">
                  <a:extLst>
                    <a:ext uri="{9D8B030D-6E8A-4147-A177-3AD203B41FA5}">
                      <a16:colId xmlns:a16="http://schemas.microsoft.com/office/drawing/2014/main" val="1742999387"/>
                    </a:ext>
                  </a:extLst>
                </a:gridCol>
                <a:gridCol w="292281">
                  <a:extLst>
                    <a:ext uri="{9D8B030D-6E8A-4147-A177-3AD203B41FA5}">
                      <a16:colId xmlns:a16="http://schemas.microsoft.com/office/drawing/2014/main" val="2263480007"/>
                    </a:ext>
                  </a:extLst>
                </a:gridCol>
                <a:gridCol w="267813">
                  <a:extLst>
                    <a:ext uri="{9D8B030D-6E8A-4147-A177-3AD203B41FA5}">
                      <a16:colId xmlns:a16="http://schemas.microsoft.com/office/drawing/2014/main" val="2223747381"/>
                    </a:ext>
                  </a:extLst>
                </a:gridCol>
                <a:gridCol w="304515">
                  <a:extLst>
                    <a:ext uri="{9D8B030D-6E8A-4147-A177-3AD203B41FA5}">
                      <a16:colId xmlns:a16="http://schemas.microsoft.com/office/drawing/2014/main" val="1004988584"/>
                    </a:ext>
                  </a:extLst>
                </a:gridCol>
                <a:gridCol w="261585">
                  <a:extLst>
                    <a:ext uri="{9D8B030D-6E8A-4147-A177-3AD203B41FA5}">
                      <a16:colId xmlns:a16="http://schemas.microsoft.com/office/drawing/2014/main" val="363442444"/>
                    </a:ext>
                  </a:extLst>
                </a:gridCol>
                <a:gridCol w="62665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90430">
                <a:tc rowSpan="3">
                  <a:txBody>
                    <a:bodyPr/>
                    <a:lstStyle/>
                    <a:p>
                      <a:pPr algn="ctr"/>
                      <a:r>
                        <a:rPr lang="es-ES_tradnl" sz="800" b="1" noProof="0" dirty="0">
                          <a:solidFill>
                            <a:schemeClr val="tx1"/>
                          </a:solidFill>
                          <a:latin typeface="Calibri" charset="0"/>
                          <a:cs typeface="Calibri" charset="0"/>
                        </a:rPr>
                        <a:t>MODULO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CASOS DE PRUEBA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CED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ES_tradnl" sz="800" b="1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EC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gridSpan="21"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DEFECTOS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s-ES_tradnl" sz="8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E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8627747"/>
                  </a:ext>
                </a:extLst>
              </a:tr>
              <a:tr h="190430">
                <a:tc vMerge="1">
                  <a:txBody>
                    <a:bodyPr/>
                    <a:lstStyle/>
                    <a:p>
                      <a:pPr algn="ctr"/>
                      <a:r>
                        <a:rPr lang="es-ES_tradnl" sz="800" b="1" noProof="0" dirty="0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MODULO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EC7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TOTAL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CED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EJECUTADOS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CED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ES_tradnl" sz="8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902" marR="82902" marT="41452" marB="41452" anchor="ctr">
                    <a:lnL w="12700" cap="flat" cmpd="sng" algn="ctr">
                      <a:solidFill>
                        <a:srgbClr val="92C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2C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92C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EC7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PENDIENTES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REINCIDENTES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ES_tradnl" sz="800" b="1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REGULARIZADOS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ES_tradnl" sz="800" b="1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CONFORMES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ES_tradnl" sz="800" b="1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TOTAL</a:t>
                      </a:r>
                    </a:p>
                    <a:p>
                      <a:pPr algn="ctr"/>
                      <a:r>
                        <a:rPr lang="es-ES_tradnl" sz="800" b="1" dirty="0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DEFECTOS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1955">
                <a:tc v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650" b="1" dirty="0">
                          <a:solidFill>
                            <a:srgbClr val="EE4639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Con </a:t>
                      </a:r>
                    </a:p>
                    <a:p>
                      <a:pPr algn="ctr"/>
                      <a:r>
                        <a:rPr lang="es-ES_tradnl" sz="650" b="1" dirty="0">
                          <a:solidFill>
                            <a:srgbClr val="EE4639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Problemas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C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650" b="1" dirty="0">
                          <a:solidFill>
                            <a:srgbClr val="7150A0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Sin </a:t>
                      </a:r>
                    </a:p>
                    <a:p>
                      <a:pPr algn="ctr"/>
                      <a:r>
                        <a:rPr lang="es-ES_tradnl" sz="650" b="1" dirty="0">
                          <a:solidFill>
                            <a:srgbClr val="7150A0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Problemas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C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46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78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D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Total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46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78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D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Total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46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78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D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Total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46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78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D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Total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55000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0914970"/>
                  </a:ext>
                </a:extLst>
              </a:tr>
              <a:tr h="238373">
                <a:tc>
                  <a:txBody>
                    <a:bodyPr/>
                    <a:lstStyle/>
                    <a:p>
                      <a:pPr algn="ctr"/>
                      <a:r>
                        <a:rPr lang="es-ES_tradnl" sz="900" b="1" dirty="0">
                          <a:latin typeface="Calibri" charset="0"/>
                          <a:ea typeface="Calibri" charset="0"/>
                          <a:cs typeface="Calibri" charset="0"/>
                        </a:rPr>
                        <a:t>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ea typeface="Calibri" charset="0"/>
                          <a:cs typeface="Calibri" panose="020F0502020204030204" pitchFamily="34" charset="0"/>
                        </a:rPr>
                        <a:t>40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C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C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8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C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ea typeface="Calibri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8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ea typeface="Calibri" charset="0"/>
                          <a:cs typeface="Calibri" panose="020F0502020204030204" pitchFamily="34" charset="0"/>
                        </a:rPr>
                        <a:t>46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3732">
                <a:tc>
                  <a:txBody>
                    <a:bodyPr/>
                    <a:lstStyle/>
                    <a:p>
                      <a:pPr algn="ctr"/>
                      <a:r>
                        <a:rPr lang="es-ES_tradnl" sz="900" b="1" dirty="0">
                          <a:latin typeface="Calibri" charset="0"/>
                          <a:ea typeface="Calibri" charset="0"/>
                          <a:cs typeface="Calibri" charset="0"/>
                        </a:rPr>
                        <a:t>2 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ea typeface="Calibri" charset="0"/>
                          <a:cs typeface="Calibri" panose="020F0502020204030204" pitchFamily="34" charset="0"/>
                        </a:rPr>
                        <a:t>50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C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C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C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ea typeface="Calibri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7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18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8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ea typeface="Calibri" charset="0"/>
                          <a:cs typeface="Calibri" panose="020F0502020204030204" pitchFamily="34" charset="0"/>
                        </a:rPr>
                        <a:t>53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6032">
                <a:tc>
                  <a:txBody>
                    <a:bodyPr/>
                    <a:lstStyle/>
                    <a:p>
                      <a:pPr algn="ctr"/>
                      <a:r>
                        <a:rPr lang="es-ES_tradnl" sz="900" b="1" dirty="0">
                          <a:latin typeface="Calibri" charset="0"/>
                          <a:ea typeface="Calibri" charset="0"/>
                          <a:cs typeface="Calibri" charset="0"/>
                        </a:rPr>
                        <a:t>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ea typeface="Calibri" charset="0"/>
                          <a:cs typeface="Calibri" panose="020F0502020204030204" pitchFamily="34" charset="0"/>
                        </a:rPr>
                        <a:t>20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C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8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C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C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ea typeface="Calibri" charset="0"/>
                          <a:cs typeface="Calibri" panose="020F0502020204030204" pitchFamily="34" charset="0"/>
                        </a:rPr>
                        <a:t>10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17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ea typeface="Calibri" charset="0"/>
                          <a:cs typeface="Calibri" panose="020F0502020204030204" pitchFamily="34" charset="0"/>
                        </a:rPr>
                        <a:t>65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4160">
                <a:tc>
                  <a:txBody>
                    <a:bodyPr/>
                    <a:lstStyle/>
                    <a:p>
                      <a:pPr algn="ctr"/>
                      <a:r>
                        <a:rPr lang="es-ES_tradnl" sz="900" b="1" dirty="0">
                          <a:latin typeface="Calibri" charset="0"/>
                          <a:ea typeface="Calibri" charset="0"/>
                          <a:cs typeface="Calibri" charset="0"/>
                        </a:rPr>
                        <a:t>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ea typeface="Calibri" charset="0"/>
                          <a:cs typeface="Calibri" panose="020F0502020204030204" pitchFamily="34" charset="0"/>
                        </a:rPr>
                        <a:t>60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C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C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C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ea typeface="Calibri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8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ea typeface="Calibri" charset="0"/>
                          <a:cs typeface="Calibri" panose="020F0502020204030204" pitchFamily="34" charset="0"/>
                        </a:rPr>
                        <a:t>41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2434817"/>
                  </a:ext>
                </a:extLst>
              </a:tr>
            </a:tbl>
          </a:graphicData>
        </a:graphic>
      </p:graphicFrame>
      <p:sp>
        <p:nvSpPr>
          <p:cNvPr id="15" name="Rectángulo 14">
            <a:extLst>
              <a:ext uri="{FF2B5EF4-FFF2-40B4-BE49-F238E27FC236}">
                <a16:creationId xmlns:a16="http://schemas.microsoft.com/office/drawing/2014/main" id="{AA00855C-2987-F44C-972C-E66F2F131DC0}"/>
              </a:ext>
            </a:extLst>
          </p:cNvPr>
          <p:cNvSpPr/>
          <p:nvPr/>
        </p:nvSpPr>
        <p:spPr>
          <a:xfrm>
            <a:off x="2804348" y="1756795"/>
            <a:ext cx="3209782" cy="2308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buClr>
                <a:schemeClr val="dk1"/>
              </a:buClr>
              <a:buSzPts val="1600"/>
            </a:pPr>
            <a:r>
              <a:rPr lang="es-PE" sz="1500" b="1" dirty="0">
                <a:solidFill>
                  <a:srgbClr val="EE4639"/>
                </a:solidFill>
                <a:latin typeface="Calibri" charset="0"/>
                <a:cs typeface="Calibri" charset="0"/>
                <a:sym typeface="Calibri"/>
              </a:rPr>
              <a:t>Seguimiento del Avance de Pruebas</a:t>
            </a:r>
          </a:p>
        </p:txBody>
      </p:sp>
      <p:sp>
        <p:nvSpPr>
          <p:cNvPr id="16" name="Forma libre 15">
            <a:extLst>
              <a:ext uri="{FF2B5EF4-FFF2-40B4-BE49-F238E27FC236}">
                <a16:creationId xmlns:a16="http://schemas.microsoft.com/office/drawing/2014/main" id="{4DF3D123-C0B6-9044-B679-EE7BB739FB8F}"/>
              </a:ext>
            </a:extLst>
          </p:cNvPr>
          <p:cNvSpPr/>
          <p:nvPr/>
        </p:nvSpPr>
        <p:spPr>
          <a:xfrm>
            <a:off x="1835888" y="1872173"/>
            <a:ext cx="879603" cy="367353"/>
          </a:xfrm>
          <a:custGeom>
            <a:avLst/>
            <a:gdLst>
              <a:gd name="connsiteX0" fmla="*/ 0 w 786938"/>
              <a:gd name="connsiteY0" fmla="*/ 338051 h 338051"/>
              <a:gd name="connsiteX1" fmla="*/ 0 w 786938"/>
              <a:gd name="connsiteY1" fmla="*/ 0 h 338051"/>
              <a:gd name="connsiteX2" fmla="*/ 786938 w 786938"/>
              <a:gd name="connsiteY2" fmla="*/ 0 h 3380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86938" h="338051">
                <a:moveTo>
                  <a:pt x="0" y="338051"/>
                </a:moveTo>
                <a:lnTo>
                  <a:pt x="0" y="0"/>
                </a:lnTo>
                <a:lnTo>
                  <a:pt x="786938" y="0"/>
                </a:lnTo>
              </a:path>
            </a:pathLst>
          </a:custGeom>
          <a:noFill/>
          <a:ln w="28575">
            <a:solidFill>
              <a:srgbClr val="EE4639"/>
            </a:solidFill>
            <a:head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7" name="Rectángulo redondeado 16">
            <a:extLst>
              <a:ext uri="{FF2B5EF4-FFF2-40B4-BE49-F238E27FC236}">
                <a16:creationId xmlns:a16="http://schemas.microsoft.com/office/drawing/2014/main" id="{79F18BD2-E97D-4B4B-8EED-D7B788AAC452}"/>
              </a:ext>
            </a:extLst>
          </p:cNvPr>
          <p:cNvSpPr/>
          <p:nvPr/>
        </p:nvSpPr>
        <p:spPr>
          <a:xfrm>
            <a:off x="1236641" y="2251746"/>
            <a:ext cx="1201759" cy="1698608"/>
          </a:xfrm>
          <a:prstGeom prst="roundRect">
            <a:avLst>
              <a:gd name="adj" fmla="val 8593"/>
            </a:avLst>
          </a:prstGeom>
          <a:noFill/>
          <a:ln>
            <a:solidFill>
              <a:srgbClr val="8087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hangingPunct="1">
              <a:defRPr/>
            </a:pPr>
            <a:endParaRPr lang="es-PE" sz="1400" b="1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8" name="Rectángulo redondeado 17">
            <a:extLst>
              <a:ext uri="{FF2B5EF4-FFF2-40B4-BE49-F238E27FC236}">
                <a16:creationId xmlns:a16="http://schemas.microsoft.com/office/drawing/2014/main" id="{E7A6B5FC-9D48-854B-B288-81D16226E52E}"/>
              </a:ext>
            </a:extLst>
          </p:cNvPr>
          <p:cNvSpPr/>
          <p:nvPr/>
        </p:nvSpPr>
        <p:spPr>
          <a:xfrm>
            <a:off x="2438400" y="2251745"/>
            <a:ext cx="5913438" cy="1698609"/>
          </a:xfrm>
          <a:prstGeom prst="roundRect">
            <a:avLst>
              <a:gd name="adj" fmla="val 7897"/>
            </a:avLst>
          </a:prstGeom>
          <a:noFill/>
          <a:ln>
            <a:solidFill>
              <a:srgbClr val="8087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hangingPunct="1">
              <a:defRPr/>
            </a:pPr>
            <a:endParaRPr lang="es-PE" sz="1400" b="1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9" name="Forma libre 18">
            <a:extLst>
              <a:ext uri="{FF2B5EF4-FFF2-40B4-BE49-F238E27FC236}">
                <a16:creationId xmlns:a16="http://schemas.microsoft.com/office/drawing/2014/main" id="{89852008-3D68-2C49-96B8-BC7AA29B08F9}"/>
              </a:ext>
            </a:extLst>
          </p:cNvPr>
          <p:cNvSpPr/>
          <p:nvPr/>
        </p:nvSpPr>
        <p:spPr>
          <a:xfrm>
            <a:off x="7449880" y="3041497"/>
            <a:ext cx="1117772" cy="1235825"/>
          </a:xfrm>
          <a:custGeom>
            <a:avLst/>
            <a:gdLst>
              <a:gd name="connsiteX0" fmla="*/ 0 w 903316"/>
              <a:gd name="connsiteY0" fmla="*/ 1235825 h 1235825"/>
              <a:gd name="connsiteX1" fmla="*/ 903316 w 903316"/>
              <a:gd name="connsiteY1" fmla="*/ 1235825 h 1235825"/>
              <a:gd name="connsiteX2" fmla="*/ 903316 w 903316"/>
              <a:gd name="connsiteY2" fmla="*/ 0 h 1235825"/>
              <a:gd name="connsiteX3" fmla="*/ 742603 w 903316"/>
              <a:gd name="connsiteY3" fmla="*/ 0 h 1235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03316" h="1235825">
                <a:moveTo>
                  <a:pt x="0" y="1235825"/>
                </a:moveTo>
                <a:lnTo>
                  <a:pt x="903316" y="1235825"/>
                </a:lnTo>
                <a:lnTo>
                  <a:pt x="903316" y="0"/>
                </a:lnTo>
                <a:lnTo>
                  <a:pt x="742603" y="0"/>
                </a:lnTo>
              </a:path>
            </a:pathLst>
          </a:custGeom>
          <a:noFill/>
          <a:ln w="28575">
            <a:solidFill>
              <a:srgbClr val="EE4639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F100567D-967F-7E4E-8C31-3AF2916AD4EB}"/>
              </a:ext>
            </a:extLst>
          </p:cNvPr>
          <p:cNvSpPr/>
          <p:nvPr/>
        </p:nvSpPr>
        <p:spPr>
          <a:xfrm>
            <a:off x="4900831" y="4151098"/>
            <a:ext cx="2549049" cy="2308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buClr>
                <a:schemeClr val="dk1"/>
              </a:buClr>
              <a:buSzPts val="1600"/>
            </a:pPr>
            <a:r>
              <a:rPr lang="es-PE" sz="1500" b="1" dirty="0">
                <a:solidFill>
                  <a:srgbClr val="EE4639"/>
                </a:solidFill>
                <a:latin typeface="Calibri" charset="0"/>
                <a:cs typeface="Calibri" charset="0"/>
                <a:sym typeface="Calibri"/>
              </a:rPr>
              <a:t>Seguimiento de la Salud del SW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2d361c19c8b_0_32"/>
          <p:cNvSpPr/>
          <p:nvPr/>
        </p:nvSpPr>
        <p:spPr>
          <a:xfrm>
            <a:off x="4034100" y="921219"/>
            <a:ext cx="1075800" cy="2458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SOLUCIÓN</a:t>
            </a:r>
            <a:endParaRPr sz="16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g2d361c19c8b_0_32"/>
          <p:cNvSpPr/>
          <p:nvPr/>
        </p:nvSpPr>
        <p:spPr>
          <a:xfrm>
            <a:off x="503238" y="4035889"/>
            <a:ext cx="4572000" cy="430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80975" marR="0" lvl="0" indent="-18097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s-P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¿Cuál es el porcentaje de </a:t>
            </a:r>
            <a:r>
              <a:rPr lang="es-PE" b="1" dirty="0">
                <a:solidFill>
                  <a:srgbClr val="92C14E"/>
                </a:solidFill>
                <a:latin typeface="Calibri"/>
                <a:ea typeface="Calibri"/>
                <a:cs typeface="Calibri"/>
                <a:sym typeface="Calibri"/>
              </a:rPr>
              <a:t>todos los casos de pruebas ejecutados</a:t>
            </a:r>
            <a:r>
              <a:rPr lang="es-PE" b="1" dirty="0">
                <a:solidFill>
                  <a:srgbClr val="0197A7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s-P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sobre el </a:t>
            </a:r>
            <a:r>
              <a:rPr lang="es-PE" b="1" dirty="0">
                <a:solidFill>
                  <a:srgbClr val="EE4639"/>
                </a:solidFill>
                <a:latin typeface="Calibri"/>
                <a:ea typeface="Calibri"/>
                <a:cs typeface="Calibri"/>
                <a:sym typeface="Calibri"/>
              </a:rPr>
              <a:t>total de casos</a:t>
            </a:r>
            <a:r>
              <a:rPr lang="es-P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dirty="0"/>
          </a:p>
        </p:txBody>
      </p:sp>
      <p:grpSp>
        <p:nvGrpSpPr>
          <p:cNvPr id="298" name="Google Shape;298;g2d361c19c8b_0_32"/>
          <p:cNvGrpSpPr/>
          <p:nvPr/>
        </p:nvGrpSpPr>
        <p:grpSpPr>
          <a:xfrm>
            <a:off x="5997062" y="4033541"/>
            <a:ext cx="1493024" cy="584921"/>
            <a:chOff x="5997062" y="3743610"/>
            <a:chExt cx="1493024" cy="584921"/>
          </a:xfrm>
        </p:grpSpPr>
        <p:sp>
          <p:nvSpPr>
            <p:cNvPr id="299" name="Google Shape;299;g2d361c19c8b_0_32"/>
            <p:cNvSpPr txBox="1"/>
            <p:nvPr/>
          </p:nvSpPr>
          <p:spPr>
            <a:xfrm>
              <a:off x="6056116" y="3743610"/>
              <a:ext cx="4533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1600" b="1" dirty="0">
                  <a:solidFill>
                    <a:srgbClr val="92C14E"/>
                  </a:solidFill>
                  <a:latin typeface="Calibri"/>
                  <a:ea typeface="Calibri"/>
                  <a:cs typeface="Calibri"/>
                  <a:sym typeface="Calibri"/>
                </a:rPr>
                <a:t>42</a:t>
              </a:r>
              <a:endParaRPr dirty="0">
                <a:solidFill>
                  <a:srgbClr val="92C14E"/>
                </a:solidFill>
              </a:endParaRPr>
            </a:p>
          </p:txBody>
        </p:sp>
        <p:sp>
          <p:nvSpPr>
            <p:cNvPr id="300" name="Google Shape;300;g2d361c19c8b_0_32"/>
            <p:cNvSpPr txBox="1"/>
            <p:nvPr/>
          </p:nvSpPr>
          <p:spPr>
            <a:xfrm>
              <a:off x="5997062" y="3989831"/>
              <a:ext cx="5712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1600" b="1" dirty="0">
                  <a:solidFill>
                    <a:srgbClr val="EE4639"/>
                  </a:solidFill>
                  <a:latin typeface="Calibri"/>
                  <a:ea typeface="Calibri"/>
                  <a:cs typeface="Calibri"/>
                  <a:sym typeface="Calibri"/>
                </a:rPr>
                <a:t>170</a:t>
              </a:r>
              <a:endParaRPr dirty="0">
                <a:solidFill>
                  <a:srgbClr val="EE4639"/>
                </a:solidFill>
              </a:endParaRPr>
            </a:p>
          </p:txBody>
        </p:sp>
        <p:cxnSp>
          <p:nvCxnSpPr>
            <p:cNvPr id="301" name="Google Shape;301;g2d361c19c8b_0_32"/>
            <p:cNvCxnSpPr/>
            <p:nvPr/>
          </p:nvCxnSpPr>
          <p:spPr>
            <a:xfrm>
              <a:off x="6011048" y="4035997"/>
              <a:ext cx="543300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02" name="Google Shape;302;g2d361c19c8b_0_32"/>
            <p:cNvSpPr txBox="1"/>
            <p:nvPr/>
          </p:nvSpPr>
          <p:spPr>
            <a:xfrm>
              <a:off x="6429586" y="3854380"/>
              <a:ext cx="10605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1600" b="1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= 24.7%</a:t>
              </a:r>
              <a:endParaRPr dirty="0"/>
            </a:p>
          </p:txBody>
        </p:sp>
      </p:grpSp>
      <p:sp>
        <p:nvSpPr>
          <p:cNvPr id="11" name="Rectangle 5">
            <a:extLst>
              <a:ext uri="{FF2B5EF4-FFF2-40B4-BE49-F238E27FC236}">
                <a16:creationId xmlns:a16="http://schemas.microsoft.com/office/drawing/2014/main" id="{537AC525-5423-DD46-884F-459AC1EEAC14}"/>
              </a:ext>
            </a:extLst>
          </p:cNvPr>
          <p:cNvSpPr/>
          <p:nvPr/>
        </p:nvSpPr>
        <p:spPr>
          <a:xfrm>
            <a:off x="503238" y="376232"/>
            <a:ext cx="3300666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/>
              </a:rPr>
              <a:t>SEGUIMIENTO DE PRUEBAS</a:t>
            </a:r>
            <a:endParaRPr lang="es-PE" sz="1000" dirty="0">
              <a:solidFill>
                <a:schemeClr val="bg1">
                  <a:lumMod val="6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12" name="13 Tabla">
            <a:extLst>
              <a:ext uri="{FF2B5EF4-FFF2-40B4-BE49-F238E27FC236}">
                <a16:creationId xmlns:a16="http://schemas.microsoft.com/office/drawing/2014/main" id="{A08D931C-FDC5-A447-B2D7-897BE57897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3268335"/>
              </p:ext>
            </p:extLst>
          </p:nvPr>
        </p:nvGraphicFramePr>
        <p:xfrm>
          <a:off x="755650" y="2155931"/>
          <a:ext cx="7596188" cy="1495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82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23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2416">
                  <a:extLst>
                    <a:ext uri="{9D8B030D-6E8A-4147-A177-3AD203B41FA5}">
                      <a16:colId xmlns:a16="http://schemas.microsoft.com/office/drawing/2014/main" val="418973888"/>
                    </a:ext>
                  </a:extLst>
                </a:gridCol>
                <a:gridCol w="411062">
                  <a:extLst>
                    <a:ext uri="{9D8B030D-6E8A-4147-A177-3AD203B41FA5}">
                      <a16:colId xmlns:a16="http://schemas.microsoft.com/office/drawing/2014/main" val="3546887892"/>
                    </a:ext>
                  </a:extLst>
                </a:gridCol>
                <a:gridCol w="2607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0717">
                  <a:extLst>
                    <a:ext uri="{9D8B030D-6E8A-4147-A177-3AD203B41FA5}">
                      <a16:colId xmlns:a16="http://schemas.microsoft.com/office/drawing/2014/main" val="1636455039"/>
                    </a:ext>
                  </a:extLst>
                </a:gridCol>
                <a:gridCol w="260717">
                  <a:extLst>
                    <a:ext uri="{9D8B030D-6E8A-4147-A177-3AD203B41FA5}">
                      <a16:colId xmlns:a16="http://schemas.microsoft.com/office/drawing/2014/main" val="3706658717"/>
                    </a:ext>
                  </a:extLst>
                </a:gridCol>
                <a:gridCol w="284584">
                  <a:extLst>
                    <a:ext uri="{9D8B030D-6E8A-4147-A177-3AD203B41FA5}">
                      <a16:colId xmlns:a16="http://schemas.microsoft.com/office/drawing/2014/main" val="2774018823"/>
                    </a:ext>
                  </a:extLst>
                </a:gridCol>
                <a:gridCol w="260717">
                  <a:extLst>
                    <a:ext uri="{9D8B030D-6E8A-4147-A177-3AD203B41FA5}">
                      <a16:colId xmlns:a16="http://schemas.microsoft.com/office/drawing/2014/main" val="4195528247"/>
                    </a:ext>
                  </a:extLst>
                </a:gridCol>
                <a:gridCol w="256246">
                  <a:extLst>
                    <a:ext uri="{9D8B030D-6E8A-4147-A177-3AD203B41FA5}">
                      <a16:colId xmlns:a16="http://schemas.microsoft.com/office/drawing/2014/main" val="4092290460"/>
                    </a:ext>
                  </a:extLst>
                </a:gridCol>
                <a:gridCol w="256246">
                  <a:extLst>
                    <a:ext uri="{9D8B030D-6E8A-4147-A177-3AD203B41FA5}">
                      <a16:colId xmlns:a16="http://schemas.microsoft.com/office/drawing/2014/main" val="4086025292"/>
                    </a:ext>
                  </a:extLst>
                </a:gridCol>
                <a:gridCol w="256246">
                  <a:extLst>
                    <a:ext uri="{9D8B030D-6E8A-4147-A177-3AD203B41FA5}">
                      <a16:colId xmlns:a16="http://schemas.microsoft.com/office/drawing/2014/main" val="2523218694"/>
                    </a:ext>
                  </a:extLst>
                </a:gridCol>
                <a:gridCol w="256246">
                  <a:extLst>
                    <a:ext uri="{9D8B030D-6E8A-4147-A177-3AD203B41FA5}">
                      <a16:colId xmlns:a16="http://schemas.microsoft.com/office/drawing/2014/main" val="2103641360"/>
                    </a:ext>
                  </a:extLst>
                </a:gridCol>
                <a:gridCol w="256245">
                  <a:extLst>
                    <a:ext uri="{9D8B030D-6E8A-4147-A177-3AD203B41FA5}">
                      <a16:colId xmlns:a16="http://schemas.microsoft.com/office/drawing/2014/main" val="2297453530"/>
                    </a:ext>
                  </a:extLst>
                </a:gridCol>
                <a:gridCol w="254912">
                  <a:extLst>
                    <a:ext uri="{9D8B030D-6E8A-4147-A177-3AD203B41FA5}">
                      <a16:colId xmlns:a16="http://schemas.microsoft.com/office/drawing/2014/main" val="1538520262"/>
                    </a:ext>
                  </a:extLst>
                </a:gridCol>
                <a:gridCol w="254912">
                  <a:extLst>
                    <a:ext uri="{9D8B030D-6E8A-4147-A177-3AD203B41FA5}">
                      <a16:colId xmlns:a16="http://schemas.microsoft.com/office/drawing/2014/main" val="3371213017"/>
                    </a:ext>
                  </a:extLst>
                </a:gridCol>
                <a:gridCol w="254912">
                  <a:extLst>
                    <a:ext uri="{9D8B030D-6E8A-4147-A177-3AD203B41FA5}">
                      <a16:colId xmlns:a16="http://schemas.microsoft.com/office/drawing/2014/main" val="2268373193"/>
                    </a:ext>
                  </a:extLst>
                </a:gridCol>
                <a:gridCol w="254912">
                  <a:extLst>
                    <a:ext uri="{9D8B030D-6E8A-4147-A177-3AD203B41FA5}">
                      <a16:colId xmlns:a16="http://schemas.microsoft.com/office/drawing/2014/main" val="4225106561"/>
                    </a:ext>
                  </a:extLst>
                </a:gridCol>
                <a:gridCol w="250908">
                  <a:extLst>
                    <a:ext uri="{9D8B030D-6E8A-4147-A177-3AD203B41FA5}">
                      <a16:colId xmlns:a16="http://schemas.microsoft.com/office/drawing/2014/main" val="2103222250"/>
                    </a:ext>
                  </a:extLst>
                </a:gridCol>
                <a:gridCol w="280047">
                  <a:extLst>
                    <a:ext uri="{9D8B030D-6E8A-4147-A177-3AD203B41FA5}">
                      <a16:colId xmlns:a16="http://schemas.microsoft.com/office/drawing/2014/main" val="1742999387"/>
                    </a:ext>
                  </a:extLst>
                </a:gridCol>
                <a:gridCol w="292281">
                  <a:extLst>
                    <a:ext uri="{9D8B030D-6E8A-4147-A177-3AD203B41FA5}">
                      <a16:colId xmlns:a16="http://schemas.microsoft.com/office/drawing/2014/main" val="2263480007"/>
                    </a:ext>
                  </a:extLst>
                </a:gridCol>
                <a:gridCol w="267813">
                  <a:extLst>
                    <a:ext uri="{9D8B030D-6E8A-4147-A177-3AD203B41FA5}">
                      <a16:colId xmlns:a16="http://schemas.microsoft.com/office/drawing/2014/main" val="2223747381"/>
                    </a:ext>
                  </a:extLst>
                </a:gridCol>
                <a:gridCol w="304515">
                  <a:extLst>
                    <a:ext uri="{9D8B030D-6E8A-4147-A177-3AD203B41FA5}">
                      <a16:colId xmlns:a16="http://schemas.microsoft.com/office/drawing/2014/main" val="1004988584"/>
                    </a:ext>
                  </a:extLst>
                </a:gridCol>
                <a:gridCol w="261585">
                  <a:extLst>
                    <a:ext uri="{9D8B030D-6E8A-4147-A177-3AD203B41FA5}">
                      <a16:colId xmlns:a16="http://schemas.microsoft.com/office/drawing/2014/main" val="363442444"/>
                    </a:ext>
                  </a:extLst>
                </a:gridCol>
                <a:gridCol w="62665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90430">
                <a:tc rowSpan="3">
                  <a:txBody>
                    <a:bodyPr/>
                    <a:lstStyle/>
                    <a:p>
                      <a:pPr algn="ctr"/>
                      <a:r>
                        <a:rPr lang="es-ES_tradnl" sz="800" b="1" noProof="0" dirty="0">
                          <a:solidFill>
                            <a:schemeClr val="tx1"/>
                          </a:solidFill>
                          <a:latin typeface="Calibri" charset="0"/>
                          <a:cs typeface="Calibri" charset="0"/>
                        </a:rPr>
                        <a:t>MODULO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CASOS DE PRUEBA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CED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ES_tradnl" sz="800" b="1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EC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gridSpan="21"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DEFECTOS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s-ES_tradnl" sz="8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E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8627747"/>
                  </a:ext>
                </a:extLst>
              </a:tr>
              <a:tr h="190430">
                <a:tc vMerge="1">
                  <a:txBody>
                    <a:bodyPr/>
                    <a:lstStyle/>
                    <a:p>
                      <a:pPr algn="ctr"/>
                      <a:r>
                        <a:rPr lang="es-ES_tradnl" sz="800" b="1" noProof="0" dirty="0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MODULO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EC7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TOTAL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CED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EJECUTADOS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CED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ES_tradnl" sz="8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902" marR="82902" marT="41452" marB="41452" anchor="ctr">
                    <a:lnL w="12700" cap="flat" cmpd="sng" algn="ctr">
                      <a:solidFill>
                        <a:srgbClr val="92C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2C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92C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EC7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PENDIENTES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REINCIDENTES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ES_tradnl" sz="800" b="1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REGULARIZADOS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ES_tradnl" sz="800" b="1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CONFORMES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ES_tradnl" sz="800" b="1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TOTAL</a:t>
                      </a:r>
                    </a:p>
                    <a:p>
                      <a:pPr algn="ctr"/>
                      <a:r>
                        <a:rPr lang="es-ES_tradnl" sz="800" b="1" dirty="0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DEFECTOS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1955">
                <a:tc v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650" b="1" dirty="0">
                          <a:solidFill>
                            <a:srgbClr val="EE4639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Con </a:t>
                      </a:r>
                    </a:p>
                    <a:p>
                      <a:pPr algn="ctr"/>
                      <a:r>
                        <a:rPr lang="es-ES_tradnl" sz="650" b="1" dirty="0">
                          <a:solidFill>
                            <a:srgbClr val="EE4639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Problemas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C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650" b="1" dirty="0">
                          <a:solidFill>
                            <a:srgbClr val="7150A0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Sin </a:t>
                      </a:r>
                    </a:p>
                    <a:p>
                      <a:pPr algn="ctr"/>
                      <a:r>
                        <a:rPr lang="es-ES_tradnl" sz="650" b="1" dirty="0">
                          <a:solidFill>
                            <a:srgbClr val="7150A0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Problemas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C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46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78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D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Total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46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78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D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Total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46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78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D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Total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46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78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D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Total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55000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0914970"/>
                  </a:ext>
                </a:extLst>
              </a:tr>
              <a:tr h="238373">
                <a:tc>
                  <a:txBody>
                    <a:bodyPr/>
                    <a:lstStyle/>
                    <a:p>
                      <a:pPr algn="ctr"/>
                      <a:r>
                        <a:rPr lang="es-ES_tradnl" sz="900" b="1" dirty="0">
                          <a:latin typeface="Calibri" charset="0"/>
                          <a:ea typeface="Calibri" charset="0"/>
                          <a:cs typeface="Calibri" charset="0"/>
                        </a:rPr>
                        <a:t>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solidFill>
                            <a:srgbClr val="7150A0"/>
                          </a:solidFill>
                          <a:latin typeface="Calibri" panose="020F0502020204030204" pitchFamily="34" charset="0"/>
                          <a:ea typeface="Calibri" charset="0"/>
                          <a:cs typeface="Calibri" panose="020F0502020204030204" pitchFamily="34" charset="0"/>
                        </a:rPr>
                        <a:t>40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50A0">
                        <a:alpha val="4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solidFill>
                            <a:srgbClr val="7150A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50A0">
                        <a:alpha val="4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solidFill>
                            <a:srgbClr val="7150A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8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50A0">
                        <a:alpha val="4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ea typeface="Calibri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8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ea typeface="Calibri" charset="0"/>
                          <a:cs typeface="Calibri" panose="020F0502020204030204" pitchFamily="34" charset="0"/>
                        </a:rPr>
                        <a:t>46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3732">
                <a:tc>
                  <a:txBody>
                    <a:bodyPr/>
                    <a:lstStyle/>
                    <a:p>
                      <a:pPr algn="ctr"/>
                      <a:r>
                        <a:rPr lang="es-ES_tradnl" sz="900" b="1" dirty="0">
                          <a:latin typeface="Calibri" charset="0"/>
                          <a:ea typeface="Calibri" charset="0"/>
                          <a:cs typeface="Calibri" charset="0"/>
                        </a:rPr>
                        <a:t>2 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solidFill>
                            <a:srgbClr val="7150A0"/>
                          </a:solidFill>
                          <a:latin typeface="Calibri" panose="020F0502020204030204" pitchFamily="34" charset="0"/>
                          <a:ea typeface="Calibri" charset="0"/>
                          <a:cs typeface="Calibri" panose="020F0502020204030204" pitchFamily="34" charset="0"/>
                        </a:rPr>
                        <a:t>50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50A0">
                        <a:alpha val="4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solidFill>
                            <a:srgbClr val="7150A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50A0">
                        <a:alpha val="4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solidFill>
                            <a:srgbClr val="7150A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50A0">
                        <a:alpha val="4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ea typeface="Calibri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7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18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8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ea typeface="Calibri" charset="0"/>
                          <a:cs typeface="Calibri" panose="020F0502020204030204" pitchFamily="34" charset="0"/>
                        </a:rPr>
                        <a:t>53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6032">
                <a:tc>
                  <a:txBody>
                    <a:bodyPr/>
                    <a:lstStyle/>
                    <a:p>
                      <a:pPr algn="ctr"/>
                      <a:r>
                        <a:rPr lang="es-ES_tradnl" sz="900" b="1" dirty="0">
                          <a:latin typeface="Calibri" charset="0"/>
                          <a:ea typeface="Calibri" charset="0"/>
                          <a:cs typeface="Calibri" charset="0"/>
                        </a:rPr>
                        <a:t>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solidFill>
                            <a:srgbClr val="7150A0"/>
                          </a:solidFill>
                          <a:latin typeface="Calibri" panose="020F0502020204030204" pitchFamily="34" charset="0"/>
                          <a:ea typeface="Calibri" charset="0"/>
                          <a:cs typeface="Calibri" panose="020F0502020204030204" pitchFamily="34" charset="0"/>
                        </a:rPr>
                        <a:t>20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50A0">
                        <a:alpha val="4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solidFill>
                            <a:srgbClr val="7150A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8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50A0">
                        <a:alpha val="4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solidFill>
                            <a:srgbClr val="7150A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50A0">
                        <a:alpha val="4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ea typeface="Calibri" charset="0"/>
                          <a:cs typeface="Calibri" panose="020F0502020204030204" pitchFamily="34" charset="0"/>
                        </a:rPr>
                        <a:t>10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17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ea typeface="Calibri" charset="0"/>
                          <a:cs typeface="Calibri" panose="020F0502020204030204" pitchFamily="34" charset="0"/>
                        </a:rPr>
                        <a:t>65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4160">
                <a:tc>
                  <a:txBody>
                    <a:bodyPr/>
                    <a:lstStyle/>
                    <a:p>
                      <a:pPr algn="ctr"/>
                      <a:r>
                        <a:rPr lang="es-ES_tradnl" sz="900" b="1" dirty="0">
                          <a:latin typeface="Calibri" charset="0"/>
                          <a:ea typeface="Calibri" charset="0"/>
                          <a:cs typeface="Calibri" charset="0"/>
                        </a:rPr>
                        <a:t>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solidFill>
                            <a:srgbClr val="7150A0"/>
                          </a:solidFill>
                          <a:latin typeface="Calibri" panose="020F0502020204030204" pitchFamily="34" charset="0"/>
                          <a:ea typeface="Calibri" charset="0"/>
                          <a:cs typeface="Calibri" panose="020F0502020204030204" pitchFamily="34" charset="0"/>
                        </a:rPr>
                        <a:t>60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50A0">
                        <a:alpha val="4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solidFill>
                            <a:srgbClr val="7150A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50A0">
                        <a:alpha val="4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solidFill>
                            <a:srgbClr val="7150A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50A0">
                        <a:alpha val="4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ea typeface="Calibri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8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ea typeface="Calibri" charset="0"/>
                          <a:cs typeface="Calibri" panose="020F0502020204030204" pitchFamily="34" charset="0"/>
                        </a:rPr>
                        <a:t>41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2434817"/>
                  </a:ext>
                </a:extLst>
              </a:tr>
            </a:tbl>
          </a:graphicData>
        </a:graphic>
      </p:graphicFrame>
      <p:sp>
        <p:nvSpPr>
          <p:cNvPr id="13" name="Rectángulo 12">
            <a:extLst>
              <a:ext uri="{FF2B5EF4-FFF2-40B4-BE49-F238E27FC236}">
                <a16:creationId xmlns:a16="http://schemas.microsoft.com/office/drawing/2014/main" id="{B5434D38-742A-3540-B818-6C6F6EA5AAD9}"/>
              </a:ext>
            </a:extLst>
          </p:cNvPr>
          <p:cNvSpPr/>
          <p:nvPr/>
        </p:nvSpPr>
        <p:spPr>
          <a:xfrm>
            <a:off x="2669669" y="1288082"/>
            <a:ext cx="3209782" cy="2308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buClr>
                <a:schemeClr val="dk1"/>
              </a:buClr>
              <a:buSzPts val="1600"/>
            </a:pPr>
            <a:r>
              <a:rPr lang="es-PE" sz="1500" b="1" dirty="0">
                <a:solidFill>
                  <a:srgbClr val="EE4639"/>
                </a:solidFill>
                <a:latin typeface="Calibri" charset="0"/>
                <a:cs typeface="Calibri" charset="0"/>
                <a:sym typeface="Calibri"/>
              </a:rPr>
              <a:t>Total de Casos</a:t>
            </a:r>
          </a:p>
        </p:txBody>
      </p:sp>
      <p:sp>
        <p:nvSpPr>
          <p:cNvPr id="14" name="Forma libre 13">
            <a:extLst>
              <a:ext uri="{FF2B5EF4-FFF2-40B4-BE49-F238E27FC236}">
                <a16:creationId xmlns:a16="http://schemas.microsoft.com/office/drawing/2014/main" id="{F1EBCDA5-908D-0A42-827B-006338E699A7}"/>
              </a:ext>
            </a:extLst>
          </p:cNvPr>
          <p:cNvSpPr/>
          <p:nvPr/>
        </p:nvSpPr>
        <p:spPr>
          <a:xfrm>
            <a:off x="1444050" y="1403498"/>
            <a:ext cx="1143206" cy="1368055"/>
          </a:xfrm>
          <a:custGeom>
            <a:avLst/>
            <a:gdLst>
              <a:gd name="connsiteX0" fmla="*/ 0 w 786938"/>
              <a:gd name="connsiteY0" fmla="*/ 338051 h 338051"/>
              <a:gd name="connsiteX1" fmla="*/ 0 w 786938"/>
              <a:gd name="connsiteY1" fmla="*/ 0 h 338051"/>
              <a:gd name="connsiteX2" fmla="*/ 786938 w 786938"/>
              <a:gd name="connsiteY2" fmla="*/ 0 h 3380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86938" h="338051">
                <a:moveTo>
                  <a:pt x="0" y="338051"/>
                </a:moveTo>
                <a:lnTo>
                  <a:pt x="0" y="0"/>
                </a:lnTo>
                <a:lnTo>
                  <a:pt x="786938" y="0"/>
                </a:lnTo>
              </a:path>
            </a:pathLst>
          </a:custGeom>
          <a:noFill/>
          <a:ln w="28575">
            <a:solidFill>
              <a:srgbClr val="EE4639"/>
            </a:solidFill>
            <a:head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5" name="Rectángulo redondeado 14">
            <a:extLst>
              <a:ext uri="{FF2B5EF4-FFF2-40B4-BE49-F238E27FC236}">
                <a16:creationId xmlns:a16="http://schemas.microsoft.com/office/drawing/2014/main" id="{688A457B-DD99-754B-BBAE-FEC6863E5C77}"/>
              </a:ext>
            </a:extLst>
          </p:cNvPr>
          <p:cNvSpPr/>
          <p:nvPr/>
        </p:nvSpPr>
        <p:spPr>
          <a:xfrm>
            <a:off x="1236641" y="2060293"/>
            <a:ext cx="1201759" cy="1698608"/>
          </a:xfrm>
          <a:prstGeom prst="roundRect">
            <a:avLst>
              <a:gd name="adj" fmla="val 8593"/>
            </a:avLst>
          </a:prstGeom>
          <a:noFill/>
          <a:ln>
            <a:solidFill>
              <a:srgbClr val="8087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hangingPunct="1">
              <a:defRPr/>
            </a:pPr>
            <a:endParaRPr lang="es-PE" sz="1400" b="1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6" name="Rectángulo redondeado 15">
            <a:extLst>
              <a:ext uri="{FF2B5EF4-FFF2-40B4-BE49-F238E27FC236}">
                <a16:creationId xmlns:a16="http://schemas.microsoft.com/office/drawing/2014/main" id="{D99A170A-570A-6140-A48B-C5133848C586}"/>
              </a:ext>
            </a:extLst>
          </p:cNvPr>
          <p:cNvSpPr/>
          <p:nvPr/>
        </p:nvSpPr>
        <p:spPr>
          <a:xfrm>
            <a:off x="2438400" y="2060292"/>
            <a:ext cx="5913438" cy="1698609"/>
          </a:xfrm>
          <a:prstGeom prst="roundRect">
            <a:avLst>
              <a:gd name="adj" fmla="val 7897"/>
            </a:avLst>
          </a:prstGeom>
          <a:noFill/>
          <a:ln>
            <a:solidFill>
              <a:srgbClr val="8087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hangingPunct="1">
              <a:defRPr/>
            </a:pPr>
            <a:endParaRPr lang="es-PE" sz="1400" b="1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49540C2F-2012-564B-AE1B-5491AE644BB9}"/>
              </a:ext>
            </a:extLst>
          </p:cNvPr>
          <p:cNvSpPr/>
          <p:nvPr/>
        </p:nvSpPr>
        <p:spPr>
          <a:xfrm>
            <a:off x="1236641" y="2771553"/>
            <a:ext cx="351154" cy="879490"/>
          </a:xfrm>
          <a:prstGeom prst="rect">
            <a:avLst/>
          </a:prstGeom>
          <a:noFill/>
          <a:ln w="28575">
            <a:solidFill>
              <a:srgbClr val="EE46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0E5E76DC-ACAA-304E-9DB6-81CAFEEF44B2}"/>
              </a:ext>
            </a:extLst>
          </p:cNvPr>
          <p:cNvSpPr/>
          <p:nvPr/>
        </p:nvSpPr>
        <p:spPr>
          <a:xfrm>
            <a:off x="1612324" y="2771553"/>
            <a:ext cx="826075" cy="879490"/>
          </a:xfrm>
          <a:prstGeom prst="rect">
            <a:avLst/>
          </a:prstGeom>
          <a:noFill/>
          <a:ln w="28575">
            <a:solidFill>
              <a:srgbClr val="39732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20" name="Forma libre 19">
            <a:extLst>
              <a:ext uri="{FF2B5EF4-FFF2-40B4-BE49-F238E27FC236}">
                <a16:creationId xmlns:a16="http://schemas.microsoft.com/office/drawing/2014/main" id="{3051AECB-848A-4D47-B2EA-5F861C58A2BA}"/>
              </a:ext>
            </a:extLst>
          </p:cNvPr>
          <p:cNvSpPr/>
          <p:nvPr/>
        </p:nvSpPr>
        <p:spPr>
          <a:xfrm>
            <a:off x="2025296" y="1674882"/>
            <a:ext cx="556849" cy="1096671"/>
          </a:xfrm>
          <a:custGeom>
            <a:avLst/>
            <a:gdLst>
              <a:gd name="connsiteX0" fmla="*/ 0 w 786938"/>
              <a:gd name="connsiteY0" fmla="*/ 338051 h 338051"/>
              <a:gd name="connsiteX1" fmla="*/ 0 w 786938"/>
              <a:gd name="connsiteY1" fmla="*/ 0 h 338051"/>
              <a:gd name="connsiteX2" fmla="*/ 786938 w 786938"/>
              <a:gd name="connsiteY2" fmla="*/ 0 h 3380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86938" h="338051">
                <a:moveTo>
                  <a:pt x="0" y="338051"/>
                </a:moveTo>
                <a:lnTo>
                  <a:pt x="0" y="0"/>
                </a:lnTo>
                <a:lnTo>
                  <a:pt x="786938" y="0"/>
                </a:lnTo>
              </a:path>
            </a:pathLst>
          </a:custGeom>
          <a:noFill/>
          <a:ln w="28575">
            <a:solidFill>
              <a:srgbClr val="39732D"/>
            </a:solidFill>
            <a:head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6DE8521F-3A59-C242-BAA6-3FD9C9CEABB2}"/>
              </a:ext>
            </a:extLst>
          </p:cNvPr>
          <p:cNvSpPr/>
          <p:nvPr/>
        </p:nvSpPr>
        <p:spPr>
          <a:xfrm>
            <a:off x="2669669" y="1557440"/>
            <a:ext cx="3209782" cy="2308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buClr>
                <a:schemeClr val="dk1"/>
              </a:buClr>
              <a:buSzPts val="1600"/>
            </a:pPr>
            <a:r>
              <a:rPr lang="es-PE" sz="1500" b="1" dirty="0">
                <a:solidFill>
                  <a:srgbClr val="39732D"/>
                </a:solidFill>
                <a:latin typeface="Calibri" charset="0"/>
                <a:cs typeface="Calibri" charset="0"/>
                <a:sym typeface="Calibri"/>
              </a:rPr>
              <a:t>Total de Casos Ejecutados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2d361c19c8b_0_44"/>
          <p:cNvSpPr/>
          <p:nvPr/>
        </p:nvSpPr>
        <p:spPr>
          <a:xfrm>
            <a:off x="503236" y="4565771"/>
            <a:ext cx="8267700" cy="220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80975" marR="0" lvl="0" indent="-18097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s-P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¿Cuál es el porcentaje de todos los defectos más críticos sobre el total de defectos?</a:t>
            </a:r>
            <a:endParaRPr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8BB3062-5B2A-4648-9F23-3BE611CA89F7}"/>
              </a:ext>
            </a:extLst>
          </p:cNvPr>
          <p:cNvSpPr/>
          <p:nvPr/>
        </p:nvSpPr>
        <p:spPr>
          <a:xfrm>
            <a:off x="503238" y="376232"/>
            <a:ext cx="3300666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/>
              </a:rPr>
              <a:t>SEGUIMIENTO DE PRUEBAS</a:t>
            </a:r>
            <a:endParaRPr lang="es-PE" sz="1000" dirty="0">
              <a:solidFill>
                <a:schemeClr val="bg1">
                  <a:lumMod val="6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0EFF0C8B-ECC0-AB4D-9B47-F29D50E17A35}"/>
              </a:ext>
            </a:extLst>
          </p:cNvPr>
          <p:cNvSpPr/>
          <p:nvPr/>
        </p:nvSpPr>
        <p:spPr>
          <a:xfrm>
            <a:off x="503236" y="916472"/>
            <a:ext cx="7636423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buClr>
                <a:schemeClr val="dk1"/>
              </a:buClr>
              <a:buSzPts val="1600"/>
            </a:pPr>
            <a:r>
              <a:rPr lang="es-ES" sz="2000" b="1" dirty="0">
                <a:solidFill>
                  <a:srgbClr val="EE4639"/>
                </a:solidFill>
                <a:latin typeface="Graphik Bold" panose="020B0503030202060203" pitchFamily="34" charset="77"/>
                <a:cs typeface="Calibri" charset="0"/>
              </a:rPr>
              <a:t>+ 06.</a:t>
            </a:r>
            <a:br>
              <a:rPr lang="es-ES" sz="1600" b="1" dirty="0">
                <a:solidFill>
                  <a:srgbClr val="EE4639"/>
                </a:solidFill>
                <a:latin typeface="Calibri" charset="0"/>
                <a:cs typeface="Calibri" charset="0"/>
              </a:rPr>
            </a:br>
            <a:r>
              <a:rPr lang="es-PE" sz="1600" b="1" dirty="0">
                <a:solidFill>
                  <a:srgbClr val="EE4639"/>
                </a:solidFill>
                <a:latin typeface="Calibri" charset="0"/>
                <a:cs typeface="Calibri" charset="0"/>
                <a:sym typeface="Calibri"/>
              </a:rPr>
              <a:t>SEGUIMIENTO DE PRUEBAS</a:t>
            </a:r>
          </a:p>
        </p:txBody>
      </p:sp>
      <p:graphicFrame>
        <p:nvGraphicFramePr>
          <p:cNvPr id="8" name="13 Tabla">
            <a:extLst>
              <a:ext uri="{FF2B5EF4-FFF2-40B4-BE49-F238E27FC236}">
                <a16:creationId xmlns:a16="http://schemas.microsoft.com/office/drawing/2014/main" id="{CCB555C1-8931-A143-9905-D93C303684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7450597"/>
              </p:ext>
            </p:extLst>
          </p:nvPr>
        </p:nvGraphicFramePr>
        <p:xfrm>
          <a:off x="755650" y="2347384"/>
          <a:ext cx="7596188" cy="1495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82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23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2416">
                  <a:extLst>
                    <a:ext uri="{9D8B030D-6E8A-4147-A177-3AD203B41FA5}">
                      <a16:colId xmlns:a16="http://schemas.microsoft.com/office/drawing/2014/main" val="418973888"/>
                    </a:ext>
                  </a:extLst>
                </a:gridCol>
                <a:gridCol w="411062">
                  <a:extLst>
                    <a:ext uri="{9D8B030D-6E8A-4147-A177-3AD203B41FA5}">
                      <a16:colId xmlns:a16="http://schemas.microsoft.com/office/drawing/2014/main" val="3546887892"/>
                    </a:ext>
                  </a:extLst>
                </a:gridCol>
                <a:gridCol w="2607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0717">
                  <a:extLst>
                    <a:ext uri="{9D8B030D-6E8A-4147-A177-3AD203B41FA5}">
                      <a16:colId xmlns:a16="http://schemas.microsoft.com/office/drawing/2014/main" val="1636455039"/>
                    </a:ext>
                  </a:extLst>
                </a:gridCol>
                <a:gridCol w="260717">
                  <a:extLst>
                    <a:ext uri="{9D8B030D-6E8A-4147-A177-3AD203B41FA5}">
                      <a16:colId xmlns:a16="http://schemas.microsoft.com/office/drawing/2014/main" val="3706658717"/>
                    </a:ext>
                  </a:extLst>
                </a:gridCol>
                <a:gridCol w="284584">
                  <a:extLst>
                    <a:ext uri="{9D8B030D-6E8A-4147-A177-3AD203B41FA5}">
                      <a16:colId xmlns:a16="http://schemas.microsoft.com/office/drawing/2014/main" val="2774018823"/>
                    </a:ext>
                  </a:extLst>
                </a:gridCol>
                <a:gridCol w="260717">
                  <a:extLst>
                    <a:ext uri="{9D8B030D-6E8A-4147-A177-3AD203B41FA5}">
                      <a16:colId xmlns:a16="http://schemas.microsoft.com/office/drawing/2014/main" val="4195528247"/>
                    </a:ext>
                  </a:extLst>
                </a:gridCol>
                <a:gridCol w="256246">
                  <a:extLst>
                    <a:ext uri="{9D8B030D-6E8A-4147-A177-3AD203B41FA5}">
                      <a16:colId xmlns:a16="http://schemas.microsoft.com/office/drawing/2014/main" val="4092290460"/>
                    </a:ext>
                  </a:extLst>
                </a:gridCol>
                <a:gridCol w="256246">
                  <a:extLst>
                    <a:ext uri="{9D8B030D-6E8A-4147-A177-3AD203B41FA5}">
                      <a16:colId xmlns:a16="http://schemas.microsoft.com/office/drawing/2014/main" val="4086025292"/>
                    </a:ext>
                  </a:extLst>
                </a:gridCol>
                <a:gridCol w="256246">
                  <a:extLst>
                    <a:ext uri="{9D8B030D-6E8A-4147-A177-3AD203B41FA5}">
                      <a16:colId xmlns:a16="http://schemas.microsoft.com/office/drawing/2014/main" val="2523218694"/>
                    </a:ext>
                  </a:extLst>
                </a:gridCol>
                <a:gridCol w="256246">
                  <a:extLst>
                    <a:ext uri="{9D8B030D-6E8A-4147-A177-3AD203B41FA5}">
                      <a16:colId xmlns:a16="http://schemas.microsoft.com/office/drawing/2014/main" val="2103641360"/>
                    </a:ext>
                  </a:extLst>
                </a:gridCol>
                <a:gridCol w="256245">
                  <a:extLst>
                    <a:ext uri="{9D8B030D-6E8A-4147-A177-3AD203B41FA5}">
                      <a16:colId xmlns:a16="http://schemas.microsoft.com/office/drawing/2014/main" val="2297453530"/>
                    </a:ext>
                  </a:extLst>
                </a:gridCol>
                <a:gridCol w="254912">
                  <a:extLst>
                    <a:ext uri="{9D8B030D-6E8A-4147-A177-3AD203B41FA5}">
                      <a16:colId xmlns:a16="http://schemas.microsoft.com/office/drawing/2014/main" val="1538520262"/>
                    </a:ext>
                  </a:extLst>
                </a:gridCol>
                <a:gridCol w="254912">
                  <a:extLst>
                    <a:ext uri="{9D8B030D-6E8A-4147-A177-3AD203B41FA5}">
                      <a16:colId xmlns:a16="http://schemas.microsoft.com/office/drawing/2014/main" val="3371213017"/>
                    </a:ext>
                  </a:extLst>
                </a:gridCol>
                <a:gridCol w="254912">
                  <a:extLst>
                    <a:ext uri="{9D8B030D-6E8A-4147-A177-3AD203B41FA5}">
                      <a16:colId xmlns:a16="http://schemas.microsoft.com/office/drawing/2014/main" val="2268373193"/>
                    </a:ext>
                  </a:extLst>
                </a:gridCol>
                <a:gridCol w="254912">
                  <a:extLst>
                    <a:ext uri="{9D8B030D-6E8A-4147-A177-3AD203B41FA5}">
                      <a16:colId xmlns:a16="http://schemas.microsoft.com/office/drawing/2014/main" val="4225106561"/>
                    </a:ext>
                  </a:extLst>
                </a:gridCol>
                <a:gridCol w="250908">
                  <a:extLst>
                    <a:ext uri="{9D8B030D-6E8A-4147-A177-3AD203B41FA5}">
                      <a16:colId xmlns:a16="http://schemas.microsoft.com/office/drawing/2014/main" val="2103222250"/>
                    </a:ext>
                  </a:extLst>
                </a:gridCol>
                <a:gridCol w="280047">
                  <a:extLst>
                    <a:ext uri="{9D8B030D-6E8A-4147-A177-3AD203B41FA5}">
                      <a16:colId xmlns:a16="http://schemas.microsoft.com/office/drawing/2014/main" val="1742999387"/>
                    </a:ext>
                  </a:extLst>
                </a:gridCol>
                <a:gridCol w="292281">
                  <a:extLst>
                    <a:ext uri="{9D8B030D-6E8A-4147-A177-3AD203B41FA5}">
                      <a16:colId xmlns:a16="http://schemas.microsoft.com/office/drawing/2014/main" val="2263480007"/>
                    </a:ext>
                  </a:extLst>
                </a:gridCol>
                <a:gridCol w="267813">
                  <a:extLst>
                    <a:ext uri="{9D8B030D-6E8A-4147-A177-3AD203B41FA5}">
                      <a16:colId xmlns:a16="http://schemas.microsoft.com/office/drawing/2014/main" val="2223747381"/>
                    </a:ext>
                  </a:extLst>
                </a:gridCol>
                <a:gridCol w="304515">
                  <a:extLst>
                    <a:ext uri="{9D8B030D-6E8A-4147-A177-3AD203B41FA5}">
                      <a16:colId xmlns:a16="http://schemas.microsoft.com/office/drawing/2014/main" val="1004988584"/>
                    </a:ext>
                  </a:extLst>
                </a:gridCol>
                <a:gridCol w="261585">
                  <a:extLst>
                    <a:ext uri="{9D8B030D-6E8A-4147-A177-3AD203B41FA5}">
                      <a16:colId xmlns:a16="http://schemas.microsoft.com/office/drawing/2014/main" val="363442444"/>
                    </a:ext>
                  </a:extLst>
                </a:gridCol>
                <a:gridCol w="62665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90430">
                <a:tc rowSpan="3">
                  <a:txBody>
                    <a:bodyPr/>
                    <a:lstStyle/>
                    <a:p>
                      <a:pPr algn="ctr"/>
                      <a:r>
                        <a:rPr lang="es-ES_tradnl" sz="800" b="1" noProof="0" dirty="0">
                          <a:solidFill>
                            <a:schemeClr val="tx1"/>
                          </a:solidFill>
                          <a:latin typeface="Calibri" charset="0"/>
                          <a:cs typeface="Calibri" charset="0"/>
                        </a:rPr>
                        <a:t>MODULO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CASOS DE PRUEBA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CED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ES_tradnl" sz="800" b="1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EC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gridSpan="21"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DEFECTOS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s-ES_tradnl" sz="8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E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8627747"/>
                  </a:ext>
                </a:extLst>
              </a:tr>
              <a:tr h="190430">
                <a:tc vMerge="1">
                  <a:txBody>
                    <a:bodyPr/>
                    <a:lstStyle/>
                    <a:p>
                      <a:pPr algn="ctr"/>
                      <a:r>
                        <a:rPr lang="es-ES_tradnl" sz="800" b="1" noProof="0" dirty="0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MODULO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EC7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TOTAL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CED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EJECUTADOS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CED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ES_tradnl" sz="8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902" marR="82902" marT="41452" marB="41452" anchor="ctr">
                    <a:lnL w="12700" cap="flat" cmpd="sng" algn="ctr">
                      <a:solidFill>
                        <a:srgbClr val="92C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2C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92C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EC7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PENDIENTES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REINCIDENTES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ES_tradnl" sz="800" b="1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REGULARIZADOS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ES_tradnl" sz="800" b="1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CONFORMES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ES_tradnl" sz="800" b="1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TOTAL</a:t>
                      </a:r>
                    </a:p>
                    <a:p>
                      <a:pPr algn="ctr"/>
                      <a:r>
                        <a:rPr lang="es-ES_tradnl" sz="800" b="1" dirty="0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DEFECTOS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1955">
                <a:tc v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650" b="1" dirty="0">
                          <a:solidFill>
                            <a:srgbClr val="EE4639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Con </a:t>
                      </a:r>
                    </a:p>
                    <a:p>
                      <a:pPr algn="ctr"/>
                      <a:r>
                        <a:rPr lang="es-ES_tradnl" sz="650" b="1" dirty="0">
                          <a:solidFill>
                            <a:srgbClr val="EE4639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Problemas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C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650" b="1" dirty="0">
                          <a:solidFill>
                            <a:srgbClr val="7150A0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Sin </a:t>
                      </a:r>
                    </a:p>
                    <a:p>
                      <a:pPr algn="ctr"/>
                      <a:r>
                        <a:rPr lang="es-ES_tradnl" sz="650" b="1" dirty="0">
                          <a:solidFill>
                            <a:srgbClr val="7150A0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Problemas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C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46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78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D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Total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46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78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D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Total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46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78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D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Total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46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78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D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Total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55000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0914970"/>
                  </a:ext>
                </a:extLst>
              </a:tr>
              <a:tr h="238373">
                <a:tc>
                  <a:txBody>
                    <a:bodyPr/>
                    <a:lstStyle/>
                    <a:p>
                      <a:pPr algn="ctr"/>
                      <a:r>
                        <a:rPr lang="es-ES_tradnl" sz="900" b="1" dirty="0">
                          <a:latin typeface="Calibri" charset="0"/>
                          <a:ea typeface="Calibri" charset="0"/>
                          <a:cs typeface="Calibri" charset="0"/>
                        </a:rPr>
                        <a:t>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ea typeface="Calibri" charset="0"/>
                          <a:cs typeface="Calibri" panose="020F0502020204030204" pitchFamily="34" charset="0"/>
                        </a:rPr>
                        <a:t>40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C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C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8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C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ea typeface="Calibri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8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ea typeface="Calibri" charset="0"/>
                          <a:cs typeface="Calibri" panose="020F0502020204030204" pitchFamily="34" charset="0"/>
                        </a:rPr>
                        <a:t>46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3732">
                <a:tc>
                  <a:txBody>
                    <a:bodyPr/>
                    <a:lstStyle/>
                    <a:p>
                      <a:pPr algn="ctr"/>
                      <a:r>
                        <a:rPr lang="es-ES_tradnl" sz="900" b="1" dirty="0">
                          <a:latin typeface="Calibri" charset="0"/>
                          <a:ea typeface="Calibri" charset="0"/>
                          <a:cs typeface="Calibri" charset="0"/>
                        </a:rPr>
                        <a:t>2 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ea typeface="Calibri" charset="0"/>
                          <a:cs typeface="Calibri" panose="020F0502020204030204" pitchFamily="34" charset="0"/>
                        </a:rPr>
                        <a:t>50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C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C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C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ea typeface="Calibri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7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18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8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ea typeface="Calibri" charset="0"/>
                          <a:cs typeface="Calibri" panose="020F0502020204030204" pitchFamily="34" charset="0"/>
                        </a:rPr>
                        <a:t>53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6032">
                <a:tc>
                  <a:txBody>
                    <a:bodyPr/>
                    <a:lstStyle/>
                    <a:p>
                      <a:pPr algn="ctr"/>
                      <a:r>
                        <a:rPr lang="es-ES_tradnl" sz="900" b="1" dirty="0">
                          <a:latin typeface="Calibri" charset="0"/>
                          <a:ea typeface="Calibri" charset="0"/>
                          <a:cs typeface="Calibri" charset="0"/>
                        </a:rPr>
                        <a:t>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ea typeface="Calibri" charset="0"/>
                          <a:cs typeface="Calibri" panose="020F0502020204030204" pitchFamily="34" charset="0"/>
                        </a:rPr>
                        <a:t>20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C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8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C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C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ea typeface="Calibri" charset="0"/>
                          <a:cs typeface="Calibri" panose="020F0502020204030204" pitchFamily="34" charset="0"/>
                        </a:rPr>
                        <a:t>10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17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ea typeface="Calibri" charset="0"/>
                          <a:cs typeface="Calibri" panose="020F0502020204030204" pitchFamily="34" charset="0"/>
                        </a:rPr>
                        <a:t>65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4160">
                <a:tc>
                  <a:txBody>
                    <a:bodyPr/>
                    <a:lstStyle/>
                    <a:p>
                      <a:pPr algn="ctr"/>
                      <a:r>
                        <a:rPr lang="es-ES_tradnl" sz="900" b="1" dirty="0">
                          <a:latin typeface="Calibri" charset="0"/>
                          <a:ea typeface="Calibri" charset="0"/>
                          <a:cs typeface="Calibri" charset="0"/>
                        </a:rPr>
                        <a:t>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ea typeface="Calibri" charset="0"/>
                          <a:cs typeface="Calibri" panose="020F0502020204030204" pitchFamily="34" charset="0"/>
                        </a:rPr>
                        <a:t>60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C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C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C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ea typeface="Calibri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8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ea typeface="Calibri" charset="0"/>
                          <a:cs typeface="Calibri" panose="020F0502020204030204" pitchFamily="34" charset="0"/>
                        </a:rPr>
                        <a:t>41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2434817"/>
                  </a:ext>
                </a:extLst>
              </a:tr>
            </a:tbl>
          </a:graphicData>
        </a:graphic>
      </p:graphicFrame>
      <p:sp>
        <p:nvSpPr>
          <p:cNvPr id="9" name="Rectángulo 8">
            <a:extLst>
              <a:ext uri="{FF2B5EF4-FFF2-40B4-BE49-F238E27FC236}">
                <a16:creationId xmlns:a16="http://schemas.microsoft.com/office/drawing/2014/main" id="{C5237D2E-556D-C143-8C41-A994C05BFBE4}"/>
              </a:ext>
            </a:extLst>
          </p:cNvPr>
          <p:cNvSpPr/>
          <p:nvPr/>
        </p:nvSpPr>
        <p:spPr>
          <a:xfrm>
            <a:off x="2804348" y="1756795"/>
            <a:ext cx="3209782" cy="2308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buClr>
                <a:schemeClr val="dk1"/>
              </a:buClr>
              <a:buSzPts val="1600"/>
            </a:pPr>
            <a:r>
              <a:rPr lang="es-PE" sz="1500" b="1" dirty="0">
                <a:solidFill>
                  <a:srgbClr val="EE4639"/>
                </a:solidFill>
                <a:latin typeface="Calibri" charset="0"/>
                <a:cs typeface="Calibri" charset="0"/>
                <a:sym typeface="Calibri"/>
              </a:rPr>
              <a:t>Seguimiento del Avance de Pruebas</a:t>
            </a:r>
          </a:p>
        </p:txBody>
      </p:sp>
      <p:sp>
        <p:nvSpPr>
          <p:cNvPr id="10" name="Forma libre 9">
            <a:extLst>
              <a:ext uri="{FF2B5EF4-FFF2-40B4-BE49-F238E27FC236}">
                <a16:creationId xmlns:a16="http://schemas.microsoft.com/office/drawing/2014/main" id="{B1E2DA89-35B5-FF40-A451-7A3AC4C02924}"/>
              </a:ext>
            </a:extLst>
          </p:cNvPr>
          <p:cNvSpPr/>
          <p:nvPr/>
        </p:nvSpPr>
        <p:spPr>
          <a:xfrm>
            <a:off x="1814623" y="1872173"/>
            <a:ext cx="900868" cy="367353"/>
          </a:xfrm>
          <a:custGeom>
            <a:avLst/>
            <a:gdLst>
              <a:gd name="connsiteX0" fmla="*/ 0 w 786938"/>
              <a:gd name="connsiteY0" fmla="*/ 338051 h 338051"/>
              <a:gd name="connsiteX1" fmla="*/ 0 w 786938"/>
              <a:gd name="connsiteY1" fmla="*/ 0 h 338051"/>
              <a:gd name="connsiteX2" fmla="*/ 786938 w 786938"/>
              <a:gd name="connsiteY2" fmla="*/ 0 h 3380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86938" h="338051">
                <a:moveTo>
                  <a:pt x="0" y="338051"/>
                </a:moveTo>
                <a:lnTo>
                  <a:pt x="0" y="0"/>
                </a:lnTo>
                <a:lnTo>
                  <a:pt x="786938" y="0"/>
                </a:lnTo>
              </a:path>
            </a:pathLst>
          </a:custGeom>
          <a:noFill/>
          <a:ln w="28575">
            <a:solidFill>
              <a:srgbClr val="EE4639"/>
            </a:solidFill>
            <a:head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1" name="Rectángulo redondeado 10">
            <a:extLst>
              <a:ext uri="{FF2B5EF4-FFF2-40B4-BE49-F238E27FC236}">
                <a16:creationId xmlns:a16="http://schemas.microsoft.com/office/drawing/2014/main" id="{495BAF35-E01A-0A42-8E2A-979817ED5C84}"/>
              </a:ext>
            </a:extLst>
          </p:cNvPr>
          <p:cNvSpPr/>
          <p:nvPr/>
        </p:nvSpPr>
        <p:spPr>
          <a:xfrm>
            <a:off x="1236641" y="2251746"/>
            <a:ext cx="1201759" cy="1698608"/>
          </a:xfrm>
          <a:prstGeom prst="roundRect">
            <a:avLst>
              <a:gd name="adj" fmla="val 8593"/>
            </a:avLst>
          </a:prstGeom>
          <a:noFill/>
          <a:ln>
            <a:solidFill>
              <a:srgbClr val="8087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hangingPunct="1">
              <a:defRPr/>
            </a:pPr>
            <a:endParaRPr lang="es-PE" sz="1400" b="1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2" name="Rectángulo redondeado 11">
            <a:extLst>
              <a:ext uri="{FF2B5EF4-FFF2-40B4-BE49-F238E27FC236}">
                <a16:creationId xmlns:a16="http://schemas.microsoft.com/office/drawing/2014/main" id="{A78DE46D-1644-854A-8A5B-A18DD2B27EE3}"/>
              </a:ext>
            </a:extLst>
          </p:cNvPr>
          <p:cNvSpPr/>
          <p:nvPr/>
        </p:nvSpPr>
        <p:spPr>
          <a:xfrm>
            <a:off x="2438400" y="2251745"/>
            <a:ext cx="5913438" cy="1698609"/>
          </a:xfrm>
          <a:prstGeom prst="roundRect">
            <a:avLst>
              <a:gd name="adj" fmla="val 7897"/>
            </a:avLst>
          </a:prstGeom>
          <a:noFill/>
          <a:ln>
            <a:solidFill>
              <a:srgbClr val="8087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hangingPunct="1">
              <a:defRPr/>
            </a:pPr>
            <a:endParaRPr lang="es-PE" sz="1400" b="1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3" name="Forma libre 12">
            <a:extLst>
              <a:ext uri="{FF2B5EF4-FFF2-40B4-BE49-F238E27FC236}">
                <a16:creationId xmlns:a16="http://schemas.microsoft.com/office/drawing/2014/main" id="{0D621425-A34C-374C-81BA-2D8210246FDE}"/>
              </a:ext>
            </a:extLst>
          </p:cNvPr>
          <p:cNvSpPr/>
          <p:nvPr/>
        </p:nvSpPr>
        <p:spPr>
          <a:xfrm>
            <a:off x="7449880" y="3041497"/>
            <a:ext cx="1117772" cy="1235825"/>
          </a:xfrm>
          <a:custGeom>
            <a:avLst/>
            <a:gdLst>
              <a:gd name="connsiteX0" fmla="*/ 0 w 903316"/>
              <a:gd name="connsiteY0" fmla="*/ 1235825 h 1235825"/>
              <a:gd name="connsiteX1" fmla="*/ 903316 w 903316"/>
              <a:gd name="connsiteY1" fmla="*/ 1235825 h 1235825"/>
              <a:gd name="connsiteX2" fmla="*/ 903316 w 903316"/>
              <a:gd name="connsiteY2" fmla="*/ 0 h 1235825"/>
              <a:gd name="connsiteX3" fmla="*/ 742603 w 903316"/>
              <a:gd name="connsiteY3" fmla="*/ 0 h 1235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03316" h="1235825">
                <a:moveTo>
                  <a:pt x="0" y="1235825"/>
                </a:moveTo>
                <a:lnTo>
                  <a:pt x="903316" y="1235825"/>
                </a:lnTo>
                <a:lnTo>
                  <a:pt x="903316" y="0"/>
                </a:lnTo>
                <a:lnTo>
                  <a:pt x="742603" y="0"/>
                </a:lnTo>
              </a:path>
            </a:pathLst>
          </a:custGeom>
          <a:noFill/>
          <a:ln w="28575">
            <a:solidFill>
              <a:srgbClr val="EE4639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86EACA13-0F99-D94B-9AD0-02E97782082D}"/>
              </a:ext>
            </a:extLst>
          </p:cNvPr>
          <p:cNvSpPr/>
          <p:nvPr/>
        </p:nvSpPr>
        <p:spPr>
          <a:xfrm>
            <a:off x="4900831" y="4151098"/>
            <a:ext cx="2549049" cy="2308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buClr>
                <a:schemeClr val="dk1"/>
              </a:buClr>
              <a:buSzPts val="1600"/>
            </a:pPr>
            <a:r>
              <a:rPr lang="es-PE" sz="1500" b="1" dirty="0">
                <a:solidFill>
                  <a:srgbClr val="EE4639"/>
                </a:solidFill>
                <a:latin typeface="Calibri" charset="0"/>
                <a:cs typeface="Calibri" charset="0"/>
                <a:sym typeface="Calibri"/>
              </a:rPr>
              <a:t>Seguimiento de la Salud del SW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2d361c19c8b_0_51"/>
          <p:cNvSpPr/>
          <p:nvPr/>
        </p:nvSpPr>
        <p:spPr>
          <a:xfrm>
            <a:off x="4034100" y="912813"/>
            <a:ext cx="1075800" cy="2458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SOLUCIÓN</a:t>
            </a:r>
            <a:endParaRPr sz="16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g2d361c19c8b_0_51"/>
          <p:cNvSpPr/>
          <p:nvPr/>
        </p:nvSpPr>
        <p:spPr>
          <a:xfrm>
            <a:off x="503238" y="4163039"/>
            <a:ext cx="4572000" cy="4244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80975" marR="0" lvl="0" indent="-18097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s-P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¿Cuál es el porcentaje de todos los defectos más críticos sobre el total de defectos?</a:t>
            </a:r>
            <a:endParaRPr dirty="0"/>
          </a:p>
        </p:txBody>
      </p:sp>
      <p:grpSp>
        <p:nvGrpSpPr>
          <p:cNvPr id="319" name="Google Shape;319;g2d361c19c8b_0_51"/>
          <p:cNvGrpSpPr/>
          <p:nvPr/>
        </p:nvGrpSpPr>
        <p:grpSpPr>
          <a:xfrm>
            <a:off x="5997062" y="4104421"/>
            <a:ext cx="1572708" cy="584921"/>
            <a:chOff x="5997062" y="3743610"/>
            <a:chExt cx="1572708" cy="584921"/>
          </a:xfrm>
        </p:grpSpPr>
        <p:sp>
          <p:nvSpPr>
            <p:cNvPr id="320" name="Google Shape;320;g2d361c19c8b_0_51"/>
            <p:cNvSpPr txBox="1"/>
            <p:nvPr/>
          </p:nvSpPr>
          <p:spPr>
            <a:xfrm>
              <a:off x="6056116" y="3743610"/>
              <a:ext cx="4533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1600" b="1" dirty="0">
                  <a:solidFill>
                    <a:srgbClr val="92C14E"/>
                  </a:solidFill>
                  <a:latin typeface="Calibri"/>
                  <a:ea typeface="Calibri"/>
                  <a:cs typeface="Calibri"/>
                  <a:sym typeface="Calibri"/>
                </a:rPr>
                <a:t>30</a:t>
              </a:r>
              <a:endParaRPr dirty="0">
                <a:solidFill>
                  <a:srgbClr val="92C14E"/>
                </a:solidFill>
              </a:endParaRPr>
            </a:p>
          </p:txBody>
        </p:sp>
        <p:sp>
          <p:nvSpPr>
            <p:cNvPr id="321" name="Google Shape;321;g2d361c19c8b_0_51"/>
            <p:cNvSpPr txBox="1"/>
            <p:nvPr/>
          </p:nvSpPr>
          <p:spPr>
            <a:xfrm>
              <a:off x="5997062" y="3989831"/>
              <a:ext cx="5712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1600" b="1" dirty="0">
                  <a:solidFill>
                    <a:srgbClr val="EE4639"/>
                  </a:solidFill>
                  <a:latin typeface="Calibri"/>
                  <a:ea typeface="Calibri"/>
                  <a:cs typeface="Calibri"/>
                  <a:sym typeface="Calibri"/>
                </a:rPr>
                <a:t>149</a:t>
              </a:r>
              <a:endParaRPr dirty="0">
                <a:solidFill>
                  <a:srgbClr val="EE4639"/>
                </a:solidFill>
              </a:endParaRPr>
            </a:p>
          </p:txBody>
        </p:sp>
        <p:cxnSp>
          <p:nvCxnSpPr>
            <p:cNvPr id="322" name="Google Shape;322;g2d361c19c8b_0_51"/>
            <p:cNvCxnSpPr/>
            <p:nvPr/>
          </p:nvCxnSpPr>
          <p:spPr>
            <a:xfrm>
              <a:off x="6011048" y="4035997"/>
              <a:ext cx="543300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23" name="Google Shape;323;g2d361c19c8b_0_51"/>
            <p:cNvSpPr txBox="1"/>
            <p:nvPr/>
          </p:nvSpPr>
          <p:spPr>
            <a:xfrm>
              <a:off x="6509270" y="3837754"/>
              <a:ext cx="10605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1600" b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= 20.1%</a:t>
              </a:r>
              <a:endParaRPr/>
            </a:p>
          </p:txBody>
        </p:sp>
      </p:grpSp>
      <p:sp>
        <p:nvSpPr>
          <p:cNvPr id="11" name="Rectangle 5">
            <a:extLst>
              <a:ext uri="{FF2B5EF4-FFF2-40B4-BE49-F238E27FC236}">
                <a16:creationId xmlns:a16="http://schemas.microsoft.com/office/drawing/2014/main" id="{41A184F7-394D-6B4F-81C9-CACF2AC3A391}"/>
              </a:ext>
            </a:extLst>
          </p:cNvPr>
          <p:cNvSpPr/>
          <p:nvPr/>
        </p:nvSpPr>
        <p:spPr>
          <a:xfrm>
            <a:off x="503238" y="376232"/>
            <a:ext cx="3300666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/>
              </a:rPr>
              <a:t>SEGUIMIENTO DE PRUEBAS</a:t>
            </a:r>
            <a:endParaRPr lang="es-PE" sz="1000" dirty="0">
              <a:solidFill>
                <a:schemeClr val="bg1">
                  <a:lumMod val="6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12" name="13 Tabla">
            <a:extLst>
              <a:ext uri="{FF2B5EF4-FFF2-40B4-BE49-F238E27FC236}">
                <a16:creationId xmlns:a16="http://schemas.microsoft.com/office/drawing/2014/main" id="{C02B0537-F6C0-B948-8987-84BA49B48F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3743750"/>
              </p:ext>
            </p:extLst>
          </p:nvPr>
        </p:nvGraphicFramePr>
        <p:xfrm>
          <a:off x="755650" y="2347384"/>
          <a:ext cx="7596188" cy="1495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82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23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2416">
                  <a:extLst>
                    <a:ext uri="{9D8B030D-6E8A-4147-A177-3AD203B41FA5}">
                      <a16:colId xmlns:a16="http://schemas.microsoft.com/office/drawing/2014/main" val="418973888"/>
                    </a:ext>
                  </a:extLst>
                </a:gridCol>
                <a:gridCol w="411062">
                  <a:extLst>
                    <a:ext uri="{9D8B030D-6E8A-4147-A177-3AD203B41FA5}">
                      <a16:colId xmlns:a16="http://schemas.microsoft.com/office/drawing/2014/main" val="3546887892"/>
                    </a:ext>
                  </a:extLst>
                </a:gridCol>
                <a:gridCol w="2607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0717">
                  <a:extLst>
                    <a:ext uri="{9D8B030D-6E8A-4147-A177-3AD203B41FA5}">
                      <a16:colId xmlns:a16="http://schemas.microsoft.com/office/drawing/2014/main" val="1636455039"/>
                    </a:ext>
                  </a:extLst>
                </a:gridCol>
                <a:gridCol w="260717">
                  <a:extLst>
                    <a:ext uri="{9D8B030D-6E8A-4147-A177-3AD203B41FA5}">
                      <a16:colId xmlns:a16="http://schemas.microsoft.com/office/drawing/2014/main" val="3706658717"/>
                    </a:ext>
                  </a:extLst>
                </a:gridCol>
                <a:gridCol w="284584">
                  <a:extLst>
                    <a:ext uri="{9D8B030D-6E8A-4147-A177-3AD203B41FA5}">
                      <a16:colId xmlns:a16="http://schemas.microsoft.com/office/drawing/2014/main" val="2774018823"/>
                    </a:ext>
                  </a:extLst>
                </a:gridCol>
                <a:gridCol w="260717">
                  <a:extLst>
                    <a:ext uri="{9D8B030D-6E8A-4147-A177-3AD203B41FA5}">
                      <a16:colId xmlns:a16="http://schemas.microsoft.com/office/drawing/2014/main" val="4195528247"/>
                    </a:ext>
                  </a:extLst>
                </a:gridCol>
                <a:gridCol w="256246">
                  <a:extLst>
                    <a:ext uri="{9D8B030D-6E8A-4147-A177-3AD203B41FA5}">
                      <a16:colId xmlns:a16="http://schemas.microsoft.com/office/drawing/2014/main" val="4092290460"/>
                    </a:ext>
                  </a:extLst>
                </a:gridCol>
                <a:gridCol w="256246">
                  <a:extLst>
                    <a:ext uri="{9D8B030D-6E8A-4147-A177-3AD203B41FA5}">
                      <a16:colId xmlns:a16="http://schemas.microsoft.com/office/drawing/2014/main" val="4086025292"/>
                    </a:ext>
                  </a:extLst>
                </a:gridCol>
                <a:gridCol w="256246">
                  <a:extLst>
                    <a:ext uri="{9D8B030D-6E8A-4147-A177-3AD203B41FA5}">
                      <a16:colId xmlns:a16="http://schemas.microsoft.com/office/drawing/2014/main" val="2523218694"/>
                    </a:ext>
                  </a:extLst>
                </a:gridCol>
                <a:gridCol w="256246">
                  <a:extLst>
                    <a:ext uri="{9D8B030D-6E8A-4147-A177-3AD203B41FA5}">
                      <a16:colId xmlns:a16="http://schemas.microsoft.com/office/drawing/2014/main" val="2103641360"/>
                    </a:ext>
                  </a:extLst>
                </a:gridCol>
                <a:gridCol w="256245">
                  <a:extLst>
                    <a:ext uri="{9D8B030D-6E8A-4147-A177-3AD203B41FA5}">
                      <a16:colId xmlns:a16="http://schemas.microsoft.com/office/drawing/2014/main" val="2297453530"/>
                    </a:ext>
                  </a:extLst>
                </a:gridCol>
                <a:gridCol w="254912">
                  <a:extLst>
                    <a:ext uri="{9D8B030D-6E8A-4147-A177-3AD203B41FA5}">
                      <a16:colId xmlns:a16="http://schemas.microsoft.com/office/drawing/2014/main" val="1538520262"/>
                    </a:ext>
                  </a:extLst>
                </a:gridCol>
                <a:gridCol w="254912">
                  <a:extLst>
                    <a:ext uri="{9D8B030D-6E8A-4147-A177-3AD203B41FA5}">
                      <a16:colId xmlns:a16="http://schemas.microsoft.com/office/drawing/2014/main" val="3371213017"/>
                    </a:ext>
                  </a:extLst>
                </a:gridCol>
                <a:gridCol w="254912">
                  <a:extLst>
                    <a:ext uri="{9D8B030D-6E8A-4147-A177-3AD203B41FA5}">
                      <a16:colId xmlns:a16="http://schemas.microsoft.com/office/drawing/2014/main" val="2268373193"/>
                    </a:ext>
                  </a:extLst>
                </a:gridCol>
                <a:gridCol w="254912">
                  <a:extLst>
                    <a:ext uri="{9D8B030D-6E8A-4147-A177-3AD203B41FA5}">
                      <a16:colId xmlns:a16="http://schemas.microsoft.com/office/drawing/2014/main" val="4225106561"/>
                    </a:ext>
                  </a:extLst>
                </a:gridCol>
                <a:gridCol w="250908">
                  <a:extLst>
                    <a:ext uri="{9D8B030D-6E8A-4147-A177-3AD203B41FA5}">
                      <a16:colId xmlns:a16="http://schemas.microsoft.com/office/drawing/2014/main" val="2103222250"/>
                    </a:ext>
                  </a:extLst>
                </a:gridCol>
                <a:gridCol w="280047">
                  <a:extLst>
                    <a:ext uri="{9D8B030D-6E8A-4147-A177-3AD203B41FA5}">
                      <a16:colId xmlns:a16="http://schemas.microsoft.com/office/drawing/2014/main" val="1742999387"/>
                    </a:ext>
                  </a:extLst>
                </a:gridCol>
                <a:gridCol w="292281">
                  <a:extLst>
                    <a:ext uri="{9D8B030D-6E8A-4147-A177-3AD203B41FA5}">
                      <a16:colId xmlns:a16="http://schemas.microsoft.com/office/drawing/2014/main" val="2263480007"/>
                    </a:ext>
                  </a:extLst>
                </a:gridCol>
                <a:gridCol w="267813">
                  <a:extLst>
                    <a:ext uri="{9D8B030D-6E8A-4147-A177-3AD203B41FA5}">
                      <a16:colId xmlns:a16="http://schemas.microsoft.com/office/drawing/2014/main" val="2223747381"/>
                    </a:ext>
                  </a:extLst>
                </a:gridCol>
                <a:gridCol w="304515">
                  <a:extLst>
                    <a:ext uri="{9D8B030D-6E8A-4147-A177-3AD203B41FA5}">
                      <a16:colId xmlns:a16="http://schemas.microsoft.com/office/drawing/2014/main" val="1004988584"/>
                    </a:ext>
                  </a:extLst>
                </a:gridCol>
                <a:gridCol w="261585">
                  <a:extLst>
                    <a:ext uri="{9D8B030D-6E8A-4147-A177-3AD203B41FA5}">
                      <a16:colId xmlns:a16="http://schemas.microsoft.com/office/drawing/2014/main" val="363442444"/>
                    </a:ext>
                  </a:extLst>
                </a:gridCol>
                <a:gridCol w="62665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90430">
                <a:tc rowSpan="3">
                  <a:txBody>
                    <a:bodyPr/>
                    <a:lstStyle/>
                    <a:p>
                      <a:pPr algn="ctr"/>
                      <a:r>
                        <a:rPr lang="es-ES_tradnl" sz="800" b="1" noProof="0" dirty="0">
                          <a:solidFill>
                            <a:schemeClr val="tx1"/>
                          </a:solidFill>
                          <a:latin typeface="Calibri" charset="0"/>
                          <a:cs typeface="Calibri" charset="0"/>
                        </a:rPr>
                        <a:t>MODULO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CASOS DE PRUEBA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CED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ES_tradnl" sz="800" b="1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EC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gridSpan="21"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DEFECTOS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s-ES_tradnl" sz="8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E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8627747"/>
                  </a:ext>
                </a:extLst>
              </a:tr>
              <a:tr h="190430">
                <a:tc vMerge="1">
                  <a:txBody>
                    <a:bodyPr/>
                    <a:lstStyle/>
                    <a:p>
                      <a:pPr algn="ctr"/>
                      <a:r>
                        <a:rPr lang="es-ES_tradnl" sz="800" b="1" noProof="0" dirty="0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MODULO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EC7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TOTAL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CED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EJECUTADOS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CED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ES_tradnl" sz="8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902" marR="82902" marT="41452" marB="41452" anchor="ctr">
                    <a:lnL w="12700" cap="flat" cmpd="sng" algn="ctr">
                      <a:solidFill>
                        <a:srgbClr val="92C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2C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92C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EC7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PENDIENTES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REINCIDENTES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ES_tradnl" sz="800" b="1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REGULARIZADOS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ES_tradnl" sz="800" b="1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CONFORMES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ES_tradnl" sz="800" b="1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TOTAL</a:t>
                      </a:r>
                    </a:p>
                    <a:p>
                      <a:pPr algn="ctr"/>
                      <a:r>
                        <a:rPr lang="es-ES_tradnl" sz="800" b="1" dirty="0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DEFECTOS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1955">
                <a:tc v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650" b="1" dirty="0">
                          <a:solidFill>
                            <a:srgbClr val="EE4639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Con </a:t>
                      </a:r>
                    </a:p>
                    <a:p>
                      <a:pPr algn="ctr"/>
                      <a:r>
                        <a:rPr lang="es-ES_tradnl" sz="650" b="1" dirty="0">
                          <a:solidFill>
                            <a:srgbClr val="EE4639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Problemas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C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650" b="1" dirty="0">
                          <a:solidFill>
                            <a:srgbClr val="7150A0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Sin </a:t>
                      </a:r>
                    </a:p>
                    <a:p>
                      <a:pPr algn="ctr"/>
                      <a:r>
                        <a:rPr lang="es-ES_tradnl" sz="650" b="1" dirty="0">
                          <a:solidFill>
                            <a:srgbClr val="7150A0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Problemas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C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46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78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D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Total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46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78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D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Total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46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78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D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Total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46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78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D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Total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55000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0914970"/>
                  </a:ext>
                </a:extLst>
              </a:tr>
              <a:tr h="238373">
                <a:tc>
                  <a:txBody>
                    <a:bodyPr/>
                    <a:lstStyle/>
                    <a:p>
                      <a:pPr algn="ctr"/>
                      <a:r>
                        <a:rPr lang="es-ES_tradnl" sz="900" b="1" dirty="0">
                          <a:latin typeface="Calibri" charset="0"/>
                          <a:ea typeface="Calibri" charset="0"/>
                          <a:cs typeface="Calibri" charset="0"/>
                        </a:rPr>
                        <a:t>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ea typeface="Calibri" charset="0"/>
                          <a:cs typeface="Calibri" panose="020F0502020204030204" pitchFamily="34" charset="0"/>
                        </a:rPr>
                        <a:t>40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C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C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8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C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solidFill>
                            <a:srgbClr val="EE4639"/>
                          </a:solidFill>
                          <a:latin typeface="Calibri" panose="020F0502020204030204" pitchFamily="34" charset="0"/>
                          <a:ea typeface="Calibri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4639">
                        <a:alpha val="4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8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solidFill>
                            <a:srgbClr val="EE4639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4639">
                        <a:alpha val="4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solidFill>
                            <a:srgbClr val="EE4639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4639">
                        <a:alpha val="4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ea typeface="Calibri" charset="0"/>
                          <a:cs typeface="Calibri" panose="020F0502020204030204" pitchFamily="34" charset="0"/>
                        </a:rPr>
                        <a:t>46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3732">
                <a:tc>
                  <a:txBody>
                    <a:bodyPr/>
                    <a:lstStyle/>
                    <a:p>
                      <a:pPr algn="ctr"/>
                      <a:r>
                        <a:rPr lang="es-ES_tradnl" sz="900" b="1" dirty="0">
                          <a:latin typeface="Calibri" charset="0"/>
                          <a:ea typeface="Calibri" charset="0"/>
                          <a:cs typeface="Calibri" charset="0"/>
                        </a:rPr>
                        <a:t>2 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ea typeface="Calibri" charset="0"/>
                          <a:cs typeface="Calibri" panose="020F0502020204030204" pitchFamily="34" charset="0"/>
                        </a:rPr>
                        <a:t>50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C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C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C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solidFill>
                            <a:srgbClr val="EE4639"/>
                          </a:solidFill>
                          <a:latin typeface="Calibri" panose="020F0502020204030204" pitchFamily="34" charset="0"/>
                          <a:ea typeface="Calibri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4639">
                        <a:alpha val="4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7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18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solidFill>
                            <a:srgbClr val="EE4639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4639">
                        <a:alpha val="4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solidFill>
                            <a:srgbClr val="EE4639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4639">
                        <a:alpha val="4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8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ea typeface="Calibri" charset="0"/>
                          <a:cs typeface="Calibri" panose="020F0502020204030204" pitchFamily="34" charset="0"/>
                        </a:rPr>
                        <a:t>53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6032">
                <a:tc>
                  <a:txBody>
                    <a:bodyPr/>
                    <a:lstStyle/>
                    <a:p>
                      <a:pPr algn="ctr"/>
                      <a:r>
                        <a:rPr lang="es-ES_tradnl" sz="900" b="1" dirty="0">
                          <a:latin typeface="Calibri" charset="0"/>
                          <a:ea typeface="Calibri" charset="0"/>
                          <a:cs typeface="Calibri" charset="0"/>
                        </a:rPr>
                        <a:t>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ea typeface="Calibri" charset="0"/>
                          <a:cs typeface="Calibri" panose="020F0502020204030204" pitchFamily="34" charset="0"/>
                        </a:rPr>
                        <a:t>20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C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8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C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C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solidFill>
                            <a:srgbClr val="EE4639"/>
                          </a:solidFill>
                          <a:latin typeface="Calibri" panose="020F0502020204030204" pitchFamily="34" charset="0"/>
                          <a:ea typeface="Calibri" charset="0"/>
                          <a:cs typeface="Calibri" panose="020F0502020204030204" pitchFamily="34" charset="0"/>
                        </a:rPr>
                        <a:t>10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4639">
                        <a:alpha val="4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17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solidFill>
                            <a:srgbClr val="EE4639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4639">
                        <a:alpha val="4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solidFill>
                            <a:srgbClr val="EE4639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4639">
                        <a:alpha val="4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ea typeface="Calibri" charset="0"/>
                          <a:cs typeface="Calibri" panose="020F0502020204030204" pitchFamily="34" charset="0"/>
                        </a:rPr>
                        <a:t>65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4160">
                <a:tc>
                  <a:txBody>
                    <a:bodyPr/>
                    <a:lstStyle/>
                    <a:p>
                      <a:pPr algn="ctr"/>
                      <a:r>
                        <a:rPr lang="es-ES_tradnl" sz="900" b="1" dirty="0">
                          <a:latin typeface="Calibri" charset="0"/>
                          <a:ea typeface="Calibri" charset="0"/>
                          <a:cs typeface="Calibri" charset="0"/>
                        </a:rPr>
                        <a:t>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ea typeface="Calibri" charset="0"/>
                          <a:cs typeface="Calibri" panose="020F0502020204030204" pitchFamily="34" charset="0"/>
                        </a:rPr>
                        <a:t>60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C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C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C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solidFill>
                            <a:srgbClr val="EE4639"/>
                          </a:solidFill>
                          <a:latin typeface="Calibri" panose="020F0502020204030204" pitchFamily="34" charset="0"/>
                          <a:ea typeface="Calibri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4639">
                        <a:alpha val="4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8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solidFill>
                            <a:srgbClr val="EE4639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4639">
                        <a:alpha val="4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solidFill>
                            <a:srgbClr val="EE4639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4639">
                        <a:alpha val="4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ea typeface="Calibri" charset="0"/>
                          <a:cs typeface="Calibri" panose="020F0502020204030204" pitchFamily="34" charset="0"/>
                        </a:rPr>
                        <a:t>41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2434817"/>
                  </a:ext>
                </a:extLst>
              </a:tr>
            </a:tbl>
          </a:graphicData>
        </a:graphic>
      </p:graphicFrame>
      <p:sp>
        <p:nvSpPr>
          <p:cNvPr id="13" name="Rectángulo 12">
            <a:extLst>
              <a:ext uri="{FF2B5EF4-FFF2-40B4-BE49-F238E27FC236}">
                <a16:creationId xmlns:a16="http://schemas.microsoft.com/office/drawing/2014/main" id="{C9F6FE48-559D-2740-85DF-C9678682DAD4}"/>
              </a:ext>
            </a:extLst>
          </p:cNvPr>
          <p:cNvSpPr/>
          <p:nvPr/>
        </p:nvSpPr>
        <p:spPr>
          <a:xfrm>
            <a:off x="2283403" y="1358964"/>
            <a:ext cx="3209782" cy="2308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600"/>
              </a:spcAft>
              <a:buClr>
                <a:schemeClr val="dk1"/>
              </a:buClr>
              <a:buSzPts val="1600"/>
            </a:pPr>
            <a:r>
              <a:rPr lang="es-PE" sz="1500" b="1" dirty="0">
                <a:solidFill>
                  <a:srgbClr val="39732D"/>
                </a:solidFill>
                <a:latin typeface="Calibri" charset="0"/>
                <a:cs typeface="Calibri" charset="0"/>
                <a:sym typeface="Calibri"/>
              </a:rPr>
              <a:t>Defectos Críticos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19D3BB53-44F8-394C-BAF5-4E4F388FE5A5}"/>
              </a:ext>
            </a:extLst>
          </p:cNvPr>
          <p:cNvSpPr/>
          <p:nvPr/>
        </p:nvSpPr>
        <p:spPr>
          <a:xfrm>
            <a:off x="2438400" y="2963006"/>
            <a:ext cx="277091" cy="879490"/>
          </a:xfrm>
          <a:prstGeom prst="rect">
            <a:avLst/>
          </a:prstGeom>
          <a:noFill/>
          <a:ln w="28575">
            <a:solidFill>
              <a:srgbClr val="39732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59C236A1-3C0E-7246-B9C5-E10E8F8EFEE4}"/>
              </a:ext>
            </a:extLst>
          </p:cNvPr>
          <p:cNvSpPr/>
          <p:nvPr/>
        </p:nvSpPr>
        <p:spPr>
          <a:xfrm>
            <a:off x="3749749" y="2963006"/>
            <a:ext cx="277091" cy="879490"/>
          </a:xfrm>
          <a:prstGeom prst="rect">
            <a:avLst/>
          </a:prstGeom>
          <a:noFill/>
          <a:ln w="28575">
            <a:solidFill>
              <a:srgbClr val="39732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43E1053C-B942-434C-802C-71D0A799D1DF}"/>
              </a:ext>
            </a:extLst>
          </p:cNvPr>
          <p:cNvSpPr/>
          <p:nvPr/>
        </p:nvSpPr>
        <p:spPr>
          <a:xfrm>
            <a:off x="5039833" y="2963006"/>
            <a:ext cx="277091" cy="879490"/>
          </a:xfrm>
          <a:prstGeom prst="rect">
            <a:avLst/>
          </a:prstGeom>
          <a:noFill/>
          <a:ln w="28575">
            <a:solidFill>
              <a:srgbClr val="39732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2" name="Forma libre 1">
            <a:extLst>
              <a:ext uri="{FF2B5EF4-FFF2-40B4-BE49-F238E27FC236}">
                <a16:creationId xmlns:a16="http://schemas.microsoft.com/office/drawing/2014/main" id="{A6A8BBE6-E638-5243-AA18-59834A9E3DEF}"/>
              </a:ext>
            </a:extLst>
          </p:cNvPr>
          <p:cNvSpPr/>
          <p:nvPr/>
        </p:nvSpPr>
        <p:spPr>
          <a:xfrm>
            <a:off x="2558902" y="1850065"/>
            <a:ext cx="2629786" cy="1105786"/>
          </a:xfrm>
          <a:custGeom>
            <a:avLst/>
            <a:gdLst>
              <a:gd name="connsiteX0" fmla="*/ 0 w 2629786"/>
              <a:gd name="connsiteY0" fmla="*/ 1098698 h 1105786"/>
              <a:gd name="connsiteX1" fmla="*/ 0 w 2629786"/>
              <a:gd name="connsiteY1" fmla="*/ 0 h 1105786"/>
              <a:gd name="connsiteX2" fmla="*/ 2629786 w 2629786"/>
              <a:gd name="connsiteY2" fmla="*/ 0 h 1105786"/>
              <a:gd name="connsiteX3" fmla="*/ 2629786 w 2629786"/>
              <a:gd name="connsiteY3" fmla="*/ 1105786 h 11057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29786" h="1105786">
                <a:moveTo>
                  <a:pt x="0" y="1098698"/>
                </a:moveTo>
                <a:lnTo>
                  <a:pt x="0" y="0"/>
                </a:lnTo>
                <a:lnTo>
                  <a:pt x="2629786" y="0"/>
                </a:lnTo>
                <a:lnTo>
                  <a:pt x="2629786" y="1105786"/>
                </a:lnTo>
              </a:path>
            </a:pathLst>
          </a:custGeom>
          <a:noFill/>
          <a:ln>
            <a:solidFill>
              <a:srgbClr val="39732D"/>
            </a:solidFill>
            <a:headEnd type="triangle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cxnSp>
        <p:nvCxnSpPr>
          <p:cNvPr id="4" name="Conector recto de flecha 3">
            <a:extLst>
              <a:ext uri="{FF2B5EF4-FFF2-40B4-BE49-F238E27FC236}">
                <a16:creationId xmlns:a16="http://schemas.microsoft.com/office/drawing/2014/main" id="{5A5A1646-3673-3B40-A85B-9FAD822C5CB0}"/>
              </a:ext>
            </a:extLst>
          </p:cNvPr>
          <p:cNvCxnSpPr>
            <a:endCxn id="20" idx="0"/>
          </p:cNvCxnSpPr>
          <p:nvPr/>
        </p:nvCxnSpPr>
        <p:spPr>
          <a:xfrm>
            <a:off x="3888294" y="1589796"/>
            <a:ext cx="1" cy="1373210"/>
          </a:xfrm>
          <a:prstGeom prst="straightConnector1">
            <a:avLst/>
          </a:prstGeom>
          <a:ln w="28575">
            <a:solidFill>
              <a:srgbClr val="39732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2d361c19c8b_0_63"/>
          <p:cNvSpPr/>
          <p:nvPr/>
        </p:nvSpPr>
        <p:spPr>
          <a:xfrm>
            <a:off x="503236" y="4537041"/>
            <a:ext cx="8267700" cy="206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80975" marR="0" lvl="0" indent="-18097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s-P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¿Cuál es la cantidad de defectos que están pendientes de ser atendidos por los programadores?</a:t>
            </a:r>
            <a:endParaRPr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6326ECD-C541-594D-87E6-15FBED0C77E6}"/>
              </a:ext>
            </a:extLst>
          </p:cNvPr>
          <p:cNvSpPr/>
          <p:nvPr/>
        </p:nvSpPr>
        <p:spPr>
          <a:xfrm>
            <a:off x="503238" y="376232"/>
            <a:ext cx="3300666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/>
              </a:rPr>
              <a:t>SEGUIMIENTO DE PRUEBAS</a:t>
            </a:r>
            <a:endParaRPr lang="es-PE" sz="1000" dirty="0">
              <a:solidFill>
                <a:schemeClr val="bg1">
                  <a:lumMod val="6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A20DAE6D-30F7-1B46-B75A-169403548CC1}"/>
              </a:ext>
            </a:extLst>
          </p:cNvPr>
          <p:cNvSpPr/>
          <p:nvPr/>
        </p:nvSpPr>
        <p:spPr>
          <a:xfrm>
            <a:off x="503236" y="916472"/>
            <a:ext cx="7636423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buClr>
                <a:schemeClr val="dk1"/>
              </a:buClr>
              <a:buSzPts val="1600"/>
            </a:pPr>
            <a:r>
              <a:rPr lang="es-ES" sz="2000" b="1" dirty="0">
                <a:solidFill>
                  <a:srgbClr val="EE4639"/>
                </a:solidFill>
                <a:latin typeface="Graphik Bold" panose="020B0503030202060203" pitchFamily="34" charset="77"/>
                <a:cs typeface="Calibri" charset="0"/>
              </a:rPr>
              <a:t>+ 06.</a:t>
            </a:r>
            <a:br>
              <a:rPr lang="es-ES" sz="1600" b="1" dirty="0">
                <a:solidFill>
                  <a:srgbClr val="EE4639"/>
                </a:solidFill>
                <a:latin typeface="Calibri" charset="0"/>
                <a:cs typeface="Calibri" charset="0"/>
              </a:rPr>
            </a:br>
            <a:r>
              <a:rPr lang="es-PE" sz="1600" b="1" dirty="0">
                <a:solidFill>
                  <a:srgbClr val="EE4639"/>
                </a:solidFill>
                <a:latin typeface="Calibri" charset="0"/>
                <a:cs typeface="Calibri" charset="0"/>
                <a:sym typeface="Calibri"/>
              </a:rPr>
              <a:t>SEGUIMIENTO DE PRUEBAS</a:t>
            </a:r>
          </a:p>
        </p:txBody>
      </p:sp>
      <p:graphicFrame>
        <p:nvGraphicFramePr>
          <p:cNvPr id="8" name="13 Tabla">
            <a:extLst>
              <a:ext uri="{FF2B5EF4-FFF2-40B4-BE49-F238E27FC236}">
                <a16:creationId xmlns:a16="http://schemas.microsoft.com/office/drawing/2014/main" id="{102D50B0-A3BF-BC40-8143-6A01C228A4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9831801"/>
              </p:ext>
            </p:extLst>
          </p:nvPr>
        </p:nvGraphicFramePr>
        <p:xfrm>
          <a:off x="755650" y="2347384"/>
          <a:ext cx="7596188" cy="1495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82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23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2416">
                  <a:extLst>
                    <a:ext uri="{9D8B030D-6E8A-4147-A177-3AD203B41FA5}">
                      <a16:colId xmlns:a16="http://schemas.microsoft.com/office/drawing/2014/main" val="418973888"/>
                    </a:ext>
                  </a:extLst>
                </a:gridCol>
                <a:gridCol w="411062">
                  <a:extLst>
                    <a:ext uri="{9D8B030D-6E8A-4147-A177-3AD203B41FA5}">
                      <a16:colId xmlns:a16="http://schemas.microsoft.com/office/drawing/2014/main" val="3546887892"/>
                    </a:ext>
                  </a:extLst>
                </a:gridCol>
                <a:gridCol w="2607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0717">
                  <a:extLst>
                    <a:ext uri="{9D8B030D-6E8A-4147-A177-3AD203B41FA5}">
                      <a16:colId xmlns:a16="http://schemas.microsoft.com/office/drawing/2014/main" val="1636455039"/>
                    </a:ext>
                  </a:extLst>
                </a:gridCol>
                <a:gridCol w="260717">
                  <a:extLst>
                    <a:ext uri="{9D8B030D-6E8A-4147-A177-3AD203B41FA5}">
                      <a16:colId xmlns:a16="http://schemas.microsoft.com/office/drawing/2014/main" val="3706658717"/>
                    </a:ext>
                  </a:extLst>
                </a:gridCol>
                <a:gridCol w="284584">
                  <a:extLst>
                    <a:ext uri="{9D8B030D-6E8A-4147-A177-3AD203B41FA5}">
                      <a16:colId xmlns:a16="http://schemas.microsoft.com/office/drawing/2014/main" val="2774018823"/>
                    </a:ext>
                  </a:extLst>
                </a:gridCol>
                <a:gridCol w="260717">
                  <a:extLst>
                    <a:ext uri="{9D8B030D-6E8A-4147-A177-3AD203B41FA5}">
                      <a16:colId xmlns:a16="http://schemas.microsoft.com/office/drawing/2014/main" val="4195528247"/>
                    </a:ext>
                  </a:extLst>
                </a:gridCol>
                <a:gridCol w="256246">
                  <a:extLst>
                    <a:ext uri="{9D8B030D-6E8A-4147-A177-3AD203B41FA5}">
                      <a16:colId xmlns:a16="http://schemas.microsoft.com/office/drawing/2014/main" val="4092290460"/>
                    </a:ext>
                  </a:extLst>
                </a:gridCol>
                <a:gridCol w="256246">
                  <a:extLst>
                    <a:ext uri="{9D8B030D-6E8A-4147-A177-3AD203B41FA5}">
                      <a16:colId xmlns:a16="http://schemas.microsoft.com/office/drawing/2014/main" val="4086025292"/>
                    </a:ext>
                  </a:extLst>
                </a:gridCol>
                <a:gridCol w="256246">
                  <a:extLst>
                    <a:ext uri="{9D8B030D-6E8A-4147-A177-3AD203B41FA5}">
                      <a16:colId xmlns:a16="http://schemas.microsoft.com/office/drawing/2014/main" val="2523218694"/>
                    </a:ext>
                  </a:extLst>
                </a:gridCol>
                <a:gridCol w="256246">
                  <a:extLst>
                    <a:ext uri="{9D8B030D-6E8A-4147-A177-3AD203B41FA5}">
                      <a16:colId xmlns:a16="http://schemas.microsoft.com/office/drawing/2014/main" val="2103641360"/>
                    </a:ext>
                  </a:extLst>
                </a:gridCol>
                <a:gridCol w="256245">
                  <a:extLst>
                    <a:ext uri="{9D8B030D-6E8A-4147-A177-3AD203B41FA5}">
                      <a16:colId xmlns:a16="http://schemas.microsoft.com/office/drawing/2014/main" val="2297453530"/>
                    </a:ext>
                  </a:extLst>
                </a:gridCol>
                <a:gridCol w="254912">
                  <a:extLst>
                    <a:ext uri="{9D8B030D-6E8A-4147-A177-3AD203B41FA5}">
                      <a16:colId xmlns:a16="http://schemas.microsoft.com/office/drawing/2014/main" val="1538520262"/>
                    </a:ext>
                  </a:extLst>
                </a:gridCol>
                <a:gridCol w="254912">
                  <a:extLst>
                    <a:ext uri="{9D8B030D-6E8A-4147-A177-3AD203B41FA5}">
                      <a16:colId xmlns:a16="http://schemas.microsoft.com/office/drawing/2014/main" val="3371213017"/>
                    </a:ext>
                  </a:extLst>
                </a:gridCol>
                <a:gridCol w="254912">
                  <a:extLst>
                    <a:ext uri="{9D8B030D-6E8A-4147-A177-3AD203B41FA5}">
                      <a16:colId xmlns:a16="http://schemas.microsoft.com/office/drawing/2014/main" val="2268373193"/>
                    </a:ext>
                  </a:extLst>
                </a:gridCol>
                <a:gridCol w="254912">
                  <a:extLst>
                    <a:ext uri="{9D8B030D-6E8A-4147-A177-3AD203B41FA5}">
                      <a16:colId xmlns:a16="http://schemas.microsoft.com/office/drawing/2014/main" val="4225106561"/>
                    </a:ext>
                  </a:extLst>
                </a:gridCol>
                <a:gridCol w="250908">
                  <a:extLst>
                    <a:ext uri="{9D8B030D-6E8A-4147-A177-3AD203B41FA5}">
                      <a16:colId xmlns:a16="http://schemas.microsoft.com/office/drawing/2014/main" val="2103222250"/>
                    </a:ext>
                  </a:extLst>
                </a:gridCol>
                <a:gridCol w="280047">
                  <a:extLst>
                    <a:ext uri="{9D8B030D-6E8A-4147-A177-3AD203B41FA5}">
                      <a16:colId xmlns:a16="http://schemas.microsoft.com/office/drawing/2014/main" val="1742999387"/>
                    </a:ext>
                  </a:extLst>
                </a:gridCol>
                <a:gridCol w="292281">
                  <a:extLst>
                    <a:ext uri="{9D8B030D-6E8A-4147-A177-3AD203B41FA5}">
                      <a16:colId xmlns:a16="http://schemas.microsoft.com/office/drawing/2014/main" val="2263480007"/>
                    </a:ext>
                  </a:extLst>
                </a:gridCol>
                <a:gridCol w="267813">
                  <a:extLst>
                    <a:ext uri="{9D8B030D-6E8A-4147-A177-3AD203B41FA5}">
                      <a16:colId xmlns:a16="http://schemas.microsoft.com/office/drawing/2014/main" val="2223747381"/>
                    </a:ext>
                  </a:extLst>
                </a:gridCol>
                <a:gridCol w="304515">
                  <a:extLst>
                    <a:ext uri="{9D8B030D-6E8A-4147-A177-3AD203B41FA5}">
                      <a16:colId xmlns:a16="http://schemas.microsoft.com/office/drawing/2014/main" val="1004988584"/>
                    </a:ext>
                  </a:extLst>
                </a:gridCol>
                <a:gridCol w="261585">
                  <a:extLst>
                    <a:ext uri="{9D8B030D-6E8A-4147-A177-3AD203B41FA5}">
                      <a16:colId xmlns:a16="http://schemas.microsoft.com/office/drawing/2014/main" val="363442444"/>
                    </a:ext>
                  </a:extLst>
                </a:gridCol>
                <a:gridCol w="62665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90430">
                <a:tc rowSpan="3">
                  <a:txBody>
                    <a:bodyPr/>
                    <a:lstStyle/>
                    <a:p>
                      <a:pPr algn="ctr"/>
                      <a:r>
                        <a:rPr lang="es-ES_tradnl" sz="800" b="1" noProof="0" dirty="0">
                          <a:solidFill>
                            <a:schemeClr val="tx1"/>
                          </a:solidFill>
                          <a:latin typeface="Calibri" charset="0"/>
                          <a:cs typeface="Calibri" charset="0"/>
                        </a:rPr>
                        <a:t>MODULO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CASOS DE PRUEBA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CED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ES_tradnl" sz="800" b="1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EC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gridSpan="21"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DEFECTOS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s-ES_tradnl" sz="8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E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8627747"/>
                  </a:ext>
                </a:extLst>
              </a:tr>
              <a:tr h="190430">
                <a:tc vMerge="1">
                  <a:txBody>
                    <a:bodyPr/>
                    <a:lstStyle/>
                    <a:p>
                      <a:pPr algn="ctr"/>
                      <a:r>
                        <a:rPr lang="es-ES_tradnl" sz="800" b="1" noProof="0" dirty="0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MODULO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EC7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TOTAL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CED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EJECUTADOS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CED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ES_tradnl" sz="8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902" marR="82902" marT="41452" marB="41452" anchor="ctr">
                    <a:lnL w="12700" cap="flat" cmpd="sng" algn="ctr">
                      <a:solidFill>
                        <a:srgbClr val="92C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2C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92C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EC7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PENDIENTES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REINCIDENTES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ES_tradnl" sz="800" b="1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REGULARIZADOS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ES_tradnl" sz="800" b="1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CONFORMES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ES_tradnl" sz="800" b="1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TOTAL</a:t>
                      </a:r>
                    </a:p>
                    <a:p>
                      <a:pPr algn="ctr"/>
                      <a:r>
                        <a:rPr lang="es-ES_tradnl" sz="800" b="1" dirty="0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DEFECTOS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1955">
                <a:tc v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650" b="1" dirty="0">
                          <a:solidFill>
                            <a:srgbClr val="EE4639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Con </a:t>
                      </a:r>
                    </a:p>
                    <a:p>
                      <a:pPr algn="ctr"/>
                      <a:r>
                        <a:rPr lang="es-ES_tradnl" sz="650" b="1" dirty="0">
                          <a:solidFill>
                            <a:srgbClr val="EE4639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Problemas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C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650" b="1" dirty="0">
                          <a:solidFill>
                            <a:srgbClr val="7150A0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Sin </a:t>
                      </a:r>
                    </a:p>
                    <a:p>
                      <a:pPr algn="ctr"/>
                      <a:r>
                        <a:rPr lang="es-ES_tradnl" sz="650" b="1" dirty="0">
                          <a:solidFill>
                            <a:srgbClr val="7150A0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Problemas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C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46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78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D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Total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46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78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D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Total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46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78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D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Total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46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78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D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Total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55000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0914970"/>
                  </a:ext>
                </a:extLst>
              </a:tr>
              <a:tr h="238373">
                <a:tc>
                  <a:txBody>
                    <a:bodyPr/>
                    <a:lstStyle/>
                    <a:p>
                      <a:pPr algn="ctr"/>
                      <a:r>
                        <a:rPr lang="es-ES_tradnl" sz="900" b="1" dirty="0">
                          <a:latin typeface="Calibri" charset="0"/>
                          <a:ea typeface="Calibri" charset="0"/>
                          <a:cs typeface="Calibri" charset="0"/>
                        </a:rPr>
                        <a:t>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ea typeface="Calibri" charset="0"/>
                          <a:cs typeface="Calibri" panose="020F0502020204030204" pitchFamily="34" charset="0"/>
                        </a:rPr>
                        <a:t>40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C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C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8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C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ea typeface="Calibri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8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ea typeface="Calibri" charset="0"/>
                          <a:cs typeface="Calibri" panose="020F0502020204030204" pitchFamily="34" charset="0"/>
                        </a:rPr>
                        <a:t>46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3732">
                <a:tc>
                  <a:txBody>
                    <a:bodyPr/>
                    <a:lstStyle/>
                    <a:p>
                      <a:pPr algn="ctr"/>
                      <a:r>
                        <a:rPr lang="es-ES_tradnl" sz="900" b="1" dirty="0">
                          <a:latin typeface="Calibri" charset="0"/>
                          <a:ea typeface="Calibri" charset="0"/>
                          <a:cs typeface="Calibri" charset="0"/>
                        </a:rPr>
                        <a:t>2 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ea typeface="Calibri" charset="0"/>
                          <a:cs typeface="Calibri" panose="020F0502020204030204" pitchFamily="34" charset="0"/>
                        </a:rPr>
                        <a:t>50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C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C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C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ea typeface="Calibri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7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18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8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ea typeface="Calibri" charset="0"/>
                          <a:cs typeface="Calibri" panose="020F0502020204030204" pitchFamily="34" charset="0"/>
                        </a:rPr>
                        <a:t>53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6032">
                <a:tc>
                  <a:txBody>
                    <a:bodyPr/>
                    <a:lstStyle/>
                    <a:p>
                      <a:pPr algn="ctr"/>
                      <a:r>
                        <a:rPr lang="es-ES_tradnl" sz="900" b="1" dirty="0">
                          <a:latin typeface="Calibri" charset="0"/>
                          <a:ea typeface="Calibri" charset="0"/>
                          <a:cs typeface="Calibri" charset="0"/>
                        </a:rPr>
                        <a:t>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ea typeface="Calibri" charset="0"/>
                          <a:cs typeface="Calibri" panose="020F0502020204030204" pitchFamily="34" charset="0"/>
                        </a:rPr>
                        <a:t>20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C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8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C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C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ea typeface="Calibri" charset="0"/>
                          <a:cs typeface="Calibri" panose="020F0502020204030204" pitchFamily="34" charset="0"/>
                        </a:rPr>
                        <a:t>10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17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ea typeface="Calibri" charset="0"/>
                          <a:cs typeface="Calibri" panose="020F0502020204030204" pitchFamily="34" charset="0"/>
                        </a:rPr>
                        <a:t>65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4160">
                <a:tc>
                  <a:txBody>
                    <a:bodyPr/>
                    <a:lstStyle/>
                    <a:p>
                      <a:pPr algn="ctr"/>
                      <a:r>
                        <a:rPr lang="es-ES_tradnl" sz="900" b="1" dirty="0">
                          <a:latin typeface="Calibri" charset="0"/>
                          <a:ea typeface="Calibri" charset="0"/>
                          <a:cs typeface="Calibri" charset="0"/>
                        </a:rPr>
                        <a:t>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ea typeface="Calibri" charset="0"/>
                          <a:cs typeface="Calibri" panose="020F0502020204030204" pitchFamily="34" charset="0"/>
                        </a:rPr>
                        <a:t>60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C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C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C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ea typeface="Calibri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8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ea typeface="Calibri" charset="0"/>
                          <a:cs typeface="Calibri" panose="020F0502020204030204" pitchFamily="34" charset="0"/>
                        </a:rPr>
                        <a:t>41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2434817"/>
                  </a:ext>
                </a:extLst>
              </a:tr>
            </a:tbl>
          </a:graphicData>
        </a:graphic>
      </p:graphicFrame>
      <p:sp>
        <p:nvSpPr>
          <p:cNvPr id="9" name="Rectángulo 8">
            <a:extLst>
              <a:ext uri="{FF2B5EF4-FFF2-40B4-BE49-F238E27FC236}">
                <a16:creationId xmlns:a16="http://schemas.microsoft.com/office/drawing/2014/main" id="{EF410415-089D-A446-8755-AE7D4BB52ABA}"/>
              </a:ext>
            </a:extLst>
          </p:cNvPr>
          <p:cNvSpPr/>
          <p:nvPr/>
        </p:nvSpPr>
        <p:spPr>
          <a:xfrm>
            <a:off x="2804348" y="1756795"/>
            <a:ext cx="3209782" cy="2308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buClr>
                <a:schemeClr val="dk1"/>
              </a:buClr>
              <a:buSzPts val="1600"/>
            </a:pPr>
            <a:r>
              <a:rPr lang="es-PE" sz="1500" b="1" dirty="0">
                <a:solidFill>
                  <a:srgbClr val="EE4639"/>
                </a:solidFill>
                <a:latin typeface="Calibri" charset="0"/>
                <a:cs typeface="Calibri" charset="0"/>
                <a:sym typeface="Calibri"/>
              </a:rPr>
              <a:t>Seguimiento del Avance de Pruebas</a:t>
            </a:r>
          </a:p>
        </p:txBody>
      </p:sp>
      <p:sp>
        <p:nvSpPr>
          <p:cNvPr id="10" name="Forma libre 9">
            <a:extLst>
              <a:ext uri="{FF2B5EF4-FFF2-40B4-BE49-F238E27FC236}">
                <a16:creationId xmlns:a16="http://schemas.microsoft.com/office/drawing/2014/main" id="{2B950441-587D-1546-9794-6038AC546882}"/>
              </a:ext>
            </a:extLst>
          </p:cNvPr>
          <p:cNvSpPr/>
          <p:nvPr/>
        </p:nvSpPr>
        <p:spPr>
          <a:xfrm>
            <a:off x="1835888" y="1872173"/>
            <a:ext cx="879603" cy="367353"/>
          </a:xfrm>
          <a:custGeom>
            <a:avLst/>
            <a:gdLst>
              <a:gd name="connsiteX0" fmla="*/ 0 w 786938"/>
              <a:gd name="connsiteY0" fmla="*/ 338051 h 338051"/>
              <a:gd name="connsiteX1" fmla="*/ 0 w 786938"/>
              <a:gd name="connsiteY1" fmla="*/ 0 h 338051"/>
              <a:gd name="connsiteX2" fmla="*/ 786938 w 786938"/>
              <a:gd name="connsiteY2" fmla="*/ 0 h 3380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86938" h="338051">
                <a:moveTo>
                  <a:pt x="0" y="338051"/>
                </a:moveTo>
                <a:lnTo>
                  <a:pt x="0" y="0"/>
                </a:lnTo>
                <a:lnTo>
                  <a:pt x="786938" y="0"/>
                </a:lnTo>
              </a:path>
            </a:pathLst>
          </a:custGeom>
          <a:noFill/>
          <a:ln w="28575">
            <a:solidFill>
              <a:srgbClr val="EE4639"/>
            </a:solidFill>
            <a:head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1" name="Rectángulo redondeado 10">
            <a:extLst>
              <a:ext uri="{FF2B5EF4-FFF2-40B4-BE49-F238E27FC236}">
                <a16:creationId xmlns:a16="http://schemas.microsoft.com/office/drawing/2014/main" id="{B104F620-9EA4-7F49-8CA7-98C1CA692ECF}"/>
              </a:ext>
            </a:extLst>
          </p:cNvPr>
          <p:cNvSpPr/>
          <p:nvPr/>
        </p:nvSpPr>
        <p:spPr>
          <a:xfrm>
            <a:off x="1236641" y="2251746"/>
            <a:ext cx="1201759" cy="1698608"/>
          </a:xfrm>
          <a:prstGeom prst="roundRect">
            <a:avLst>
              <a:gd name="adj" fmla="val 8593"/>
            </a:avLst>
          </a:prstGeom>
          <a:noFill/>
          <a:ln>
            <a:solidFill>
              <a:srgbClr val="8087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hangingPunct="1">
              <a:defRPr/>
            </a:pPr>
            <a:endParaRPr lang="es-PE" sz="1400" b="1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2" name="Rectángulo redondeado 11">
            <a:extLst>
              <a:ext uri="{FF2B5EF4-FFF2-40B4-BE49-F238E27FC236}">
                <a16:creationId xmlns:a16="http://schemas.microsoft.com/office/drawing/2014/main" id="{7941D335-94DC-554D-8D47-95F1B1D66997}"/>
              </a:ext>
            </a:extLst>
          </p:cNvPr>
          <p:cNvSpPr/>
          <p:nvPr/>
        </p:nvSpPr>
        <p:spPr>
          <a:xfrm>
            <a:off x="2438400" y="2251745"/>
            <a:ext cx="5913438" cy="1698609"/>
          </a:xfrm>
          <a:prstGeom prst="roundRect">
            <a:avLst>
              <a:gd name="adj" fmla="val 7897"/>
            </a:avLst>
          </a:prstGeom>
          <a:noFill/>
          <a:ln>
            <a:solidFill>
              <a:srgbClr val="8087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hangingPunct="1">
              <a:defRPr/>
            </a:pPr>
            <a:endParaRPr lang="es-PE" sz="1400" b="1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3" name="Forma libre 12">
            <a:extLst>
              <a:ext uri="{FF2B5EF4-FFF2-40B4-BE49-F238E27FC236}">
                <a16:creationId xmlns:a16="http://schemas.microsoft.com/office/drawing/2014/main" id="{AE70977E-D125-354A-9483-7278FA0C9172}"/>
              </a:ext>
            </a:extLst>
          </p:cNvPr>
          <p:cNvSpPr/>
          <p:nvPr/>
        </p:nvSpPr>
        <p:spPr>
          <a:xfrm>
            <a:off x="7449880" y="3041497"/>
            <a:ext cx="1117772" cy="1235825"/>
          </a:xfrm>
          <a:custGeom>
            <a:avLst/>
            <a:gdLst>
              <a:gd name="connsiteX0" fmla="*/ 0 w 903316"/>
              <a:gd name="connsiteY0" fmla="*/ 1235825 h 1235825"/>
              <a:gd name="connsiteX1" fmla="*/ 903316 w 903316"/>
              <a:gd name="connsiteY1" fmla="*/ 1235825 h 1235825"/>
              <a:gd name="connsiteX2" fmla="*/ 903316 w 903316"/>
              <a:gd name="connsiteY2" fmla="*/ 0 h 1235825"/>
              <a:gd name="connsiteX3" fmla="*/ 742603 w 903316"/>
              <a:gd name="connsiteY3" fmla="*/ 0 h 1235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03316" h="1235825">
                <a:moveTo>
                  <a:pt x="0" y="1235825"/>
                </a:moveTo>
                <a:lnTo>
                  <a:pt x="903316" y="1235825"/>
                </a:lnTo>
                <a:lnTo>
                  <a:pt x="903316" y="0"/>
                </a:lnTo>
                <a:lnTo>
                  <a:pt x="742603" y="0"/>
                </a:lnTo>
              </a:path>
            </a:pathLst>
          </a:custGeom>
          <a:noFill/>
          <a:ln w="28575">
            <a:solidFill>
              <a:srgbClr val="EE4639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FE54914A-EB25-5B4A-9EB6-53484DD67340}"/>
              </a:ext>
            </a:extLst>
          </p:cNvPr>
          <p:cNvSpPr/>
          <p:nvPr/>
        </p:nvSpPr>
        <p:spPr>
          <a:xfrm>
            <a:off x="4900831" y="4151098"/>
            <a:ext cx="2549049" cy="2308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buClr>
                <a:schemeClr val="dk1"/>
              </a:buClr>
              <a:buSzPts val="1600"/>
            </a:pPr>
            <a:r>
              <a:rPr lang="es-PE" sz="1500" b="1" dirty="0">
                <a:solidFill>
                  <a:srgbClr val="EE4639"/>
                </a:solidFill>
                <a:latin typeface="Calibri" charset="0"/>
                <a:cs typeface="Calibri" charset="0"/>
                <a:sym typeface="Calibri"/>
              </a:rPr>
              <a:t>Seguimiento de la Salud del SW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2d361c19c8b_0_70"/>
          <p:cNvSpPr/>
          <p:nvPr/>
        </p:nvSpPr>
        <p:spPr>
          <a:xfrm>
            <a:off x="4034100" y="912813"/>
            <a:ext cx="1075800" cy="2458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SOLUCIÓN</a:t>
            </a:r>
            <a:endParaRPr sz="16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g2d361c19c8b_0_70"/>
          <p:cNvSpPr/>
          <p:nvPr/>
        </p:nvSpPr>
        <p:spPr>
          <a:xfrm>
            <a:off x="503238" y="4206402"/>
            <a:ext cx="5500051" cy="417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80975" marR="0" lvl="0" indent="-18097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s-P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¿Cuál es la cantidad de defectos que están pendientes de ser atendidos por los programadores?</a:t>
            </a:r>
            <a:endParaRPr dirty="0"/>
          </a:p>
        </p:txBody>
      </p:sp>
      <p:sp>
        <p:nvSpPr>
          <p:cNvPr id="340" name="Google Shape;340;g2d361c19c8b_0_70"/>
          <p:cNvSpPr txBox="1"/>
          <p:nvPr/>
        </p:nvSpPr>
        <p:spPr>
          <a:xfrm>
            <a:off x="7257692" y="4292056"/>
            <a:ext cx="45330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600" b="1" dirty="0">
                <a:solidFill>
                  <a:srgbClr val="92C14E"/>
                </a:solidFill>
                <a:latin typeface="Calibri"/>
                <a:ea typeface="Calibri"/>
                <a:cs typeface="Calibri"/>
                <a:sym typeface="Calibri"/>
              </a:rPr>
              <a:t>87</a:t>
            </a:r>
            <a:endParaRPr dirty="0">
              <a:solidFill>
                <a:srgbClr val="92C14E"/>
              </a:solidFill>
            </a:endParaRPr>
          </a:p>
        </p:txBody>
      </p:sp>
      <p:sp>
        <p:nvSpPr>
          <p:cNvPr id="341" name="Google Shape;341;g2d361c19c8b_0_70"/>
          <p:cNvSpPr/>
          <p:nvPr/>
        </p:nvSpPr>
        <p:spPr>
          <a:xfrm>
            <a:off x="2702623" y="1514847"/>
            <a:ext cx="3222600" cy="2458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600" b="1" dirty="0">
                <a:solidFill>
                  <a:srgbClr val="39732D"/>
                </a:solidFill>
                <a:latin typeface="Calibri"/>
                <a:ea typeface="Calibri"/>
                <a:cs typeface="Calibri"/>
                <a:sym typeface="Calibri"/>
              </a:rPr>
              <a:t>Los programadores deben atender</a:t>
            </a:r>
            <a:endParaRPr dirty="0">
              <a:solidFill>
                <a:srgbClr val="39732D"/>
              </a:solidFill>
            </a:endParaRP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143E32D1-A013-C04B-8BF5-83AB14227ED3}"/>
              </a:ext>
            </a:extLst>
          </p:cNvPr>
          <p:cNvSpPr/>
          <p:nvPr/>
        </p:nvSpPr>
        <p:spPr>
          <a:xfrm>
            <a:off x="503238" y="376232"/>
            <a:ext cx="3300666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/>
              </a:rPr>
              <a:t>SEGUIMIENTO DE PRUEBAS</a:t>
            </a:r>
            <a:endParaRPr lang="es-PE" sz="1000" dirty="0">
              <a:solidFill>
                <a:schemeClr val="bg1">
                  <a:lumMod val="6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9" name="13 Tabla">
            <a:extLst>
              <a:ext uri="{FF2B5EF4-FFF2-40B4-BE49-F238E27FC236}">
                <a16:creationId xmlns:a16="http://schemas.microsoft.com/office/drawing/2014/main" id="{2ACED030-0574-E043-BAB3-0267185E39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0206115"/>
              </p:ext>
            </p:extLst>
          </p:nvPr>
        </p:nvGraphicFramePr>
        <p:xfrm>
          <a:off x="755650" y="2347384"/>
          <a:ext cx="7596188" cy="1495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82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23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2416">
                  <a:extLst>
                    <a:ext uri="{9D8B030D-6E8A-4147-A177-3AD203B41FA5}">
                      <a16:colId xmlns:a16="http://schemas.microsoft.com/office/drawing/2014/main" val="418973888"/>
                    </a:ext>
                  </a:extLst>
                </a:gridCol>
                <a:gridCol w="411062">
                  <a:extLst>
                    <a:ext uri="{9D8B030D-6E8A-4147-A177-3AD203B41FA5}">
                      <a16:colId xmlns:a16="http://schemas.microsoft.com/office/drawing/2014/main" val="3546887892"/>
                    </a:ext>
                  </a:extLst>
                </a:gridCol>
                <a:gridCol w="2607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0717">
                  <a:extLst>
                    <a:ext uri="{9D8B030D-6E8A-4147-A177-3AD203B41FA5}">
                      <a16:colId xmlns:a16="http://schemas.microsoft.com/office/drawing/2014/main" val="1636455039"/>
                    </a:ext>
                  </a:extLst>
                </a:gridCol>
                <a:gridCol w="260717">
                  <a:extLst>
                    <a:ext uri="{9D8B030D-6E8A-4147-A177-3AD203B41FA5}">
                      <a16:colId xmlns:a16="http://schemas.microsoft.com/office/drawing/2014/main" val="3706658717"/>
                    </a:ext>
                  </a:extLst>
                </a:gridCol>
                <a:gridCol w="284584">
                  <a:extLst>
                    <a:ext uri="{9D8B030D-6E8A-4147-A177-3AD203B41FA5}">
                      <a16:colId xmlns:a16="http://schemas.microsoft.com/office/drawing/2014/main" val="2774018823"/>
                    </a:ext>
                  </a:extLst>
                </a:gridCol>
                <a:gridCol w="260717">
                  <a:extLst>
                    <a:ext uri="{9D8B030D-6E8A-4147-A177-3AD203B41FA5}">
                      <a16:colId xmlns:a16="http://schemas.microsoft.com/office/drawing/2014/main" val="4195528247"/>
                    </a:ext>
                  </a:extLst>
                </a:gridCol>
                <a:gridCol w="256246">
                  <a:extLst>
                    <a:ext uri="{9D8B030D-6E8A-4147-A177-3AD203B41FA5}">
                      <a16:colId xmlns:a16="http://schemas.microsoft.com/office/drawing/2014/main" val="4092290460"/>
                    </a:ext>
                  </a:extLst>
                </a:gridCol>
                <a:gridCol w="256246">
                  <a:extLst>
                    <a:ext uri="{9D8B030D-6E8A-4147-A177-3AD203B41FA5}">
                      <a16:colId xmlns:a16="http://schemas.microsoft.com/office/drawing/2014/main" val="4086025292"/>
                    </a:ext>
                  </a:extLst>
                </a:gridCol>
                <a:gridCol w="256246">
                  <a:extLst>
                    <a:ext uri="{9D8B030D-6E8A-4147-A177-3AD203B41FA5}">
                      <a16:colId xmlns:a16="http://schemas.microsoft.com/office/drawing/2014/main" val="2523218694"/>
                    </a:ext>
                  </a:extLst>
                </a:gridCol>
                <a:gridCol w="256246">
                  <a:extLst>
                    <a:ext uri="{9D8B030D-6E8A-4147-A177-3AD203B41FA5}">
                      <a16:colId xmlns:a16="http://schemas.microsoft.com/office/drawing/2014/main" val="2103641360"/>
                    </a:ext>
                  </a:extLst>
                </a:gridCol>
                <a:gridCol w="256245">
                  <a:extLst>
                    <a:ext uri="{9D8B030D-6E8A-4147-A177-3AD203B41FA5}">
                      <a16:colId xmlns:a16="http://schemas.microsoft.com/office/drawing/2014/main" val="2297453530"/>
                    </a:ext>
                  </a:extLst>
                </a:gridCol>
                <a:gridCol w="254912">
                  <a:extLst>
                    <a:ext uri="{9D8B030D-6E8A-4147-A177-3AD203B41FA5}">
                      <a16:colId xmlns:a16="http://schemas.microsoft.com/office/drawing/2014/main" val="1538520262"/>
                    </a:ext>
                  </a:extLst>
                </a:gridCol>
                <a:gridCol w="254912">
                  <a:extLst>
                    <a:ext uri="{9D8B030D-6E8A-4147-A177-3AD203B41FA5}">
                      <a16:colId xmlns:a16="http://schemas.microsoft.com/office/drawing/2014/main" val="3371213017"/>
                    </a:ext>
                  </a:extLst>
                </a:gridCol>
                <a:gridCol w="254912">
                  <a:extLst>
                    <a:ext uri="{9D8B030D-6E8A-4147-A177-3AD203B41FA5}">
                      <a16:colId xmlns:a16="http://schemas.microsoft.com/office/drawing/2014/main" val="2268373193"/>
                    </a:ext>
                  </a:extLst>
                </a:gridCol>
                <a:gridCol w="254912">
                  <a:extLst>
                    <a:ext uri="{9D8B030D-6E8A-4147-A177-3AD203B41FA5}">
                      <a16:colId xmlns:a16="http://schemas.microsoft.com/office/drawing/2014/main" val="4225106561"/>
                    </a:ext>
                  </a:extLst>
                </a:gridCol>
                <a:gridCol w="250908">
                  <a:extLst>
                    <a:ext uri="{9D8B030D-6E8A-4147-A177-3AD203B41FA5}">
                      <a16:colId xmlns:a16="http://schemas.microsoft.com/office/drawing/2014/main" val="2103222250"/>
                    </a:ext>
                  </a:extLst>
                </a:gridCol>
                <a:gridCol w="280047">
                  <a:extLst>
                    <a:ext uri="{9D8B030D-6E8A-4147-A177-3AD203B41FA5}">
                      <a16:colId xmlns:a16="http://schemas.microsoft.com/office/drawing/2014/main" val="1742999387"/>
                    </a:ext>
                  </a:extLst>
                </a:gridCol>
                <a:gridCol w="292281">
                  <a:extLst>
                    <a:ext uri="{9D8B030D-6E8A-4147-A177-3AD203B41FA5}">
                      <a16:colId xmlns:a16="http://schemas.microsoft.com/office/drawing/2014/main" val="2263480007"/>
                    </a:ext>
                  </a:extLst>
                </a:gridCol>
                <a:gridCol w="267813">
                  <a:extLst>
                    <a:ext uri="{9D8B030D-6E8A-4147-A177-3AD203B41FA5}">
                      <a16:colId xmlns:a16="http://schemas.microsoft.com/office/drawing/2014/main" val="2223747381"/>
                    </a:ext>
                  </a:extLst>
                </a:gridCol>
                <a:gridCol w="304515">
                  <a:extLst>
                    <a:ext uri="{9D8B030D-6E8A-4147-A177-3AD203B41FA5}">
                      <a16:colId xmlns:a16="http://schemas.microsoft.com/office/drawing/2014/main" val="1004988584"/>
                    </a:ext>
                  </a:extLst>
                </a:gridCol>
                <a:gridCol w="261585">
                  <a:extLst>
                    <a:ext uri="{9D8B030D-6E8A-4147-A177-3AD203B41FA5}">
                      <a16:colId xmlns:a16="http://schemas.microsoft.com/office/drawing/2014/main" val="363442444"/>
                    </a:ext>
                  </a:extLst>
                </a:gridCol>
                <a:gridCol w="62665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90430">
                <a:tc rowSpan="3">
                  <a:txBody>
                    <a:bodyPr/>
                    <a:lstStyle/>
                    <a:p>
                      <a:pPr algn="ctr"/>
                      <a:r>
                        <a:rPr lang="es-ES_tradnl" sz="800" b="1" noProof="0" dirty="0">
                          <a:solidFill>
                            <a:schemeClr val="tx1"/>
                          </a:solidFill>
                          <a:latin typeface="Calibri" charset="0"/>
                          <a:cs typeface="Calibri" charset="0"/>
                        </a:rPr>
                        <a:t>MODULO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CASOS DE PRUEBA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CED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ES_tradnl" sz="800" b="1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EC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gridSpan="21"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DEFECTOS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s-ES_tradnl" sz="8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E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8627747"/>
                  </a:ext>
                </a:extLst>
              </a:tr>
              <a:tr h="190430">
                <a:tc vMerge="1">
                  <a:txBody>
                    <a:bodyPr/>
                    <a:lstStyle/>
                    <a:p>
                      <a:pPr algn="ctr"/>
                      <a:r>
                        <a:rPr lang="es-ES_tradnl" sz="800" b="1" noProof="0" dirty="0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MODULO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EC7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TOTAL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CED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EJECUTADOS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CED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ES_tradnl" sz="8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902" marR="82902" marT="41452" marB="41452" anchor="ctr">
                    <a:lnL w="12700" cap="flat" cmpd="sng" algn="ctr">
                      <a:solidFill>
                        <a:srgbClr val="92C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2C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92C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EC7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PENDIENTES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REINCIDENTES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ES_tradnl" sz="800" b="1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REGULARIZADOS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ES_tradnl" sz="800" b="1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CONFORMES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ES_tradnl" sz="800" b="1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TOTAL</a:t>
                      </a:r>
                    </a:p>
                    <a:p>
                      <a:pPr algn="ctr"/>
                      <a:r>
                        <a:rPr lang="es-ES_tradnl" sz="800" b="1" dirty="0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DEFECTOS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1955">
                <a:tc v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650" b="1" dirty="0">
                          <a:solidFill>
                            <a:srgbClr val="EE4639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Con </a:t>
                      </a:r>
                    </a:p>
                    <a:p>
                      <a:pPr algn="ctr"/>
                      <a:r>
                        <a:rPr lang="es-ES_tradnl" sz="650" b="1" dirty="0">
                          <a:solidFill>
                            <a:srgbClr val="EE4639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Problemas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C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650" b="1" dirty="0">
                          <a:solidFill>
                            <a:srgbClr val="7150A0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Sin </a:t>
                      </a:r>
                    </a:p>
                    <a:p>
                      <a:pPr algn="ctr"/>
                      <a:r>
                        <a:rPr lang="es-ES_tradnl" sz="650" b="1" dirty="0">
                          <a:solidFill>
                            <a:srgbClr val="7150A0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Problemas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C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46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78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D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Total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46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78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D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Total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46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78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D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Total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46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78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D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Total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55000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0914970"/>
                  </a:ext>
                </a:extLst>
              </a:tr>
              <a:tr h="238373">
                <a:tc>
                  <a:txBody>
                    <a:bodyPr/>
                    <a:lstStyle/>
                    <a:p>
                      <a:pPr algn="ctr"/>
                      <a:r>
                        <a:rPr lang="es-ES_tradnl" sz="900" b="1" dirty="0">
                          <a:latin typeface="Calibri" charset="0"/>
                          <a:ea typeface="Calibri" charset="0"/>
                          <a:cs typeface="Calibri" charset="0"/>
                        </a:rPr>
                        <a:t>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ea typeface="Calibri" charset="0"/>
                          <a:cs typeface="Calibri" panose="020F0502020204030204" pitchFamily="34" charset="0"/>
                        </a:rPr>
                        <a:t>40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C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C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8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C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ea typeface="Calibri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8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solidFill>
                            <a:srgbClr val="EE4639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4639">
                        <a:alpha val="4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solidFill>
                            <a:srgbClr val="EE4639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4639">
                        <a:alpha val="4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ea typeface="Calibri" charset="0"/>
                          <a:cs typeface="Calibri" panose="020F0502020204030204" pitchFamily="34" charset="0"/>
                        </a:rPr>
                        <a:t>46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3732">
                <a:tc>
                  <a:txBody>
                    <a:bodyPr/>
                    <a:lstStyle/>
                    <a:p>
                      <a:pPr algn="ctr"/>
                      <a:r>
                        <a:rPr lang="es-ES_tradnl" sz="900" b="1" dirty="0">
                          <a:latin typeface="Calibri" charset="0"/>
                          <a:ea typeface="Calibri" charset="0"/>
                          <a:cs typeface="Calibri" charset="0"/>
                        </a:rPr>
                        <a:t>2 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ea typeface="Calibri" charset="0"/>
                          <a:cs typeface="Calibri" panose="020F0502020204030204" pitchFamily="34" charset="0"/>
                        </a:rPr>
                        <a:t>50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C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C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C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ea typeface="Calibri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7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solidFill>
                            <a:srgbClr val="EE4639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18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4639">
                        <a:alpha val="4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solidFill>
                            <a:srgbClr val="EE4639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4639">
                        <a:alpha val="4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8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ea typeface="Calibri" charset="0"/>
                          <a:cs typeface="Calibri" panose="020F0502020204030204" pitchFamily="34" charset="0"/>
                        </a:rPr>
                        <a:t>53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6032">
                <a:tc>
                  <a:txBody>
                    <a:bodyPr/>
                    <a:lstStyle/>
                    <a:p>
                      <a:pPr algn="ctr"/>
                      <a:r>
                        <a:rPr lang="es-ES_tradnl" sz="900" b="1" dirty="0">
                          <a:latin typeface="Calibri" charset="0"/>
                          <a:ea typeface="Calibri" charset="0"/>
                          <a:cs typeface="Calibri" charset="0"/>
                        </a:rPr>
                        <a:t>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ea typeface="Calibri" charset="0"/>
                          <a:cs typeface="Calibri" panose="020F0502020204030204" pitchFamily="34" charset="0"/>
                        </a:rPr>
                        <a:t>20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C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8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C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C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ea typeface="Calibri" charset="0"/>
                          <a:cs typeface="Calibri" panose="020F0502020204030204" pitchFamily="34" charset="0"/>
                        </a:rPr>
                        <a:t>10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17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solidFill>
                            <a:srgbClr val="EE4639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4639">
                        <a:alpha val="4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solidFill>
                            <a:srgbClr val="EE4639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4639">
                        <a:alpha val="4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ea typeface="Calibri" charset="0"/>
                          <a:cs typeface="Calibri" panose="020F0502020204030204" pitchFamily="34" charset="0"/>
                        </a:rPr>
                        <a:t>65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4160">
                <a:tc>
                  <a:txBody>
                    <a:bodyPr/>
                    <a:lstStyle/>
                    <a:p>
                      <a:pPr algn="ctr"/>
                      <a:r>
                        <a:rPr lang="es-ES_tradnl" sz="900" b="1" dirty="0">
                          <a:latin typeface="Calibri" charset="0"/>
                          <a:ea typeface="Calibri" charset="0"/>
                          <a:cs typeface="Calibri" charset="0"/>
                        </a:rPr>
                        <a:t>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ea typeface="Calibri" charset="0"/>
                          <a:cs typeface="Calibri" panose="020F0502020204030204" pitchFamily="34" charset="0"/>
                        </a:rPr>
                        <a:t>60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C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C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C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ea typeface="Calibri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8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solidFill>
                            <a:srgbClr val="EE4639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4639">
                        <a:alpha val="4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solidFill>
                            <a:srgbClr val="EE4639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4639">
                        <a:alpha val="4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ea typeface="Calibri" charset="0"/>
                          <a:cs typeface="Calibri" panose="020F0502020204030204" pitchFamily="34" charset="0"/>
                        </a:rPr>
                        <a:t>41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2434817"/>
                  </a:ext>
                </a:extLst>
              </a:tr>
            </a:tbl>
          </a:graphicData>
        </a:graphic>
      </p:graphicFrame>
      <p:sp>
        <p:nvSpPr>
          <p:cNvPr id="16" name="Rectángulo 15">
            <a:extLst>
              <a:ext uri="{FF2B5EF4-FFF2-40B4-BE49-F238E27FC236}">
                <a16:creationId xmlns:a16="http://schemas.microsoft.com/office/drawing/2014/main" id="{90F0F474-1223-BD46-B479-C593E4E14A4A}"/>
              </a:ext>
            </a:extLst>
          </p:cNvPr>
          <p:cNvSpPr/>
          <p:nvPr/>
        </p:nvSpPr>
        <p:spPr>
          <a:xfrm>
            <a:off x="3501656" y="2963006"/>
            <a:ext cx="248737" cy="879490"/>
          </a:xfrm>
          <a:prstGeom prst="rect">
            <a:avLst/>
          </a:prstGeom>
          <a:noFill/>
          <a:ln w="28575">
            <a:solidFill>
              <a:srgbClr val="39732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5FB73C22-B087-1148-B0F8-E4C35807A2E6}"/>
              </a:ext>
            </a:extLst>
          </p:cNvPr>
          <p:cNvSpPr/>
          <p:nvPr/>
        </p:nvSpPr>
        <p:spPr>
          <a:xfrm>
            <a:off x="4791740" y="2963006"/>
            <a:ext cx="248737" cy="879490"/>
          </a:xfrm>
          <a:prstGeom prst="rect">
            <a:avLst/>
          </a:prstGeom>
          <a:noFill/>
          <a:ln w="28575">
            <a:solidFill>
              <a:srgbClr val="39732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2" name="Forma libre 1">
            <a:extLst>
              <a:ext uri="{FF2B5EF4-FFF2-40B4-BE49-F238E27FC236}">
                <a16:creationId xmlns:a16="http://schemas.microsoft.com/office/drawing/2014/main" id="{4DBDE70F-DBD1-DC4F-93F8-2B47AE02E5F9}"/>
              </a:ext>
            </a:extLst>
          </p:cNvPr>
          <p:cNvSpPr/>
          <p:nvPr/>
        </p:nvSpPr>
        <p:spPr>
          <a:xfrm>
            <a:off x="3615070" y="1984744"/>
            <a:ext cx="1304260" cy="964019"/>
          </a:xfrm>
          <a:custGeom>
            <a:avLst/>
            <a:gdLst>
              <a:gd name="connsiteX0" fmla="*/ 0 w 1304260"/>
              <a:gd name="connsiteY0" fmla="*/ 964019 h 964019"/>
              <a:gd name="connsiteX1" fmla="*/ 0 w 1304260"/>
              <a:gd name="connsiteY1" fmla="*/ 0 h 964019"/>
              <a:gd name="connsiteX2" fmla="*/ 1304260 w 1304260"/>
              <a:gd name="connsiteY2" fmla="*/ 0 h 964019"/>
              <a:gd name="connsiteX3" fmla="*/ 1304260 w 1304260"/>
              <a:gd name="connsiteY3" fmla="*/ 956930 h 9640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04260" h="964019">
                <a:moveTo>
                  <a:pt x="0" y="964019"/>
                </a:moveTo>
                <a:lnTo>
                  <a:pt x="0" y="0"/>
                </a:lnTo>
                <a:lnTo>
                  <a:pt x="1304260" y="0"/>
                </a:lnTo>
                <a:lnTo>
                  <a:pt x="1304260" y="956930"/>
                </a:lnTo>
              </a:path>
            </a:pathLst>
          </a:custGeom>
          <a:noFill/>
          <a:ln w="28575">
            <a:solidFill>
              <a:srgbClr val="39732D"/>
            </a:solidFill>
            <a:headEnd type="triangle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56F60E37-5C61-914A-B485-49A9757C0805}"/>
              </a:ext>
            </a:extLst>
          </p:cNvPr>
          <p:cNvCxnSpPr>
            <a:cxnSpLocks/>
          </p:cNvCxnSpPr>
          <p:nvPr/>
        </p:nvCxnSpPr>
        <p:spPr>
          <a:xfrm flipV="1">
            <a:off x="4314580" y="1774956"/>
            <a:ext cx="0" cy="208615"/>
          </a:xfrm>
          <a:prstGeom prst="line">
            <a:avLst/>
          </a:prstGeom>
          <a:ln w="28575">
            <a:solidFill>
              <a:srgbClr val="39732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2d361c19c8b_0_79"/>
          <p:cNvSpPr/>
          <p:nvPr/>
        </p:nvSpPr>
        <p:spPr>
          <a:xfrm>
            <a:off x="503236" y="4586231"/>
            <a:ext cx="8267700" cy="212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80975" marR="0" lvl="0" indent="-18097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s-P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¿Cuál es la cantidad de defectos que están pendientes de ser atendidos por los probadores?</a:t>
            </a:r>
            <a:endParaRPr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59E9CE6-86CF-BA40-A2CE-095747D87178}"/>
              </a:ext>
            </a:extLst>
          </p:cNvPr>
          <p:cNvSpPr/>
          <p:nvPr/>
        </p:nvSpPr>
        <p:spPr>
          <a:xfrm>
            <a:off x="503238" y="376232"/>
            <a:ext cx="3300666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/>
              </a:rPr>
              <a:t>SEGUIMIENTO DE PRUEBAS</a:t>
            </a:r>
            <a:endParaRPr lang="es-PE" sz="1000" dirty="0">
              <a:solidFill>
                <a:schemeClr val="bg1">
                  <a:lumMod val="6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793B242D-28A8-ED49-ACF5-C2A4F916E28F}"/>
              </a:ext>
            </a:extLst>
          </p:cNvPr>
          <p:cNvSpPr/>
          <p:nvPr/>
        </p:nvSpPr>
        <p:spPr>
          <a:xfrm>
            <a:off x="503236" y="916472"/>
            <a:ext cx="7636423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buClr>
                <a:schemeClr val="dk1"/>
              </a:buClr>
              <a:buSzPts val="1600"/>
            </a:pPr>
            <a:r>
              <a:rPr lang="es-ES" sz="2000" b="1" dirty="0">
                <a:solidFill>
                  <a:srgbClr val="EE4639"/>
                </a:solidFill>
                <a:latin typeface="Graphik Bold" panose="020B0503030202060203" pitchFamily="34" charset="77"/>
                <a:cs typeface="Calibri" charset="0"/>
              </a:rPr>
              <a:t>+ 06.</a:t>
            </a:r>
            <a:br>
              <a:rPr lang="es-ES" sz="1600" b="1" dirty="0">
                <a:solidFill>
                  <a:srgbClr val="EE4639"/>
                </a:solidFill>
                <a:latin typeface="Calibri" charset="0"/>
                <a:cs typeface="Calibri" charset="0"/>
              </a:rPr>
            </a:br>
            <a:r>
              <a:rPr lang="es-PE" sz="1600" b="1" dirty="0">
                <a:solidFill>
                  <a:srgbClr val="EE4639"/>
                </a:solidFill>
                <a:latin typeface="Calibri" charset="0"/>
                <a:cs typeface="Calibri" charset="0"/>
                <a:sym typeface="Calibri"/>
              </a:rPr>
              <a:t>SEGUIMIENTO DE PRUEBAS</a:t>
            </a:r>
          </a:p>
        </p:txBody>
      </p:sp>
      <p:graphicFrame>
        <p:nvGraphicFramePr>
          <p:cNvPr id="8" name="13 Tabla">
            <a:extLst>
              <a:ext uri="{FF2B5EF4-FFF2-40B4-BE49-F238E27FC236}">
                <a16:creationId xmlns:a16="http://schemas.microsoft.com/office/drawing/2014/main" id="{5225AA39-004B-7041-9F3E-1C0E603599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0058858"/>
              </p:ext>
            </p:extLst>
          </p:nvPr>
        </p:nvGraphicFramePr>
        <p:xfrm>
          <a:off x="755650" y="2347384"/>
          <a:ext cx="7596188" cy="1495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82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23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2416">
                  <a:extLst>
                    <a:ext uri="{9D8B030D-6E8A-4147-A177-3AD203B41FA5}">
                      <a16:colId xmlns:a16="http://schemas.microsoft.com/office/drawing/2014/main" val="418973888"/>
                    </a:ext>
                  </a:extLst>
                </a:gridCol>
                <a:gridCol w="411062">
                  <a:extLst>
                    <a:ext uri="{9D8B030D-6E8A-4147-A177-3AD203B41FA5}">
                      <a16:colId xmlns:a16="http://schemas.microsoft.com/office/drawing/2014/main" val="3546887892"/>
                    </a:ext>
                  </a:extLst>
                </a:gridCol>
                <a:gridCol w="2607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0717">
                  <a:extLst>
                    <a:ext uri="{9D8B030D-6E8A-4147-A177-3AD203B41FA5}">
                      <a16:colId xmlns:a16="http://schemas.microsoft.com/office/drawing/2014/main" val="1636455039"/>
                    </a:ext>
                  </a:extLst>
                </a:gridCol>
                <a:gridCol w="260717">
                  <a:extLst>
                    <a:ext uri="{9D8B030D-6E8A-4147-A177-3AD203B41FA5}">
                      <a16:colId xmlns:a16="http://schemas.microsoft.com/office/drawing/2014/main" val="3706658717"/>
                    </a:ext>
                  </a:extLst>
                </a:gridCol>
                <a:gridCol w="284584">
                  <a:extLst>
                    <a:ext uri="{9D8B030D-6E8A-4147-A177-3AD203B41FA5}">
                      <a16:colId xmlns:a16="http://schemas.microsoft.com/office/drawing/2014/main" val="2774018823"/>
                    </a:ext>
                  </a:extLst>
                </a:gridCol>
                <a:gridCol w="260717">
                  <a:extLst>
                    <a:ext uri="{9D8B030D-6E8A-4147-A177-3AD203B41FA5}">
                      <a16:colId xmlns:a16="http://schemas.microsoft.com/office/drawing/2014/main" val="4195528247"/>
                    </a:ext>
                  </a:extLst>
                </a:gridCol>
                <a:gridCol w="256246">
                  <a:extLst>
                    <a:ext uri="{9D8B030D-6E8A-4147-A177-3AD203B41FA5}">
                      <a16:colId xmlns:a16="http://schemas.microsoft.com/office/drawing/2014/main" val="4092290460"/>
                    </a:ext>
                  </a:extLst>
                </a:gridCol>
                <a:gridCol w="256246">
                  <a:extLst>
                    <a:ext uri="{9D8B030D-6E8A-4147-A177-3AD203B41FA5}">
                      <a16:colId xmlns:a16="http://schemas.microsoft.com/office/drawing/2014/main" val="4086025292"/>
                    </a:ext>
                  </a:extLst>
                </a:gridCol>
                <a:gridCol w="256246">
                  <a:extLst>
                    <a:ext uri="{9D8B030D-6E8A-4147-A177-3AD203B41FA5}">
                      <a16:colId xmlns:a16="http://schemas.microsoft.com/office/drawing/2014/main" val="2523218694"/>
                    </a:ext>
                  </a:extLst>
                </a:gridCol>
                <a:gridCol w="256246">
                  <a:extLst>
                    <a:ext uri="{9D8B030D-6E8A-4147-A177-3AD203B41FA5}">
                      <a16:colId xmlns:a16="http://schemas.microsoft.com/office/drawing/2014/main" val="2103641360"/>
                    </a:ext>
                  </a:extLst>
                </a:gridCol>
                <a:gridCol w="256245">
                  <a:extLst>
                    <a:ext uri="{9D8B030D-6E8A-4147-A177-3AD203B41FA5}">
                      <a16:colId xmlns:a16="http://schemas.microsoft.com/office/drawing/2014/main" val="2297453530"/>
                    </a:ext>
                  </a:extLst>
                </a:gridCol>
                <a:gridCol w="254912">
                  <a:extLst>
                    <a:ext uri="{9D8B030D-6E8A-4147-A177-3AD203B41FA5}">
                      <a16:colId xmlns:a16="http://schemas.microsoft.com/office/drawing/2014/main" val="1538520262"/>
                    </a:ext>
                  </a:extLst>
                </a:gridCol>
                <a:gridCol w="254912">
                  <a:extLst>
                    <a:ext uri="{9D8B030D-6E8A-4147-A177-3AD203B41FA5}">
                      <a16:colId xmlns:a16="http://schemas.microsoft.com/office/drawing/2014/main" val="3371213017"/>
                    </a:ext>
                  </a:extLst>
                </a:gridCol>
                <a:gridCol w="254912">
                  <a:extLst>
                    <a:ext uri="{9D8B030D-6E8A-4147-A177-3AD203B41FA5}">
                      <a16:colId xmlns:a16="http://schemas.microsoft.com/office/drawing/2014/main" val="2268373193"/>
                    </a:ext>
                  </a:extLst>
                </a:gridCol>
                <a:gridCol w="254912">
                  <a:extLst>
                    <a:ext uri="{9D8B030D-6E8A-4147-A177-3AD203B41FA5}">
                      <a16:colId xmlns:a16="http://schemas.microsoft.com/office/drawing/2014/main" val="4225106561"/>
                    </a:ext>
                  </a:extLst>
                </a:gridCol>
                <a:gridCol w="250908">
                  <a:extLst>
                    <a:ext uri="{9D8B030D-6E8A-4147-A177-3AD203B41FA5}">
                      <a16:colId xmlns:a16="http://schemas.microsoft.com/office/drawing/2014/main" val="2103222250"/>
                    </a:ext>
                  </a:extLst>
                </a:gridCol>
                <a:gridCol w="280047">
                  <a:extLst>
                    <a:ext uri="{9D8B030D-6E8A-4147-A177-3AD203B41FA5}">
                      <a16:colId xmlns:a16="http://schemas.microsoft.com/office/drawing/2014/main" val="1742999387"/>
                    </a:ext>
                  </a:extLst>
                </a:gridCol>
                <a:gridCol w="292281">
                  <a:extLst>
                    <a:ext uri="{9D8B030D-6E8A-4147-A177-3AD203B41FA5}">
                      <a16:colId xmlns:a16="http://schemas.microsoft.com/office/drawing/2014/main" val="2263480007"/>
                    </a:ext>
                  </a:extLst>
                </a:gridCol>
                <a:gridCol w="267813">
                  <a:extLst>
                    <a:ext uri="{9D8B030D-6E8A-4147-A177-3AD203B41FA5}">
                      <a16:colId xmlns:a16="http://schemas.microsoft.com/office/drawing/2014/main" val="2223747381"/>
                    </a:ext>
                  </a:extLst>
                </a:gridCol>
                <a:gridCol w="304515">
                  <a:extLst>
                    <a:ext uri="{9D8B030D-6E8A-4147-A177-3AD203B41FA5}">
                      <a16:colId xmlns:a16="http://schemas.microsoft.com/office/drawing/2014/main" val="1004988584"/>
                    </a:ext>
                  </a:extLst>
                </a:gridCol>
                <a:gridCol w="261585">
                  <a:extLst>
                    <a:ext uri="{9D8B030D-6E8A-4147-A177-3AD203B41FA5}">
                      <a16:colId xmlns:a16="http://schemas.microsoft.com/office/drawing/2014/main" val="363442444"/>
                    </a:ext>
                  </a:extLst>
                </a:gridCol>
                <a:gridCol w="62665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90430">
                <a:tc rowSpan="3">
                  <a:txBody>
                    <a:bodyPr/>
                    <a:lstStyle/>
                    <a:p>
                      <a:pPr algn="ctr"/>
                      <a:r>
                        <a:rPr lang="es-ES_tradnl" sz="800" b="1" noProof="0" dirty="0">
                          <a:solidFill>
                            <a:schemeClr val="tx1"/>
                          </a:solidFill>
                          <a:latin typeface="Calibri" charset="0"/>
                          <a:cs typeface="Calibri" charset="0"/>
                        </a:rPr>
                        <a:t>MODULO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CASOS DE PRUEBA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CED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ES_tradnl" sz="800" b="1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EC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gridSpan="21"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DEFECTOS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s-ES_tradnl" sz="8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E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8627747"/>
                  </a:ext>
                </a:extLst>
              </a:tr>
              <a:tr h="190430">
                <a:tc vMerge="1">
                  <a:txBody>
                    <a:bodyPr/>
                    <a:lstStyle/>
                    <a:p>
                      <a:pPr algn="ctr"/>
                      <a:r>
                        <a:rPr lang="es-ES_tradnl" sz="800" b="1" noProof="0" dirty="0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MODULO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EC7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TOTAL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CED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EJECUTADOS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CED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ES_tradnl" sz="8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902" marR="82902" marT="41452" marB="41452" anchor="ctr">
                    <a:lnL w="12700" cap="flat" cmpd="sng" algn="ctr">
                      <a:solidFill>
                        <a:srgbClr val="92C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2C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92C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EC7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PENDIENTES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REINCIDENTES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ES_tradnl" sz="800" b="1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REGULARIZADOS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ES_tradnl" sz="800" b="1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CONFORMES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ES_tradnl" sz="800" b="1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TOTAL</a:t>
                      </a:r>
                    </a:p>
                    <a:p>
                      <a:pPr algn="ctr"/>
                      <a:r>
                        <a:rPr lang="es-ES_tradnl" sz="800" b="1" dirty="0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DEFECTOS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1955">
                <a:tc v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650" b="1" dirty="0">
                          <a:solidFill>
                            <a:srgbClr val="EE4639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Con </a:t>
                      </a:r>
                    </a:p>
                    <a:p>
                      <a:pPr algn="ctr"/>
                      <a:r>
                        <a:rPr lang="es-ES_tradnl" sz="650" b="1" dirty="0">
                          <a:solidFill>
                            <a:srgbClr val="EE4639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Problemas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C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650" b="1" dirty="0">
                          <a:solidFill>
                            <a:srgbClr val="7150A0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Sin </a:t>
                      </a:r>
                    </a:p>
                    <a:p>
                      <a:pPr algn="ctr"/>
                      <a:r>
                        <a:rPr lang="es-ES_tradnl" sz="650" b="1" dirty="0">
                          <a:solidFill>
                            <a:srgbClr val="7150A0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Problemas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C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46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78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D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Total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46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78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D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Total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46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78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D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Total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46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78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D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Total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55000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0914970"/>
                  </a:ext>
                </a:extLst>
              </a:tr>
              <a:tr h="238373">
                <a:tc>
                  <a:txBody>
                    <a:bodyPr/>
                    <a:lstStyle/>
                    <a:p>
                      <a:pPr algn="ctr"/>
                      <a:r>
                        <a:rPr lang="es-ES_tradnl" sz="900" b="1" dirty="0">
                          <a:latin typeface="Calibri" charset="0"/>
                          <a:ea typeface="Calibri" charset="0"/>
                          <a:cs typeface="Calibri" charset="0"/>
                        </a:rPr>
                        <a:t>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ea typeface="Calibri" charset="0"/>
                          <a:cs typeface="Calibri" panose="020F0502020204030204" pitchFamily="34" charset="0"/>
                        </a:rPr>
                        <a:t>40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C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C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8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C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ea typeface="Calibri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8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ea typeface="Calibri" charset="0"/>
                          <a:cs typeface="Calibri" panose="020F0502020204030204" pitchFamily="34" charset="0"/>
                        </a:rPr>
                        <a:t>46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3732">
                <a:tc>
                  <a:txBody>
                    <a:bodyPr/>
                    <a:lstStyle/>
                    <a:p>
                      <a:pPr algn="ctr"/>
                      <a:r>
                        <a:rPr lang="es-ES_tradnl" sz="900" b="1" dirty="0">
                          <a:latin typeface="Calibri" charset="0"/>
                          <a:ea typeface="Calibri" charset="0"/>
                          <a:cs typeface="Calibri" charset="0"/>
                        </a:rPr>
                        <a:t>2 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ea typeface="Calibri" charset="0"/>
                          <a:cs typeface="Calibri" panose="020F0502020204030204" pitchFamily="34" charset="0"/>
                        </a:rPr>
                        <a:t>50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C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C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C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ea typeface="Calibri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7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18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8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ea typeface="Calibri" charset="0"/>
                          <a:cs typeface="Calibri" panose="020F0502020204030204" pitchFamily="34" charset="0"/>
                        </a:rPr>
                        <a:t>53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6032">
                <a:tc>
                  <a:txBody>
                    <a:bodyPr/>
                    <a:lstStyle/>
                    <a:p>
                      <a:pPr algn="ctr"/>
                      <a:r>
                        <a:rPr lang="es-ES_tradnl" sz="900" b="1" dirty="0">
                          <a:latin typeface="Calibri" charset="0"/>
                          <a:ea typeface="Calibri" charset="0"/>
                          <a:cs typeface="Calibri" charset="0"/>
                        </a:rPr>
                        <a:t>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ea typeface="Calibri" charset="0"/>
                          <a:cs typeface="Calibri" panose="020F0502020204030204" pitchFamily="34" charset="0"/>
                        </a:rPr>
                        <a:t>20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C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8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C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C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ea typeface="Calibri" charset="0"/>
                          <a:cs typeface="Calibri" panose="020F0502020204030204" pitchFamily="34" charset="0"/>
                        </a:rPr>
                        <a:t>10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17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ea typeface="Calibri" charset="0"/>
                          <a:cs typeface="Calibri" panose="020F0502020204030204" pitchFamily="34" charset="0"/>
                        </a:rPr>
                        <a:t>65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4160">
                <a:tc>
                  <a:txBody>
                    <a:bodyPr/>
                    <a:lstStyle/>
                    <a:p>
                      <a:pPr algn="ctr"/>
                      <a:r>
                        <a:rPr lang="es-ES_tradnl" sz="900" b="1" dirty="0">
                          <a:latin typeface="Calibri" charset="0"/>
                          <a:ea typeface="Calibri" charset="0"/>
                          <a:cs typeface="Calibri" charset="0"/>
                        </a:rPr>
                        <a:t>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ea typeface="Calibri" charset="0"/>
                          <a:cs typeface="Calibri" panose="020F0502020204030204" pitchFamily="34" charset="0"/>
                        </a:rPr>
                        <a:t>60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C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C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C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ea typeface="Calibri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8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ea typeface="Calibri" charset="0"/>
                          <a:cs typeface="Calibri" panose="020F0502020204030204" pitchFamily="34" charset="0"/>
                        </a:rPr>
                        <a:t>41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2434817"/>
                  </a:ext>
                </a:extLst>
              </a:tr>
            </a:tbl>
          </a:graphicData>
        </a:graphic>
      </p:graphicFrame>
      <p:sp>
        <p:nvSpPr>
          <p:cNvPr id="9" name="Rectángulo 8">
            <a:extLst>
              <a:ext uri="{FF2B5EF4-FFF2-40B4-BE49-F238E27FC236}">
                <a16:creationId xmlns:a16="http://schemas.microsoft.com/office/drawing/2014/main" id="{1049A67F-CA96-4641-943C-AB2843D093FE}"/>
              </a:ext>
            </a:extLst>
          </p:cNvPr>
          <p:cNvSpPr/>
          <p:nvPr/>
        </p:nvSpPr>
        <p:spPr>
          <a:xfrm>
            <a:off x="2804348" y="1756795"/>
            <a:ext cx="3209782" cy="2308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buClr>
                <a:schemeClr val="dk1"/>
              </a:buClr>
              <a:buSzPts val="1600"/>
            </a:pPr>
            <a:r>
              <a:rPr lang="es-PE" sz="1500" b="1" dirty="0">
                <a:solidFill>
                  <a:srgbClr val="EE4639"/>
                </a:solidFill>
                <a:latin typeface="Calibri" charset="0"/>
                <a:cs typeface="Calibri" charset="0"/>
                <a:sym typeface="Calibri"/>
              </a:rPr>
              <a:t>Seguimiento del Avance de Pruebas</a:t>
            </a:r>
          </a:p>
        </p:txBody>
      </p:sp>
      <p:sp>
        <p:nvSpPr>
          <p:cNvPr id="10" name="Forma libre 9">
            <a:extLst>
              <a:ext uri="{FF2B5EF4-FFF2-40B4-BE49-F238E27FC236}">
                <a16:creationId xmlns:a16="http://schemas.microsoft.com/office/drawing/2014/main" id="{0FE52712-BA1F-0648-A4E8-7FC185727965}"/>
              </a:ext>
            </a:extLst>
          </p:cNvPr>
          <p:cNvSpPr/>
          <p:nvPr/>
        </p:nvSpPr>
        <p:spPr>
          <a:xfrm>
            <a:off x="1835888" y="1872173"/>
            <a:ext cx="879603" cy="367353"/>
          </a:xfrm>
          <a:custGeom>
            <a:avLst/>
            <a:gdLst>
              <a:gd name="connsiteX0" fmla="*/ 0 w 786938"/>
              <a:gd name="connsiteY0" fmla="*/ 338051 h 338051"/>
              <a:gd name="connsiteX1" fmla="*/ 0 w 786938"/>
              <a:gd name="connsiteY1" fmla="*/ 0 h 338051"/>
              <a:gd name="connsiteX2" fmla="*/ 786938 w 786938"/>
              <a:gd name="connsiteY2" fmla="*/ 0 h 3380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86938" h="338051">
                <a:moveTo>
                  <a:pt x="0" y="338051"/>
                </a:moveTo>
                <a:lnTo>
                  <a:pt x="0" y="0"/>
                </a:lnTo>
                <a:lnTo>
                  <a:pt x="786938" y="0"/>
                </a:lnTo>
              </a:path>
            </a:pathLst>
          </a:custGeom>
          <a:noFill/>
          <a:ln w="28575">
            <a:solidFill>
              <a:srgbClr val="EE4639"/>
            </a:solidFill>
            <a:head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1" name="Rectángulo redondeado 10">
            <a:extLst>
              <a:ext uri="{FF2B5EF4-FFF2-40B4-BE49-F238E27FC236}">
                <a16:creationId xmlns:a16="http://schemas.microsoft.com/office/drawing/2014/main" id="{844F440C-1D50-8F43-B4F0-5B2B5416D8AD}"/>
              </a:ext>
            </a:extLst>
          </p:cNvPr>
          <p:cNvSpPr/>
          <p:nvPr/>
        </p:nvSpPr>
        <p:spPr>
          <a:xfrm>
            <a:off x="1236641" y="2251746"/>
            <a:ext cx="1201759" cy="1698608"/>
          </a:xfrm>
          <a:prstGeom prst="roundRect">
            <a:avLst>
              <a:gd name="adj" fmla="val 8593"/>
            </a:avLst>
          </a:prstGeom>
          <a:noFill/>
          <a:ln>
            <a:solidFill>
              <a:srgbClr val="8087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hangingPunct="1">
              <a:defRPr/>
            </a:pPr>
            <a:endParaRPr lang="es-PE" sz="1400" b="1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2" name="Rectángulo redondeado 11">
            <a:extLst>
              <a:ext uri="{FF2B5EF4-FFF2-40B4-BE49-F238E27FC236}">
                <a16:creationId xmlns:a16="http://schemas.microsoft.com/office/drawing/2014/main" id="{9F5F7E99-07E2-6141-8B10-E82E503B43BF}"/>
              </a:ext>
            </a:extLst>
          </p:cNvPr>
          <p:cNvSpPr/>
          <p:nvPr/>
        </p:nvSpPr>
        <p:spPr>
          <a:xfrm>
            <a:off x="2438400" y="2251745"/>
            <a:ext cx="5913438" cy="1698609"/>
          </a:xfrm>
          <a:prstGeom prst="roundRect">
            <a:avLst>
              <a:gd name="adj" fmla="val 7897"/>
            </a:avLst>
          </a:prstGeom>
          <a:noFill/>
          <a:ln>
            <a:solidFill>
              <a:srgbClr val="8087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hangingPunct="1">
              <a:defRPr/>
            </a:pPr>
            <a:endParaRPr lang="es-PE" sz="1400" b="1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3" name="Forma libre 12">
            <a:extLst>
              <a:ext uri="{FF2B5EF4-FFF2-40B4-BE49-F238E27FC236}">
                <a16:creationId xmlns:a16="http://schemas.microsoft.com/office/drawing/2014/main" id="{61295910-AF5A-FA4E-9478-2345D62FC9A5}"/>
              </a:ext>
            </a:extLst>
          </p:cNvPr>
          <p:cNvSpPr/>
          <p:nvPr/>
        </p:nvSpPr>
        <p:spPr>
          <a:xfrm>
            <a:off x="7449880" y="3041497"/>
            <a:ext cx="1117772" cy="1235825"/>
          </a:xfrm>
          <a:custGeom>
            <a:avLst/>
            <a:gdLst>
              <a:gd name="connsiteX0" fmla="*/ 0 w 903316"/>
              <a:gd name="connsiteY0" fmla="*/ 1235825 h 1235825"/>
              <a:gd name="connsiteX1" fmla="*/ 903316 w 903316"/>
              <a:gd name="connsiteY1" fmla="*/ 1235825 h 1235825"/>
              <a:gd name="connsiteX2" fmla="*/ 903316 w 903316"/>
              <a:gd name="connsiteY2" fmla="*/ 0 h 1235825"/>
              <a:gd name="connsiteX3" fmla="*/ 742603 w 903316"/>
              <a:gd name="connsiteY3" fmla="*/ 0 h 1235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03316" h="1235825">
                <a:moveTo>
                  <a:pt x="0" y="1235825"/>
                </a:moveTo>
                <a:lnTo>
                  <a:pt x="903316" y="1235825"/>
                </a:lnTo>
                <a:lnTo>
                  <a:pt x="903316" y="0"/>
                </a:lnTo>
                <a:lnTo>
                  <a:pt x="742603" y="0"/>
                </a:lnTo>
              </a:path>
            </a:pathLst>
          </a:custGeom>
          <a:noFill/>
          <a:ln w="28575">
            <a:solidFill>
              <a:srgbClr val="EE4639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B94D2DFF-5594-5345-BCFD-8A6D416BC41B}"/>
              </a:ext>
            </a:extLst>
          </p:cNvPr>
          <p:cNvSpPr/>
          <p:nvPr/>
        </p:nvSpPr>
        <p:spPr>
          <a:xfrm>
            <a:off x="4900831" y="4151098"/>
            <a:ext cx="2549049" cy="2308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buClr>
                <a:schemeClr val="dk1"/>
              </a:buClr>
              <a:buSzPts val="1600"/>
            </a:pPr>
            <a:r>
              <a:rPr lang="es-PE" sz="1500" b="1" dirty="0">
                <a:solidFill>
                  <a:srgbClr val="EE4639"/>
                </a:solidFill>
                <a:latin typeface="Calibri" charset="0"/>
                <a:cs typeface="Calibri" charset="0"/>
                <a:sym typeface="Calibri"/>
              </a:rPr>
              <a:t>Seguimiento de la Salud del SW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2d361c19c8b_0_86"/>
          <p:cNvSpPr/>
          <p:nvPr/>
        </p:nvSpPr>
        <p:spPr>
          <a:xfrm>
            <a:off x="4034097" y="945625"/>
            <a:ext cx="1075800" cy="263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SOLUCIÓN</a:t>
            </a:r>
            <a:endParaRPr sz="16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g2d361c19c8b_0_86"/>
          <p:cNvSpPr/>
          <p:nvPr/>
        </p:nvSpPr>
        <p:spPr>
          <a:xfrm>
            <a:off x="503238" y="4243249"/>
            <a:ext cx="5337838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80975" marR="0" lvl="0" indent="-18097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s-P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¿Cuál es la cantidad de defectos que están pendientes de ser atendidos por los probadores?</a:t>
            </a:r>
            <a:endParaRPr dirty="0"/>
          </a:p>
        </p:txBody>
      </p:sp>
      <p:sp>
        <p:nvSpPr>
          <p:cNvPr id="358" name="Google Shape;358;g2d361c19c8b_0_86"/>
          <p:cNvSpPr txBox="1"/>
          <p:nvPr/>
        </p:nvSpPr>
        <p:spPr>
          <a:xfrm>
            <a:off x="6930724" y="4243249"/>
            <a:ext cx="66810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600" b="1" dirty="0">
                <a:solidFill>
                  <a:srgbClr val="92C14E"/>
                </a:solidFill>
                <a:latin typeface="Calibri"/>
                <a:ea typeface="Calibri"/>
                <a:cs typeface="Calibri"/>
                <a:sym typeface="Calibri"/>
              </a:rPr>
              <a:t>190</a:t>
            </a:r>
            <a:endParaRPr dirty="0">
              <a:solidFill>
                <a:srgbClr val="92C14E"/>
              </a:solidFill>
            </a:endParaRPr>
          </a:p>
        </p:txBody>
      </p:sp>
      <p:sp>
        <p:nvSpPr>
          <p:cNvPr id="359" name="Google Shape;359;g2d361c19c8b_0_86"/>
          <p:cNvSpPr/>
          <p:nvPr/>
        </p:nvSpPr>
        <p:spPr>
          <a:xfrm>
            <a:off x="2960700" y="1475171"/>
            <a:ext cx="3222600" cy="263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600" b="1" dirty="0">
                <a:solidFill>
                  <a:srgbClr val="3A732E"/>
                </a:solidFill>
                <a:latin typeface="Calibri"/>
                <a:ea typeface="Calibri"/>
                <a:cs typeface="Calibri"/>
                <a:sym typeface="Calibri"/>
              </a:rPr>
              <a:t>Los certificadores deben atender</a:t>
            </a:r>
            <a:endParaRPr dirty="0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E0CDA442-413A-1245-9E55-4E818F9787AC}"/>
              </a:ext>
            </a:extLst>
          </p:cNvPr>
          <p:cNvSpPr/>
          <p:nvPr/>
        </p:nvSpPr>
        <p:spPr>
          <a:xfrm>
            <a:off x="503238" y="376232"/>
            <a:ext cx="3300666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/>
              </a:rPr>
              <a:t>SEGUIMIENTO DE PRUEBAS</a:t>
            </a:r>
            <a:endParaRPr lang="es-PE" sz="1000" dirty="0">
              <a:solidFill>
                <a:schemeClr val="bg1">
                  <a:lumMod val="6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9" name="13 Tabla">
            <a:extLst>
              <a:ext uri="{FF2B5EF4-FFF2-40B4-BE49-F238E27FC236}">
                <a16:creationId xmlns:a16="http://schemas.microsoft.com/office/drawing/2014/main" id="{17987BF4-0BDA-234D-AC27-B15D3450A2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8231424"/>
              </p:ext>
            </p:extLst>
          </p:nvPr>
        </p:nvGraphicFramePr>
        <p:xfrm>
          <a:off x="755650" y="2347384"/>
          <a:ext cx="7596188" cy="1495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82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23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2416">
                  <a:extLst>
                    <a:ext uri="{9D8B030D-6E8A-4147-A177-3AD203B41FA5}">
                      <a16:colId xmlns:a16="http://schemas.microsoft.com/office/drawing/2014/main" val="418973888"/>
                    </a:ext>
                  </a:extLst>
                </a:gridCol>
                <a:gridCol w="411062">
                  <a:extLst>
                    <a:ext uri="{9D8B030D-6E8A-4147-A177-3AD203B41FA5}">
                      <a16:colId xmlns:a16="http://schemas.microsoft.com/office/drawing/2014/main" val="3546887892"/>
                    </a:ext>
                  </a:extLst>
                </a:gridCol>
                <a:gridCol w="2607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0717">
                  <a:extLst>
                    <a:ext uri="{9D8B030D-6E8A-4147-A177-3AD203B41FA5}">
                      <a16:colId xmlns:a16="http://schemas.microsoft.com/office/drawing/2014/main" val="1636455039"/>
                    </a:ext>
                  </a:extLst>
                </a:gridCol>
                <a:gridCol w="260717">
                  <a:extLst>
                    <a:ext uri="{9D8B030D-6E8A-4147-A177-3AD203B41FA5}">
                      <a16:colId xmlns:a16="http://schemas.microsoft.com/office/drawing/2014/main" val="3706658717"/>
                    </a:ext>
                  </a:extLst>
                </a:gridCol>
                <a:gridCol w="284584">
                  <a:extLst>
                    <a:ext uri="{9D8B030D-6E8A-4147-A177-3AD203B41FA5}">
                      <a16:colId xmlns:a16="http://schemas.microsoft.com/office/drawing/2014/main" val="2774018823"/>
                    </a:ext>
                  </a:extLst>
                </a:gridCol>
                <a:gridCol w="260717">
                  <a:extLst>
                    <a:ext uri="{9D8B030D-6E8A-4147-A177-3AD203B41FA5}">
                      <a16:colId xmlns:a16="http://schemas.microsoft.com/office/drawing/2014/main" val="4195528247"/>
                    </a:ext>
                  </a:extLst>
                </a:gridCol>
                <a:gridCol w="256246">
                  <a:extLst>
                    <a:ext uri="{9D8B030D-6E8A-4147-A177-3AD203B41FA5}">
                      <a16:colId xmlns:a16="http://schemas.microsoft.com/office/drawing/2014/main" val="4092290460"/>
                    </a:ext>
                  </a:extLst>
                </a:gridCol>
                <a:gridCol w="256246">
                  <a:extLst>
                    <a:ext uri="{9D8B030D-6E8A-4147-A177-3AD203B41FA5}">
                      <a16:colId xmlns:a16="http://schemas.microsoft.com/office/drawing/2014/main" val="4086025292"/>
                    </a:ext>
                  </a:extLst>
                </a:gridCol>
                <a:gridCol w="256246">
                  <a:extLst>
                    <a:ext uri="{9D8B030D-6E8A-4147-A177-3AD203B41FA5}">
                      <a16:colId xmlns:a16="http://schemas.microsoft.com/office/drawing/2014/main" val="2523218694"/>
                    </a:ext>
                  </a:extLst>
                </a:gridCol>
                <a:gridCol w="256246">
                  <a:extLst>
                    <a:ext uri="{9D8B030D-6E8A-4147-A177-3AD203B41FA5}">
                      <a16:colId xmlns:a16="http://schemas.microsoft.com/office/drawing/2014/main" val="2103641360"/>
                    </a:ext>
                  </a:extLst>
                </a:gridCol>
                <a:gridCol w="256245">
                  <a:extLst>
                    <a:ext uri="{9D8B030D-6E8A-4147-A177-3AD203B41FA5}">
                      <a16:colId xmlns:a16="http://schemas.microsoft.com/office/drawing/2014/main" val="2297453530"/>
                    </a:ext>
                  </a:extLst>
                </a:gridCol>
                <a:gridCol w="254912">
                  <a:extLst>
                    <a:ext uri="{9D8B030D-6E8A-4147-A177-3AD203B41FA5}">
                      <a16:colId xmlns:a16="http://schemas.microsoft.com/office/drawing/2014/main" val="1538520262"/>
                    </a:ext>
                  </a:extLst>
                </a:gridCol>
                <a:gridCol w="254912">
                  <a:extLst>
                    <a:ext uri="{9D8B030D-6E8A-4147-A177-3AD203B41FA5}">
                      <a16:colId xmlns:a16="http://schemas.microsoft.com/office/drawing/2014/main" val="3371213017"/>
                    </a:ext>
                  </a:extLst>
                </a:gridCol>
                <a:gridCol w="254912">
                  <a:extLst>
                    <a:ext uri="{9D8B030D-6E8A-4147-A177-3AD203B41FA5}">
                      <a16:colId xmlns:a16="http://schemas.microsoft.com/office/drawing/2014/main" val="2268373193"/>
                    </a:ext>
                  </a:extLst>
                </a:gridCol>
                <a:gridCol w="254912">
                  <a:extLst>
                    <a:ext uri="{9D8B030D-6E8A-4147-A177-3AD203B41FA5}">
                      <a16:colId xmlns:a16="http://schemas.microsoft.com/office/drawing/2014/main" val="4225106561"/>
                    </a:ext>
                  </a:extLst>
                </a:gridCol>
                <a:gridCol w="250908">
                  <a:extLst>
                    <a:ext uri="{9D8B030D-6E8A-4147-A177-3AD203B41FA5}">
                      <a16:colId xmlns:a16="http://schemas.microsoft.com/office/drawing/2014/main" val="2103222250"/>
                    </a:ext>
                  </a:extLst>
                </a:gridCol>
                <a:gridCol w="280047">
                  <a:extLst>
                    <a:ext uri="{9D8B030D-6E8A-4147-A177-3AD203B41FA5}">
                      <a16:colId xmlns:a16="http://schemas.microsoft.com/office/drawing/2014/main" val="1742999387"/>
                    </a:ext>
                  </a:extLst>
                </a:gridCol>
                <a:gridCol w="292281">
                  <a:extLst>
                    <a:ext uri="{9D8B030D-6E8A-4147-A177-3AD203B41FA5}">
                      <a16:colId xmlns:a16="http://schemas.microsoft.com/office/drawing/2014/main" val="2263480007"/>
                    </a:ext>
                  </a:extLst>
                </a:gridCol>
                <a:gridCol w="267813">
                  <a:extLst>
                    <a:ext uri="{9D8B030D-6E8A-4147-A177-3AD203B41FA5}">
                      <a16:colId xmlns:a16="http://schemas.microsoft.com/office/drawing/2014/main" val="2223747381"/>
                    </a:ext>
                  </a:extLst>
                </a:gridCol>
                <a:gridCol w="304515">
                  <a:extLst>
                    <a:ext uri="{9D8B030D-6E8A-4147-A177-3AD203B41FA5}">
                      <a16:colId xmlns:a16="http://schemas.microsoft.com/office/drawing/2014/main" val="1004988584"/>
                    </a:ext>
                  </a:extLst>
                </a:gridCol>
                <a:gridCol w="261585">
                  <a:extLst>
                    <a:ext uri="{9D8B030D-6E8A-4147-A177-3AD203B41FA5}">
                      <a16:colId xmlns:a16="http://schemas.microsoft.com/office/drawing/2014/main" val="363442444"/>
                    </a:ext>
                  </a:extLst>
                </a:gridCol>
                <a:gridCol w="62665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90430">
                <a:tc rowSpan="3">
                  <a:txBody>
                    <a:bodyPr/>
                    <a:lstStyle/>
                    <a:p>
                      <a:pPr algn="ctr"/>
                      <a:r>
                        <a:rPr lang="es-ES_tradnl" sz="800" b="1" noProof="0" dirty="0">
                          <a:solidFill>
                            <a:schemeClr val="tx1"/>
                          </a:solidFill>
                          <a:latin typeface="Calibri" charset="0"/>
                          <a:cs typeface="Calibri" charset="0"/>
                        </a:rPr>
                        <a:t>MODULO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CASOS DE PRUEBA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CED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ES_tradnl" sz="800" b="1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EC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gridSpan="21"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DEFECTOS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s-ES_tradnl" sz="8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E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8627747"/>
                  </a:ext>
                </a:extLst>
              </a:tr>
              <a:tr h="190430">
                <a:tc vMerge="1">
                  <a:txBody>
                    <a:bodyPr/>
                    <a:lstStyle/>
                    <a:p>
                      <a:pPr algn="ctr"/>
                      <a:r>
                        <a:rPr lang="es-ES_tradnl" sz="800" b="1" noProof="0" dirty="0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MODULO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EC7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TOTAL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CED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EJECUTADOS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CED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ES_tradnl" sz="8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902" marR="82902" marT="41452" marB="41452" anchor="ctr">
                    <a:lnL w="12700" cap="flat" cmpd="sng" algn="ctr">
                      <a:solidFill>
                        <a:srgbClr val="92C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2C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92C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EC7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PENDIENTES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REINCIDENTES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ES_tradnl" sz="800" b="1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REGULARIZADOS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ES_tradnl" sz="800" b="1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CONFORMES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ES_tradnl" sz="800" b="1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TOTAL</a:t>
                      </a:r>
                    </a:p>
                    <a:p>
                      <a:pPr algn="ctr"/>
                      <a:r>
                        <a:rPr lang="es-ES_tradnl" sz="800" b="1" dirty="0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DEFECTOS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1955">
                <a:tc v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650" b="1" dirty="0">
                          <a:solidFill>
                            <a:srgbClr val="EE4639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Con </a:t>
                      </a:r>
                    </a:p>
                    <a:p>
                      <a:pPr algn="ctr"/>
                      <a:r>
                        <a:rPr lang="es-ES_tradnl" sz="650" b="1" dirty="0">
                          <a:solidFill>
                            <a:srgbClr val="EE4639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Problemas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C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650" b="1" dirty="0">
                          <a:solidFill>
                            <a:srgbClr val="7150A0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Sin </a:t>
                      </a:r>
                    </a:p>
                    <a:p>
                      <a:pPr algn="ctr"/>
                      <a:r>
                        <a:rPr lang="es-ES_tradnl" sz="650" b="1" dirty="0">
                          <a:solidFill>
                            <a:srgbClr val="7150A0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Problemas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C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46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78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D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Total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46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78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D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Total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46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78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D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Total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46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78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D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Total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55000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0914970"/>
                  </a:ext>
                </a:extLst>
              </a:tr>
              <a:tr h="238373">
                <a:tc>
                  <a:txBody>
                    <a:bodyPr/>
                    <a:lstStyle/>
                    <a:p>
                      <a:pPr algn="ctr"/>
                      <a:r>
                        <a:rPr lang="es-ES_tradnl" sz="900" b="1" dirty="0">
                          <a:latin typeface="Calibri" charset="0"/>
                          <a:ea typeface="Calibri" charset="0"/>
                          <a:cs typeface="Calibri" charset="0"/>
                        </a:rPr>
                        <a:t>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solidFill>
                            <a:srgbClr val="7150A0"/>
                          </a:solidFill>
                          <a:latin typeface="Calibri" panose="020F0502020204030204" pitchFamily="34" charset="0"/>
                          <a:ea typeface="Calibri" charset="0"/>
                          <a:cs typeface="Calibri" panose="020F0502020204030204" pitchFamily="34" charset="0"/>
                        </a:rPr>
                        <a:t>40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50A0">
                        <a:alpha val="4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solidFill>
                            <a:srgbClr val="7150A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50A0">
                        <a:alpha val="4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solidFill>
                            <a:srgbClr val="7150A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8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50A0">
                        <a:alpha val="4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ea typeface="Calibri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8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solidFill>
                            <a:srgbClr val="7150A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50A0">
                        <a:alpha val="4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ea typeface="Calibri" charset="0"/>
                          <a:cs typeface="Calibri" panose="020F0502020204030204" pitchFamily="34" charset="0"/>
                        </a:rPr>
                        <a:t>46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3732">
                <a:tc>
                  <a:txBody>
                    <a:bodyPr/>
                    <a:lstStyle/>
                    <a:p>
                      <a:pPr algn="ctr"/>
                      <a:r>
                        <a:rPr lang="es-ES_tradnl" sz="900" b="1" dirty="0">
                          <a:latin typeface="Calibri" charset="0"/>
                          <a:ea typeface="Calibri" charset="0"/>
                          <a:cs typeface="Calibri" charset="0"/>
                        </a:rPr>
                        <a:t>2 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solidFill>
                            <a:srgbClr val="7150A0"/>
                          </a:solidFill>
                          <a:latin typeface="Calibri" panose="020F0502020204030204" pitchFamily="34" charset="0"/>
                          <a:ea typeface="Calibri" charset="0"/>
                          <a:cs typeface="Calibri" panose="020F0502020204030204" pitchFamily="34" charset="0"/>
                        </a:rPr>
                        <a:t>50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50A0">
                        <a:alpha val="4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solidFill>
                            <a:srgbClr val="7150A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50A0">
                        <a:alpha val="4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solidFill>
                            <a:srgbClr val="7150A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50A0">
                        <a:alpha val="4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ea typeface="Calibri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7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18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solidFill>
                            <a:srgbClr val="7150A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50A0">
                        <a:alpha val="4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8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ea typeface="Calibri" charset="0"/>
                          <a:cs typeface="Calibri" panose="020F0502020204030204" pitchFamily="34" charset="0"/>
                        </a:rPr>
                        <a:t>53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6032">
                <a:tc>
                  <a:txBody>
                    <a:bodyPr/>
                    <a:lstStyle/>
                    <a:p>
                      <a:pPr algn="ctr"/>
                      <a:r>
                        <a:rPr lang="es-ES_tradnl" sz="900" b="1" dirty="0">
                          <a:latin typeface="Calibri" charset="0"/>
                          <a:ea typeface="Calibri" charset="0"/>
                          <a:cs typeface="Calibri" charset="0"/>
                        </a:rPr>
                        <a:t>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solidFill>
                            <a:srgbClr val="7150A0"/>
                          </a:solidFill>
                          <a:latin typeface="Calibri" panose="020F0502020204030204" pitchFamily="34" charset="0"/>
                          <a:ea typeface="Calibri" charset="0"/>
                          <a:cs typeface="Calibri" panose="020F0502020204030204" pitchFamily="34" charset="0"/>
                        </a:rPr>
                        <a:t>20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50A0">
                        <a:alpha val="4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solidFill>
                            <a:srgbClr val="7150A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8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50A0">
                        <a:alpha val="4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solidFill>
                            <a:srgbClr val="7150A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50A0">
                        <a:alpha val="4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ea typeface="Calibri" charset="0"/>
                          <a:cs typeface="Calibri" panose="020F0502020204030204" pitchFamily="34" charset="0"/>
                        </a:rPr>
                        <a:t>10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17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solidFill>
                            <a:srgbClr val="7150A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50A0">
                        <a:alpha val="4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ea typeface="Calibri" charset="0"/>
                          <a:cs typeface="Calibri" panose="020F0502020204030204" pitchFamily="34" charset="0"/>
                        </a:rPr>
                        <a:t>65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4160">
                <a:tc>
                  <a:txBody>
                    <a:bodyPr/>
                    <a:lstStyle/>
                    <a:p>
                      <a:pPr algn="ctr"/>
                      <a:r>
                        <a:rPr lang="es-ES_tradnl" sz="900" b="1" dirty="0">
                          <a:latin typeface="Calibri" charset="0"/>
                          <a:ea typeface="Calibri" charset="0"/>
                          <a:cs typeface="Calibri" charset="0"/>
                        </a:rPr>
                        <a:t>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solidFill>
                            <a:srgbClr val="7150A0"/>
                          </a:solidFill>
                          <a:latin typeface="Calibri" panose="020F0502020204030204" pitchFamily="34" charset="0"/>
                          <a:ea typeface="Calibri" charset="0"/>
                          <a:cs typeface="Calibri" panose="020F0502020204030204" pitchFamily="34" charset="0"/>
                        </a:rPr>
                        <a:t>60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50A0">
                        <a:alpha val="4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solidFill>
                            <a:srgbClr val="7150A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50A0">
                        <a:alpha val="4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solidFill>
                            <a:srgbClr val="7150A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50A0">
                        <a:alpha val="4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ea typeface="Calibri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8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solidFill>
                            <a:srgbClr val="7150A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50A0">
                        <a:alpha val="4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ea typeface="Calibri" charset="0"/>
                          <a:cs typeface="Calibri" panose="020F0502020204030204" pitchFamily="34" charset="0"/>
                        </a:rPr>
                        <a:t>41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2434817"/>
                  </a:ext>
                </a:extLst>
              </a:tr>
            </a:tbl>
          </a:graphicData>
        </a:graphic>
      </p:graphicFrame>
      <p:sp>
        <p:nvSpPr>
          <p:cNvPr id="16" name="Rectángulo 15">
            <a:extLst>
              <a:ext uri="{FF2B5EF4-FFF2-40B4-BE49-F238E27FC236}">
                <a16:creationId xmlns:a16="http://schemas.microsoft.com/office/drawing/2014/main" id="{49DC2125-9929-3C44-9B3A-D176E8B3C6AC}"/>
              </a:ext>
            </a:extLst>
          </p:cNvPr>
          <p:cNvSpPr/>
          <p:nvPr/>
        </p:nvSpPr>
        <p:spPr>
          <a:xfrm>
            <a:off x="1261730" y="2963006"/>
            <a:ext cx="326065" cy="879490"/>
          </a:xfrm>
          <a:prstGeom prst="rect">
            <a:avLst/>
          </a:prstGeom>
          <a:noFill/>
          <a:ln w="28575">
            <a:solidFill>
              <a:srgbClr val="39732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0CFE3B56-B4F2-5040-A32C-8884DCAF65A2}"/>
              </a:ext>
            </a:extLst>
          </p:cNvPr>
          <p:cNvSpPr/>
          <p:nvPr/>
        </p:nvSpPr>
        <p:spPr>
          <a:xfrm>
            <a:off x="1580706" y="2963006"/>
            <a:ext cx="857694" cy="879490"/>
          </a:xfrm>
          <a:prstGeom prst="rect">
            <a:avLst/>
          </a:prstGeom>
          <a:noFill/>
          <a:ln w="28575">
            <a:solidFill>
              <a:srgbClr val="39732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6BF70B12-FC65-2C49-B1E2-D60682DC7341}"/>
              </a:ext>
            </a:extLst>
          </p:cNvPr>
          <p:cNvSpPr/>
          <p:nvPr/>
        </p:nvSpPr>
        <p:spPr>
          <a:xfrm>
            <a:off x="6060559" y="2963006"/>
            <a:ext cx="262270" cy="879490"/>
          </a:xfrm>
          <a:prstGeom prst="rect">
            <a:avLst/>
          </a:prstGeom>
          <a:noFill/>
          <a:ln w="28575">
            <a:solidFill>
              <a:srgbClr val="39732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2" name="Forma libre 1">
            <a:extLst>
              <a:ext uri="{FF2B5EF4-FFF2-40B4-BE49-F238E27FC236}">
                <a16:creationId xmlns:a16="http://schemas.microsoft.com/office/drawing/2014/main" id="{0C160112-F007-8C4D-BD66-8328A33BF147}"/>
              </a:ext>
            </a:extLst>
          </p:cNvPr>
          <p:cNvSpPr/>
          <p:nvPr/>
        </p:nvSpPr>
        <p:spPr>
          <a:xfrm>
            <a:off x="1410586" y="2006009"/>
            <a:ext cx="4784651" cy="949842"/>
          </a:xfrm>
          <a:custGeom>
            <a:avLst/>
            <a:gdLst>
              <a:gd name="connsiteX0" fmla="*/ 0 w 4784651"/>
              <a:gd name="connsiteY0" fmla="*/ 942754 h 949842"/>
              <a:gd name="connsiteX1" fmla="*/ 0 w 4784651"/>
              <a:gd name="connsiteY1" fmla="*/ 0 h 949842"/>
              <a:gd name="connsiteX2" fmla="*/ 4784651 w 4784651"/>
              <a:gd name="connsiteY2" fmla="*/ 0 h 949842"/>
              <a:gd name="connsiteX3" fmla="*/ 4784651 w 4784651"/>
              <a:gd name="connsiteY3" fmla="*/ 949842 h 949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84651" h="949842">
                <a:moveTo>
                  <a:pt x="0" y="942754"/>
                </a:moveTo>
                <a:lnTo>
                  <a:pt x="0" y="0"/>
                </a:lnTo>
                <a:lnTo>
                  <a:pt x="4784651" y="0"/>
                </a:lnTo>
                <a:lnTo>
                  <a:pt x="4784651" y="949842"/>
                </a:lnTo>
              </a:path>
            </a:pathLst>
          </a:custGeom>
          <a:noFill/>
          <a:ln w="28575">
            <a:solidFill>
              <a:srgbClr val="39732D"/>
            </a:solidFill>
            <a:headEnd type="triangle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cxnSp>
        <p:nvCxnSpPr>
          <p:cNvPr id="19" name="Conector recto de flecha 18">
            <a:extLst>
              <a:ext uri="{FF2B5EF4-FFF2-40B4-BE49-F238E27FC236}">
                <a16:creationId xmlns:a16="http://schemas.microsoft.com/office/drawing/2014/main" id="{203B1D8F-A503-924E-9232-262220EB9A59}"/>
              </a:ext>
            </a:extLst>
          </p:cNvPr>
          <p:cNvCxnSpPr>
            <a:cxnSpLocks/>
            <a:endCxn id="17" idx="0"/>
          </p:cNvCxnSpPr>
          <p:nvPr/>
        </p:nvCxnSpPr>
        <p:spPr>
          <a:xfrm flipH="1">
            <a:off x="2009553" y="2006009"/>
            <a:ext cx="2" cy="956997"/>
          </a:xfrm>
          <a:prstGeom prst="straightConnector1">
            <a:avLst/>
          </a:prstGeom>
          <a:ln w="28575">
            <a:solidFill>
              <a:srgbClr val="39732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CC20824D-010F-D140-BB76-C2D02E814C08}"/>
              </a:ext>
            </a:extLst>
          </p:cNvPr>
          <p:cNvCxnSpPr>
            <a:cxnSpLocks/>
          </p:cNvCxnSpPr>
          <p:nvPr/>
        </p:nvCxnSpPr>
        <p:spPr>
          <a:xfrm flipV="1">
            <a:off x="4576849" y="1797394"/>
            <a:ext cx="0" cy="208615"/>
          </a:xfrm>
          <a:prstGeom prst="line">
            <a:avLst/>
          </a:prstGeom>
          <a:ln w="28575">
            <a:solidFill>
              <a:srgbClr val="39732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Google Shape;358;g2d361c19c8b_0_86">
            <a:extLst>
              <a:ext uri="{FF2B5EF4-FFF2-40B4-BE49-F238E27FC236}">
                <a16:creationId xmlns:a16="http://schemas.microsoft.com/office/drawing/2014/main" id="{A7FD1799-2861-DB4F-AB30-B9E7105ED3FF}"/>
              </a:ext>
            </a:extLst>
          </p:cNvPr>
          <p:cNvSpPr txBox="1"/>
          <p:nvPr/>
        </p:nvSpPr>
        <p:spPr>
          <a:xfrm>
            <a:off x="1261730" y="3880597"/>
            <a:ext cx="263974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600" b="1" dirty="0">
                <a:solidFill>
                  <a:srgbClr val="39732D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endParaRPr dirty="0">
              <a:solidFill>
                <a:srgbClr val="39732D"/>
              </a:solidFill>
            </a:endParaRPr>
          </a:p>
        </p:txBody>
      </p:sp>
      <p:sp>
        <p:nvSpPr>
          <p:cNvPr id="27" name="Google Shape;358;g2d361c19c8b_0_86">
            <a:extLst>
              <a:ext uri="{FF2B5EF4-FFF2-40B4-BE49-F238E27FC236}">
                <a16:creationId xmlns:a16="http://schemas.microsoft.com/office/drawing/2014/main" id="{3629A553-AE54-A74D-9142-2DDF0E27ABF6}"/>
              </a:ext>
            </a:extLst>
          </p:cNvPr>
          <p:cNvSpPr txBox="1"/>
          <p:nvPr/>
        </p:nvSpPr>
        <p:spPr>
          <a:xfrm>
            <a:off x="1892595" y="3880597"/>
            <a:ext cx="263974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600" b="1" dirty="0">
                <a:solidFill>
                  <a:srgbClr val="39732D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endParaRPr dirty="0">
              <a:solidFill>
                <a:srgbClr val="39732D"/>
              </a:solidFill>
            </a:endParaRPr>
          </a:p>
        </p:txBody>
      </p:sp>
      <p:sp>
        <p:nvSpPr>
          <p:cNvPr id="28" name="Google Shape;358;g2d361c19c8b_0_86">
            <a:extLst>
              <a:ext uri="{FF2B5EF4-FFF2-40B4-BE49-F238E27FC236}">
                <a16:creationId xmlns:a16="http://schemas.microsoft.com/office/drawing/2014/main" id="{3D67B317-BF68-AA47-8136-60404E908007}"/>
              </a:ext>
            </a:extLst>
          </p:cNvPr>
          <p:cNvSpPr txBox="1"/>
          <p:nvPr/>
        </p:nvSpPr>
        <p:spPr>
          <a:xfrm>
            <a:off x="6053469" y="3880597"/>
            <a:ext cx="263974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600" b="1" dirty="0">
                <a:solidFill>
                  <a:srgbClr val="39732D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endParaRPr dirty="0">
              <a:solidFill>
                <a:srgbClr val="39732D"/>
              </a:solidFill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2d361c19c8b_0_95"/>
          <p:cNvSpPr/>
          <p:nvPr/>
        </p:nvSpPr>
        <p:spPr>
          <a:xfrm>
            <a:off x="503236" y="4579846"/>
            <a:ext cx="5279400" cy="2186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80975" marR="0" lvl="0" indent="-18097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s-P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¿Cuál es total de defectos pendientes de dar conformidad?</a:t>
            </a:r>
            <a:endParaRPr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8A23F8C-35F8-0B4C-8040-72B33E9B5CB4}"/>
              </a:ext>
            </a:extLst>
          </p:cNvPr>
          <p:cNvSpPr/>
          <p:nvPr/>
        </p:nvSpPr>
        <p:spPr>
          <a:xfrm>
            <a:off x="503238" y="376232"/>
            <a:ext cx="3300666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/>
              </a:rPr>
              <a:t>SEGUIMIENTO DE PRUEBAS</a:t>
            </a:r>
            <a:endParaRPr lang="es-PE" sz="1000" dirty="0">
              <a:solidFill>
                <a:schemeClr val="bg1">
                  <a:lumMod val="6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AC71DCCD-DE5B-5B4D-B3B1-2E36C2488806}"/>
              </a:ext>
            </a:extLst>
          </p:cNvPr>
          <p:cNvSpPr/>
          <p:nvPr/>
        </p:nvSpPr>
        <p:spPr>
          <a:xfrm>
            <a:off x="503236" y="916472"/>
            <a:ext cx="7636423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buClr>
                <a:schemeClr val="dk1"/>
              </a:buClr>
              <a:buSzPts val="1600"/>
            </a:pPr>
            <a:r>
              <a:rPr lang="es-ES" sz="2000" b="1" dirty="0">
                <a:solidFill>
                  <a:srgbClr val="EE4639"/>
                </a:solidFill>
                <a:latin typeface="Graphik Bold" panose="020B0503030202060203" pitchFamily="34" charset="77"/>
                <a:cs typeface="Calibri" charset="0"/>
              </a:rPr>
              <a:t>+ 06.</a:t>
            </a:r>
            <a:br>
              <a:rPr lang="es-ES" sz="1600" b="1" dirty="0">
                <a:solidFill>
                  <a:srgbClr val="EE4639"/>
                </a:solidFill>
                <a:latin typeface="Calibri" charset="0"/>
                <a:cs typeface="Calibri" charset="0"/>
              </a:rPr>
            </a:br>
            <a:r>
              <a:rPr lang="es-PE" sz="1600" b="1" dirty="0">
                <a:solidFill>
                  <a:srgbClr val="EE4639"/>
                </a:solidFill>
                <a:latin typeface="Calibri" charset="0"/>
                <a:cs typeface="Calibri" charset="0"/>
                <a:sym typeface="Calibri"/>
              </a:rPr>
              <a:t>SEGUIMIENTO DE PRUEBAS</a:t>
            </a:r>
          </a:p>
        </p:txBody>
      </p:sp>
      <p:graphicFrame>
        <p:nvGraphicFramePr>
          <p:cNvPr id="8" name="13 Tabla">
            <a:extLst>
              <a:ext uri="{FF2B5EF4-FFF2-40B4-BE49-F238E27FC236}">
                <a16:creationId xmlns:a16="http://schemas.microsoft.com/office/drawing/2014/main" id="{0059BFFF-E0B7-DB45-AAD4-12FF4F6F76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0855735"/>
              </p:ext>
            </p:extLst>
          </p:nvPr>
        </p:nvGraphicFramePr>
        <p:xfrm>
          <a:off x="755650" y="2347384"/>
          <a:ext cx="7596188" cy="1495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82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23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2416">
                  <a:extLst>
                    <a:ext uri="{9D8B030D-6E8A-4147-A177-3AD203B41FA5}">
                      <a16:colId xmlns:a16="http://schemas.microsoft.com/office/drawing/2014/main" val="418973888"/>
                    </a:ext>
                  </a:extLst>
                </a:gridCol>
                <a:gridCol w="411062">
                  <a:extLst>
                    <a:ext uri="{9D8B030D-6E8A-4147-A177-3AD203B41FA5}">
                      <a16:colId xmlns:a16="http://schemas.microsoft.com/office/drawing/2014/main" val="3546887892"/>
                    </a:ext>
                  </a:extLst>
                </a:gridCol>
                <a:gridCol w="2607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0717">
                  <a:extLst>
                    <a:ext uri="{9D8B030D-6E8A-4147-A177-3AD203B41FA5}">
                      <a16:colId xmlns:a16="http://schemas.microsoft.com/office/drawing/2014/main" val="1636455039"/>
                    </a:ext>
                  </a:extLst>
                </a:gridCol>
                <a:gridCol w="260717">
                  <a:extLst>
                    <a:ext uri="{9D8B030D-6E8A-4147-A177-3AD203B41FA5}">
                      <a16:colId xmlns:a16="http://schemas.microsoft.com/office/drawing/2014/main" val="3706658717"/>
                    </a:ext>
                  </a:extLst>
                </a:gridCol>
                <a:gridCol w="284584">
                  <a:extLst>
                    <a:ext uri="{9D8B030D-6E8A-4147-A177-3AD203B41FA5}">
                      <a16:colId xmlns:a16="http://schemas.microsoft.com/office/drawing/2014/main" val="2774018823"/>
                    </a:ext>
                  </a:extLst>
                </a:gridCol>
                <a:gridCol w="260717">
                  <a:extLst>
                    <a:ext uri="{9D8B030D-6E8A-4147-A177-3AD203B41FA5}">
                      <a16:colId xmlns:a16="http://schemas.microsoft.com/office/drawing/2014/main" val="4195528247"/>
                    </a:ext>
                  </a:extLst>
                </a:gridCol>
                <a:gridCol w="256246">
                  <a:extLst>
                    <a:ext uri="{9D8B030D-6E8A-4147-A177-3AD203B41FA5}">
                      <a16:colId xmlns:a16="http://schemas.microsoft.com/office/drawing/2014/main" val="4092290460"/>
                    </a:ext>
                  </a:extLst>
                </a:gridCol>
                <a:gridCol w="256246">
                  <a:extLst>
                    <a:ext uri="{9D8B030D-6E8A-4147-A177-3AD203B41FA5}">
                      <a16:colId xmlns:a16="http://schemas.microsoft.com/office/drawing/2014/main" val="4086025292"/>
                    </a:ext>
                  </a:extLst>
                </a:gridCol>
                <a:gridCol w="256246">
                  <a:extLst>
                    <a:ext uri="{9D8B030D-6E8A-4147-A177-3AD203B41FA5}">
                      <a16:colId xmlns:a16="http://schemas.microsoft.com/office/drawing/2014/main" val="2523218694"/>
                    </a:ext>
                  </a:extLst>
                </a:gridCol>
                <a:gridCol w="256246">
                  <a:extLst>
                    <a:ext uri="{9D8B030D-6E8A-4147-A177-3AD203B41FA5}">
                      <a16:colId xmlns:a16="http://schemas.microsoft.com/office/drawing/2014/main" val="2103641360"/>
                    </a:ext>
                  </a:extLst>
                </a:gridCol>
                <a:gridCol w="256245">
                  <a:extLst>
                    <a:ext uri="{9D8B030D-6E8A-4147-A177-3AD203B41FA5}">
                      <a16:colId xmlns:a16="http://schemas.microsoft.com/office/drawing/2014/main" val="2297453530"/>
                    </a:ext>
                  </a:extLst>
                </a:gridCol>
                <a:gridCol w="254912">
                  <a:extLst>
                    <a:ext uri="{9D8B030D-6E8A-4147-A177-3AD203B41FA5}">
                      <a16:colId xmlns:a16="http://schemas.microsoft.com/office/drawing/2014/main" val="1538520262"/>
                    </a:ext>
                  </a:extLst>
                </a:gridCol>
                <a:gridCol w="254912">
                  <a:extLst>
                    <a:ext uri="{9D8B030D-6E8A-4147-A177-3AD203B41FA5}">
                      <a16:colId xmlns:a16="http://schemas.microsoft.com/office/drawing/2014/main" val="3371213017"/>
                    </a:ext>
                  </a:extLst>
                </a:gridCol>
                <a:gridCol w="254912">
                  <a:extLst>
                    <a:ext uri="{9D8B030D-6E8A-4147-A177-3AD203B41FA5}">
                      <a16:colId xmlns:a16="http://schemas.microsoft.com/office/drawing/2014/main" val="2268373193"/>
                    </a:ext>
                  </a:extLst>
                </a:gridCol>
                <a:gridCol w="254912">
                  <a:extLst>
                    <a:ext uri="{9D8B030D-6E8A-4147-A177-3AD203B41FA5}">
                      <a16:colId xmlns:a16="http://schemas.microsoft.com/office/drawing/2014/main" val="4225106561"/>
                    </a:ext>
                  </a:extLst>
                </a:gridCol>
                <a:gridCol w="250908">
                  <a:extLst>
                    <a:ext uri="{9D8B030D-6E8A-4147-A177-3AD203B41FA5}">
                      <a16:colId xmlns:a16="http://schemas.microsoft.com/office/drawing/2014/main" val="2103222250"/>
                    </a:ext>
                  </a:extLst>
                </a:gridCol>
                <a:gridCol w="280047">
                  <a:extLst>
                    <a:ext uri="{9D8B030D-6E8A-4147-A177-3AD203B41FA5}">
                      <a16:colId xmlns:a16="http://schemas.microsoft.com/office/drawing/2014/main" val="1742999387"/>
                    </a:ext>
                  </a:extLst>
                </a:gridCol>
                <a:gridCol w="292281">
                  <a:extLst>
                    <a:ext uri="{9D8B030D-6E8A-4147-A177-3AD203B41FA5}">
                      <a16:colId xmlns:a16="http://schemas.microsoft.com/office/drawing/2014/main" val="2263480007"/>
                    </a:ext>
                  </a:extLst>
                </a:gridCol>
                <a:gridCol w="267813">
                  <a:extLst>
                    <a:ext uri="{9D8B030D-6E8A-4147-A177-3AD203B41FA5}">
                      <a16:colId xmlns:a16="http://schemas.microsoft.com/office/drawing/2014/main" val="2223747381"/>
                    </a:ext>
                  </a:extLst>
                </a:gridCol>
                <a:gridCol w="304515">
                  <a:extLst>
                    <a:ext uri="{9D8B030D-6E8A-4147-A177-3AD203B41FA5}">
                      <a16:colId xmlns:a16="http://schemas.microsoft.com/office/drawing/2014/main" val="1004988584"/>
                    </a:ext>
                  </a:extLst>
                </a:gridCol>
                <a:gridCol w="261585">
                  <a:extLst>
                    <a:ext uri="{9D8B030D-6E8A-4147-A177-3AD203B41FA5}">
                      <a16:colId xmlns:a16="http://schemas.microsoft.com/office/drawing/2014/main" val="363442444"/>
                    </a:ext>
                  </a:extLst>
                </a:gridCol>
                <a:gridCol w="62665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90430">
                <a:tc rowSpan="3">
                  <a:txBody>
                    <a:bodyPr/>
                    <a:lstStyle/>
                    <a:p>
                      <a:pPr algn="ctr"/>
                      <a:r>
                        <a:rPr lang="es-ES_tradnl" sz="800" b="1" noProof="0" dirty="0">
                          <a:solidFill>
                            <a:schemeClr val="tx1"/>
                          </a:solidFill>
                          <a:latin typeface="Calibri" charset="0"/>
                          <a:cs typeface="Calibri" charset="0"/>
                        </a:rPr>
                        <a:t>MODULO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CASOS DE PRUEBA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CED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ES_tradnl" sz="800" b="1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EC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gridSpan="21"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DEFECTOS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s-ES_tradnl" sz="8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E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8627747"/>
                  </a:ext>
                </a:extLst>
              </a:tr>
              <a:tr h="190430">
                <a:tc vMerge="1">
                  <a:txBody>
                    <a:bodyPr/>
                    <a:lstStyle/>
                    <a:p>
                      <a:pPr algn="ctr"/>
                      <a:r>
                        <a:rPr lang="es-ES_tradnl" sz="800" b="1" noProof="0" dirty="0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MODULO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EC7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TOTAL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CED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EJECUTADOS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CED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ES_tradnl" sz="8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902" marR="82902" marT="41452" marB="41452" anchor="ctr">
                    <a:lnL w="12700" cap="flat" cmpd="sng" algn="ctr">
                      <a:solidFill>
                        <a:srgbClr val="92C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2C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92C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EC7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PENDIENTES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REINCIDENTES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ES_tradnl" sz="800" b="1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REGULARIZADOS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ES_tradnl" sz="800" b="1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CONFORMES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ES_tradnl" sz="800" b="1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TOTAL</a:t>
                      </a:r>
                    </a:p>
                    <a:p>
                      <a:pPr algn="ctr"/>
                      <a:r>
                        <a:rPr lang="es-ES_tradnl" sz="800" b="1" dirty="0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DEFECTOS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1955">
                <a:tc v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650" b="1" dirty="0">
                          <a:solidFill>
                            <a:srgbClr val="EE4639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Con </a:t>
                      </a:r>
                    </a:p>
                    <a:p>
                      <a:pPr algn="ctr"/>
                      <a:r>
                        <a:rPr lang="es-ES_tradnl" sz="650" b="1" dirty="0">
                          <a:solidFill>
                            <a:srgbClr val="EE4639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Problemas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C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650" b="1" dirty="0">
                          <a:solidFill>
                            <a:srgbClr val="7150A0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Sin </a:t>
                      </a:r>
                    </a:p>
                    <a:p>
                      <a:pPr algn="ctr"/>
                      <a:r>
                        <a:rPr lang="es-ES_tradnl" sz="650" b="1" dirty="0">
                          <a:solidFill>
                            <a:srgbClr val="7150A0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Problemas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C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46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78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D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Total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46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78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D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Total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46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78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D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Total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46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78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D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Total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55000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0914970"/>
                  </a:ext>
                </a:extLst>
              </a:tr>
              <a:tr h="238373">
                <a:tc>
                  <a:txBody>
                    <a:bodyPr/>
                    <a:lstStyle/>
                    <a:p>
                      <a:pPr algn="ctr"/>
                      <a:r>
                        <a:rPr lang="es-ES_tradnl" sz="900" b="1" dirty="0">
                          <a:latin typeface="Calibri" charset="0"/>
                          <a:ea typeface="Calibri" charset="0"/>
                          <a:cs typeface="Calibri" charset="0"/>
                        </a:rPr>
                        <a:t>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ea typeface="Calibri" charset="0"/>
                          <a:cs typeface="Calibri" panose="020F0502020204030204" pitchFamily="34" charset="0"/>
                        </a:rPr>
                        <a:t>40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C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C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8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C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ea typeface="Calibri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8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ea typeface="Calibri" charset="0"/>
                          <a:cs typeface="Calibri" panose="020F0502020204030204" pitchFamily="34" charset="0"/>
                        </a:rPr>
                        <a:t>46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3732">
                <a:tc>
                  <a:txBody>
                    <a:bodyPr/>
                    <a:lstStyle/>
                    <a:p>
                      <a:pPr algn="ctr"/>
                      <a:r>
                        <a:rPr lang="es-ES_tradnl" sz="900" b="1" dirty="0">
                          <a:latin typeface="Calibri" charset="0"/>
                          <a:ea typeface="Calibri" charset="0"/>
                          <a:cs typeface="Calibri" charset="0"/>
                        </a:rPr>
                        <a:t>2 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ea typeface="Calibri" charset="0"/>
                          <a:cs typeface="Calibri" panose="020F0502020204030204" pitchFamily="34" charset="0"/>
                        </a:rPr>
                        <a:t>50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C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C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C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ea typeface="Calibri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7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18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8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ea typeface="Calibri" charset="0"/>
                          <a:cs typeface="Calibri" panose="020F0502020204030204" pitchFamily="34" charset="0"/>
                        </a:rPr>
                        <a:t>53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6032">
                <a:tc>
                  <a:txBody>
                    <a:bodyPr/>
                    <a:lstStyle/>
                    <a:p>
                      <a:pPr algn="ctr"/>
                      <a:r>
                        <a:rPr lang="es-ES_tradnl" sz="900" b="1" dirty="0">
                          <a:latin typeface="Calibri" charset="0"/>
                          <a:ea typeface="Calibri" charset="0"/>
                          <a:cs typeface="Calibri" charset="0"/>
                        </a:rPr>
                        <a:t>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ea typeface="Calibri" charset="0"/>
                          <a:cs typeface="Calibri" panose="020F0502020204030204" pitchFamily="34" charset="0"/>
                        </a:rPr>
                        <a:t>20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C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8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C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C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ea typeface="Calibri" charset="0"/>
                          <a:cs typeface="Calibri" panose="020F0502020204030204" pitchFamily="34" charset="0"/>
                        </a:rPr>
                        <a:t>10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17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ea typeface="Calibri" charset="0"/>
                          <a:cs typeface="Calibri" panose="020F0502020204030204" pitchFamily="34" charset="0"/>
                        </a:rPr>
                        <a:t>65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4160">
                <a:tc>
                  <a:txBody>
                    <a:bodyPr/>
                    <a:lstStyle/>
                    <a:p>
                      <a:pPr algn="ctr"/>
                      <a:r>
                        <a:rPr lang="es-ES_tradnl" sz="900" b="1" dirty="0">
                          <a:latin typeface="Calibri" charset="0"/>
                          <a:ea typeface="Calibri" charset="0"/>
                          <a:cs typeface="Calibri" charset="0"/>
                        </a:rPr>
                        <a:t>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ea typeface="Calibri" charset="0"/>
                          <a:cs typeface="Calibri" panose="020F0502020204030204" pitchFamily="34" charset="0"/>
                        </a:rPr>
                        <a:t>60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C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C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C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ea typeface="Calibri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8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ea typeface="Calibri" charset="0"/>
                          <a:cs typeface="Calibri" panose="020F0502020204030204" pitchFamily="34" charset="0"/>
                        </a:rPr>
                        <a:t>41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2434817"/>
                  </a:ext>
                </a:extLst>
              </a:tr>
            </a:tbl>
          </a:graphicData>
        </a:graphic>
      </p:graphicFrame>
      <p:sp>
        <p:nvSpPr>
          <p:cNvPr id="9" name="Rectángulo 8">
            <a:extLst>
              <a:ext uri="{FF2B5EF4-FFF2-40B4-BE49-F238E27FC236}">
                <a16:creationId xmlns:a16="http://schemas.microsoft.com/office/drawing/2014/main" id="{5DE9CB89-E3C2-5846-B9F9-50486E4203B2}"/>
              </a:ext>
            </a:extLst>
          </p:cNvPr>
          <p:cNvSpPr/>
          <p:nvPr/>
        </p:nvSpPr>
        <p:spPr>
          <a:xfrm>
            <a:off x="2804348" y="1756795"/>
            <a:ext cx="3209782" cy="2308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buClr>
                <a:schemeClr val="dk1"/>
              </a:buClr>
              <a:buSzPts val="1600"/>
            </a:pPr>
            <a:r>
              <a:rPr lang="es-PE" sz="1500" b="1" dirty="0">
                <a:solidFill>
                  <a:srgbClr val="EE4639"/>
                </a:solidFill>
                <a:latin typeface="Calibri" charset="0"/>
                <a:cs typeface="Calibri" charset="0"/>
                <a:sym typeface="Calibri"/>
              </a:rPr>
              <a:t>Seguimiento del Avance de Pruebas</a:t>
            </a:r>
          </a:p>
        </p:txBody>
      </p:sp>
      <p:sp>
        <p:nvSpPr>
          <p:cNvPr id="10" name="Forma libre 9">
            <a:extLst>
              <a:ext uri="{FF2B5EF4-FFF2-40B4-BE49-F238E27FC236}">
                <a16:creationId xmlns:a16="http://schemas.microsoft.com/office/drawing/2014/main" id="{65972511-1091-344C-AA51-2F20561E8607}"/>
              </a:ext>
            </a:extLst>
          </p:cNvPr>
          <p:cNvSpPr/>
          <p:nvPr/>
        </p:nvSpPr>
        <p:spPr>
          <a:xfrm>
            <a:off x="1835888" y="1872173"/>
            <a:ext cx="879603" cy="367353"/>
          </a:xfrm>
          <a:custGeom>
            <a:avLst/>
            <a:gdLst>
              <a:gd name="connsiteX0" fmla="*/ 0 w 786938"/>
              <a:gd name="connsiteY0" fmla="*/ 338051 h 338051"/>
              <a:gd name="connsiteX1" fmla="*/ 0 w 786938"/>
              <a:gd name="connsiteY1" fmla="*/ 0 h 338051"/>
              <a:gd name="connsiteX2" fmla="*/ 786938 w 786938"/>
              <a:gd name="connsiteY2" fmla="*/ 0 h 3380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86938" h="338051">
                <a:moveTo>
                  <a:pt x="0" y="338051"/>
                </a:moveTo>
                <a:lnTo>
                  <a:pt x="0" y="0"/>
                </a:lnTo>
                <a:lnTo>
                  <a:pt x="786938" y="0"/>
                </a:lnTo>
              </a:path>
            </a:pathLst>
          </a:custGeom>
          <a:noFill/>
          <a:ln w="28575">
            <a:solidFill>
              <a:srgbClr val="EE4639"/>
            </a:solidFill>
            <a:head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1" name="Rectángulo redondeado 10">
            <a:extLst>
              <a:ext uri="{FF2B5EF4-FFF2-40B4-BE49-F238E27FC236}">
                <a16:creationId xmlns:a16="http://schemas.microsoft.com/office/drawing/2014/main" id="{6E31D765-3942-1D42-A23F-BAEE3653C488}"/>
              </a:ext>
            </a:extLst>
          </p:cNvPr>
          <p:cNvSpPr/>
          <p:nvPr/>
        </p:nvSpPr>
        <p:spPr>
          <a:xfrm>
            <a:off x="1236641" y="2251746"/>
            <a:ext cx="1201759" cy="1698608"/>
          </a:xfrm>
          <a:prstGeom prst="roundRect">
            <a:avLst>
              <a:gd name="adj" fmla="val 8593"/>
            </a:avLst>
          </a:prstGeom>
          <a:noFill/>
          <a:ln>
            <a:solidFill>
              <a:srgbClr val="8087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hangingPunct="1">
              <a:defRPr/>
            </a:pPr>
            <a:endParaRPr lang="es-PE" sz="1400" b="1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2" name="Rectángulo redondeado 11">
            <a:extLst>
              <a:ext uri="{FF2B5EF4-FFF2-40B4-BE49-F238E27FC236}">
                <a16:creationId xmlns:a16="http://schemas.microsoft.com/office/drawing/2014/main" id="{CF2D8586-9119-5741-A508-2B88E8BCCC23}"/>
              </a:ext>
            </a:extLst>
          </p:cNvPr>
          <p:cNvSpPr/>
          <p:nvPr/>
        </p:nvSpPr>
        <p:spPr>
          <a:xfrm>
            <a:off x="2438400" y="2251745"/>
            <a:ext cx="5913438" cy="1698609"/>
          </a:xfrm>
          <a:prstGeom prst="roundRect">
            <a:avLst>
              <a:gd name="adj" fmla="val 7897"/>
            </a:avLst>
          </a:prstGeom>
          <a:noFill/>
          <a:ln>
            <a:solidFill>
              <a:srgbClr val="8087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hangingPunct="1">
              <a:defRPr/>
            </a:pPr>
            <a:endParaRPr lang="es-PE" sz="1400" b="1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3" name="Forma libre 12">
            <a:extLst>
              <a:ext uri="{FF2B5EF4-FFF2-40B4-BE49-F238E27FC236}">
                <a16:creationId xmlns:a16="http://schemas.microsoft.com/office/drawing/2014/main" id="{B5BA9CD5-24F6-F34F-B752-D33DDEC3D013}"/>
              </a:ext>
            </a:extLst>
          </p:cNvPr>
          <p:cNvSpPr/>
          <p:nvPr/>
        </p:nvSpPr>
        <p:spPr>
          <a:xfrm>
            <a:off x="7449880" y="3041497"/>
            <a:ext cx="1117772" cy="1235825"/>
          </a:xfrm>
          <a:custGeom>
            <a:avLst/>
            <a:gdLst>
              <a:gd name="connsiteX0" fmla="*/ 0 w 903316"/>
              <a:gd name="connsiteY0" fmla="*/ 1235825 h 1235825"/>
              <a:gd name="connsiteX1" fmla="*/ 903316 w 903316"/>
              <a:gd name="connsiteY1" fmla="*/ 1235825 h 1235825"/>
              <a:gd name="connsiteX2" fmla="*/ 903316 w 903316"/>
              <a:gd name="connsiteY2" fmla="*/ 0 h 1235825"/>
              <a:gd name="connsiteX3" fmla="*/ 742603 w 903316"/>
              <a:gd name="connsiteY3" fmla="*/ 0 h 1235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03316" h="1235825">
                <a:moveTo>
                  <a:pt x="0" y="1235825"/>
                </a:moveTo>
                <a:lnTo>
                  <a:pt x="903316" y="1235825"/>
                </a:lnTo>
                <a:lnTo>
                  <a:pt x="903316" y="0"/>
                </a:lnTo>
                <a:lnTo>
                  <a:pt x="742603" y="0"/>
                </a:lnTo>
              </a:path>
            </a:pathLst>
          </a:custGeom>
          <a:noFill/>
          <a:ln w="28575">
            <a:solidFill>
              <a:srgbClr val="EE4639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D3E72480-EB50-3A49-B154-CE150E28F874}"/>
              </a:ext>
            </a:extLst>
          </p:cNvPr>
          <p:cNvSpPr/>
          <p:nvPr/>
        </p:nvSpPr>
        <p:spPr>
          <a:xfrm>
            <a:off x="4900831" y="4151098"/>
            <a:ext cx="2549049" cy="2308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buClr>
                <a:schemeClr val="dk1"/>
              </a:buClr>
              <a:buSzPts val="1600"/>
            </a:pPr>
            <a:r>
              <a:rPr lang="es-PE" sz="1500" b="1" dirty="0">
                <a:solidFill>
                  <a:srgbClr val="EE4639"/>
                </a:solidFill>
                <a:latin typeface="Calibri" charset="0"/>
                <a:cs typeface="Calibri" charset="0"/>
                <a:sym typeface="Calibri"/>
              </a:rPr>
              <a:t>Seguimiento de la Salud del SW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2d361c19c8b_0_102"/>
          <p:cNvSpPr/>
          <p:nvPr/>
        </p:nvSpPr>
        <p:spPr>
          <a:xfrm>
            <a:off x="4034097" y="945625"/>
            <a:ext cx="1075800" cy="2403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SOLUCIÓN</a:t>
            </a:r>
            <a:endParaRPr sz="16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g2d361c19c8b_0_102"/>
          <p:cNvSpPr/>
          <p:nvPr/>
        </p:nvSpPr>
        <p:spPr>
          <a:xfrm>
            <a:off x="501855" y="4425865"/>
            <a:ext cx="6645000" cy="234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80975" marR="0" lvl="0" indent="-18097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s-P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¿Cuál es total de defectos pendientes de dar conformidad?</a:t>
            </a:r>
            <a:endParaRPr dirty="0"/>
          </a:p>
        </p:txBody>
      </p:sp>
      <p:sp>
        <p:nvSpPr>
          <p:cNvPr id="376" name="Google Shape;376;g2d361c19c8b_0_102"/>
          <p:cNvSpPr txBox="1"/>
          <p:nvPr/>
        </p:nvSpPr>
        <p:spPr>
          <a:xfrm>
            <a:off x="6551613" y="4414294"/>
            <a:ext cx="66810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600" b="1" dirty="0">
                <a:solidFill>
                  <a:srgbClr val="92C14E"/>
                </a:solidFill>
                <a:latin typeface="Calibri"/>
                <a:ea typeface="Calibri"/>
                <a:cs typeface="Calibri"/>
                <a:sym typeface="Calibri"/>
              </a:rPr>
              <a:t>197</a:t>
            </a:r>
            <a:endParaRPr dirty="0">
              <a:solidFill>
                <a:srgbClr val="92C14E"/>
              </a:solidFill>
            </a:endParaRPr>
          </a:p>
        </p:txBody>
      </p:sp>
      <p:sp>
        <p:nvSpPr>
          <p:cNvPr id="377" name="Google Shape;377;g2d361c19c8b_0_102"/>
          <p:cNvSpPr/>
          <p:nvPr/>
        </p:nvSpPr>
        <p:spPr>
          <a:xfrm>
            <a:off x="1767614" y="1521386"/>
            <a:ext cx="3222600" cy="208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600" b="1" dirty="0">
                <a:solidFill>
                  <a:srgbClr val="3A732E"/>
                </a:solidFill>
                <a:latin typeface="Calibri"/>
                <a:ea typeface="Calibri"/>
                <a:cs typeface="Calibri"/>
                <a:sym typeface="Calibri"/>
              </a:rPr>
              <a:t>Los certificadores deben atender</a:t>
            </a:r>
            <a:endParaRPr dirty="0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29639BDB-201A-E74E-B5D4-9D746DCE7ED6}"/>
              </a:ext>
            </a:extLst>
          </p:cNvPr>
          <p:cNvSpPr/>
          <p:nvPr/>
        </p:nvSpPr>
        <p:spPr>
          <a:xfrm>
            <a:off x="503238" y="376232"/>
            <a:ext cx="3300666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/>
              </a:rPr>
              <a:t>SEGUIMIENTO DE PRUEBAS</a:t>
            </a:r>
            <a:endParaRPr lang="es-PE" sz="1000" dirty="0">
              <a:solidFill>
                <a:schemeClr val="bg1">
                  <a:lumMod val="6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10" name="13 Tabla">
            <a:extLst>
              <a:ext uri="{FF2B5EF4-FFF2-40B4-BE49-F238E27FC236}">
                <a16:creationId xmlns:a16="http://schemas.microsoft.com/office/drawing/2014/main" id="{69A5A9B1-F8F5-6740-B9D9-FF3B96DE2A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8044128"/>
              </p:ext>
            </p:extLst>
          </p:nvPr>
        </p:nvGraphicFramePr>
        <p:xfrm>
          <a:off x="755650" y="2347384"/>
          <a:ext cx="7596188" cy="1495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82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23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2416">
                  <a:extLst>
                    <a:ext uri="{9D8B030D-6E8A-4147-A177-3AD203B41FA5}">
                      <a16:colId xmlns:a16="http://schemas.microsoft.com/office/drawing/2014/main" val="418973888"/>
                    </a:ext>
                  </a:extLst>
                </a:gridCol>
                <a:gridCol w="411062">
                  <a:extLst>
                    <a:ext uri="{9D8B030D-6E8A-4147-A177-3AD203B41FA5}">
                      <a16:colId xmlns:a16="http://schemas.microsoft.com/office/drawing/2014/main" val="3546887892"/>
                    </a:ext>
                  </a:extLst>
                </a:gridCol>
                <a:gridCol w="2607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0717">
                  <a:extLst>
                    <a:ext uri="{9D8B030D-6E8A-4147-A177-3AD203B41FA5}">
                      <a16:colId xmlns:a16="http://schemas.microsoft.com/office/drawing/2014/main" val="1636455039"/>
                    </a:ext>
                  </a:extLst>
                </a:gridCol>
                <a:gridCol w="260717">
                  <a:extLst>
                    <a:ext uri="{9D8B030D-6E8A-4147-A177-3AD203B41FA5}">
                      <a16:colId xmlns:a16="http://schemas.microsoft.com/office/drawing/2014/main" val="3706658717"/>
                    </a:ext>
                  </a:extLst>
                </a:gridCol>
                <a:gridCol w="284584">
                  <a:extLst>
                    <a:ext uri="{9D8B030D-6E8A-4147-A177-3AD203B41FA5}">
                      <a16:colId xmlns:a16="http://schemas.microsoft.com/office/drawing/2014/main" val="2774018823"/>
                    </a:ext>
                  </a:extLst>
                </a:gridCol>
                <a:gridCol w="260717">
                  <a:extLst>
                    <a:ext uri="{9D8B030D-6E8A-4147-A177-3AD203B41FA5}">
                      <a16:colId xmlns:a16="http://schemas.microsoft.com/office/drawing/2014/main" val="4195528247"/>
                    </a:ext>
                  </a:extLst>
                </a:gridCol>
                <a:gridCol w="256246">
                  <a:extLst>
                    <a:ext uri="{9D8B030D-6E8A-4147-A177-3AD203B41FA5}">
                      <a16:colId xmlns:a16="http://schemas.microsoft.com/office/drawing/2014/main" val="4092290460"/>
                    </a:ext>
                  </a:extLst>
                </a:gridCol>
                <a:gridCol w="256246">
                  <a:extLst>
                    <a:ext uri="{9D8B030D-6E8A-4147-A177-3AD203B41FA5}">
                      <a16:colId xmlns:a16="http://schemas.microsoft.com/office/drawing/2014/main" val="4086025292"/>
                    </a:ext>
                  </a:extLst>
                </a:gridCol>
                <a:gridCol w="256246">
                  <a:extLst>
                    <a:ext uri="{9D8B030D-6E8A-4147-A177-3AD203B41FA5}">
                      <a16:colId xmlns:a16="http://schemas.microsoft.com/office/drawing/2014/main" val="2523218694"/>
                    </a:ext>
                  </a:extLst>
                </a:gridCol>
                <a:gridCol w="256246">
                  <a:extLst>
                    <a:ext uri="{9D8B030D-6E8A-4147-A177-3AD203B41FA5}">
                      <a16:colId xmlns:a16="http://schemas.microsoft.com/office/drawing/2014/main" val="2103641360"/>
                    </a:ext>
                  </a:extLst>
                </a:gridCol>
                <a:gridCol w="256245">
                  <a:extLst>
                    <a:ext uri="{9D8B030D-6E8A-4147-A177-3AD203B41FA5}">
                      <a16:colId xmlns:a16="http://schemas.microsoft.com/office/drawing/2014/main" val="2297453530"/>
                    </a:ext>
                  </a:extLst>
                </a:gridCol>
                <a:gridCol w="254912">
                  <a:extLst>
                    <a:ext uri="{9D8B030D-6E8A-4147-A177-3AD203B41FA5}">
                      <a16:colId xmlns:a16="http://schemas.microsoft.com/office/drawing/2014/main" val="1538520262"/>
                    </a:ext>
                  </a:extLst>
                </a:gridCol>
                <a:gridCol w="254912">
                  <a:extLst>
                    <a:ext uri="{9D8B030D-6E8A-4147-A177-3AD203B41FA5}">
                      <a16:colId xmlns:a16="http://schemas.microsoft.com/office/drawing/2014/main" val="3371213017"/>
                    </a:ext>
                  </a:extLst>
                </a:gridCol>
                <a:gridCol w="254912">
                  <a:extLst>
                    <a:ext uri="{9D8B030D-6E8A-4147-A177-3AD203B41FA5}">
                      <a16:colId xmlns:a16="http://schemas.microsoft.com/office/drawing/2014/main" val="2268373193"/>
                    </a:ext>
                  </a:extLst>
                </a:gridCol>
                <a:gridCol w="254912">
                  <a:extLst>
                    <a:ext uri="{9D8B030D-6E8A-4147-A177-3AD203B41FA5}">
                      <a16:colId xmlns:a16="http://schemas.microsoft.com/office/drawing/2014/main" val="4225106561"/>
                    </a:ext>
                  </a:extLst>
                </a:gridCol>
                <a:gridCol w="250908">
                  <a:extLst>
                    <a:ext uri="{9D8B030D-6E8A-4147-A177-3AD203B41FA5}">
                      <a16:colId xmlns:a16="http://schemas.microsoft.com/office/drawing/2014/main" val="2103222250"/>
                    </a:ext>
                  </a:extLst>
                </a:gridCol>
                <a:gridCol w="280047">
                  <a:extLst>
                    <a:ext uri="{9D8B030D-6E8A-4147-A177-3AD203B41FA5}">
                      <a16:colId xmlns:a16="http://schemas.microsoft.com/office/drawing/2014/main" val="1742999387"/>
                    </a:ext>
                  </a:extLst>
                </a:gridCol>
                <a:gridCol w="292281">
                  <a:extLst>
                    <a:ext uri="{9D8B030D-6E8A-4147-A177-3AD203B41FA5}">
                      <a16:colId xmlns:a16="http://schemas.microsoft.com/office/drawing/2014/main" val="2263480007"/>
                    </a:ext>
                  </a:extLst>
                </a:gridCol>
                <a:gridCol w="267813">
                  <a:extLst>
                    <a:ext uri="{9D8B030D-6E8A-4147-A177-3AD203B41FA5}">
                      <a16:colId xmlns:a16="http://schemas.microsoft.com/office/drawing/2014/main" val="2223747381"/>
                    </a:ext>
                  </a:extLst>
                </a:gridCol>
                <a:gridCol w="304515">
                  <a:extLst>
                    <a:ext uri="{9D8B030D-6E8A-4147-A177-3AD203B41FA5}">
                      <a16:colId xmlns:a16="http://schemas.microsoft.com/office/drawing/2014/main" val="1004988584"/>
                    </a:ext>
                  </a:extLst>
                </a:gridCol>
                <a:gridCol w="261585">
                  <a:extLst>
                    <a:ext uri="{9D8B030D-6E8A-4147-A177-3AD203B41FA5}">
                      <a16:colId xmlns:a16="http://schemas.microsoft.com/office/drawing/2014/main" val="363442444"/>
                    </a:ext>
                  </a:extLst>
                </a:gridCol>
                <a:gridCol w="62665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90430">
                <a:tc rowSpan="3">
                  <a:txBody>
                    <a:bodyPr/>
                    <a:lstStyle/>
                    <a:p>
                      <a:pPr algn="ctr"/>
                      <a:r>
                        <a:rPr lang="es-ES_tradnl" sz="800" b="1" noProof="0" dirty="0">
                          <a:solidFill>
                            <a:schemeClr val="tx1"/>
                          </a:solidFill>
                          <a:latin typeface="Calibri" charset="0"/>
                          <a:cs typeface="Calibri" charset="0"/>
                        </a:rPr>
                        <a:t>MODULO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CASOS DE PRUEBA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CED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ES_tradnl" sz="800" b="1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EC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gridSpan="21"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DEFECTOS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s-ES_tradnl" sz="8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E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8627747"/>
                  </a:ext>
                </a:extLst>
              </a:tr>
              <a:tr h="190430">
                <a:tc vMerge="1">
                  <a:txBody>
                    <a:bodyPr/>
                    <a:lstStyle/>
                    <a:p>
                      <a:pPr algn="ctr"/>
                      <a:r>
                        <a:rPr lang="es-ES_tradnl" sz="800" b="1" noProof="0" dirty="0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MODULO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EC7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TOTAL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CED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EJECUTADOS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CED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ES_tradnl" sz="8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902" marR="82902" marT="41452" marB="41452" anchor="ctr">
                    <a:lnL w="12700" cap="flat" cmpd="sng" algn="ctr">
                      <a:solidFill>
                        <a:srgbClr val="92C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2C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92C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EC7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PENDIENTES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REINCIDENTES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ES_tradnl" sz="800" b="1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REGULARIZADOS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ES_tradnl" sz="800" b="1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CONFORMES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ES_tradnl" sz="800" b="1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TOTAL</a:t>
                      </a:r>
                    </a:p>
                    <a:p>
                      <a:pPr algn="ctr"/>
                      <a:r>
                        <a:rPr lang="es-ES_tradnl" sz="800" b="1" dirty="0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DEFECTOS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1955">
                <a:tc v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650" b="1" dirty="0">
                          <a:solidFill>
                            <a:srgbClr val="EE4639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Con </a:t>
                      </a:r>
                    </a:p>
                    <a:p>
                      <a:pPr algn="ctr"/>
                      <a:r>
                        <a:rPr lang="es-ES_tradnl" sz="650" b="1" dirty="0">
                          <a:solidFill>
                            <a:srgbClr val="EE4639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Problemas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C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650" b="1" dirty="0">
                          <a:solidFill>
                            <a:srgbClr val="7150A0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Sin </a:t>
                      </a:r>
                    </a:p>
                    <a:p>
                      <a:pPr algn="ctr"/>
                      <a:r>
                        <a:rPr lang="es-ES_tradnl" sz="650" b="1" dirty="0">
                          <a:solidFill>
                            <a:srgbClr val="7150A0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Problemas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C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46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78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D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Total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46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78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D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Total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46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78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D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Total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46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78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D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Total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55000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0914970"/>
                  </a:ext>
                </a:extLst>
              </a:tr>
              <a:tr h="238373">
                <a:tc>
                  <a:txBody>
                    <a:bodyPr/>
                    <a:lstStyle/>
                    <a:p>
                      <a:pPr algn="ctr"/>
                      <a:r>
                        <a:rPr lang="es-ES_tradnl" sz="900" b="1" dirty="0">
                          <a:latin typeface="Calibri" charset="0"/>
                          <a:ea typeface="Calibri" charset="0"/>
                          <a:cs typeface="Calibri" charset="0"/>
                        </a:rPr>
                        <a:t>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solidFill>
                            <a:srgbClr val="7150A0"/>
                          </a:solidFill>
                          <a:latin typeface="Calibri" panose="020F0502020204030204" pitchFamily="34" charset="0"/>
                          <a:ea typeface="Calibri" charset="0"/>
                          <a:cs typeface="Calibri" panose="020F0502020204030204" pitchFamily="34" charset="0"/>
                        </a:rPr>
                        <a:t>40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50A0">
                        <a:alpha val="4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solidFill>
                            <a:srgbClr val="7150A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50A0">
                        <a:alpha val="4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solidFill>
                            <a:srgbClr val="7150A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8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50A0">
                        <a:alpha val="4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ea typeface="Calibri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8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7828">
                        <a:alpha val="4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7828">
                        <a:alpha val="4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7828">
                        <a:alpha val="4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7828">
                        <a:alpha val="4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7828">
                        <a:alpha val="4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7828">
                        <a:alpha val="4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7828">
                        <a:alpha val="4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7828">
                        <a:alpha val="4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ea typeface="Calibri" charset="0"/>
                          <a:cs typeface="Calibri" panose="020F0502020204030204" pitchFamily="34" charset="0"/>
                        </a:rPr>
                        <a:t>46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3732">
                <a:tc>
                  <a:txBody>
                    <a:bodyPr/>
                    <a:lstStyle/>
                    <a:p>
                      <a:pPr algn="ctr"/>
                      <a:r>
                        <a:rPr lang="es-ES_tradnl" sz="900" b="1" dirty="0">
                          <a:latin typeface="Calibri" charset="0"/>
                          <a:ea typeface="Calibri" charset="0"/>
                          <a:cs typeface="Calibri" charset="0"/>
                        </a:rPr>
                        <a:t>2 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solidFill>
                            <a:srgbClr val="7150A0"/>
                          </a:solidFill>
                          <a:latin typeface="Calibri" panose="020F0502020204030204" pitchFamily="34" charset="0"/>
                          <a:ea typeface="Calibri" charset="0"/>
                          <a:cs typeface="Calibri" panose="020F0502020204030204" pitchFamily="34" charset="0"/>
                        </a:rPr>
                        <a:t>50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50A0">
                        <a:alpha val="4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solidFill>
                            <a:srgbClr val="7150A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50A0">
                        <a:alpha val="4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solidFill>
                            <a:srgbClr val="7150A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50A0">
                        <a:alpha val="4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ea typeface="Calibri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7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18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7828">
                        <a:alpha val="4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7828">
                        <a:alpha val="4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7828">
                        <a:alpha val="4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7828">
                        <a:alpha val="4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7828">
                        <a:alpha val="4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7828">
                        <a:alpha val="4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7828">
                        <a:alpha val="4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7828">
                        <a:alpha val="4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8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ea typeface="Calibri" charset="0"/>
                          <a:cs typeface="Calibri" panose="020F0502020204030204" pitchFamily="34" charset="0"/>
                        </a:rPr>
                        <a:t>53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6032">
                <a:tc>
                  <a:txBody>
                    <a:bodyPr/>
                    <a:lstStyle/>
                    <a:p>
                      <a:pPr algn="ctr"/>
                      <a:r>
                        <a:rPr lang="es-ES_tradnl" sz="900" b="1" dirty="0">
                          <a:latin typeface="Calibri" charset="0"/>
                          <a:ea typeface="Calibri" charset="0"/>
                          <a:cs typeface="Calibri" charset="0"/>
                        </a:rPr>
                        <a:t>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solidFill>
                            <a:srgbClr val="7150A0"/>
                          </a:solidFill>
                          <a:latin typeface="Calibri" panose="020F0502020204030204" pitchFamily="34" charset="0"/>
                          <a:ea typeface="Calibri" charset="0"/>
                          <a:cs typeface="Calibri" panose="020F0502020204030204" pitchFamily="34" charset="0"/>
                        </a:rPr>
                        <a:t>20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50A0">
                        <a:alpha val="4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solidFill>
                            <a:srgbClr val="7150A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8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50A0">
                        <a:alpha val="4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solidFill>
                            <a:srgbClr val="7150A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50A0">
                        <a:alpha val="4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ea typeface="Calibri" charset="0"/>
                          <a:cs typeface="Calibri" panose="020F0502020204030204" pitchFamily="34" charset="0"/>
                        </a:rPr>
                        <a:t>10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17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7828">
                        <a:alpha val="4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7828">
                        <a:alpha val="4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7828">
                        <a:alpha val="4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7828">
                        <a:alpha val="4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7828">
                        <a:alpha val="4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7828">
                        <a:alpha val="4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7828">
                        <a:alpha val="4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7828">
                        <a:alpha val="4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ea typeface="Calibri" charset="0"/>
                          <a:cs typeface="Calibri" panose="020F0502020204030204" pitchFamily="34" charset="0"/>
                        </a:rPr>
                        <a:t>65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4160">
                <a:tc>
                  <a:txBody>
                    <a:bodyPr/>
                    <a:lstStyle/>
                    <a:p>
                      <a:pPr algn="ctr"/>
                      <a:r>
                        <a:rPr lang="es-ES_tradnl" sz="900" b="1" dirty="0">
                          <a:latin typeface="Calibri" charset="0"/>
                          <a:ea typeface="Calibri" charset="0"/>
                          <a:cs typeface="Calibri" charset="0"/>
                        </a:rPr>
                        <a:t>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solidFill>
                            <a:srgbClr val="7150A0"/>
                          </a:solidFill>
                          <a:latin typeface="Calibri" panose="020F0502020204030204" pitchFamily="34" charset="0"/>
                          <a:ea typeface="Calibri" charset="0"/>
                          <a:cs typeface="Calibri" panose="020F0502020204030204" pitchFamily="34" charset="0"/>
                        </a:rPr>
                        <a:t>60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50A0">
                        <a:alpha val="4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solidFill>
                            <a:srgbClr val="7150A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50A0">
                        <a:alpha val="4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solidFill>
                            <a:srgbClr val="7150A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50A0">
                        <a:alpha val="4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ea typeface="Calibri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8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7828">
                        <a:alpha val="4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7828">
                        <a:alpha val="4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7828">
                        <a:alpha val="4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7828">
                        <a:alpha val="4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7828">
                        <a:alpha val="4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7828">
                        <a:alpha val="4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7828">
                        <a:alpha val="4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7828">
                        <a:alpha val="4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ea typeface="Calibri" charset="0"/>
                          <a:cs typeface="Calibri" panose="020F0502020204030204" pitchFamily="34" charset="0"/>
                        </a:rPr>
                        <a:t>41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2434817"/>
                  </a:ext>
                </a:extLst>
              </a:tr>
            </a:tbl>
          </a:graphicData>
        </a:graphic>
      </p:graphicFrame>
      <p:sp>
        <p:nvSpPr>
          <p:cNvPr id="11" name="Rectángulo 10">
            <a:extLst>
              <a:ext uri="{FF2B5EF4-FFF2-40B4-BE49-F238E27FC236}">
                <a16:creationId xmlns:a16="http://schemas.microsoft.com/office/drawing/2014/main" id="{61359CD0-98CB-874E-9A26-1A77963502AC}"/>
              </a:ext>
            </a:extLst>
          </p:cNvPr>
          <p:cNvSpPr/>
          <p:nvPr/>
        </p:nvSpPr>
        <p:spPr>
          <a:xfrm>
            <a:off x="1261730" y="2963006"/>
            <a:ext cx="326065" cy="879490"/>
          </a:xfrm>
          <a:prstGeom prst="rect">
            <a:avLst/>
          </a:prstGeom>
          <a:noFill/>
          <a:ln w="28575">
            <a:solidFill>
              <a:srgbClr val="39732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4294DC13-CA6C-EE4E-B39F-F6A2CB4BC37F}"/>
              </a:ext>
            </a:extLst>
          </p:cNvPr>
          <p:cNvSpPr/>
          <p:nvPr/>
        </p:nvSpPr>
        <p:spPr>
          <a:xfrm>
            <a:off x="1580706" y="2963006"/>
            <a:ext cx="857694" cy="879490"/>
          </a:xfrm>
          <a:prstGeom prst="rect">
            <a:avLst/>
          </a:prstGeom>
          <a:noFill/>
          <a:ln w="28575">
            <a:solidFill>
              <a:srgbClr val="39732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4" name="Forma libre 13">
            <a:extLst>
              <a:ext uri="{FF2B5EF4-FFF2-40B4-BE49-F238E27FC236}">
                <a16:creationId xmlns:a16="http://schemas.microsoft.com/office/drawing/2014/main" id="{BEDEAF3A-550F-2549-8044-EBD351F94FBB}"/>
              </a:ext>
            </a:extLst>
          </p:cNvPr>
          <p:cNvSpPr/>
          <p:nvPr/>
        </p:nvSpPr>
        <p:spPr>
          <a:xfrm>
            <a:off x="1410586" y="2006009"/>
            <a:ext cx="4153781" cy="949842"/>
          </a:xfrm>
          <a:custGeom>
            <a:avLst/>
            <a:gdLst>
              <a:gd name="connsiteX0" fmla="*/ 0 w 4784651"/>
              <a:gd name="connsiteY0" fmla="*/ 942754 h 949842"/>
              <a:gd name="connsiteX1" fmla="*/ 0 w 4784651"/>
              <a:gd name="connsiteY1" fmla="*/ 0 h 949842"/>
              <a:gd name="connsiteX2" fmla="*/ 4784651 w 4784651"/>
              <a:gd name="connsiteY2" fmla="*/ 0 h 949842"/>
              <a:gd name="connsiteX3" fmla="*/ 4784651 w 4784651"/>
              <a:gd name="connsiteY3" fmla="*/ 949842 h 949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84651" h="949842">
                <a:moveTo>
                  <a:pt x="0" y="942754"/>
                </a:moveTo>
                <a:lnTo>
                  <a:pt x="0" y="0"/>
                </a:lnTo>
                <a:lnTo>
                  <a:pt x="4784651" y="0"/>
                </a:lnTo>
                <a:lnTo>
                  <a:pt x="4784651" y="949842"/>
                </a:lnTo>
              </a:path>
            </a:pathLst>
          </a:custGeom>
          <a:noFill/>
          <a:ln w="28575">
            <a:solidFill>
              <a:srgbClr val="39732D"/>
            </a:solidFill>
            <a:headEnd type="triangle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cxnSp>
        <p:nvCxnSpPr>
          <p:cNvPr id="15" name="Conector recto de flecha 14">
            <a:extLst>
              <a:ext uri="{FF2B5EF4-FFF2-40B4-BE49-F238E27FC236}">
                <a16:creationId xmlns:a16="http://schemas.microsoft.com/office/drawing/2014/main" id="{3D6DB390-3EA3-154B-BA7B-9E1E0503332C}"/>
              </a:ext>
            </a:extLst>
          </p:cNvPr>
          <p:cNvCxnSpPr>
            <a:cxnSpLocks/>
            <a:endCxn id="12" idx="0"/>
          </p:cNvCxnSpPr>
          <p:nvPr/>
        </p:nvCxnSpPr>
        <p:spPr>
          <a:xfrm flipH="1">
            <a:off x="2009553" y="2006009"/>
            <a:ext cx="2" cy="956997"/>
          </a:xfrm>
          <a:prstGeom prst="straightConnector1">
            <a:avLst/>
          </a:prstGeom>
          <a:ln w="28575">
            <a:solidFill>
              <a:srgbClr val="39732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4C93BD93-829A-D447-8B1A-53D3F8E49435}"/>
              </a:ext>
            </a:extLst>
          </p:cNvPr>
          <p:cNvCxnSpPr>
            <a:cxnSpLocks/>
          </p:cNvCxnSpPr>
          <p:nvPr/>
        </p:nvCxnSpPr>
        <p:spPr>
          <a:xfrm flipV="1">
            <a:off x="3378914" y="1797394"/>
            <a:ext cx="0" cy="208615"/>
          </a:xfrm>
          <a:prstGeom prst="line">
            <a:avLst/>
          </a:prstGeom>
          <a:ln w="28575">
            <a:solidFill>
              <a:srgbClr val="39732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Google Shape;358;g2d361c19c8b_0_86">
            <a:extLst>
              <a:ext uri="{FF2B5EF4-FFF2-40B4-BE49-F238E27FC236}">
                <a16:creationId xmlns:a16="http://schemas.microsoft.com/office/drawing/2014/main" id="{E7666C48-787E-424E-80F7-98CDBBB467FA}"/>
              </a:ext>
            </a:extLst>
          </p:cNvPr>
          <p:cNvSpPr txBox="1"/>
          <p:nvPr/>
        </p:nvSpPr>
        <p:spPr>
          <a:xfrm>
            <a:off x="1261730" y="3880597"/>
            <a:ext cx="263974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600" b="1" dirty="0">
                <a:solidFill>
                  <a:srgbClr val="39732D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endParaRPr dirty="0">
              <a:solidFill>
                <a:srgbClr val="39732D"/>
              </a:solidFill>
            </a:endParaRPr>
          </a:p>
        </p:txBody>
      </p:sp>
      <p:sp>
        <p:nvSpPr>
          <p:cNvPr id="18" name="Google Shape;358;g2d361c19c8b_0_86">
            <a:extLst>
              <a:ext uri="{FF2B5EF4-FFF2-40B4-BE49-F238E27FC236}">
                <a16:creationId xmlns:a16="http://schemas.microsoft.com/office/drawing/2014/main" id="{751FE503-BB8E-5C4B-8124-E2244EF4DE7E}"/>
              </a:ext>
            </a:extLst>
          </p:cNvPr>
          <p:cNvSpPr txBox="1"/>
          <p:nvPr/>
        </p:nvSpPr>
        <p:spPr>
          <a:xfrm>
            <a:off x="1892595" y="3880597"/>
            <a:ext cx="263974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600" b="1" dirty="0">
                <a:solidFill>
                  <a:srgbClr val="39732D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endParaRPr dirty="0">
              <a:solidFill>
                <a:srgbClr val="39732D"/>
              </a:solidFill>
            </a:endParaRPr>
          </a:p>
        </p:txBody>
      </p:sp>
      <p:sp>
        <p:nvSpPr>
          <p:cNvPr id="19" name="Google Shape;358;g2d361c19c8b_0_86">
            <a:extLst>
              <a:ext uri="{FF2B5EF4-FFF2-40B4-BE49-F238E27FC236}">
                <a16:creationId xmlns:a16="http://schemas.microsoft.com/office/drawing/2014/main" id="{9D216EFD-A58F-C046-953D-AFCD60B9262C}"/>
              </a:ext>
            </a:extLst>
          </p:cNvPr>
          <p:cNvSpPr txBox="1"/>
          <p:nvPr/>
        </p:nvSpPr>
        <p:spPr>
          <a:xfrm>
            <a:off x="5414663" y="3880597"/>
            <a:ext cx="263974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600" b="1" dirty="0">
                <a:solidFill>
                  <a:srgbClr val="39732D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endParaRPr dirty="0">
              <a:solidFill>
                <a:srgbClr val="39732D"/>
              </a:solidFill>
            </a:endParaRPr>
          </a:p>
        </p:txBody>
      </p:sp>
      <p:cxnSp>
        <p:nvCxnSpPr>
          <p:cNvPr id="20" name="Conector recto de flecha 19">
            <a:extLst>
              <a:ext uri="{FF2B5EF4-FFF2-40B4-BE49-F238E27FC236}">
                <a16:creationId xmlns:a16="http://schemas.microsoft.com/office/drawing/2014/main" id="{FC64A12C-C049-1D47-85E5-1DD7D99E6828}"/>
              </a:ext>
            </a:extLst>
          </p:cNvPr>
          <p:cNvCxnSpPr>
            <a:cxnSpLocks/>
          </p:cNvCxnSpPr>
          <p:nvPr/>
        </p:nvCxnSpPr>
        <p:spPr>
          <a:xfrm flipH="1">
            <a:off x="4277832" y="2006009"/>
            <a:ext cx="2" cy="956997"/>
          </a:xfrm>
          <a:prstGeom prst="straightConnector1">
            <a:avLst/>
          </a:prstGeom>
          <a:ln w="28575">
            <a:solidFill>
              <a:srgbClr val="39732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ángulo 21">
            <a:extLst>
              <a:ext uri="{FF2B5EF4-FFF2-40B4-BE49-F238E27FC236}">
                <a16:creationId xmlns:a16="http://schemas.microsoft.com/office/drawing/2014/main" id="{BF3018B5-E2D6-884B-9DA2-FD7570A2BCA9}"/>
              </a:ext>
            </a:extLst>
          </p:cNvPr>
          <p:cNvSpPr/>
          <p:nvPr/>
        </p:nvSpPr>
        <p:spPr>
          <a:xfrm>
            <a:off x="3756836" y="2963006"/>
            <a:ext cx="1049080" cy="879490"/>
          </a:xfrm>
          <a:prstGeom prst="rect">
            <a:avLst/>
          </a:prstGeom>
          <a:noFill/>
          <a:ln w="28575">
            <a:solidFill>
              <a:srgbClr val="39732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1F64F7D5-604A-834E-A042-2F11330C9623}"/>
              </a:ext>
            </a:extLst>
          </p:cNvPr>
          <p:cNvSpPr/>
          <p:nvPr/>
        </p:nvSpPr>
        <p:spPr>
          <a:xfrm>
            <a:off x="5039832" y="2963006"/>
            <a:ext cx="1013637" cy="879490"/>
          </a:xfrm>
          <a:prstGeom prst="rect">
            <a:avLst/>
          </a:prstGeom>
          <a:noFill/>
          <a:ln w="28575">
            <a:solidFill>
              <a:srgbClr val="39732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24" name="Google Shape;358;g2d361c19c8b_0_86">
            <a:extLst>
              <a:ext uri="{FF2B5EF4-FFF2-40B4-BE49-F238E27FC236}">
                <a16:creationId xmlns:a16="http://schemas.microsoft.com/office/drawing/2014/main" id="{844A21AC-A690-1A4E-B929-C0A55A867C5B}"/>
              </a:ext>
            </a:extLst>
          </p:cNvPr>
          <p:cNvSpPr txBox="1"/>
          <p:nvPr/>
        </p:nvSpPr>
        <p:spPr>
          <a:xfrm>
            <a:off x="4160021" y="3880597"/>
            <a:ext cx="263974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600" b="1" dirty="0">
                <a:solidFill>
                  <a:srgbClr val="39732D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endParaRPr dirty="0">
              <a:solidFill>
                <a:srgbClr val="39732D"/>
              </a:solidFill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022FBAC-5DE3-9A48-9FCE-955569054F1B}"/>
              </a:ext>
            </a:extLst>
          </p:cNvPr>
          <p:cNvSpPr/>
          <p:nvPr/>
        </p:nvSpPr>
        <p:spPr>
          <a:xfrm>
            <a:off x="503238" y="376232"/>
            <a:ext cx="3300666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/>
              </a:rPr>
              <a:t>SEGUIMIENTO DE PRUEBAS</a:t>
            </a:r>
            <a:endParaRPr lang="es-PE" sz="1000" dirty="0">
              <a:solidFill>
                <a:schemeClr val="bg1">
                  <a:lumMod val="6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431F1028-3240-EA45-9BE5-271082F10C34}"/>
              </a:ext>
            </a:extLst>
          </p:cNvPr>
          <p:cNvSpPr/>
          <p:nvPr/>
        </p:nvSpPr>
        <p:spPr>
          <a:xfrm>
            <a:off x="503236" y="916472"/>
            <a:ext cx="7636423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buClr>
                <a:schemeClr val="dk1"/>
              </a:buClr>
              <a:buSzPts val="1600"/>
            </a:pPr>
            <a:r>
              <a:rPr lang="es-ES" sz="2000" b="1" dirty="0">
                <a:solidFill>
                  <a:srgbClr val="EE4639"/>
                </a:solidFill>
                <a:latin typeface="Graphik Bold" panose="020B0503030202060203" pitchFamily="34" charset="77"/>
                <a:cs typeface="Calibri" charset="0"/>
              </a:rPr>
              <a:t>+ 06.</a:t>
            </a:r>
            <a:br>
              <a:rPr lang="es-ES" sz="1600" b="1" dirty="0">
                <a:solidFill>
                  <a:srgbClr val="EE4639"/>
                </a:solidFill>
                <a:latin typeface="Calibri" charset="0"/>
                <a:cs typeface="Calibri" charset="0"/>
              </a:rPr>
            </a:br>
            <a:r>
              <a:rPr lang="es-PE" sz="1600" b="1" dirty="0">
                <a:solidFill>
                  <a:srgbClr val="EE4639"/>
                </a:solidFill>
                <a:latin typeface="Calibri" charset="0"/>
                <a:cs typeface="Calibri" charset="0"/>
                <a:sym typeface="Calibri"/>
              </a:rPr>
              <a:t>SEGUIMIENTO DE PRUEBAS</a:t>
            </a:r>
          </a:p>
        </p:txBody>
      </p:sp>
      <p:sp>
        <p:nvSpPr>
          <p:cNvPr id="384" name="Google Shape;384;g2d361c19c8b_0_111"/>
          <p:cNvSpPr/>
          <p:nvPr/>
        </p:nvSpPr>
        <p:spPr>
          <a:xfrm>
            <a:off x="503236" y="4632248"/>
            <a:ext cx="8092124" cy="517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80975" marR="0" lvl="0" indent="-18097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s-PE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Aplicación: </a:t>
            </a:r>
            <a:r>
              <a:rPr lang="es-P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identificar y desarrollar una nueva métrica que permita determinar cuál es la situación del avance de las pruebas de forma general. Sustentar la métrica determinada.</a:t>
            </a:r>
            <a:endParaRPr dirty="0"/>
          </a:p>
        </p:txBody>
      </p:sp>
      <p:graphicFrame>
        <p:nvGraphicFramePr>
          <p:cNvPr id="8" name="13 Tabla">
            <a:extLst>
              <a:ext uri="{FF2B5EF4-FFF2-40B4-BE49-F238E27FC236}">
                <a16:creationId xmlns:a16="http://schemas.microsoft.com/office/drawing/2014/main" id="{21653369-EE89-A247-A0F7-75FC43767B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7957816"/>
              </p:ext>
            </p:extLst>
          </p:nvPr>
        </p:nvGraphicFramePr>
        <p:xfrm>
          <a:off x="755650" y="2347384"/>
          <a:ext cx="7596188" cy="1495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82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23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2416">
                  <a:extLst>
                    <a:ext uri="{9D8B030D-6E8A-4147-A177-3AD203B41FA5}">
                      <a16:colId xmlns:a16="http://schemas.microsoft.com/office/drawing/2014/main" val="418973888"/>
                    </a:ext>
                  </a:extLst>
                </a:gridCol>
                <a:gridCol w="411062">
                  <a:extLst>
                    <a:ext uri="{9D8B030D-6E8A-4147-A177-3AD203B41FA5}">
                      <a16:colId xmlns:a16="http://schemas.microsoft.com/office/drawing/2014/main" val="3546887892"/>
                    </a:ext>
                  </a:extLst>
                </a:gridCol>
                <a:gridCol w="2607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0717">
                  <a:extLst>
                    <a:ext uri="{9D8B030D-6E8A-4147-A177-3AD203B41FA5}">
                      <a16:colId xmlns:a16="http://schemas.microsoft.com/office/drawing/2014/main" val="1636455039"/>
                    </a:ext>
                  </a:extLst>
                </a:gridCol>
                <a:gridCol w="260717">
                  <a:extLst>
                    <a:ext uri="{9D8B030D-6E8A-4147-A177-3AD203B41FA5}">
                      <a16:colId xmlns:a16="http://schemas.microsoft.com/office/drawing/2014/main" val="3706658717"/>
                    </a:ext>
                  </a:extLst>
                </a:gridCol>
                <a:gridCol w="284584">
                  <a:extLst>
                    <a:ext uri="{9D8B030D-6E8A-4147-A177-3AD203B41FA5}">
                      <a16:colId xmlns:a16="http://schemas.microsoft.com/office/drawing/2014/main" val="2774018823"/>
                    </a:ext>
                  </a:extLst>
                </a:gridCol>
                <a:gridCol w="260717">
                  <a:extLst>
                    <a:ext uri="{9D8B030D-6E8A-4147-A177-3AD203B41FA5}">
                      <a16:colId xmlns:a16="http://schemas.microsoft.com/office/drawing/2014/main" val="4195528247"/>
                    </a:ext>
                  </a:extLst>
                </a:gridCol>
                <a:gridCol w="256246">
                  <a:extLst>
                    <a:ext uri="{9D8B030D-6E8A-4147-A177-3AD203B41FA5}">
                      <a16:colId xmlns:a16="http://schemas.microsoft.com/office/drawing/2014/main" val="4092290460"/>
                    </a:ext>
                  </a:extLst>
                </a:gridCol>
                <a:gridCol w="256246">
                  <a:extLst>
                    <a:ext uri="{9D8B030D-6E8A-4147-A177-3AD203B41FA5}">
                      <a16:colId xmlns:a16="http://schemas.microsoft.com/office/drawing/2014/main" val="4086025292"/>
                    </a:ext>
                  </a:extLst>
                </a:gridCol>
                <a:gridCol w="256246">
                  <a:extLst>
                    <a:ext uri="{9D8B030D-6E8A-4147-A177-3AD203B41FA5}">
                      <a16:colId xmlns:a16="http://schemas.microsoft.com/office/drawing/2014/main" val="2523218694"/>
                    </a:ext>
                  </a:extLst>
                </a:gridCol>
                <a:gridCol w="256246">
                  <a:extLst>
                    <a:ext uri="{9D8B030D-6E8A-4147-A177-3AD203B41FA5}">
                      <a16:colId xmlns:a16="http://schemas.microsoft.com/office/drawing/2014/main" val="2103641360"/>
                    </a:ext>
                  </a:extLst>
                </a:gridCol>
                <a:gridCol w="256245">
                  <a:extLst>
                    <a:ext uri="{9D8B030D-6E8A-4147-A177-3AD203B41FA5}">
                      <a16:colId xmlns:a16="http://schemas.microsoft.com/office/drawing/2014/main" val="2297453530"/>
                    </a:ext>
                  </a:extLst>
                </a:gridCol>
                <a:gridCol w="254912">
                  <a:extLst>
                    <a:ext uri="{9D8B030D-6E8A-4147-A177-3AD203B41FA5}">
                      <a16:colId xmlns:a16="http://schemas.microsoft.com/office/drawing/2014/main" val="1538520262"/>
                    </a:ext>
                  </a:extLst>
                </a:gridCol>
                <a:gridCol w="254912">
                  <a:extLst>
                    <a:ext uri="{9D8B030D-6E8A-4147-A177-3AD203B41FA5}">
                      <a16:colId xmlns:a16="http://schemas.microsoft.com/office/drawing/2014/main" val="3371213017"/>
                    </a:ext>
                  </a:extLst>
                </a:gridCol>
                <a:gridCol w="254912">
                  <a:extLst>
                    <a:ext uri="{9D8B030D-6E8A-4147-A177-3AD203B41FA5}">
                      <a16:colId xmlns:a16="http://schemas.microsoft.com/office/drawing/2014/main" val="2268373193"/>
                    </a:ext>
                  </a:extLst>
                </a:gridCol>
                <a:gridCol w="254912">
                  <a:extLst>
                    <a:ext uri="{9D8B030D-6E8A-4147-A177-3AD203B41FA5}">
                      <a16:colId xmlns:a16="http://schemas.microsoft.com/office/drawing/2014/main" val="4225106561"/>
                    </a:ext>
                  </a:extLst>
                </a:gridCol>
                <a:gridCol w="250908">
                  <a:extLst>
                    <a:ext uri="{9D8B030D-6E8A-4147-A177-3AD203B41FA5}">
                      <a16:colId xmlns:a16="http://schemas.microsoft.com/office/drawing/2014/main" val="2103222250"/>
                    </a:ext>
                  </a:extLst>
                </a:gridCol>
                <a:gridCol w="280047">
                  <a:extLst>
                    <a:ext uri="{9D8B030D-6E8A-4147-A177-3AD203B41FA5}">
                      <a16:colId xmlns:a16="http://schemas.microsoft.com/office/drawing/2014/main" val="1742999387"/>
                    </a:ext>
                  </a:extLst>
                </a:gridCol>
                <a:gridCol w="292281">
                  <a:extLst>
                    <a:ext uri="{9D8B030D-6E8A-4147-A177-3AD203B41FA5}">
                      <a16:colId xmlns:a16="http://schemas.microsoft.com/office/drawing/2014/main" val="2263480007"/>
                    </a:ext>
                  </a:extLst>
                </a:gridCol>
                <a:gridCol w="267813">
                  <a:extLst>
                    <a:ext uri="{9D8B030D-6E8A-4147-A177-3AD203B41FA5}">
                      <a16:colId xmlns:a16="http://schemas.microsoft.com/office/drawing/2014/main" val="2223747381"/>
                    </a:ext>
                  </a:extLst>
                </a:gridCol>
                <a:gridCol w="304515">
                  <a:extLst>
                    <a:ext uri="{9D8B030D-6E8A-4147-A177-3AD203B41FA5}">
                      <a16:colId xmlns:a16="http://schemas.microsoft.com/office/drawing/2014/main" val="1004988584"/>
                    </a:ext>
                  </a:extLst>
                </a:gridCol>
                <a:gridCol w="261585">
                  <a:extLst>
                    <a:ext uri="{9D8B030D-6E8A-4147-A177-3AD203B41FA5}">
                      <a16:colId xmlns:a16="http://schemas.microsoft.com/office/drawing/2014/main" val="363442444"/>
                    </a:ext>
                  </a:extLst>
                </a:gridCol>
                <a:gridCol w="62665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90430">
                <a:tc rowSpan="3">
                  <a:txBody>
                    <a:bodyPr/>
                    <a:lstStyle/>
                    <a:p>
                      <a:pPr algn="ctr"/>
                      <a:r>
                        <a:rPr lang="es-ES_tradnl" sz="800" b="1" noProof="0" dirty="0">
                          <a:solidFill>
                            <a:schemeClr val="tx1"/>
                          </a:solidFill>
                          <a:latin typeface="Calibri" charset="0"/>
                          <a:cs typeface="Calibri" charset="0"/>
                        </a:rPr>
                        <a:t>MODULO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CASOS DE PRUEBA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CED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ES_tradnl" sz="800" b="1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EC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gridSpan="21"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DEFECTOS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s-ES_tradnl" sz="8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E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8627747"/>
                  </a:ext>
                </a:extLst>
              </a:tr>
              <a:tr h="190430">
                <a:tc vMerge="1">
                  <a:txBody>
                    <a:bodyPr/>
                    <a:lstStyle/>
                    <a:p>
                      <a:pPr algn="ctr"/>
                      <a:r>
                        <a:rPr lang="es-ES_tradnl" sz="800" b="1" noProof="0" dirty="0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MODULO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EC7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TOTAL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CED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EJECUTADOS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CED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ES_tradnl" sz="8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902" marR="82902" marT="41452" marB="41452" anchor="ctr">
                    <a:lnL w="12700" cap="flat" cmpd="sng" algn="ctr">
                      <a:solidFill>
                        <a:srgbClr val="92C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2C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92C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EC7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PENDIENTES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REINCIDENTES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ES_tradnl" sz="800" b="1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REGULARIZADOS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ES_tradnl" sz="800" b="1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CONFORMES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ES_tradnl" sz="800" b="1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TOTAL</a:t>
                      </a:r>
                    </a:p>
                    <a:p>
                      <a:pPr algn="ctr"/>
                      <a:r>
                        <a:rPr lang="es-ES_tradnl" sz="800" b="1" dirty="0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DEFECTOS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1955">
                <a:tc v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650" b="1" dirty="0">
                          <a:solidFill>
                            <a:srgbClr val="EE4639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Con </a:t>
                      </a:r>
                    </a:p>
                    <a:p>
                      <a:pPr algn="ctr"/>
                      <a:r>
                        <a:rPr lang="es-ES_tradnl" sz="650" b="1" dirty="0">
                          <a:solidFill>
                            <a:srgbClr val="EE4639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Problemas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C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650" b="1" dirty="0">
                          <a:solidFill>
                            <a:srgbClr val="7150A0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Sin </a:t>
                      </a:r>
                    </a:p>
                    <a:p>
                      <a:pPr algn="ctr"/>
                      <a:r>
                        <a:rPr lang="es-ES_tradnl" sz="650" b="1" dirty="0">
                          <a:solidFill>
                            <a:srgbClr val="7150A0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Problemas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C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46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78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D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Total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46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78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D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Total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46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78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D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Total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46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78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D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Total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55000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0914970"/>
                  </a:ext>
                </a:extLst>
              </a:tr>
              <a:tr h="238373">
                <a:tc>
                  <a:txBody>
                    <a:bodyPr/>
                    <a:lstStyle/>
                    <a:p>
                      <a:pPr algn="ctr"/>
                      <a:r>
                        <a:rPr lang="es-ES_tradnl" sz="900" b="1" dirty="0">
                          <a:latin typeface="Calibri" charset="0"/>
                          <a:ea typeface="Calibri" charset="0"/>
                          <a:cs typeface="Calibri" charset="0"/>
                        </a:rPr>
                        <a:t>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ea typeface="Calibri" charset="0"/>
                          <a:cs typeface="Calibri" panose="020F0502020204030204" pitchFamily="34" charset="0"/>
                        </a:rPr>
                        <a:t>40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C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C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8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C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ea typeface="Calibri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8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ea typeface="Calibri" charset="0"/>
                          <a:cs typeface="Calibri" panose="020F0502020204030204" pitchFamily="34" charset="0"/>
                        </a:rPr>
                        <a:t>46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3732">
                <a:tc>
                  <a:txBody>
                    <a:bodyPr/>
                    <a:lstStyle/>
                    <a:p>
                      <a:pPr algn="ctr"/>
                      <a:r>
                        <a:rPr lang="es-ES_tradnl" sz="900" b="1" dirty="0">
                          <a:latin typeface="Calibri" charset="0"/>
                          <a:ea typeface="Calibri" charset="0"/>
                          <a:cs typeface="Calibri" charset="0"/>
                        </a:rPr>
                        <a:t>2 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ea typeface="Calibri" charset="0"/>
                          <a:cs typeface="Calibri" panose="020F0502020204030204" pitchFamily="34" charset="0"/>
                        </a:rPr>
                        <a:t>50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C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C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C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ea typeface="Calibri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7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18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8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ea typeface="Calibri" charset="0"/>
                          <a:cs typeface="Calibri" panose="020F0502020204030204" pitchFamily="34" charset="0"/>
                        </a:rPr>
                        <a:t>53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6032">
                <a:tc>
                  <a:txBody>
                    <a:bodyPr/>
                    <a:lstStyle/>
                    <a:p>
                      <a:pPr algn="ctr"/>
                      <a:r>
                        <a:rPr lang="es-ES_tradnl" sz="900" b="1" dirty="0">
                          <a:latin typeface="Calibri" charset="0"/>
                          <a:ea typeface="Calibri" charset="0"/>
                          <a:cs typeface="Calibri" charset="0"/>
                        </a:rPr>
                        <a:t>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ea typeface="Calibri" charset="0"/>
                          <a:cs typeface="Calibri" panose="020F0502020204030204" pitchFamily="34" charset="0"/>
                        </a:rPr>
                        <a:t>20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C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8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C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C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ea typeface="Calibri" charset="0"/>
                          <a:cs typeface="Calibri" panose="020F0502020204030204" pitchFamily="34" charset="0"/>
                        </a:rPr>
                        <a:t>10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17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ea typeface="Calibri" charset="0"/>
                          <a:cs typeface="Calibri" panose="020F0502020204030204" pitchFamily="34" charset="0"/>
                        </a:rPr>
                        <a:t>65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4160">
                <a:tc>
                  <a:txBody>
                    <a:bodyPr/>
                    <a:lstStyle/>
                    <a:p>
                      <a:pPr algn="ctr"/>
                      <a:r>
                        <a:rPr lang="es-ES_tradnl" sz="900" b="1" dirty="0">
                          <a:latin typeface="Calibri" charset="0"/>
                          <a:ea typeface="Calibri" charset="0"/>
                          <a:cs typeface="Calibri" charset="0"/>
                        </a:rPr>
                        <a:t>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ea typeface="Calibri" charset="0"/>
                          <a:cs typeface="Calibri" panose="020F0502020204030204" pitchFamily="34" charset="0"/>
                        </a:rPr>
                        <a:t>60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C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C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C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ea typeface="Calibri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8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211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800" b="1" dirty="0">
                          <a:latin typeface="Calibri" panose="020F0502020204030204" pitchFamily="34" charset="0"/>
                          <a:ea typeface="Calibri" charset="0"/>
                          <a:cs typeface="Calibri" panose="020F0502020204030204" pitchFamily="34" charset="0"/>
                        </a:rPr>
                        <a:t>41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14E">
                        <a:alpha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2434817"/>
                  </a:ext>
                </a:extLst>
              </a:tr>
            </a:tbl>
          </a:graphicData>
        </a:graphic>
      </p:graphicFrame>
      <p:sp>
        <p:nvSpPr>
          <p:cNvPr id="9" name="Rectángulo 8">
            <a:extLst>
              <a:ext uri="{FF2B5EF4-FFF2-40B4-BE49-F238E27FC236}">
                <a16:creationId xmlns:a16="http://schemas.microsoft.com/office/drawing/2014/main" id="{019B589D-DD0B-A242-A2C1-01072E98714A}"/>
              </a:ext>
            </a:extLst>
          </p:cNvPr>
          <p:cNvSpPr/>
          <p:nvPr/>
        </p:nvSpPr>
        <p:spPr>
          <a:xfrm>
            <a:off x="2804348" y="1756795"/>
            <a:ext cx="3209782" cy="2308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buClr>
                <a:schemeClr val="dk1"/>
              </a:buClr>
              <a:buSzPts val="1600"/>
            </a:pPr>
            <a:r>
              <a:rPr lang="es-PE" sz="1500" b="1" dirty="0">
                <a:solidFill>
                  <a:srgbClr val="EE4639"/>
                </a:solidFill>
                <a:latin typeface="Calibri" charset="0"/>
                <a:cs typeface="Calibri" charset="0"/>
                <a:sym typeface="Calibri"/>
              </a:rPr>
              <a:t>Seguimiento del Avance de Pruebas</a:t>
            </a:r>
          </a:p>
        </p:txBody>
      </p:sp>
      <p:sp>
        <p:nvSpPr>
          <p:cNvPr id="10" name="Forma libre 9">
            <a:extLst>
              <a:ext uri="{FF2B5EF4-FFF2-40B4-BE49-F238E27FC236}">
                <a16:creationId xmlns:a16="http://schemas.microsoft.com/office/drawing/2014/main" id="{97DEBE25-F1DF-944E-A134-80523EAB9F0A}"/>
              </a:ext>
            </a:extLst>
          </p:cNvPr>
          <p:cNvSpPr/>
          <p:nvPr/>
        </p:nvSpPr>
        <p:spPr>
          <a:xfrm>
            <a:off x="1835888" y="1872173"/>
            <a:ext cx="879603" cy="367353"/>
          </a:xfrm>
          <a:custGeom>
            <a:avLst/>
            <a:gdLst>
              <a:gd name="connsiteX0" fmla="*/ 0 w 786938"/>
              <a:gd name="connsiteY0" fmla="*/ 338051 h 338051"/>
              <a:gd name="connsiteX1" fmla="*/ 0 w 786938"/>
              <a:gd name="connsiteY1" fmla="*/ 0 h 338051"/>
              <a:gd name="connsiteX2" fmla="*/ 786938 w 786938"/>
              <a:gd name="connsiteY2" fmla="*/ 0 h 3380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86938" h="338051">
                <a:moveTo>
                  <a:pt x="0" y="338051"/>
                </a:moveTo>
                <a:lnTo>
                  <a:pt x="0" y="0"/>
                </a:lnTo>
                <a:lnTo>
                  <a:pt x="786938" y="0"/>
                </a:lnTo>
              </a:path>
            </a:pathLst>
          </a:custGeom>
          <a:noFill/>
          <a:ln w="28575">
            <a:solidFill>
              <a:srgbClr val="EE4639"/>
            </a:solidFill>
            <a:head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1" name="Rectángulo redondeado 10">
            <a:extLst>
              <a:ext uri="{FF2B5EF4-FFF2-40B4-BE49-F238E27FC236}">
                <a16:creationId xmlns:a16="http://schemas.microsoft.com/office/drawing/2014/main" id="{835980EB-F994-1C46-B127-9332A3492970}"/>
              </a:ext>
            </a:extLst>
          </p:cNvPr>
          <p:cNvSpPr/>
          <p:nvPr/>
        </p:nvSpPr>
        <p:spPr>
          <a:xfrm>
            <a:off x="1236641" y="2251746"/>
            <a:ext cx="1201759" cy="1698608"/>
          </a:xfrm>
          <a:prstGeom prst="roundRect">
            <a:avLst>
              <a:gd name="adj" fmla="val 8593"/>
            </a:avLst>
          </a:prstGeom>
          <a:noFill/>
          <a:ln>
            <a:solidFill>
              <a:srgbClr val="8087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hangingPunct="1">
              <a:defRPr/>
            </a:pPr>
            <a:endParaRPr lang="es-PE" sz="1400" b="1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2" name="Rectángulo redondeado 11">
            <a:extLst>
              <a:ext uri="{FF2B5EF4-FFF2-40B4-BE49-F238E27FC236}">
                <a16:creationId xmlns:a16="http://schemas.microsoft.com/office/drawing/2014/main" id="{A2BEBC15-003E-4E46-9429-8C4E75AFCABE}"/>
              </a:ext>
            </a:extLst>
          </p:cNvPr>
          <p:cNvSpPr/>
          <p:nvPr/>
        </p:nvSpPr>
        <p:spPr>
          <a:xfrm>
            <a:off x="2438400" y="2251745"/>
            <a:ext cx="5913438" cy="1698609"/>
          </a:xfrm>
          <a:prstGeom prst="roundRect">
            <a:avLst>
              <a:gd name="adj" fmla="val 7897"/>
            </a:avLst>
          </a:prstGeom>
          <a:noFill/>
          <a:ln>
            <a:solidFill>
              <a:srgbClr val="8087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hangingPunct="1">
              <a:defRPr/>
            </a:pPr>
            <a:endParaRPr lang="es-PE" sz="1400" b="1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3" name="Forma libre 12">
            <a:extLst>
              <a:ext uri="{FF2B5EF4-FFF2-40B4-BE49-F238E27FC236}">
                <a16:creationId xmlns:a16="http://schemas.microsoft.com/office/drawing/2014/main" id="{BEA6E4B4-3B5E-5140-8491-BB81144FEDCF}"/>
              </a:ext>
            </a:extLst>
          </p:cNvPr>
          <p:cNvSpPr/>
          <p:nvPr/>
        </p:nvSpPr>
        <p:spPr>
          <a:xfrm>
            <a:off x="7449880" y="3041497"/>
            <a:ext cx="1117772" cy="1235825"/>
          </a:xfrm>
          <a:custGeom>
            <a:avLst/>
            <a:gdLst>
              <a:gd name="connsiteX0" fmla="*/ 0 w 903316"/>
              <a:gd name="connsiteY0" fmla="*/ 1235825 h 1235825"/>
              <a:gd name="connsiteX1" fmla="*/ 903316 w 903316"/>
              <a:gd name="connsiteY1" fmla="*/ 1235825 h 1235825"/>
              <a:gd name="connsiteX2" fmla="*/ 903316 w 903316"/>
              <a:gd name="connsiteY2" fmla="*/ 0 h 1235825"/>
              <a:gd name="connsiteX3" fmla="*/ 742603 w 903316"/>
              <a:gd name="connsiteY3" fmla="*/ 0 h 1235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03316" h="1235825">
                <a:moveTo>
                  <a:pt x="0" y="1235825"/>
                </a:moveTo>
                <a:lnTo>
                  <a:pt x="903316" y="1235825"/>
                </a:lnTo>
                <a:lnTo>
                  <a:pt x="903316" y="0"/>
                </a:lnTo>
                <a:lnTo>
                  <a:pt x="742603" y="0"/>
                </a:lnTo>
              </a:path>
            </a:pathLst>
          </a:custGeom>
          <a:noFill/>
          <a:ln w="28575">
            <a:solidFill>
              <a:srgbClr val="EE4639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CDF7DB92-AB48-CE46-83C6-5540B573445A}"/>
              </a:ext>
            </a:extLst>
          </p:cNvPr>
          <p:cNvSpPr/>
          <p:nvPr/>
        </p:nvSpPr>
        <p:spPr>
          <a:xfrm>
            <a:off x="4900831" y="4151098"/>
            <a:ext cx="2549049" cy="2308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buClr>
                <a:schemeClr val="dk1"/>
              </a:buClr>
              <a:buSzPts val="1600"/>
            </a:pPr>
            <a:r>
              <a:rPr lang="es-PE" sz="1500" b="1" dirty="0">
                <a:solidFill>
                  <a:srgbClr val="EE4639"/>
                </a:solidFill>
                <a:latin typeface="Calibri" charset="0"/>
                <a:cs typeface="Calibri" charset="0"/>
                <a:sym typeface="Calibri"/>
              </a:rPr>
              <a:t>Seguimiento de la Salud del SW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0E88D8ED-7E85-E94F-A3BA-ABEBC0903F58}"/>
              </a:ext>
            </a:extLst>
          </p:cNvPr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654E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AC91D528-3131-BC41-AFFD-EADF24D9DBF2}"/>
              </a:ext>
            </a:extLst>
          </p:cNvPr>
          <p:cNvGrpSpPr/>
          <p:nvPr/>
        </p:nvGrpSpPr>
        <p:grpSpPr>
          <a:xfrm>
            <a:off x="2506315" y="2194222"/>
            <a:ext cx="4581728" cy="1326557"/>
            <a:chOff x="2403187" y="2211377"/>
            <a:chExt cx="4581728" cy="1326557"/>
          </a:xfrm>
        </p:grpSpPr>
        <p:sp>
          <p:nvSpPr>
            <p:cNvPr id="4" name="CuadroTexto 3">
              <a:extLst>
                <a:ext uri="{FF2B5EF4-FFF2-40B4-BE49-F238E27FC236}">
                  <a16:creationId xmlns:a16="http://schemas.microsoft.com/office/drawing/2014/main" id="{616416F5-BAD5-674B-B774-5C63642291BE}"/>
                </a:ext>
              </a:extLst>
            </p:cNvPr>
            <p:cNvSpPr txBox="1"/>
            <p:nvPr/>
          </p:nvSpPr>
          <p:spPr>
            <a:xfrm>
              <a:off x="2403187" y="2540738"/>
              <a:ext cx="4581728" cy="99719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s-ES_tradnl" sz="3600" dirty="0">
                  <a:solidFill>
                    <a:schemeClr val="bg1"/>
                  </a:solidFill>
                  <a:latin typeface="Graphik Regular" charset="0"/>
                  <a:ea typeface="Graphik Regular" charset="0"/>
                  <a:cs typeface="Graphik Regular" charset="0"/>
                </a:rPr>
                <a:t>CONCLUSIONES</a:t>
              </a:r>
              <a:br>
                <a:rPr lang="es-ES_tradnl" sz="3600" dirty="0">
                  <a:solidFill>
                    <a:schemeClr val="bg1"/>
                  </a:solidFill>
                  <a:latin typeface="Graphik Regular" charset="0"/>
                  <a:ea typeface="Graphik Regular" charset="0"/>
                  <a:cs typeface="Graphik Regular" charset="0"/>
                </a:rPr>
              </a:br>
              <a:r>
                <a:rPr lang="es-ES_tradnl" sz="3600" b="1" dirty="0">
                  <a:solidFill>
                    <a:schemeClr val="bg1"/>
                  </a:solidFill>
                  <a:latin typeface="Graphik Bold" charset="0"/>
                  <a:ea typeface="Graphik Bold" charset="0"/>
                  <a:cs typeface="Graphik Bold" charset="0"/>
                </a:rPr>
                <a:t>MÁS REFERENCIAS</a:t>
              </a:r>
            </a:p>
          </p:txBody>
        </p:sp>
        <p:pic>
          <p:nvPicPr>
            <p:cNvPr id="5" name="Imagen 4">
              <a:extLst>
                <a:ext uri="{FF2B5EF4-FFF2-40B4-BE49-F238E27FC236}">
                  <a16:creationId xmlns:a16="http://schemas.microsoft.com/office/drawing/2014/main" id="{B6FE9236-3179-0E47-8099-2AFA3F0C0B2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425491" y="2211377"/>
              <a:ext cx="202176" cy="208211"/>
            </a:xfrm>
            <a:prstGeom prst="rect">
              <a:avLst/>
            </a:prstGeom>
          </p:spPr>
        </p:pic>
      </p:grpSp>
      <p:pic>
        <p:nvPicPr>
          <p:cNvPr id="6" name="Imagen 5">
            <a:extLst>
              <a:ext uri="{FF2B5EF4-FFF2-40B4-BE49-F238E27FC236}">
                <a16:creationId xmlns:a16="http://schemas.microsoft.com/office/drawing/2014/main" id="{ED67816A-851A-B54D-B43A-6869069FC6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53" y="946969"/>
            <a:ext cx="2072214" cy="3898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13120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ángulo 21">
            <a:extLst>
              <a:ext uri="{FF2B5EF4-FFF2-40B4-BE49-F238E27FC236}">
                <a16:creationId xmlns:a16="http://schemas.microsoft.com/office/drawing/2014/main" id="{006D58BD-20E1-C844-8C61-68C06E8AD6C7}"/>
              </a:ext>
            </a:extLst>
          </p:cNvPr>
          <p:cNvSpPr/>
          <p:nvPr/>
        </p:nvSpPr>
        <p:spPr>
          <a:xfrm>
            <a:off x="301556" y="5313535"/>
            <a:ext cx="8453337" cy="2918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sp>
        <p:nvSpPr>
          <p:cNvPr id="23" name="object 7">
            <a:extLst>
              <a:ext uri="{FF2B5EF4-FFF2-40B4-BE49-F238E27FC236}">
                <a16:creationId xmlns:a16="http://schemas.microsoft.com/office/drawing/2014/main" id="{D3D143DF-39B9-F349-A462-4E506FBE384A}"/>
              </a:ext>
            </a:extLst>
          </p:cNvPr>
          <p:cNvSpPr txBox="1"/>
          <p:nvPr/>
        </p:nvSpPr>
        <p:spPr>
          <a:xfrm>
            <a:off x="1279545" y="905318"/>
            <a:ext cx="5705454" cy="30162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</a:pPr>
            <a:r>
              <a:rPr lang="es-P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El seguimiento del estado de pruebas se basa en criterios</a:t>
            </a:r>
            <a:br>
              <a:rPr lang="es-P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P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medibles y aporta la información necesaria para gestionar el proceso </a:t>
            </a:r>
            <a:br>
              <a:rPr lang="es-P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P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de pruebas. </a:t>
            </a:r>
            <a:endParaRPr lang="es-PE" dirty="0">
              <a:solidFill>
                <a:schemeClr val="tx1"/>
              </a:solidFill>
            </a:endParaRPr>
          </a:p>
          <a:p>
            <a:pPr marL="107950"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</a:pPr>
            <a:endParaRPr lang="es-PE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</a:pPr>
            <a:r>
              <a:rPr lang="es-P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Las desviaciones respecto del plan requieren acciones correctivas. </a:t>
            </a:r>
            <a:endParaRPr lang="es-PE" dirty="0">
              <a:solidFill>
                <a:schemeClr val="tx1"/>
              </a:solidFill>
            </a:endParaRPr>
          </a:p>
          <a:p>
            <a:pPr marL="107950"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</a:pPr>
            <a:endParaRPr lang="es-PE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</a:pPr>
            <a:r>
              <a:rPr lang="es-P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La presentación regular de informes aporta información al </a:t>
            </a:r>
            <a:br>
              <a:rPr lang="es-P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P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proyecto y a la dirección de la compañía respecto del progreso de las pruebas.</a:t>
            </a:r>
            <a:endParaRPr lang="es-PE" dirty="0">
              <a:solidFill>
                <a:schemeClr val="tx1"/>
              </a:solidFill>
            </a:endParaRPr>
          </a:p>
          <a:p>
            <a:pPr marL="107950"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</a:pPr>
            <a:endParaRPr lang="es-PE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</a:pPr>
            <a:r>
              <a:rPr lang="es-P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La gestión de incidentes es la gestión de los defectos encontrados durante las pruebas.  </a:t>
            </a:r>
            <a:endParaRPr lang="es-PE" dirty="0">
              <a:solidFill>
                <a:schemeClr val="tx1"/>
              </a:solidFill>
            </a:endParaRPr>
          </a:p>
          <a:p>
            <a:pPr marL="107950"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</a:pPr>
            <a:endParaRPr lang="es-PE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</a:pPr>
            <a:r>
              <a:rPr lang="es-P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La gestión de incidentes es un proceso con un propio y </a:t>
            </a:r>
            <a:br>
              <a:rPr lang="es-P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P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particular flujo. </a:t>
            </a:r>
            <a:endParaRPr lang="es-PE" dirty="0">
              <a:solidFill>
                <a:schemeClr val="tx1"/>
              </a:solidFill>
            </a:endParaRPr>
          </a:p>
        </p:txBody>
      </p:sp>
      <p:pic>
        <p:nvPicPr>
          <p:cNvPr id="24" name="Imagen 23">
            <a:extLst>
              <a:ext uri="{FF2B5EF4-FFF2-40B4-BE49-F238E27FC236}">
                <a16:creationId xmlns:a16="http://schemas.microsoft.com/office/drawing/2014/main" id="{9B30F955-75EF-AF4D-B51C-790DD0C64F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260" y="947390"/>
            <a:ext cx="114138" cy="117546"/>
          </a:xfrm>
          <a:prstGeom prst="rect">
            <a:avLst/>
          </a:prstGeom>
        </p:spPr>
      </p:pic>
      <p:pic>
        <p:nvPicPr>
          <p:cNvPr id="25" name="Imagen 24">
            <a:extLst>
              <a:ext uri="{FF2B5EF4-FFF2-40B4-BE49-F238E27FC236}">
                <a16:creationId xmlns:a16="http://schemas.microsoft.com/office/drawing/2014/main" id="{7064EFFE-A84F-0D47-91C7-1F955A700F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260" y="2232415"/>
            <a:ext cx="114138" cy="117546"/>
          </a:xfrm>
          <a:prstGeom prst="rect">
            <a:avLst/>
          </a:prstGeom>
        </p:spPr>
      </p:pic>
      <p:pic>
        <p:nvPicPr>
          <p:cNvPr id="27" name="Imagen 26">
            <a:extLst>
              <a:ext uri="{FF2B5EF4-FFF2-40B4-BE49-F238E27FC236}">
                <a16:creationId xmlns:a16="http://schemas.microsoft.com/office/drawing/2014/main" id="{A89727CA-C9E9-A84B-B91D-4601921CE136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4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4999" y="3041277"/>
            <a:ext cx="1690689" cy="2185216"/>
          </a:xfrm>
          <a:prstGeom prst="rect">
            <a:avLst/>
          </a:prstGeom>
        </p:spPr>
      </p:pic>
      <p:sp>
        <p:nvSpPr>
          <p:cNvPr id="28" name="Rectangle 5">
            <a:extLst>
              <a:ext uri="{FF2B5EF4-FFF2-40B4-BE49-F238E27FC236}">
                <a16:creationId xmlns:a16="http://schemas.microsoft.com/office/drawing/2014/main" id="{CBA3360E-C45F-774C-AED4-72B44BA24029}"/>
              </a:ext>
            </a:extLst>
          </p:cNvPr>
          <p:cNvSpPr/>
          <p:nvPr/>
        </p:nvSpPr>
        <p:spPr>
          <a:xfrm>
            <a:off x="503238" y="369341"/>
            <a:ext cx="2430462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charset="0"/>
                <a:ea typeface="Calibri" charset="0"/>
                <a:cs typeface="Calibri" charset="0"/>
              </a:rPr>
              <a:t>CONCLUSIONES </a:t>
            </a:r>
          </a:p>
        </p:txBody>
      </p:sp>
      <p:pic>
        <p:nvPicPr>
          <p:cNvPr id="29" name="Imagen 28">
            <a:extLst>
              <a:ext uri="{FF2B5EF4-FFF2-40B4-BE49-F238E27FC236}">
                <a16:creationId xmlns:a16="http://schemas.microsoft.com/office/drawing/2014/main" id="{4C3F630C-DC71-194B-8423-615B33ED51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260" y="1805195"/>
            <a:ext cx="114138" cy="117546"/>
          </a:xfrm>
          <a:prstGeom prst="rect">
            <a:avLst/>
          </a:prstGeom>
        </p:spPr>
      </p:pic>
      <p:pic>
        <p:nvPicPr>
          <p:cNvPr id="30" name="Imagen 29">
            <a:extLst>
              <a:ext uri="{FF2B5EF4-FFF2-40B4-BE49-F238E27FC236}">
                <a16:creationId xmlns:a16="http://schemas.microsoft.com/office/drawing/2014/main" id="{A78F3DF9-83D8-6B42-9234-E640CE3332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260" y="2876992"/>
            <a:ext cx="114138" cy="117546"/>
          </a:xfrm>
          <a:prstGeom prst="rect">
            <a:avLst/>
          </a:prstGeom>
        </p:spPr>
      </p:pic>
      <p:pic>
        <p:nvPicPr>
          <p:cNvPr id="31" name="Imagen 30">
            <a:extLst>
              <a:ext uri="{FF2B5EF4-FFF2-40B4-BE49-F238E27FC236}">
                <a16:creationId xmlns:a16="http://schemas.microsoft.com/office/drawing/2014/main" id="{3E09F04A-6A87-4741-9DC7-8E2B6F2D81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260" y="3521569"/>
            <a:ext cx="114138" cy="11754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BD0483D8-E2BA-444A-9023-74838EE0520B}"/>
              </a:ext>
            </a:extLst>
          </p:cNvPr>
          <p:cNvSpPr/>
          <p:nvPr/>
        </p:nvSpPr>
        <p:spPr>
          <a:xfrm>
            <a:off x="301556" y="5313535"/>
            <a:ext cx="8453337" cy="2918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sp>
        <p:nvSpPr>
          <p:cNvPr id="6" name="object 7">
            <a:extLst>
              <a:ext uri="{FF2B5EF4-FFF2-40B4-BE49-F238E27FC236}">
                <a16:creationId xmlns:a16="http://schemas.microsoft.com/office/drawing/2014/main" id="{2276626B-CD87-794D-8D66-BBE6140C9A86}"/>
              </a:ext>
            </a:extLst>
          </p:cNvPr>
          <p:cNvSpPr txBox="1"/>
          <p:nvPr/>
        </p:nvSpPr>
        <p:spPr>
          <a:xfrm>
            <a:off x="1279545" y="905318"/>
            <a:ext cx="5705454" cy="10772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buClr>
                <a:schemeClr val="lt1"/>
              </a:buClr>
              <a:buSzPts val="1700"/>
            </a:pPr>
            <a:r>
              <a:rPr lang="es-PE" dirty="0">
                <a:solidFill>
                  <a:schemeClr val="tx1"/>
                </a:solidFill>
                <a:latin typeface="Calibri"/>
                <a:cs typeface="Calibri"/>
                <a:sym typeface="Calibri"/>
              </a:rPr>
              <a:t>Para el manejo de incidentes existen herramientas que permiten cubrir las tareas para la gestión de cambios. </a:t>
            </a:r>
            <a:endParaRPr lang="es-PE" dirty="0">
              <a:solidFill>
                <a:schemeClr val="tx1"/>
              </a:solidFill>
              <a:latin typeface="Calibri"/>
              <a:cs typeface="Calibri"/>
            </a:endParaRPr>
          </a:p>
          <a:p>
            <a:pPr marL="107950">
              <a:buClr>
                <a:schemeClr val="dk1"/>
              </a:buClr>
              <a:buSzPts val="1700"/>
            </a:pPr>
            <a:endParaRPr lang="es-PE" dirty="0">
              <a:solidFill>
                <a:schemeClr val="tx1"/>
              </a:solidFill>
              <a:latin typeface="Calibri"/>
              <a:cs typeface="Calibri"/>
              <a:sym typeface="Calibri"/>
            </a:endParaRPr>
          </a:p>
          <a:p>
            <a:pPr>
              <a:buClr>
                <a:schemeClr val="lt1"/>
              </a:buClr>
              <a:buSzPts val="1700"/>
            </a:pPr>
            <a:r>
              <a:rPr lang="es-PE" dirty="0">
                <a:solidFill>
                  <a:schemeClr val="tx1"/>
                </a:solidFill>
                <a:latin typeface="Calibri"/>
                <a:cs typeface="Calibri"/>
                <a:sym typeface="Calibri"/>
              </a:rPr>
              <a:t>La expresión gestión de desviaciones es sinónimo de gestión </a:t>
            </a:r>
            <a:br>
              <a:rPr lang="es-PE" dirty="0">
                <a:solidFill>
                  <a:schemeClr val="tx1"/>
                </a:solidFill>
                <a:latin typeface="Calibri"/>
                <a:cs typeface="Calibri"/>
                <a:sym typeface="Calibri"/>
              </a:rPr>
            </a:br>
            <a:r>
              <a:rPr lang="es-PE" dirty="0">
                <a:solidFill>
                  <a:schemeClr val="tx1"/>
                </a:solidFill>
                <a:latin typeface="Calibri"/>
                <a:cs typeface="Calibri"/>
                <a:sym typeface="Calibri"/>
              </a:rPr>
              <a:t>de incidentes.</a:t>
            </a:r>
            <a:endParaRPr lang="es-PE" dirty="0">
              <a:solidFill>
                <a:schemeClr val="tx1"/>
              </a:solidFill>
              <a:latin typeface="Calibri"/>
              <a:cs typeface="Calibri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07BAD9D2-DE7A-FF48-88B1-5371A1BFB3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260" y="947390"/>
            <a:ext cx="114138" cy="117546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2BCC71AC-B5DD-874B-ABDC-38FD51ADAB3E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4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4999" y="3041277"/>
            <a:ext cx="1690689" cy="2185216"/>
          </a:xfrm>
          <a:prstGeom prst="rect">
            <a:avLst/>
          </a:prstGeom>
        </p:spPr>
      </p:pic>
      <p:sp>
        <p:nvSpPr>
          <p:cNvPr id="10" name="Rectangle 5">
            <a:extLst>
              <a:ext uri="{FF2B5EF4-FFF2-40B4-BE49-F238E27FC236}">
                <a16:creationId xmlns:a16="http://schemas.microsoft.com/office/drawing/2014/main" id="{9DC7C4F7-B02E-AD45-B3FF-92FA6E00128D}"/>
              </a:ext>
            </a:extLst>
          </p:cNvPr>
          <p:cNvSpPr/>
          <p:nvPr/>
        </p:nvSpPr>
        <p:spPr>
          <a:xfrm>
            <a:off x="503238" y="369341"/>
            <a:ext cx="2430462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charset="0"/>
                <a:ea typeface="Calibri" charset="0"/>
                <a:cs typeface="Calibri" charset="0"/>
              </a:rPr>
              <a:t>CONCLUSIONES 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917DFE7C-2B4C-254D-A78B-EF966B0CF2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260" y="1595333"/>
            <a:ext cx="114138" cy="11754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ADBB28F4-39EB-0742-879B-08D8E5801F2E}"/>
              </a:ext>
            </a:extLst>
          </p:cNvPr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8087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DA24C4B1-A352-7F4B-80C1-2A9F5AC70C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4199" y="2666298"/>
            <a:ext cx="1295601" cy="386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71151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816</TotalTime>
  <Words>4855</Words>
  <Application>Microsoft Office PowerPoint</Application>
  <PresentationFormat>Presentación en pantalla (16:10)</PresentationFormat>
  <Paragraphs>2155</Paragraphs>
  <Slides>48</Slides>
  <Notes>45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48</vt:i4>
      </vt:variant>
    </vt:vector>
  </HeadingPairs>
  <TitlesOfParts>
    <vt:vector size="55" baseType="lpstr">
      <vt:lpstr>Graphik Bold</vt:lpstr>
      <vt:lpstr>Graphik Regular</vt:lpstr>
      <vt:lpstr>Graphik-Medium</vt:lpstr>
      <vt:lpstr>Arial</vt:lpstr>
      <vt:lpstr>Calibri</vt:lpstr>
      <vt:lpstr>Wingdings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ISIL</dc:creator>
  <cp:lastModifiedBy>Elva Zoraida Hamada Doshi</cp:lastModifiedBy>
  <cp:revision>264</cp:revision>
  <dcterms:created xsi:type="dcterms:W3CDTF">2016-10-06T14:52:02Z</dcterms:created>
  <dcterms:modified xsi:type="dcterms:W3CDTF">2024-12-06T16:40:17Z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5400A83D-B4FE-497C-9E2F-ACF3BA8DEF15</vt:lpwstr>
  </property>
  <property fmtid="{D5CDD505-2E9C-101B-9397-08002B2CF9AE}" pid="3" name="ArticulatePath">
    <vt:lpwstr>plantilla_cursos_presenciales-v3.1.6</vt:lpwstr>
  </property>
</Properties>
</file>