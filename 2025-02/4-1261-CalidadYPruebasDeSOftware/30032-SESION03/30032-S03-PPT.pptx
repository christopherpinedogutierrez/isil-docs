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0"/>
  </p:notesMasterIdLst>
  <p:sldIdLst>
    <p:sldId id="256" r:id="rId2"/>
    <p:sldId id="291"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2" r:id="rId37"/>
    <p:sldId id="290" r:id="rId38"/>
    <p:sldId id="293" r:id="rId39"/>
  </p:sldIdLst>
  <p:sldSz cx="9144000" cy="5715000" type="screen16x1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2880" userDrawn="1">
          <p15:clr>
            <a:srgbClr val="A4A3A4"/>
          </p15:clr>
        </p15:guide>
        <p15:guide id="2" orient="horz" pos="1800">
          <p15:clr>
            <a:srgbClr val="A4A3A4"/>
          </p15:clr>
        </p15:guide>
        <p15:guide id="3" orient="horz" pos="802" userDrawn="1">
          <p15:clr>
            <a:srgbClr val="A4A3A4"/>
          </p15:clr>
        </p15:guide>
        <p15:guide id="4" pos="2132" userDrawn="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1" roundtripDataSignature="AMtx7mgtHqtk2RiVzK0nx4fiLKX894QJG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E697E"/>
    <a:srgbClr val="658E33"/>
    <a:srgbClr val="8FC53F"/>
    <a:srgbClr val="DDEEC8"/>
    <a:srgbClr val="EE4639"/>
    <a:srgbClr val="FFD8D4"/>
    <a:srgbClr val="7150A0"/>
    <a:srgbClr val="E3DCED"/>
    <a:srgbClr val="FE7828"/>
    <a:srgbClr val="FFD7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4674"/>
  </p:normalViewPr>
  <p:slideViewPr>
    <p:cSldViewPr snapToGrid="0">
      <p:cViewPr varScale="1">
        <p:scale>
          <a:sx n="98" d="100"/>
          <a:sy n="98" d="100"/>
        </p:scale>
        <p:origin x="1578" y="72"/>
      </p:cViewPr>
      <p:guideLst>
        <p:guide pos="2880"/>
        <p:guide orient="horz" pos="1800"/>
        <p:guide orient="horz" pos="802"/>
        <p:guide pos="2132"/>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PE"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p:cNvGrpSpPr/>
        <p:nvPr/>
      </p:nvGrpSpPr>
      <p:grpSpPr>
        <a:xfrm>
          <a:off x="0" y="0"/>
          <a:ext cx="0" cy="0"/>
          <a:chOff x="0" y="0"/>
          <a:chExt cx="0" cy="0"/>
        </a:xfrm>
      </p:grpSpPr>
      <p:sp>
        <p:nvSpPr>
          <p:cNvPr id="39" name="Google Shape;39;p1: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 name="Google Shape;4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a:latin typeface="Arial"/>
              <a:ea typeface="Arial"/>
              <a:cs typeface="Arial"/>
              <a:sym typeface="Arial"/>
            </a:endParaRPr>
          </a:p>
        </p:txBody>
      </p:sp>
      <p:sp>
        <p:nvSpPr>
          <p:cNvPr id="41" name="Google Shape;41;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2: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 name="Google Shape;54;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 name="Google Shape;55;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3</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3: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 name="Google Shape;6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 name="Google Shape;62;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4: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 name="Google Shape;6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None/>
            </a:pPr>
            <a:r>
              <a:rPr lang="es-PE"/>
              <a:t>La norma ISO/IEC 25010 modifica el Modelo de Calidad de producto presentado en el estándar ISO 9126-1.</a:t>
            </a:r>
            <a:endParaRPr/>
          </a:p>
          <a:p>
            <a:pPr marL="0" lvl="0" indent="0" algn="l" rtl="0">
              <a:spcBef>
                <a:spcPts val="0"/>
              </a:spcBef>
              <a:spcAft>
                <a:spcPts val="0"/>
              </a:spcAft>
              <a:buNone/>
            </a:pPr>
            <a:endParaRPr/>
          </a:p>
        </p:txBody>
      </p:sp>
      <p:sp>
        <p:nvSpPr>
          <p:cNvPr id="69" name="Google Shape;69;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5: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 name="Google Shape;76;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b="1" dirty="0"/>
              <a:t>Calidad a nivel de proceso</a:t>
            </a:r>
            <a:endParaRPr dirty="0"/>
          </a:p>
          <a:p>
            <a:pPr marL="0" lvl="0" indent="0" algn="l" rtl="0">
              <a:spcBef>
                <a:spcPts val="0"/>
              </a:spcBef>
              <a:spcAft>
                <a:spcPts val="0"/>
              </a:spcAft>
              <a:buNone/>
            </a:pPr>
            <a:r>
              <a:rPr lang="es-PE" dirty="0"/>
              <a:t>La calidad de un sistema software debe ser programada desde el inicio del proyecto, y posteriormente en cada etapa del proceso de desarrollo se debe llevar a cabo el control y seguimiento de los aspectos de calidad, para minimizar los riesgos y ofrecer soporte continuo, se garantiza así un óptimo nivel de cumplimiento de los factores de calidad, teniendo en cuenta que si en alguna de las etapas se deja de lado la verificación de los factores y criterios es posible que se presente deficiencia en alguno de éstos y disminuirá el nivel de calidad no solo del proceso, sino también del producto en desarrollo. </a:t>
            </a:r>
            <a:endParaRPr dirty="0"/>
          </a:p>
          <a:p>
            <a:pPr marL="0" lvl="0" indent="0" algn="l" rtl="0">
              <a:spcBef>
                <a:spcPts val="0"/>
              </a:spcBef>
              <a:spcAft>
                <a:spcPts val="0"/>
              </a:spcAft>
              <a:buNone/>
            </a:pPr>
            <a:endParaRPr dirty="0"/>
          </a:p>
          <a:p>
            <a:pPr marL="171450" lvl="0" indent="-171450" algn="just" rtl="0">
              <a:spcBef>
                <a:spcPts val="0"/>
              </a:spcBef>
              <a:spcAft>
                <a:spcPts val="0"/>
              </a:spcAft>
              <a:buClr>
                <a:schemeClr val="dk1"/>
              </a:buClr>
              <a:buSzPts val="1200"/>
              <a:buFont typeface="Arial"/>
              <a:buChar char="•"/>
            </a:pPr>
            <a:r>
              <a:rPr lang="es-PE" dirty="0"/>
              <a:t>Analizar las actividades del proceso que influyen en la calidad del producto.</a:t>
            </a:r>
            <a:endParaRPr dirty="0"/>
          </a:p>
          <a:p>
            <a:pPr marL="171450" lvl="0" indent="-171450" algn="just" rtl="0">
              <a:spcBef>
                <a:spcPts val="0"/>
              </a:spcBef>
              <a:spcAft>
                <a:spcPts val="0"/>
              </a:spcAft>
              <a:buClr>
                <a:schemeClr val="dk1"/>
              </a:buClr>
              <a:buSzPts val="1200"/>
              <a:buFont typeface="Arial"/>
              <a:buChar char="•"/>
            </a:pPr>
            <a:r>
              <a:rPr lang="es-PE" dirty="0"/>
              <a:t>Modelar el Proceso</a:t>
            </a:r>
            <a:endParaRPr dirty="0"/>
          </a:p>
          <a:p>
            <a:pPr marL="171450" lvl="0" indent="-171450" algn="just" rtl="0">
              <a:spcBef>
                <a:spcPts val="0"/>
              </a:spcBef>
              <a:spcAft>
                <a:spcPts val="0"/>
              </a:spcAft>
              <a:buClr>
                <a:schemeClr val="dk1"/>
              </a:buClr>
              <a:buSzPts val="1200"/>
              <a:buFont typeface="Arial"/>
              <a:buChar char="•"/>
            </a:pPr>
            <a:r>
              <a:rPr lang="es-PE" dirty="0"/>
              <a:t>Preguntas como:</a:t>
            </a:r>
            <a:endParaRPr dirty="0"/>
          </a:p>
          <a:p>
            <a:pPr marL="628650" lvl="1" indent="-171450" algn="just" rtl="0">
              <a:spcBef>
                <a:spcPts val="0"/>
              </a:spcBef>
              <a:spcAft>
                <a:spcPts val="0"/>
              </a:spcAft>
              <a:buClr>
                <a:schemeClr val="dk1"/>
              </a:buClr>
              <a:buSzPts val="1200"/>
              <a:buFont typeface="Arial"/>
              <a:buChar char="•"/>
            </a:pPr>
            <a:r>
              <a:rPr lang="es-PE" dirty="0"/>
              <a:t>¿Dónde y cuándo se puede hallar un defecto?</a:t>
            </a:r>
            <a:endParaRPr dirty="0"/>
          </a:p>
          <a:p>
            <a:pPr marL="628650" lvl="1" indent="-171450" algn="just" rtl="0">
              <a:spcBef>
                <a:spcPts val="0"/>
              </a:spcBef>
              <a:spcAft>
                <a:spcPts val="0"/>
              </a:spcAft>
              <a:buClr>
                <a:schemeClr val="dk1"/>
              </a:buClr>
              <a:buSzPts val="1200"/>
              <a:buFont typeface="Arial"/>
              <a:buChar char="•"/>
            </a:pPr>
            <a:r>
              <a:rPr lang="es-PE" dirty="0"/>
              <a:t>¿Cómo hallar los defectos antes?</a:t>
            </a:r>
            <a:endParaRPr dirty="0"/>
          </a:p>
          <a:p>
            <a:pPr marL="628650" lvl="1" indent="-171450" algn="just" rtl="0">
              <a:spcBef>
                <a:spcPts val="0"/>
              </a:spcBef>
              <a:spcAft>
                <a:spcPts val="0"/>
              </a:spcAft>
              <a:buClr>
                <a:schemeClr val="dk1"/>
              </a:buClr>
              <a:buSzPts val="1200"/>
              <a:buFont typeface="Arial"/>
              <a:buChar char="•"/>
            </a:pPr>
            <a:r>
              <a:rPr lang="es-PE" dirty="0"/>
              <a:t>¿Existen actividades alternas que proporcionan mayor calidad?</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s-PE" b="1" dirty="0"/>
              <a:t>Calidad a nivel de producto </a:t>
            </a:r>
            <a:endParaRPr dirty="0"/>
          </a:p>
          <a:p>
            <a:pPr marL="0" lvl="0" indent="0" algn="l" rtl="0">
              <a:spcBef>
                <a:spcPts val="0"/>
              </a:spcBef>
              <a:spcAft>
                <a:spcPts val="0"/>
              </a:spcAft>
              <a:buNone/>
            </a:pPr>
            <a:r>
              <a:rPr lang="es-PE" dirty="0"/>
              <a:t>La principal finalidad del modelo de calidad de producto es especificar y evaluar el cumplimiento de criterios del producto, para lo cual se aplican medidas internas y/o medidas externas. Por esta razón, algunas normas y estándares han definido la calidad a nivel de producto en tres tipos: interna, externa y en uso. Este enfoque está orientado a verificar el cumplimiento de las características que permitan alcanzar la satisfacción del cliente en cuanto a los requisitos definidos en las etapas iniciales del proceso de desarrollo.</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s-PE" b="1" dirty="0"/>
              <a:t>Calidad en uso </a:t>
            </a:r>
            <a:endParaRPr dirty="0"/>
          </a:p>
          <a:p>
            <a:pPr marL="0" lvl="0" indent="0" algn="l" rtl="0">
              <a:spcBef>
                <a:spcPts val="0"/>
              </a:spcBef>
              <a:spcAft>
                <a:spcPts val="0"/>
              </a:spcAft>
              <a:buNone/>
            </a:pPr>
            <a:r>
              <a:rPr lang="es-PE" dirty="0"/>
              <a:t>Es importante resaltar que, aunque en diferentes escenarios se utilizan los términos usabilidad y calidad en uso, con el mismo propósito y de forma intercambiable tienen significados distintos, principalmente porque el concepto de calidad en uso es más amplio y abarca más elementos que la usabilidad, y esta última es una de las características de calidad de un producto software. La calidad en uso se define como el “conjunto de atributos relacionados con la aceptación por parte del usuario final y seguridad”, y está basada en la eficacia, productividad, seguridad y satisfacción, según ISO/IEC 9126. </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77" name="Google Shape;77;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6: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 name="Google Shape;8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 name="Google Shape;8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7</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7: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 name="Google Shape;91;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8</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8: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9</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9: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Google Shape;107;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b="1"/>
              <a:t>1989 ITIL: </a:t>
            </a:r>
            <a:r>
              <a:rPr lang="es-PE"/>
              <a:t>Desarrollado en el Reino Unido, con el fin de fortalecer la gestión gubernamental, a partir de cinco elementos fundamentales: la perspectiva del negocio, entrega del servicio, soporte del servicio, manejo de la infraestructura y manejo de aplicaciones, con el propósito de ofrecer una estructura integral para prestar a la organización un servicio completo, cubriendo necesidades de apoyo de instalación, adecuación de redes, comunicaciones, hardware, servidores, sistema operativo, y software necesarios.</a:t>
            </a:r>
            <a:endParaRPr/>
          </a:p>
          <a:p>
            <a:pPr marL="0" lvl="0" indent="0" algn="l" rtl="0">
              <a:spcBef>
                <a:spcPts val="0"/>
              </a:spcBef>
              <a:spcAft>
                <a:spcPts val="0"/>
              </a:spcAft>
              <a:buNone/>
            </a:pPr>
            <a:r>
              <a:rPr lang="es-PE" b="1"/>
              <a:t>1993 ISO 15504 : </a:t>
            </a:r>
            <a:r>
              <a:rPr lang="es-PE"/>
              <a:t>Permite adaptar la evaluación para procesos en pequeñas y medianas empresas (pymes) y grupos de desarrollo pequeños, mediante la estructuración en seis niveles de madurez: Nivel 0- Organización inmadura, Nivel 1- Organización básica, Nivel 2- Organización gestionada, Nivel 3- Organización establecida, Nivel 4- Organización predecible y Nivel 5- Organización optimizando. Su objetivo es llegar a que la organización logre ser madura, lo cual conlleva que la organización tenga procesos definidos, responsabilidades definidas, predicción de resultados, productos entregados con calidad, que las entregas se den en los tiempos pactados, incrementar la productividad, clientes satisfechos, y empleados felices. </a:t>
            </a:r>
            <a:endParaRPr/>
          </a:p>
          <a:p>
            <a:pPr marL="0" lvl="0" indent="0" algn="l" rtl="0">
              <a:spcBef>
                <a:spcPts val="0"/>
              </a:spcBef>
              <a:spcAft>
                <a:spcPts val="0"/>
              </a:spcAft>
              <a:buNone/>
            </a:pPr>
            <a:r>
              <a:rPr lang="es-PE" b="1"/>
              <a:t>1996 Bootstrap</a:t>
            </a:r>
            <a:r>
              <a:rPr lang="es-PE"/>
              <a:t>: Metodología de evaluación que permite la mejora de procesos a partir de seis actividades básicas: Examinar la necesidad, Iniciar proceso de mejora, preparación y dirección de la evaluación, análisis de resultados, implantación y finalización de mejoras </a:t>
            </a:r>
            <a:endParaRPr/>
          </a:p>
          <a:p>
            <a:pPr marL="0" lvl="0" indent="0" algn="l" rtl="0">
              <a:spcBef>
                <a:spcPts val="0"/>
              </a:spcBef>
              <a:spcAft>
                <a:spcPts val="0"/>
              </a:spcAft>
              <a:buNone/>
            </a:pPr>
            <a:r>
              <a:rPr lang="es-PE" b="1"/>
              <a:t>1995 Dromey</a:t>
            </a:r>
            <a:r>
              <a:rPr lang="es-PE"/>
              <a:t>: Es un modelo adaptable con evaluar varias etapas del proceso de desarrollo como levantamiento de requisitos, diseño e implementación. Se estructura con características y subcaracterísticas de calidad; propone tres modelos distintos para cada etapa de construcción del producto: modelo de requerimientos, modelo de diseño y modelo de calidad de la implementación, a partir de la evaluación establecida en cinco etapas, para características como: eficiencia, confiabilidad, mantenibilidad, portabilidad, facilidad de uso y funcionalidad </a:t>
            </a:r>
            <a:endParaRPr/>
          </a:p>
          <a:p>
            <a:pPr marL="0" lvl="0" indent="0" algn="l" rtl="0">
              <a:spcBef>
                <a:spcPts val="0"/>
              </a:spcBef>
              <a:spcAft>
                <a:spcPts val="0"/>
              </a:spcAft>
              <a:buNone/>
            </a:pPr>
            <a:r>
              <a:rPr lang="es-PE" b="1"/>
              <a:t>1995 </a:t>
            </a:r>
            <a:r>
              <a:rPr lang="es-PE"/>
              <a:t>Personal Software Process </a:t>
            </a:r>
            <a:r>
              <a:rPr lang="es-PE" b="1"/>
              <a:t>(PSP)</a:t>
            </a:r>
            <a:r>
              <a:rPr lang="es-PE"/>
              <a:t>: Este modelo está enfocado al desarrollo profesional del ingeniero, fomentando una adecuada administración de calidad de los proyectos de desarrollo, reducción de defectos del producto, estimación y planeación del trabajo</a:t>
            </a:r>
            <a:endParaRPr/>
          </a:p>
          <a:p>
            <a:pPr marL="0" marR="0" lvl="0" indent="0" algn="l" rtl="0">
              <a:lnSpc>
                <a:spcPct val="100000"/>
              </a:lnSpc>
              <a:spcBef>
                <a:spcPts val="0"/>
              </a:spcBef>
              <a:spcAft>
                <a:spcPts val="0"/>
              </a:spcAft>
              <a:buClr>
                <a:schemeClr val="dk1"/>
              </a:buClr>
              <a:buSzPts val="1200"/>
              <a:buFont typeface="Calibri"/>
              <a:buNone/>
            </a:pPr>
            <a:r>
              <a:rPr lang="es-PE" b="1"/>
              <a:t>1996 </a:t>
            </a:r>
            <a:r>
              <a:rPr lang="es-PE"/>
              <a:t>Team Software Process (</a:t>
            </a:r>
            <a:r>
              <a:rPr lang="es-PE" b="1"/>
              <a:t>TSP</a:t>
            </a:r>
            <a:r>
              <a:rPr lang="es-PE"/>
              <a:t>): TSP es la fase posterior de PSP, está diseñado para el trabajo de equipos de desarrollo de software autodirigidos, que se orienta al desarrollo de productos con el mínimo de defectos en tiempo y costos estimados. Cuenta con planes detallados y procesos como revisiones personales, inspecciones e índices de desempeño de calidad, y el fomento de la integración del equipo</a:t>
            </a:r>
            <a:endParaRPr/>
          </a:p>
          <a:p>
            <a:pPr marL="0" lvl="0" indent="0" algn="l" rtl="0">
              <a:spcBef>
                <a:spcPts val="0"/>
              </a:spcBef>
              <a:spcAft>
                <a:spcPts val="0"/>
              </a:spcAft>
              <a:buNone/>
            </a:pPr>
            <a:r>
              <a:rPr lang="es-PE" b="1"/>
              <a:t>1996 IEEE / EIA 12207</a:t>
            </a:r>
            <a:r>
              <a:rPr lang="es-PE"/>
              <a:t>: Este estándar establece un marco de trabajo común para el ciclo de vida del desarrollo de software, a partir del planteamiento de procesos, actividades y tareas que pueden ser aplicadas durante la adquisición, suministro, desarrollo, operación, mantenimiento y/o despliegue de un producto software (ISO/IEC, 2008)</a:t>
            </a:r>
            <a:endParaRPr/>
          </a:p>
          <a:p>
            <a:pPr marL="0" marR="0" lvl="0" indent="0" algn="l" rtl="0">
              <a:lnSpc>
                <a:spcPct val="100000"/>
              </a:lnSpc>
              <a:spcBef>
                <a:spcPts val="0"/>
              </a:spcBef>
              <a:spcAft>
                <a:spcPts val="0"/>
              </a:spcAft>
              <a:buClr>
                <a:schemeClr val="dk1"/>
              </a:buClr>
              <a:buSzPts val="1200"/>
              <a:buFont typeface="Calibri"/>
              <a:buNone/>
            </a:pPr>
            <a:r>
              <a:rPr lang="es-PE" b="1"/>
              <a:t>1996 Cobit 4.0</a:t>
            </a:r>
            <a:r>
              <a:rPr lang="es-PE"/>
              <a:t>: Se caracteriza por ser orientado a negocios y proceso, además de ser basado en controles, trabaja con siete criterios de información que son definidos como requerimientos de control del negocio: efectividad, eficiencia, confidencialidad, integridad, disponibilidad, cumplimiento y confiabilidad </a:t>
            </a:r>
            <a:endParaRPr/>
          </a:p>
          <a:p>
            <a:pPr marL="0" lvl="0" indent="0" algn="l" rtl="0">
              <a:spcBef>
                <a:spcPts val="0"/>
              </a:spcBef>
              <a:spcAft>
                <a:spcPts val="0"/>
              </a:spcAft>
              <a:buNone/>
            </a:pPr>
            <a:r>
              <a:rPr lang="es-PE" b="1"/>
              <a:t>1997 ISO 90003</a:t>
            </a:r>
            <a:r>
              <a:rPr lang="es-PE"/>
              <a:t>: Conjunto de estándares utilizados para el desarrollo, suministro y soporte del software, cuyo propósito es ofrecer una guía de aplicación de la norma 9001 que pretende ser utilizada para demostrar o soportar que la entidad está en capacidad de desarrollar software con criterios de calidad. </a:t>
            </a:r>
            <a:endParaRPr/>
          </a:p>
          <a:p>
            <a:pPr marL="0" marR="0" lvl="0" indent="0" algn="l" rtl="0">
              <a:lnSpc>
                <a:spcPct val="100000"/>
              </a:lnSpc>
              <a:spcBef>
                <a:spcPts val="0"/>
              </a:spcBef>
              <a:spcAft>
                <a:spcPts val="0"/>
              </a:spcAft>
              <a:buClr>
                <a:schemeClr val="dk1"/>
              </a:buClr>
              <a:buSzPts val="1200"/>
              <a:buFont typeface="Calibri"/>
              <a:buNone/>
            </a:pPr>
            <a:r>
              <a:rPr lang="es-PE" b="1"/>
              <a:t>2000 CMMI </a:t>
            </a:r>
            <a:r>
              <a:rPr lang="es-PE"/>
              <a:t>(Capability Maturity Model Integration): Es de los modelos más utilizados en las empresas de construcción de software, con el propósito de verificar el cumplimiento de estándares de calidad a partir de la medición con niveles de madurez. Este modelo se representa de dos maneras: escalonada y continua, donde el modelo escalonado está dirigido al software y permite clasificar las organizaciones en cinco tipos de nivel establecidos: Inicial, gestionado, definido, gestionado cuantitativamente y en optimización; y por su parte el modelo continuo se enfoca al análisis de la capacidad de cada proceso inmerso en las áreas de la ingeniería de sistemas y lo clasifica en uno de los siguientes seis niveles: Incompleto (0), ejecutado (1), gestionado (2), definido (3), cuantitativamente gestionado (4) y en optimización (5)</a:t>
            </a:r>
            <a:endParaRPr/>
          </a:p>
          <a:p>
            <a:pPr marL="0" lvl="0" indent="0" algn="l" rtl="0">
              <a:spcBef>
                <a:spcPts val="0"/>
              </a:spcBef>
              <a:spcAft>
                <a:spcPts val="0"/>
              </a:spcAft>
              <a:buNone/>
            </a:pPr>
            <a:r>
              <a:rPr lang="es-PE" b="1"/>
              <a:t>2005 ISO/IEC 20000</a:t>
            </a:r>
            <a:r>
              <a:rPr lang="es-PE"/>
              <a:t>: El objetivo principal de esta norma es avalar que la prestación de servicios gestionados de TI de una empresa cuenta con la calidad necesaria para brindar dichos servicios a los clientes. Se subdivide en dos partes: “Especificaciones“, publicada como ISO 20000- 1:2005, y “Código de buenas prácticas” publicada como ISO 20000-2:2005</a:t>
            </a:r>
            <a:endParaRPr/>
          </a:p>
        </p:txBody>
      </p:sp>
      <p:sp>
        <p:nvSpPr>
          <p:cNvPr id="108" name="Google Shape;108;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10</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0: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 name="Google Shape;138;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Arial"/>
              <a:buChar char="•"/>
            </a:pPr>
            <a:r>
              <a:rPr lang="es-PE" b="1"/>
              <a:t>McCall</a:t>
            </a:r>
            <a:r>
              <a:rPr lang="es-PE"/>
              <a:t>: Uno de los modelos pioneros en la evaluación de la calidad de software, tiene tres etapas definidas: factores, criterios y métricas. Los once criterios base, son: Exactitud, confiabilidad, eficiencia, integridad, usabilidad, mantenibilidad, testeabilidad, flexibilidad, portabilidad, reusabilidad e interoperabilidad.</a:t>
            </a:r>
            <a:endParaRPr/>
          </a:p>
          <a:p>
            <a:pPr marL="171450" lvl="0" indent="-171450" algn="l" rtl="0">
              <a:spcBef>
                <a:spcPts val="0"/>
              </a:spcBef>
              <a:spcAft>
                <a:spcPts val="0"/>
              </a:spcAft>
              <a:buClr>
                <a:schemeClr val="dk1"/>
              </a:buClr>
              <a:buSzPts val="1200"/>
              <a:buFont typeface="Arial"/>
              <a:buChar char="•"/>
            </a:pPr>
            <a:r>
              <a:rPr lang="es-PE" b="1"/>
              <a:t>GQM </a:t>
            </a:r>
            <a:r>
              <a:rPr lang="es-PE"/>
              <a:t>o Goal Question Metric: Se enfoca a proporcionar una forma que permita definir métricas para medir el avance como los resultados de algún proyecto, a partir de la aplicación de unas preguntas relacionadas con el proyecto, que permitan alcanzar unas metas previamente planteadas, el modelo trabaja sobre metas, preguntas y métricas. </a:t>
            </a:r>
            <a:endParaRPr/>
          </a:p>
          <a:p>
            <a:pPr marL="171450" lvl="0" indent="-171450" algn="l" rtl="0">
              <a:spcBef>
                <a:spcPts val="0"/>
              </a:spcBef>
              <a:spcAft>
                <a:spcPts val="0"/>
              </a:spcAft>
              <a:buClr>
                <a:schemeClr val="dk1"/>
              </a:buClr>
              <a:buSzPts val="1200"/>
              <a:buFont typeface="Arial"/>
              <a:buChar char="•"/>
            </a:pPr>
            <a:r>
              <a:rPr lang="es-PE" b="1"/>
              <a:t>Boehm: </a:t>
            </a:r>
            <a:r>
              <a:rPr lang="es-PE"/>
              <a:t>Es un modelo incremental, dividido en regiones de tareas y estas a su vez en conjuntos de tareas, las cuales se ajustan a la cantidad de iteraciones que el equipo defina, y cada iteración se divide en cuatro sectores: planeación, análisis de riesgo, ingeniería y evaluación. </a:t>
            </a:r>
            <a:endParaRPr/>
          </a:p>
          <a:p>
            <a:pPr marL="171450" lvl="0" indent="-171450" algn="l" rtl="0">
              <a:spcBef>
                <a:spcPts val="0"/>
              </a:spcBef>
              <a:spcAft>
                <a:spcPts val="0"/>
              </a:spcAft>
              <a:buClr>
                <a:schemeClr val="dk1"/>
              </a:buClr>
              <a:buSzPts val="1200"/>
              <a:buFont typeface="Arial"/>
              <a:buChar char="•"/>
            </a:pPr>
            <a:r>
              <a:rPr lang="es-PE" b="1"/>
              <a:t>FURPS: </a:t>
            </a:r>
            <a:r>
              <a:rPr lang="es-PE"/>
              <a:t>Modelo desarrollado por Hewlett-Packard, cuyo nombre proviene de los criterios que evalúa: Funcionalidad, usabilidad, confiabilidad (reliability), desempeño (performance) y soportabilidad.</a:t>
            </a:r>
            <a:endParaRPr/>
          </a:p>
          <a:p>
            <a:pPr marL="171450" lvl="0" indent="-171450" algn="l" rtl="0">
              <a:spcBef>
                <a:spcPts val="0"/>
              </a:spcBef>
              <a:spcAft>
                <a:spcPts val="0"/>
              </a:spcAft>
              <a:buClr>
                <a:schemeClr val="dk1"/>
              </a:buClr>
              <a:buSzPts val="1200"/>
              <a:buFont typeface="Arial"/>
              <a:buChar char="•"/>
            </a:pPr>
            <a:r>
              <a:rPr lang="es-PE" b="1"/>
              <a:t>GILB</a:t>
            </a:r>
            <a:r>
              <a:rPr lang="es-PE"/>
              <a:t>: Modelo de calidad que orienta la evaluación de software a partir de los atributos: Capacidad de trabajo, adaptabilidad, disponibilidad y utilizabilidad, los cuales se dividen en subatributos, de tal manera que sirva de apoyo a la gestión de proyectos, y proporcione una guía para solucionar problemas y detectar riesgos.</a:t>
            </a:r>
            <a:endParaRPr/>
          </a:p>
          <a:p>
            <a:pPr marL="171450" lvl="0" indent="-171450" algn="l" rtl="0">
              <a:spcBef>
                <a:spcPts val="0"/>
              </a:spcBef>
              <a:spcAft>
                <a:spcPts val="0"/>
              </a:spcAft>
              <a:buClr>
                <a:schemeClr val="dk1"/>
              </a:buClr>
              <a:buSzPts val="1200"/>
              <a:buFont typeface="Arial"/>
              <a:buChar char="•"/>
            </a:pPr>
            <a:r>
              <a:rPr lang="es-PE" b="1"/>
              <a:t> ISO 9126</a:t>
            </a:r>
            <a:r>
              <a:rPr lang="es-PE"/>
              <a:t>: Estándar basado en el modelo de McCall, dirigido a desarrolladores, aseguradores de calidad, evaluadores, analistas y cualquier otro involucrado en el proceso de construcción de software. Está dividido en cuatro partes: modelo de calidad, métricas externas, métricas internas y calidad de métricas en uso; elementos en torno a seis características (funcionalidad, fiabilidad, usabilidad, eficiencia, mantenibilidad y portabilidad) y subcaracterísticas asociadas. </a:t>
            </a:r>
            <a:endParaRPr/>
          </a:p>
          <a:p>
            <a:pPr marL="171450" lvl="0" indent="-171450" algn="l" rtl="0">
              <a:spcBef>
                <a:spcPts val="0"/>
              </a:spcBef>
              <a:spcAft>
                <a:spcPts val="0"/>
              </a:spcAft>
              <a:buClr>
                <a:schemeClr val="dk1"/>
              </a:buClr>
              <a:buSzPts val="1200"/>
              <a:buFont typeface="Arial"/>
              <a:buChar char="•"/>
            </a:pPr>
            <a:r>
              <a:rPr lang="es-PE" b="1"/>
              <a:t>SQAE </a:t>
            </a:r>
            <a:r>
              <a:rPr lang="es-PE"/>
              <a:t>o Software Quality Assessment Exercise: Este modelo, basado en Boehm, McCall, Dromey e ISO 9126, está orientado principalmente a realizar evaluación por terceros que no están directamente involucrados con el desarrollo, siguiendo tres capas: área, factor y atributo de calidad, que permiten orientar la evaluación jerárquicamente.</a:t>
            </a:r>
            <a:endParaRPr/>
          </a:p>
          <a:p>
            <a:pPr marL="171450" lvl="0" indent="-171450" algn="l" rtl="0">
              <a:spcBef>
                <a:spcPts val="0"/>
              </a:spcBef>
              <a:spcAft>
                <a:spcPts val="0"/>
              </a:spcAft>
              <a:buClr>
                <a:schemeClr val="dk1"/>
              </a:buClr>
              <a:buSzPts val="1200"/>
              <a:buFont typeface="Arial"/>
              <a:buChar char="•"/>
            </a:pPr>
            <a:r>
              <a:rPr lang="es-PE" b="1"/>
              <a:t>WebQEM</a:t>
            </a:r>
            <a:r>
              <a:rPr lang="es-PE"/>
              <a:t>: es una metodología de evaluación de calidad de sitios Web (Web-site Quality Evaluation method), diseñada para la evaluación siguiendo seis fases: planificación y programación de la evaluación de calidad¸ definición y especificación de requerimientos de calidad, definición e implementación de la evaluación elemental¸ definición e implementación de la evaluación global¸ análisis de resultados, conclusión y documentación¸ validación de métricas (Olsina, 1999). </a:t>
            </a:r>
            <a:endParaRPr/>
          </a:p>
          <a:p>
            <a:pPr marL="171450" lvl="0" indent="-171450" algn="l" rtl="0">
              <a:spcBef>
                <a:spcPts val="0"/>
              </a:spcBef>
              <a:spcAft>
                <a:spcPts val="0"/>
              </a:spcAft>
              <a:buClr>
                <a:schemeClr val="dk1"/>
              </a:buClr>
              <a:buSzPts val="1200"/>
              <a:buFont typeface="Arial"/>
              <a:buChar char="•"/>
            </a:pPr>
            <a:r>
              <a:rPr lang="es-PE" b="1"/>
              <a:t>ISO 25000: </a:t>
            </a:r>
            <a:r>
              <a:rPr lang="es-PE"/>
              <a:t>También llamadas como SQuaRE, cuyo propósito es guiar el desarrollo con los requisitos y la evaluación de atributos de calidad, principalmente: la adecuación funcional, eficiencia de desempeño, compatibilidad , capacidad de uso, fiabilidad.</a:t>
            </a:r>
            <a:endParaRPr/>
          </a:p>
          <a:p>
            <a:pPr marL="0" lvl="0" indent="0" algn="l" rtl="0">
              <a:spcBef>
                <a:spcPts val="0"/>
              </a:spcBef>
              <a:spcAft>
                <a:spcPts val="0"/>
              </a:spcAft>
              <a:buNone/>
            </a:pPr>
            <a:endParaRPr/>
          </a:p>
        </p:txBody>
      </p:sp>
      <p:sp>
        <p:nvSpPr>
          <p:cNvPr id="139" name="Google Shape;139;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11</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1: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None/>
            </a:pPr>
            <a:r>
              <a:rPr lang="es-PE" b="1"/>
              <a:t>Rama: desarrollo software.</a:t>
            </a:r>
            <a:endParaRPr/>
          </a:p>
          <a:p>
            <a:pPr marL="171450" lvl="0" indent="-171450" algn="just" rtl="0">
              <a:spcBef>
                <a:spcPts val="0"/>
              </a:spcBef>
              <a:spcAft>
                <a:spcPts val="0"/>
              </a:spcAft>
              <a:buClr>
                <a:schemeClr val="dk1"/>
              </a:buClr>
              <a:buSzPts val="1200"/>
              <a:buFont typeface="Arial"/>
              <a:buChar char="•"/>
            </a:pPr>
            <a:r>
              <a:rPr lang="es-PE"/>
              <a:t>Definición de requisitos: Documentos de especificación</a:t>
            </a:r>
            <a:endParaRPr/>
          </a:p>
          <a:p>
            <a:pPr marL="171450" lvl="0" indent="-171450" algn="just" rtl="0">
              <a:spcBef>
                <a:spcPts val="0"/>
              </a:spcBef>
              <a:spcAft>
                <a:spcPts val="0"/>
              </a:spcAft>
              <a:buClr>
                <a:schemeClr val="dk1"/>
              </a:buClr>
              <a:buSzPts val="1200"/>
              <a:buFont typeface="Arial"/>
              <a:buChar char="•"/>
            </a:pPr>
            <a:r>
              <a:rPr lang="es-PE"/>
              <a:t>Diseño funcional del sistema: Diseño del flujo funcional del programa</a:t>
            </a:r>
            <a:endParaRPr/>
          </a:p>
          <a:p>
            <a:pPr marL="171450" lvl="0" indent="-171450" algn="just" rtl="0">
              <a:spcBef>
                <a:spcPts val="0"/>
              </a:spcBef>
              <a:spcAft>
                <a:spcPts val="0"/>
              </a:spcAft>
              <a:buClr>
                <a:schemeClr val="dk1"/>
              </a:buClr>
              <a:buSzPts val="1200"/>
              <a:buFont typeface="Arial"/>
              <a:buChar char="•"/>
            </a:pPr>
            <a:r>
              <a:rPr lang="es-PE"/>
              <a:t>Diseño técnico del sistema	: Definición de arquitectura/interfaces</a:t>
            </a:r>
            <a:endParaRPr/>
          </a:p>
          <a:p>
            <a:pPr marL="171450" lvl="0" indent="-171450" algn="just" rtl="0">
              <a:spcBef>
                <a:spcPts val="0"/>
              </a:spcBef>
              <a:spcAft>
                <a:spcPts val="0"/>
              </a:spcAft>
              <a:buClr>
                <a:schemeClr val="dk1"/>
              </a:buClr>
              <a:buSzPts val="1200"/>
              <a:buFont typeface="Arial"/>
              <a:buChar char="•"/>
            </a:pPr>
            <a:r>
              <a:rPr lang="es-PE"/>
              <a:t>Especificación de los componentes: Estructura de los componentes</a:t>
            </a:r>
            <a:endParaRPr/>
          </a:p>
          <a:p>
            <a:pPr marL="171450" lvl="0" indent="-171450" algn="just" rtl="0">
              <a:spcBef>
                <a:spcPts val="0"/>
              </a:spcBef>
              <a:spcAft>
                <a:spcPts val="0"/>
              </a:spcAft>
              <a:buClr>
                <a:schemeClr val="dk1"/>
              </a:buClr>
              <a:buSzPts val="1200"/>
              <a:buFont typeface="Arial"/>
              <a:buChar char="•"/>
            </a:pPr>
            <a:r>
              <a:rPr lang="es-PE"/>
              <a:t>Programación: Creación de código ejecutable</a:t>
            </a:r>
            <a:endParaRPr/>
          </a:p>
          <a:p>
            <a:pPr marL="0" lvl="0" indent="0" algn="l" rtl="0">
              <a:spcBef>
                <a:spcPts val="0"/>
              </a:spcBef>
              <a:spcAft>
                <a:spcPts val="0"/>
              </a:spcAft>
              <a:buNone/>
            </a:pPr>
            <a:endParaRPr/>
          </a:p>
        </p:txBody>
      </p:sp>
      <p:sp>
        <p:nvSpPr>
          <p:cNvPr id="166" name="Google Shape;166;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12</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2: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None/>
            </a:pPr>
            <a:r>
              <a:rPr lang="es-PE" b="1"/>
              <a:t>Rama: pruebas software.</a:t>
            </a:r>
            <a:endParaRPr/>
          </a:p>
          <a:p>
            <a:pPr marL="171450" lvl="0" indent="-171450" algn="just" rtl="0">
              <a:spcBef>
                <a:spcPts val="0"/>
              </a:spcBef>
              <a:spcAft>
                <a:spcPts val="0"/>
              </a:spcAft>
              <a:buClr>
                <a:schemeClr val="dk1"/>
              </a:buClr>
              <a:buSzPts val="1200"/>
              <a:buFont typeface="Arial"/>
              <a:buChar char="•"/>
            </a:pPr>
            <a:r>
              <a:rPr lang="es-PE"/>
              <a:t>Pruebas de aceptación: Pruebas formales de los requisitos del cliente</a:t>
            </a:r>
            <a:endParaRPr/>
          </a:p>
          <a:p>
            <a:pPr marL="171450" lvl="0" indent="-171450" algn="just" rtl="0">
              <a:spcBef>
                <a:spcPts val="0"/>
              </a:spcBef>
              <a:spcAft>
                <a:spcPts val="0"/>
              </a:spcAft>
              <a:buClr>
                <a:schemeClr val="dk1"/>
              </a:buClr>
              <a:buSzPts val="1200"/>
              <a:buFont typeface="Arial"/>
              <a:buChar char="•"/>
            </a:pPr>
            <a:r>
              <a:rPr lang="es-PE"/>
              <a:t>Pruebas de sistema	: Sistema Integrado, especificaciones</a:t>
            </a:r>
            <a:endParaRPr/>
          </a:p>
          <a:p>
            <a:pPr marL="171450" lvl="0" indent="-171450" algn="just" rtl="0">
              <a:spcBef>
                <a:spcPts val="0"/>
              </a:spcBef>
              <a:spcAft>
                <a:spcPts val="0"/>
              </a:spcAft>
              <a:buClr>
                <a:schemeClr val="dk1"/>
              </a:buClr>
              <a:buSzPts val="1200"/>
              <a:buFont typeface="Arial"/>
              <a:buChar char="•"/>
            </a:pPr>
            <a:r>
              <a:rPr lang="es-PE"/>
              <a:t>Pruebas de integración: Interfaces de componentes</a:t>
            </a:r>
            <a:endParaRPr/>
          </a:p>
          <a:p>
            <a:pPr marL="171450" lvl="0" indent="-171450" algn="just" rtl="0">
              <a:spcBef>
                <a:spcPts val="0"/>
              </a:spcBef>
              <a:spcAft>
                <a:spcPts val="0"/>
              </a:spcAft>
              <a:buClr>
                <a:schemeClr val="dk1"/>
              </a:buClr>
              <a:buSzPts val="1200"/>
              <a:buFont typeface="Arial"/>
              <a:buChar char="•"/>
            </a:pPr>
            <a:r>
              <a:rPr lang="es-PE"/>
              <a:t>Pruebas de componente: Funcionalidad del componente</a:t>
            </a:r>
            <a:endParaRPr/>
          </a:p>
        </p:txBody>
      </p:sp>
      <p:sp>
        <p:nvSpPr>
          <p:cNvPr id="181" name="Google Shape;181;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13</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13: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just" rtl="0">
              <a:spcBef>
                <a:spcPts val="0"/>
              </a:spcBef>
              <a:spcAft>
                <a:spcPts val="0"/>
              </a:spcAft>
              <a:buClr>
                <a:schemeClr val="dk1"/>
              </a:buClr>
              <a:buSzPts val="1200"/>
              <a:buFont typeface="Arial"/>
              <a:buChar char="•"/>
            </a:pPr>
            <a:r>
              <a:rPr lang="es-PE"/>
              <a:t>El modelo-V general es el modelo de desarrollo software más utilizado.</a:t>
            </a:r>
            <a:endParaRPr/>
          </a:p>
          <a:p>
            <a:pPr marL="171450" lvl="0" indent="-171450" algn="just" rtl="0">
              <a:spcBef>
                <a:spcPts val="0"/>
              </a:spcBef>
              <a:spcAft>
                <a:spcPts val="0"/>
              </a:spcAft>
              <a:buClr>
                <a:schemeClr val="dk1"/>
              </a:buClr>
              <a:buSzPts val="1200"/>
              <a:buFont typeface="Arial"/>
              <a:buChar char="•"/>
            </a:pPr>
            <a:r>
              <a:rPr lang="es-PE"/>
              <a:t>Desarrollo y pruebas tienen dos ramas iguales.</a:t>
            </a:r>
            <a:endParaRPr/>
          </a:p>
          <a:p>
            <a:pPr marL="628650" lvl="1" indent="-171450" algn="just" rtl="0">
              <a:spcBef>
                <a:spcPts val="0"/>
              </a:spcBef>
              <a:spcAft>
                <a:spcPts val="0"/>
              </a:spcAft>
              <a:buClr>
                <a:schemeClr val="dk1"/>
              </a:buClr>
              <a:buSzPts val="1200"/>
              <a:buFont typeface="Arial"/>
              <a:buChar char="•"/>
            </a:pPr>
            <a:r>
              <a:rPr lang="es-PE"/>
              <a:t>Cada nivel de desarrollo tiene su correspondiente nivel de pruebas.</a:t>
            </a:r>
            <a:endParaRPr/>
          </a:p>
          <a:p>
            <a:pPr marL="171450" lvl="0" indent="-171450" algn="just" rtl="0">
              <a:spcBef>
                <a:spcPts val="0"/>
              </a:spcBef>
              <a:spcAft>
                <a:spcPts val="0"/>
              </a:spcAft>
              <a:buClr>
                <a:schemeClr val="dk1"/>
              </a:buClr>
              <a:buSzPts val="1200"/>
              <a:buFont typeface="Arial"/>
              <a:buChar char="•"/>
            </a:pPr>
            <a:r>
              <a:rPr lang="es-PE"/>
              <a:t>Las pruebas (rama derecha) se diseñan en paralelo al desarrollo software (rama izquierda).</a:t>
            </a:r>
            <a:endParaRPr/>
          </a:p>
          <a:p>
            <a:pPr marL="171450" lvl="0" indent="-171450" algn="just" rtl="0">
              <a:spcBef>
                <a:spcPts val="0"/>
              </a:spcBef>
              <a:spcAft>
                <a:spcPts val="0"/>
              </a:spcAft>
              <a:buClr>
                <a:schemeClr val="dk1"/>
              </a:buClr>
              <a:buSzPts val="1200"/>
              <a:buFont typeface="Arial"/>
              <a:buChar char="•"/>
            </a:pPr>
            <a:r>
              <a:rPr lang="es-PE"/>
              <a:t>Las actividades del proceso de pruebas tienen lugar a lo largo de todo el ciclo de vida software.</a:t>
            </a:r>
            <a:endParaRPr/>
          </a:p>
          <a:p>
            <a:pPr marL="0" lvl="0" indent="0" algn="l" rtl="0">
              <a:spcBef>
                <a:spcPts val="0"/>
              </a:spcBef>
              <a:spcAft>
                <a:spcPts val="0"/>
              </a:spcAft>
              <a:buNone/>
            </a:pPr>
            <a:endParaRPr/>
          </a:p>
        </p:txBody>
      </p:sp>
      <p:sp>
        <p:nvSpPr>
          <p:cNvPr id="196" name="Google Shape;196;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14</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4: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15</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5: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s-PE"/>
              <a:t>Cuando se revisan sistemas de gestión es bastante común encontrar confusión entre los términos y el uso de verificación y validación como instrumentos de gestión</a:t>
            </a:r>
            <a:endParaRPr/>
          </a:p>
          <a:p>
            <a:pPr marL="0" marR="0" lvl="0" indent="0" algn="l" rtl="0">
              <a:lnSpc>
                <a:spcPct val="100000"/>
              </a:lnSpc>
              <a:spcBef>
                <a:spcPts val="0"/>
              </a:spcBef>
              <a:spcAft>
                <a:spcPts val="0"/>
              </a:spcAft>
              <a:buClr>
                <a:schemeClr val="dk1"/>
              </a:buClr>
              <a:buSzPts val="1200"/>
              <a:buFont typeface="Calibri"/>
              <a:buNone/>
            </a:pPr>
            <a:endParaRPr/>
          </a:p>
          <a:p>
            <a:pPr marL="0" marR="0" lvl="0" indent="0" algn="l" rtl="0">
              <a:lnSpc>
                <a:spcPct val="100000"/>
              </a:lnSpc>
              <a:spcBef>
                <a:spcPts val="0"/>
              </a:spcBef>
              <a:spcAft>
                <a:spcPts val="0"/>
              </a:spcAft>
              <a:buClr>
                <a:schemeClr val="dk1"/>
              </a:buClr>
              <a:buSzPts val="1200"/>
              <a:buFont typeface="Calibri"/>
              <a:buNone/>
            </a:pPr>
            <a:r>
              <a:rPr lang="es-PE" b="1"/>
              <a:t>VERIFICACIÓN</a:t>
            </a:r>
            <a:endParaRPr/>
          </a:p>
          <a:p>
            <a:pPr marL="285750" lvl="0" indent="-285750" algn="just" rtl="0">
              <a:spcBef>
                <a:spcPts val="0"/>
              </a:spcBef>
              <a:spcAft>
                <a:spcPts val="0"/>
              </a:spcAft>
              <a:buClr>
                <a:srgbClr val="2777C8"/>
              </a:buClr>
              <a:buSzPts val="1200"/>
              <a:buFont typeface="Arial"/>
              <a:buChar char="•"/>
            </a:pPr>
            <a:r>
              <a:rPr lang="es-PE">
                <a:solidFill>
                  <a:srgbClr val="2777C8"/>
                </a:solidFill>
              </a:rPr>
              <a:t>La </a:t>
            </a:r>
            <a:r>
              <a:rPr lang="es-PE" u="sng">
                <a:solidFill>
                  <a:srgbClr val="2777C8"/>
                </a:solidFill>
              </a:rPr>
              <a:t>verificación</a:t>
            </a:r>
            <a:r>
              <a:rPr lang="es-PE">
                <a:solidFill>
                  <a:srgbClr val="2777C8"/>
                </a:solidFill>
              </a:rPr>
              <a:t> es un mecanismo de comprobación para asegurar la </a:t>
            </a:r>
            <a:r>
              <a:rPr lang="es-PE" b="1">
                <a:solidFill>
                  <a:srgbClr val="2777C8"/>
                </a:solidFill>
              </a:rPr>
              <a:t>conformidad de los requisitos del producto o servicio con respecto a su diseño y desarrollo antes de su entrega al cliente</a:t>
            </a:r>
            <a:r>
              <a:rPr lang="es-PE">
                <a:solidFill>
                  <a:srgbClr val="2777C8"/>
                </a:solidFill>
              </a:rPr>
              <a:t>. </a:t>
            </a:r>
            <a:endParaRPr/>
          </a:p>
          <a:p>
            <a:pPr marL="285750" lvl="0" indent="-285750" algn="just" rtl="0">
              <a:spcBef>
                <a:spcPts val="0"/>
              </a:spcBef>
              <a:spcAft>
                <a:spcPts val="0"/>
              </a:spcAft>
              <a:buClr>
                <a:srgbClr val="FF0000"/>
              </a:buClr>
              <a:buSzPts val="1200"/>
              <a:buFont typeface="Arial"/>
              <a:buChar char="•"/>
            </a:pPr>
            <a:r>
              <a:rPr lang="es-PE">
                <a:solidFill>
                  <a:srgbClr val="FF0000"/>
                </a:solidFill>
              </a:rPr>
              <a:t>Los procesos son sometidos a </a:t>
            </a:r>
            <a:r>
              <a:rPr lang="es-PE" u="sng">
                <a:solidFill>
                  <a:srgbClr val="FF0000"/>
                </a:solidFill>
              </a:rPr>
              <a:t>verificación</a:t>
            </a:r>
            <a:r>
              <a:rPr lang="es-PE">
                <a:solidFill>
                  <a:srgbClr val="FF0000"/>
                </a:solidFill>
              </a:rPr>
              <a:t> para determinar la conformidad del producto o servicio que va a ser entregado al cliente.</a:t>
            </a:r>
            <a:endParaRPr/>
          </a:p>
          <a:p>
            <a:pPr marL="285750" lvl="0" indent="-285750" algn="just" rtl="0">
              <a:spcBef>
                <a:spcPts val="0"/>
              </a:spcBef>
              <a:spcAft>
                <a:spcPts val="0"/>
              </a:spcAft>
              <a:buClr>
                <a:srgbClr val="2777C8"/>
              </a:buClr>
              <a:buSzPts val="1200"/>
              <a:buFont typeface="Arial"/>
              <a:buChar char="•"/>
            </a:pPr>
            <a:r>
              <a:rPr lang="es-PE">
                <a:solidFill>
                  <a:srgbClr val="2777C8"/>
                </a:solidFill>
              </a:rPr>
              <a:t>Comprobar que una aplicación software cumple correctamente todos los requisitos.</a:t>
            </a:r>
            <a:endParaRPr/>
          </a:p>
          <a:p>
            <a:pPr marL="0" lvl="0" indent="0" algn="l" rtl="0">
              <a:spcBef>
                <a:spcPts val="0"/>
              </a:spcBef>
              <a:spcAft>
                <a:spcPts val="0"/>
              </a:spcAft>
              <a:buNone/>
            </a:pPr>
            <a:endParaRPr/>
          </a:p>
          <a:p>
            <a:pPr marL="0" lvl="0" indent="0" algn="l" rtl="0">
              <a:spcBef>
                <a:spcPts val="0"/>
              </a:spcBef>
              <a:spcAft>
                <a:spcPts val="0"/>
              </a:spcAft>
              <a:buNone/>
            </a:pPr>
            <a:r>
              <a:rPr lang="es-PE" b="1"/>
              <a:t>VALIDACIÓN</a:t>
            </a:r>
            <a:endParaRPr/>
          </a:p>
          <a:p>
            <a:pPr marL="285750" lvl="0" indent="-285750" algn="just" rtl="0">
              <a:spcBef>
                <a:spcPts val="0"/>
              </a:spcBef>
              <a:spcAft>
                <a:spcPts val="0"/>
              </a:spcAft>
              <a:buClr>
                <a:srgbClr val="2777C8"/>
              </a:buClr>
              <a:buSzPts val="1200"/>
              <a:buFont typeface="Arial"/>
              <a:buChar char="•"/>
            </a:pPr>
            <a:r>
              <a:rPr lang="es-PE">
                <a:solidFill>
                  <a:srgbClr val="2777C8"/>
                </a:solidFill>
              </a:rPr>
              <a:t>La </a:t>
            </a:r>
            <a:r>
              <a:rPr lang="es-PE" u="sng">
                <a:solidFill>
                  <a:srgbClr val="2777C8"/>
                </a:solidFill>
              </a:rPr>
              <a:t>validación</a:t>
            </a:r>
            <a:r>
              <a:rPr lang="es-PE">
                <a:solidFill>
                  <a:srgbClr val="2777C8"/>
                </a:solidFill>
              </a:rPr>
              <a:t> es un mecanismo de comprobación para </a:t>
            </a:r>
            <a:r>
              <a:rPr lang="es-PE" b="1">
                <a:solidFill>
                  <a:srgbClr val="2777C8"/>
                </a:solidFill>
              </a:rPr>
              <a:t>asegurar que el producto o servicio satisface los requisitos para los cuales fue diseñado y es conforme respecto a su aplicación de diseño o uso previsto que solo puede realizarse después que se ha completado el producto o servicio.</a:t>
            </a:r>
            <a:r>
              <a:rPr lang="es-PE">
                <a:solidFill>
                  <a:srgbClr val="2777C8"/>
                </a:solidFill>
              </a:rPr>
              <a:t> </a:t>
            </a:r>
            <a:endParaRPr/>
          </a:p>
          <a:p>
            <a:pPr marL="285750" lvl="0" indent="-285750" algn="just" rtl="0">
              <a:spcBef>
                <a:spcPts val="0"/>
              </a:spcBef>
              <a:spcAft>
                <a:spcPts val="0"/>
              </a:spcAft>
              <a:buClr>
                <a:srgbClr val="2777C8"/>
              </a:buClr>
              <a:buSzPts val="1200"/>
              <a:buFont typeface="Arial"/>
              <a:buChar char="•"/>
            </a:pPr>
            <a:r>
              <a:rPr lang="es-PE">
                <a:solidFill>
                  <a:srgbClr val="2777C8"/>
                </a:solidFill>
              </a:rPr>
              <a:t>Comprobar que una aplicación software sirve para el propósito para el que fue concebida, es decir, que además de cumplir los requisitos sirve para algo.</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23" name="Google Shape;223;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16</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6: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2" name="Google Shape;232;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3" name="Google Shape;233;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17</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7: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1" name="Google Shape;241;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Arial"/>
              <a:buChar char="•"/>
            </a:pPr>
            <a:r>
              <a:rPr lang="es-PE"/>
              <a:t>Cada nivel de desarrollo se verifica respecto de los contenidos del nivel que le precede.</a:t>
            </a:r>
            <a:endParaRPr/>
          </a:p>
          <a:p>
            <a:pPr marL="628650" lvl="1" indent="-171450" algn="l" rtl="0">
              <a:spcBef>
                <a:spcPts val="0"/>
              </a:spcBef>
              <a:spcAft>
                <a:spcPts val="0"/>
              </a:spcAft>
              <a:buClr>
                <a:schemeClr val="dk1"/>
              </a:buClr>
              <a:buSzPts val="1200"/>
              <a:buFont typeface="Arial"/>
              <a:buChar char="•"/>
            </a:pPr>
            <a:r>
              <a:rPr lang="es-PE"/>
              <a:t>Verificar: comprobar la evidencia.</a:t>
            </a:r>
            <a:endParaRPr/>
          </a:p>
          <a:p>
            <a:pPr marL="171450" lvl="0" indent="-171450" algn="l" rtl="0">
              <a:spcBef>
                <a:spcPts val="0"/>
              </a:spcBef>
              <a:spcAft>
                <a:spcPts val="0"/>
              </a:spcAft>
              <a:buClr>
                <a:schemeClr val="dk1"/>
              </a:buClr>
              <a:buSzPts val="1200"/>
              <a:buFont typeface="Arial"/>
              <a:buChar char="•"/>
            </a:pPr>
            <a:r>
              <a:rPr lang="es-PE"/>
              <a:t>Verificar significa comprobar si los requisitos y definiciones de niveles previos han sido implementados correctamente.</a:t>
            </a:r>
            <a:endParaRPr/>
          </a:p>
          <a:p>
            <a:pPr marL="0" lvl="0" indent="0" algn="l" rtl="0">
              <a:spcBef>
                <a:spcPts val="0"/>
              </a:spcBef>
              <a:spcAft>
                <a:spcPts val="0"/>
              </a:spcAft>
              <a:buNone/>
            </a:pPr>
            <a:endParaRPr/>
          </a:p>
        </p:txBody>
      </p:sp>
      <p:sp>
        <p:nvSpPr>
          <p:cNvPr id="242" name="Google Shape;242;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18</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8: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9" name="Google Shape;269;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Arial"/>
              <a:buChar char="•"/>
            </a:pPr>
            <a:r>
              <a:rPr lang="es-PE"/>
              <a:t>Cada nivel de desarrollo se verifica respecto de los contenidos del nivel que le precede.</a:t>
            </a:r>
            <a:endParaRPr/>
          </a:p>
          <a:p>
            <a:pPr marL="628650" lvl="1" indent="-171450" algn="l" rtl="0">
              <a:spcBef>
                <a:spcPts val="0"/>
              </a:spcBef>
              <a:spcAft>
                <a:spcPts val="0"/>
              </a:spcAft>
              <a:buClr>
                <a:schemeClr val="dk1"/>
              </a:buClr>
              <a:buSzPts val="1200"/>
              <a:buFont typeface="Arial"/>
              <a:buChar char="•"/>
            </a:pPr>
            <a:r>
              <a:rPr lang="es-PE"/>
              <a:t>Verificar: comprobar la evidencia.</a:t>
            </a:r>
            <a:endParaRPr/>
          </a:p>
          <a:p>
            <a:pPr marL="171450" lvl="0" indent="-171450" algn="l" rtl="0">
              <a:spcBef>
                <a:spcPts val="0"/>
              </a:spcBef>
              <a:spcAft>
                <a:spcPts val="0"/>
              </a:spcAft>
              <a:buClr>
                <a:schemeClr val="dk1"/>
              </a:buClr>
              <a:buSzPts val="1200"/>
              <a:buFont typeface="Arial"/>
              <a:buChar char="•"/>
            </a:pPr>
            <a:r>
              <a:rPr lang="es-PE"/>
              <a:t>Verificar significa comprobar si los requisitos y definiciones de niveles previos han sido implementados correctamente.</a:t>
            </a:r>
            <a:endParaRPr/>
          </a:p>
          <a:p>
            <a:pPr marL="0" lvl="0" indent="0" algn="l" rtl="0">
              <a:spcBef>
                <a:spcPts val="0"/>
              </a:spcBef>
              <a:spcAft>
                <a:spcPts val="0"/>
              </a:spcAft>
              <a:buNone/>
            </a:pPr>
            <a:endParaRPr/>
          </a:p>
        </p:txBody>
      </p:sp>
      <p:sp>
        <p:nvSpPr>
          <p:cNvPr id="270" name="Google Shape;270;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19</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19: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3" name="Google Shape;303;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just" rtl="0">
              <a:spcBef>
                <a:spcPts val="0"/>
              </a:spcBef>
              <a:spcAft>
                <a:spcPts val="0"/>
              </a:spcAft>
              <a:buClr>
                <a:schemeClr val="dk1"/>
              </a:buClr>
              <a:buSzPts val="1200"/>
              <a:buFont typeface="Arial"/>
              <a:buChar char="•"/>
            </a:pPr>
            <a:r>
              <a:rPr lang="es-PE" sz="1200"/>
              <a:t>El modelo W puede ser visto como una extensión del modelo-V general.</a:t>
            </a:r>
            <a:endParaRPr/>
          </a:p>
          <a:p>
            <a:pPr marL="171450" lvl="0" indent="-171450" algn="just" rtl="0">
              <a:spcBef>
                <a:spcPts val="0"/>
              </a:spcBef>
              <a:spcAft>
                <a:spcPts val="0"/>
              </a:spcAft>
              <a:buClr>
                <a:schemeClr val="dk1"/>
              </a:buClr>
              <a:buSzPts val="1200"/>
              <a:buFont typeface="Arial"/>
              <a:buChar char="•"/>
            </a:pPr>
            <a:r>
              <a:rPr lang="es-PE" sz="1200"/>
              <a:t>En los estados W-modelo, ciertas actividades de control de calidad se realizará en paralelo con el proceso de desarrollo.</a:t>
            </a:r>
            <a:endParaRPr/>
          </a:p>
          <a:p>
            <a:pPr marL="0" lvl="0" indent="0" algn="l" rtl="0">
              <a:spcBef>
                <a:spcPts val="0"/>
              </a:spcBef>
              <a:spcAft>
                <a:spcPts val="0"/>
              </a:spcAft>
              <a:buNone/>
            </a:pPr>
            <a:endParaRPr/>
          </a:p>
        </p:txBody>
      </p:sp>
      <p:sp>
        <p:nvSpPr>
          <p:cNvPr id="304" name="Google Shape;304;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20</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20: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0" name="Google Shape;340;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1" name="Google Shape;341;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21</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21: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8" name="Google Shape;348;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9" name="Google Shape;349;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22</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22: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5" name="Google Shape;355;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s-PE" dirty="0"/>
              <a:t>La norma ISO/IEC 25010 modifica el MC de producto presentado en el estándar ISO 9126-1.</a:t>
            </a:r>
            <a:endParaRPr dirty="0"/>
          </a:p>
          <a:p>
            <a:pPr marL="0" lvl="0" indent="0" algn="l" rtl="0">
              <a:spcBef>
                <a:spcPts val="0"/>
              </a:spcBef>
              <a:spcAft>
                <a:spcPts val="0"/>
              </a:spcAft>
              <a:buNone/>
            </a:pPr>
            <a:endParaRPr dirty="0"/>
          </a:p>
        </p:txBody>
      </p:sp>
      <p:sp>
        <p:nvSpPr>
          <p:cNvPr id="356" name="Google Shape;356;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23</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23: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3" name="Google Shape;363;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4" name="Google Shape;364;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24</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24: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7" name="Google Shape;387;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a:t>Completitud: referencia el grado en el cual el conjunto de funcionalidades cubre el conjunto de tareas y objetivos especificados por el usuario..</a:t>
            </a:r>
            <a:endParaRPr/>
          </a:p>
          <a:p>
            <a:pPr marL="0" lvl="0" indent="0" algn="l" rtl="0">
              <a:spcBef>
                <a:spcPts val="0"/>
              </a:spcBef>
              <a:spcAft>
                <a:spcPts val="0"/>
              </a:spcAft>
              <a:buNone/>
            </a:pPr>
            <a:r>
              <a:rPr lang="es-PE"/>
              <a:t>Correctitud: trata la capacidad del producto para proveer los resultados correctos con un nivel de precisión requerido.</a:t>
            </a:r>
            <a:endParaRPr/>
          </a:p>
          <a:p>
            <a:pPr marL="0" lvl="0" indent="0" algn="l" rtl="0">
              <a:spcBef>
                <a:spcPts val="0"/>
              </a:spcBef>
              <a:spcAft>
                <a:spcPts val="0"/>
              </a:spcAft>
              <a:buNone/>
            </a:pPr>
            <a:r>
              <a:rPr lang="es-PE"/>
              <a:t>Adecuación: refiere a la habilidad del producto de software para proporcionar un conjunto apropiado de funciones para tareas y objetivos específicos.</a:t>
            </a:r>
            <a:endParaRPr/>
          </a:p>
          <a:p>
            <a:pPr marL="0" lvl="0" indent="0" algn="l" rtl="0">
              <a:spcBef>
                <a:spcPts val="0"/>
              </a:spcBef>
              <a:spcAft>
                <a:spcPts val="0"/>
              </a:spcAft>
              <a:buNone/>
            </a:pPr>
            <a:endParaRPr/>
          </a:p>
        </p:txBody>
      </p:sp>
      <p:sp>
        <p:nvSpPr>
          <p:cNvPr id="388" name="Google Shape;388;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25</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25: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7" name="Google Shape;397;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a:t>Definen qué tan bien o qué tan rápido el sistema debe realizar una función. Comprenden velocidad (base de datos, tiempo de respuesta, por ej.) capacidad (concurrencia, por ej.), cronometrajes. ▪ Ej. El ciclo de control de temperatura debe ser ejecutado completamente en 80 milisegundos.</a:t>
            </a:r>
            <a:endParaRPr b="1"/>
          </a:p>
          <a:p>
            <a:pPr marL="0" lvl="0" indent="0" algn="l" rtl="0">
              <a:spcBef>
                <a:spcPts val="0"/>
              </a:spcBef>
              <a:spcAft>
                <a:spcPts val="0"/>
              </a:spcAft>
              <a:buNone/>
            </a:pPr>
            <a:endParaRPr b="1"/>
          </a:p>
          <a:p>
            <a:pPr marL="0" lvl="0" indent="0" algn="l" rtl="0">
              <a:spcBef>
                <a:spcPts val="0"/>
              </a:spcBef>
              <a:spcAft>
                <a:spcPts val="0"/>
              </a:spcAft>
              <a:buNone/>
            </a:pPr>
            <a:r>
              <a:rPr lang="es-PE" b="1"/>
              <a:t>El comportamiento temporal </a:t>
            </a:r>
            <a:r>
              <a:rPr lang="es-PE"/>
              <a:t>hace referencia a la evaluación de tiempos de respuesta. procesamiento y tasas de “throughput” en condiciones de ejecución particulares;</a:t>
            </a:r>
            <a:endParaRPr/>
          </a:p>
          <a:p>
            <a:pPr marL="0" lvl="0" indent="0" algn="l" rtl="0">
              <a:spcBef>
                <a:spcPts val="0"/>
              </a:spcBef>
              <a:spcAft>
                <a:spcPts val="0"/>
              </a:spcAft>
              <a:buNone/>
            </a:pPr>
            <a:endParaRPr b="1"/>
          </a:p>
          <a:p>
            <a:pPr marL="0" lvl="0" indent="0" algn="l" rtl="0">
              <a:spcBef>
                <a:spcPts val="0"/>
              </a:spcBef>
              <a:spcAft>
                <a:spcPts val="0"/>
              </a:spcAft>
              <a:buNone/>
            </a:pPr>
            <a:r>
              <a:rPr lang="es-PE" b="1"/>
              <a:t>La utilización de recursos </a:t>
            </a:r>
            <a:r>
              <a:rPr lang="es-PE"/>
              <a:t>apunta a la cantidad y tipos de recursos utilizados cuando el software es ejecutado en contextos específicos.</a:t>
            </a:r>
            <a:endParaRPr/>
          </a:p>
          <a:p>
            <a:pPr marL="0" lvl="0" indent="0" algn="l" rtl="0">
              <a:spcBef>
                <a:spcPts val="0"/>
              </a:spcBef>
              <a:spcAft>
                <a:spcPts val="0"/>
              </a:spcAft>
              <a:buNone/>
            </a:pPr>
            <a:endParaRPr/>
          </a:p>
          <a:p>
            <a:pPr marL="0" lvl="0" indent="0" algn="l" rtl="0">
              <a:spcBef>
                <a:spcPts val="0"/>
              </a:spcBef>
              <a:spcAft>
                <a:spcPts val="0"/>
              </a:spcAft>
              <a:buNone/>
            </a:pPr>
            <a:r>
              <a:rPr lang="es-PE" b="1"/>
              <a:t>Eficiencia: </a:t>
            </a:r>
            <a:r>
              <a:rPr lang="es-PE"/>
              <a:t>es el atributo que dice cómo el sistema utiliza el equipo (procesador, espacio en disco, memoria, ancho de banda, etc.). Si un sistema consume muchos recursos su rendimiento se ve afectado y por ende el usuario. ▪ Ej. Al menos 25% de la capacidad del procesador y la RAM disponible para el sistema con condiciones pico.</a:t>
            </a:r>
            <a:endParaRPr/>
          </a:p>
          <a:p>
            <a:pPr marL="0" lvl="0" indent="0" algn="l" rtl="0">
              <a:spcBef>
                <a:spcPts val="0"/>
              </a:spcBef>
              <a:spcAft>
                <a:spcPts val="0"/>
              </a:spcAft>
              <a:buNone/>
            </a:pPr>
            <a:endParaRPr/>
          </a:p>
        </p:txBody>
      </p:sp>
      <p:sp>
        <p:nvSpPr>
          <p:cNvPr id="398" name="Google Shape;398;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26</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26: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7" name="Google Shape;407;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b="1"/>
              <a:t>La coexistencia </a:t>
            </a:r>
            <a:r>
              <a:rPr lang="es-PE" b="0"/>
              <a:t>refiere a la capacidad del producto para residir en un entorno común con otro software de forma tal que la compartición de recursos no le genere inconvenientes. </a:t>
            </a:r>
            <a:endParaRPr/>
          </a:p>
          <a:p>
            <a:pPr marL="0" lvl="0" indent="0" algn="l" rtl="0">
              <a:spcBef>
                <a:spcPts val="0"/>
              </a:spcBef>
              <a:spcAft>
                <a:spcPts val="0"/>
              </a:spcAft>
              <a:buNone/>
            </a:pPr>
            <a:endParaRPr b="1"/>
          </a:p>
          <a:p>
            <a:pPr marL="0" lvl="0" indent="0" algn="l" rtl="0">
              <a:spcBef>
                <a:spcPts val="0"/>
              </a:spcBef>
              <a:spcAft>
                <a:spcPts val="0"/>
              </a:spcAft>
              <a:buNone/>
            </a:pPr>
            <a:r>
              <a:rPr lang="es-PE" b="1"/>
              <a:t>La interoperabilidad </a:t>
            </a:r>
            <a:r>
              <a:rPr lang="es-PE" b="0"/>
              <a:t>apunta a la habilidad de dos o más sistemas (o componentes) de intercambiar información y, posteriormente, utilizar la información intercambiada para cumplir con sus funciones.</a:t>
            </a:r>
            <a:endParaRPr/>
          </a:p>
          <a:p>
            <a:pPr marL="0" lvl="0" indent="0" algn="l" rtl="0">
              <a:spcBef>
                <a:spcPts val="0"/>
              </a:spcBef>
              <a:spcAft>
                <a:spcPts val="0"/>
              </a:spcAft>
              <a:buNone/>
            </a:pPr>
            <a:endParaRPr b="0"/>
          </a:p>
          <a:p>
            <a:pPr marL="0" lvl="0" indent="0" algn="l" rtl="0">
              <a:spcBef>
                <a:spcPts val="0"/>
              </a:spcBef>
              <a:spcAft>
                <a:spcPts val="0"/>
              </a:spcAft>
              <a:buNone/>
            </a:pPr>
            <a:r>
              <a:rPr lang="es-PE" b="1"/>
              <a:t>Interoperabilidad: </a:t>
            </a:r>
            <a:r>
              <a:rPr lang="es-PE"/>
              <a:t>mide cuán fácil el sistema puede intercambiar datos o servicios con otros sistemas. ▪ Ej. El sistema debe ser capaz de importar cualquier estructura química válida de … (tabla, archivo, etc.).</a:t>
            </a:r>
            <a:endParaRPr/>
          </a:p>
          <a:p>
            <a:pPr marL="0" lvl="0" indent="0" algn="l" rtl="0">
              <a:spcBef>
                <a:spcPts val="0"/>
              </a:spcBef>
              <a:spcAft>
                <a:spcPts val="0"/>
              </a:spcAft>
              <a:buNone/>
            </a:pPr>
            <a:endParaRPr/>
          </a:p>
        </p:txBody>
      </p:sp>
      <p:sp>
        <p:nvSpPr>
          <p:cNvPr id="408" name="Google Shape;408;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27</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27: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7" name="Google Shape;417;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b="1"/>
              <a:t>La adecuación </a:t>
            </a:r>
            <a:r>
              <a:rPr lang="es-PE" b="0"/>
              <a:t>refiere a la habilidad del producto para dar a conocer sus capacidades y funciones, de forma tal que el usuario pueda entender si el software se ajusta o no a sus necesidades. </a:t>
            </a:r>
            <a:endParaRPr/>
          </a:p>
          <a:p>
            <a:pPr marL="0" lvl="0" indent="0" algn="l" rtl="0">
              <a:spcBef>
                <a:spcPts val="0"/>
              </a:spcBef>
              <a:spcAft>
                <a:spcPts val="0"/>
              </a:spcAft>
              <a:buNone/>
            </a:pPr>
            <a:endParaRPr b="1"/>
          </a:p>
          <a:p>
            <a:pPr marL="0" lvl="0" indent="0" algn="l" rtl="0">
              <a:spcBef>
                <a:spcPts val="0"/>
              </a:spcBef>
              <a:spcAft>
                <a:spcPts val="0"/>
              </a:spcAft>
              <a:buNone/>
            </a:pPr>
            <a:r>
              <a:rPr lang="es-PE" b="1"/>
              <a:t>El aprendizaje </a:t>
            </a:r>
            <a:r>
              <a:rPr lang="es-PE" b="0"/>
              <a:t>apunta a la capacidad que tiene el producto de facilitar su entendimiento en términos de enseñanza. </a:t>
            </a:r>
            <a:endParaRPr/>
          </a:p>
          <a:p>
            <a:pPr marL="0" lvl="0" indent="0" algn="l" rtl="0">
              <a:spcBef>
                <a:spcPts val="0"/>
              </a:spcBef>
              <a:spcAft>
                <a:spcPts val="0"/>
              </a:spcAft>
              <a:buNone/>
            </a:pPr>
            <a:endParaRPr b="1"/>
          </a:p>
          <a:p>
            <a:pPr marL="0" lvl="0" indent="0" algn="l" rtl="0">
              <a:spcBef>
                <a:spcPts val="0"/>
              </a:spcBef>
              <a:spcAft>
                <a:spcPts val="0"/>
              </a:spcAft>
              <a:buNone/>
            </a:pPr>
            <a:r>
              <a:rPr lang="es-PE" b="1"/>
              <a:t>La operabilidad </a:t>
            </a:r>
            <a:r>
              <a:rPr lang="es-PE" b="0"/>
              <a:t>trabaja sobre el grado en el cual el software permite a los usuarios operarlo y controlarlo con facilidad. </a:t>
            </a:r>
            <a:endParaRPr/>
          </a:p>
          <a:p>
            <a:pPr marL="0" lvl="0" indent="0" algn="l" rtl="0">
              <a:spcBef>
                <a:spcPts val="0"/>
              </a:spcBef>
              <a:spcAft>
                <a:spcPts val="0"/>
              </a:spcAft>
              <a:buNone/>
            </a:pPr>
            <a:endParaRPr b="1"/>
          </a:p>
          <a:p>
            <a:pPr marL="0" lvl="0" indent="0" algn="l" rtl="0">
              <a:spcBef>
                <a:spcPts val="0"/>
              </a:spcBef>
              <a:spcAft>
                <a:spcPts val="0"/>
              </a:spcAft>
              <a:buNone/>
            </a:pPr>
            <a:r>
              <a:rPr lang="es-PE" b="1"/>
              <a:t>La protección contra errores </a:t>
            </a:r>
            <a:r>
              <a:rPr lang="es-PE" b="0"/>
              <a:t>refleja la capacidad del sistema para proteger a los usuarios de cometer errores. </a:t>
            </a:r>
            <a:endParaRPr/>
          </a:p>
          <a:p>
            <a:pPr marL="0" lvl="0" indent="0" algn="l" rtl="0">
              <a:spcBef>
                <a:spcPts val="0"/>
              </a:spcBef>
              <a:spcAft>
                <a:spcPts val="0"/>
              </a:spcAft>
              <a:buNone/>
            </a:pPr>
            <a:endParaRPr b="1"/>
          </a:p>
          <a:p>
            <a:pPr marL="0" lvl="0" indent="0" algn="l" rtl="0">
              <a:spcBef>
                <a:spcPts val="0"/>
              </a:spcBef>
              <a:spcAft>
                <a:spcPts val="0"/>
              </a:spcAft>
              <a:buNone/>
            </a:pPr>
            <a:r>
              <a:rPr lang="es-PE" b="1"/>
              <a:t>La estética de la interfaz de usuario </a:t>
            </a:r>
            <a:r>
              <a:rPr lang="es-PE" b="0"/>
              <a:t>apunta a la habilidad de esta para agradar y satisfacer la interacción con los usuarios. </a:t>
            </a:r>
            <a:endParaRPr/>
          </a:p>
          <a:p>
            <a:pPr marL="0" lvl="0" indent="0" algn="l" rtl="0">
              <a:spcBef>
                <a:spcPts val="0"/>
              </a:spcBef>
              <a:spcAft>
                <a:spcPts val="0"/>
              </a:spcAft>
              <a:buNone/>
            </a:pPr>
            <a:endParaRPr b="1"/>
          </a:p>
          <a:p>
            <a:pPr marL="0" lvl="0" indent="0" algn="l" rtl="0">
              <a:spcBef>
                <a:spcPts val="0"/>
              </a:spcBef>
              <a:spcAft>
                <a:spcPts val="0"/>
              </a:spcAft>
              <a:buNone/>
            </a:pPr>
            <a:r>
              <a:rPr lang="es-PE" b="1"/>
              <a:t>La accesibilidad </a:t>
            </a:r>
            <a:r>
              <a:rPr lang="es-PE" b="0"/>
              <a:t>trata la capacidad del producto de ser utilizado por usuarios con determinadas discapacidades.</a:t>
            </a:r>
            <a:endParaRPr/>
          </a:p>
          <a:p>
            <a:pPr marL="0" lvl="0" indent="0" algn="l" rtl="0">
              <a:spcBef>
                <a:spcPts val="0"/>
              </a:spcBef>
              <a:spcAft>
                <a:spcPts val="0"/>
              </a:spcAft>
              <a:buNone/>
            </a:pPr>
            <a:endParaRPr b="0"/>
          </a:p>
          <a:p>
            <a:pPr marL="0" lvl="0" indent="0" algn="l" rtl="0">
              <a:spcBef>
                <a:spcPts val="0"/>
              </a:spcBef>
              <a:spcAft>
                <a:spcPts val="0"/>
              </a:spcAft>
              <a:buNone/>
            </a:pPr>
            <a:r>
              <a:rPr lang="es-PE" b="1"/>
              <a:t>Usable: </a:t>
            </a:r>
            <a:r>
              <a:rPr lang="es-PE"/>
              <a:t>Mide el esfuerzo requerido para preparar entradas, operaciones o para interpretar salidas del producto. Se refiere a que tanto el sistema es “amigable” con el usuario. ▪ Ej. Un usuario entrenado debería ser capaz de ingresar una consulta completa en un promedio de 4 a 6 minutos.</a:t>
            </a:r>
            <a:endParaRPr b="0"/>
          </a:p>
          <a:p>
            <a:pPr marL="0" lvl="0" indent="0" algn="l" rtl="0">
              <a:spcBef>
                <a:spcPts val="0"/>
              </a:spcBef>
              <a:spcAft>
                <a:spcPts val="0"/>
              </a:spcAft>
              <a:buNone/>
            </a:pPr>
            <a:endParaRPr/>
          </a:p>
        </p:txBody>
      </p:sp>
      <p:sp>
        <p:nvSpPr>
          <p:cNvPr id="418" name="Google Shape;418;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28</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28: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7" name="Google Shape;427;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b="1"/>
              <a:t>La madurez </a:t>
            </a:r>
            <a:r>
              <a:rPr lang="es-PE" b="0"/>
              <a:t>refiere a la capacidad del sistema para satisfacer las necesidades de confiabilidad en condiciones normales de ejecución. </a:t>
            </a:r>
            <a:endParaRPr/>
          </a:p>
          <a:p>
            <a:pPr marL="0" lvl="0" indent="0" algn="l" rtl="0">
              <a:spcBef>
                <a:spcPts val="0"/>
              </a:spcBef>
              <a:spcAft>
                <a:spcPts val="0"/>
              </a:spcAft>
              <a:buNone/>
            </a:pPr>
            <a:endParaRPr b="1"/>
          </a:p>
          <a:p>
            <a:pPr marL="0" lvl="0" indent="0" algn="l" rtl="0">
              <a:spcBef>
                <a:spcPts val="0"/>
              </a:spcBef>
              <a:spcAft>
                <a:spcPts val="0"/>
              </a:spcAft>
              <a:buNone/>
            </a:pPr>
            <a:r>
              <a:rPr lang="es-PE" b="1"/>
              <a:t>La disponibilidad </a:t>
            </a:r>
            <a:r>
              <a:rPr lang="es-PE" b="0"/>
              <a:t>trata la capacidad del sistema o componente de estar operativo y accesible para su uso en el instante en que se lo requiere. </a:t>
            </a:r>
            <a:endParaRPr/>
          </a:p>
          <a:p>
            <a:pPr marL="0" lvl="0" indent="0" algn="l" rtl="0">
              <a:spcBef>
                <a:spcPts val="0"/>
              </a:spcBef>
              <a:spcAft>
                <a:spcPts val="0"/>
              </a:spcAft>
              <a:buNone/>
            </a:pPr>
            <a:endParaRPr/>
          </a:p>
          <a:p>
            <a:pPr marL="0" lvl="0" indent="0" algn="l" rtl="0">
              <a:spcBef>
                <a:spcPts val="0"/>
              </a:spcBef>
              <a:spcAft>
                <a:spcPts val="0"/>
              </a:spcAft>
              <a:buNone/>
            </a:pPr>
            <a:r>
              <a:rPr lang="es-PE" b="1"/>
              <a:t>Disponibilidad: </a:t>
            </a:r>
            <a:r>
              <a:rPr lang="es-PE"/>
              <a:t>Es el tiempo que el sistema estará disponible para los usuarios. </a:t>
            </a:r>
            <a:endParaRPr/>
          </a:p>
          <a:p>
            <a:pPr marL="0" lvl="0" indent="0" algn="l" rtl="0">
              <a:spcBef>
                <a:spcPts val="0"/>
              </a:spcBef>
              <a:spcAft>
                <a:spcPts val="0"/>
              </a:spcAft>
              <a:buNone/>
            </a:pPr>
            <a:r>
              <a:rPr lang="es-PE"/>
              <a:t>Ejemplo: El sistema debe estar disponible al menos el 99.5% del tiempo entre semana de 6 a.m. a 12 m.n. y 99.95% del tiempo en fin de semana de 4 p.m. a 6 p.m. </a:t>
            </a:r>
            <a:endParaRPr/>
          </a:p>
          <a:p>
            <a:pPr marL="0" lvl="0" indent="0" algn="l" rtl="0">
              <a:spcBef>
                <a:spcPts val="0"/>
              </a:spcBef>
              <a:spcAft>
                <a:spcPts val="0"/>
              </a:spcAft>
              <a:buNone/>
            </a:pPr>
            <a:r>
              <a:rPr lang="es-PE"/>
              <a:t>Otros requerimientos de este tipo pueden hablar además del rendimiento o la velocidad a la que debe estar disponible el sistema.</a:t>
            </a:r>
            <a:endParaRPr/>
          </a:p>
          <a:p>
            <a:pPr marL="0" lvl="0" indent="0" algn="l" rtl="0">
              <a:spcBef>
                <a:spcPts val="0"/>
              </a:spcBef>
              <a:spcAft>
                <a:spcPts val="0"/>
              </a:spcAft>
              <a:buNone/>
            </a:pPr>
            <a:endParaRPr b="0"/>
          </a:p>
          <a:p>
            <a:pPr marL="0" lvl="0" indent="0" algn="l" rtl="0">
              <a:spcBef>
                <a:spcPts val="0"/>
              </a:spcBef>
              <a:spcAft>
                <a:spcPts val="0"/>
              </a:spcAft>
              <a:buNone/>
            </a:pPr>
            <a:r>
              <a:rPr lang="es-PE" b="1"/>
              <a:t>La tolerancia a fallos </a:t>
            </a:r>
            <a:r>
              <a:rPr lang="es-PE" b="0"/>
              <a:t>apunta a la habilidad del software de operar según lo previsto en presencia de fallos (tanto de hardware como de software).</a:t>
            </a:r>
            <a:endParaRPr/>
          </a:p>
          <a:p>
            <a:pPr marL="0" lvl="0" indent="0" algn="l" rtl="0">
              <a:spcBef>
                <a:spcPts val="0"/>
              </a:spcBef>
              <a:spcAft>
                <a:spcPts val="0"/>
              </a:spcAft>
              <a:buNone/>
            </a:pPr>
            <a:endParaRPr b="0"/>
          </a:p>
          <a:p>
            <a:pPr marL="0" marR="0" lvl="0" indent="0" algn="l" rtl="0">
              <a:lnSpc>
                <a:spcPct val="100000"/>
              </a:lnSpc>
              <a:spcBef>
                <a:spcPts val="0"/>
              </a:spcBef>
              <a:spcAft>
                <a:spcPts val="0"/>
              </a:spcAft>
              <a:buClr>
                <a:schemeClr val="dk1"/>
              </a:buClr>
              <a:buSzPts val="1200"/>
              <a:buFont typeface="Calibri"/>
              <a:buNone/>
            </a:pPr>
            <a:r>
              <a:rPr lang="es-PE" b="1"/>
              <a:t>Robustez : </a:t>
            </a:r>
            <a:r>
              <a:rPr lang="es-PE"/>
              <a:t>Es la medida que dice el grado en el cual el sistema continúa operando con propiedad luego de una entrada inválida, defectos en la conexión o condiciones inesperadas. ▪ Ej. Si el editor falla antes de que el usuario guarde su archivo, el editor deberá ser capaz de recuperar todos los cambios hechos en el archivo durante el último minuto.</a:t>
            </a:r>
            <a:endParaRPr b="0"/>
          </a:p>
          <a:p>
            <a:pPr marL="0" lvl="0" indent="0" algn="l" rtl="0">
              <a:spcBef>
                <a:spcPts val="0"/>
              </a:spcBef>
              <a:spcAft>
                <a:spcPts val="0"/>
              </a:spcAft>
              <a:buNone/>
            </a:pPr>
            <a:endParaRPr b="0"/>
          </a:p>
          <a:p>
            <a:pPr marL="0" lvl="0" indent="0" algn="l" rtl="0">
              <a:spcBef>
                <a:spcPts val="0"/>
              </a:spcBef>
              <a:spcAft>
                <a:spcPts val="0"/>
              </a:spcAft>
              <a:buNone/>
            </a:pPr>
            <a:r>
              <a:rPr lang="es-PE" b="1"/>
              <a:t>La capacidad de recuperación </a:t>
            </a:r>
            <a:r>
              <a:rPr lang="es-PE" b="0"/>
              <a:t>trabaja sobre la destreza del componente para recuperar datos directamente afectados por un fallo o interrupción y restablecer el estado deseado del sistema. </a:t>
            </a:r>
            <a:endParaRPr/>
          </a:p>
          <a:p>
            <a:pPr marL="0" lvl="0" indent="0" algn="l" rtl="0">
              <a:spcBef>
                <a:spcPts val="0"/>
              </a:spcBef>
              <a:spcAft>
                <a:spcPts val="0"/>
              </a:spcAft>
              <a:buNone/>
            </a:pPr>
            <a:endParaRPr/>
          </a:p>
        </p:txBody>
      </p:sp>
      <p:sp>
        <p:nvSpPr>
          <p:cNvPr id="428" name="Google Shape;428;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29</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29: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8" name="Google Shape;438;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b="1"/>
              <a:t>La confidencialidad </a:t>
            </a:r>
            <a:r>
              <a:rPr lang="es-PE"/>
              <a:t>refiere a la capacidad del software para protegerse de accesos no autorizados a datos e información (ya sean accidentales o deliberados). </a:t>
            </a:r>
            <a:endParaRPr/>
          </a:p>
          <a:p>
            <a:pPr marL="0" lvl="0" indent="0" algn="l" rtl="0">
              <a:spcBef>
                <a:spcPts val="0"/>
              </a:spcBef>
              <a:spcAft>
                <a:spcPts val="0"/>
              </a:spcAft>
              <a:buNone/>
            </a:pPr>
            <a:endParaRPr/>
          </a:p>
          <a:p>
            <a:pPr marL="0" lvl="0" indent="0" algn="l" rtl="0">
              <a:spcBef>
                <a:spcPts val="0"/>
              </a:spcBef>
              <a:spcAft>
                <a:spcPts val="0"/>
              </a:spcAft>
              <a:buNone/>
            </a:pPr>
            <a:r>
              <a:rPr lang="es-PE" b="1"/>
              <a:t>Confiabilidad : </a:t>
            </a:r>
            <a:r>
              <a:rPr lang="es-PE"/>
              <a:t>Mide la probabilidad de que el software se ejecute sin errores por un periodo de tiempo. ▪ Ej. No más de 5 ejecuciones experimentales en 1000 pueden se pueden perder por fallas del producto.</a:t>
            </a:r>
            <a:endParaRPr/>
          </a:p>
          <a:p>
            <a:pPr marL="0" lvl="0" indent="0" algn="l" rtl="0">
              <a:spcBef>
                <a:spcPts val="0"/>
              </a:spcBef>
              <a:spcAft>
                <a:spcPts val="0"/>
              </a:spcAft>
              <a:buNone/>
            </a:pPr>
            <a:endParaRPr/>
          </a:p>
          <a:p>
            <a:pPr marL="0" lvl="0" indent="0" algn="l" rtl="0">
              <a:spcBef>
                <a:spcPts val="0"/>
              </a:spcBef>
              <a:spcAft>
                <a:spcPts val="0"/>
              </a:spcAft>
              <a:buNone/>
            </a:pPr>
            <a:r>
              <a:rPr lang="es-PE" b="1"/>
              <a:t>La integridad </a:t>
            </a:r>
            <a:r>
              <a:rPr lang="es-PE"/>
              <a:t>trata la habilidad del sistema para prevenir accesos y/o modificaciones no autorizadas a datos o programas del equipo sobre el cual se está ejecutando. </a:t>
            </a:r>
            <a:endParaRPr/>
          </a:p>
          <a:p>
            <a:pPr marL="0" lvl="0" indent="0" algn="l" rtl="0">
              <a:spcBef>
                <a:spcPts val="0"/>
              </a:spcBef>
              <a:spcAft>
                <a:spcPts val="0"/>
              </a:spcAft>
              <a:buNone/>
            </a:pPr>
            <a:endParaRPr b="1"/>
          </a:p>
          <a:p>
            <a:pPr marL="0" lvl="0" indent="0" algn="l" rtl="0">
              <a:spcBef>
                <a:spcPts val="0"/>
              </a:spcBef>
              <a:spcAft>
                <a:spcPts val="0"/>
              </a:spcAft>
              <a:buNone/>
            </a:pPr>
            <a:r>
              <a:rPr lang="es-PE" b="1"/>
              <a:t>El no repudio </a:t>
            </a:r>
            <a:r>
              <a:rPr lang="es-PE"/>
              <a:t>representa la capacidad de demostrar las acciones o eventos que han tenido lugar, de forma tal que estas acciones o eventos no puedan ser repudiados posteriormente. </a:t>
            </a:r>
            <a:r>
              <a:rPr lang="es-PE" b="1"/>
              <a:t>La autenticidad </a:t>
            </a:r>
            <a:r>
              <a:rPr lang="es-PE"/>
              <a:t>apunta a la habilidad de demostrar la identidad de un sujeto o un recurso, </a:t>
            </a:r>
            <a:endParaRPr/>
          </a:p>
          <a:p>
            <a:pPr marL="0" lvl="0" indent="0" algn="l" rtl="0">
              <a:spcBef>
                <a:spcPts val="0"/>
              </a:spcBef>
              <a:spcAft>
                <a:spcPts val="0"/>
              </a:spcAft>
              <a:buNone/>
            </a:pPr>
            <a:endParaRPr b="1"/>
          </a:p>
          <a:p>
            <a:pPr marL="0" lvl="0" indent="0" algn="l" rtl="0">
              <a:spcBef>
                <a:spcPts val="0"/>
              </a:spcBef>
              <a:spcAft>
                <a:spcPts val="0"/>
              </a:spcAft>
              <a:buNone/>
            </a:pPr>
            <a:r>
              <a:rPr lang="es-PE" b="1"/>
              <a:t>La responsabilidad </a:t>
            </a:r>
            <a:r>
              <a:rPr lang="es-PE"/>
              <a:t>lo hace a la capacidad de rastrear de forma inequívoca las acciones de una entidad (ya sea una persona u otro sistema de software). </a:t>
            </a:r>
            <a:endParaRPr/>
          </a:p>
          <a:p>
            <a:pPr marL="0" lvl="0" indent="0" algn="l" rtl="0">
              <a:spcBef>
                <a:spcPts val="0"/>
              </a:spcBef>
              <a:spcAft>
                <a:spcPts val="0"/>
              </a:spcAft>
              <a:buNone/>
            </a:pPr>
            <a:endParaRPr b="1"/>
          </a:p>
          <a:p>
            <a:pPr marL="0" lvl="0" indent="0" algn="l" rtl="0">
              <a:spcBef>
                <a:spcPts val="0"/>
              </a:spcBef>
              <a:spcAft>
                <a:spcPts val="0"/>
              </a:spcAft>
              <a:buNone/>
            </a:pPr>
            <a:r>
              <a:rPr lang="es-PE" b="1"/>
              <a:t>Integridad: </a:t>
            </a:r>
            <a:r>
              <a:rPr lang="es-PE"/>
              <a:t>Es el atributo que habla de la seguridad de datos y sistema, accesos no autorizados, pérdida de información, protección contra virus, privacidad y seguridad de los datos. ▪ Ej. Sólo usuarios con privilegios de Auditores podrán acceder a los historiales de transacciones de clientes</a:t>
            </a:r>
            <a:endParaRPr b="0"/>
          </a:p>
        </p:txBody>
      </p:sp>
      <p:sp>
        <p:nvSpPr>
          <p:cNvPr id="439" name="Google Shape;439;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30</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30: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8" name="Google Shape;448;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b="1"/>
              <a:t>La modularidad </a:t>
            </a:r>
            <a:r>
              <a:rPr lang="es-PE"/>
              <a:t>trata la capacidad de un sistema o software (formado por componentes discretos) de generar un mínimo impacto sobre los componentes cuando se realiza una modificación sobre uno de ellos. </a:t>
            </a:r>
            <a:endParaRPr/>
          </a:p>
          <a:p>
            <a:pPr marL="0" lvl="0" indent="0" algn="l" rtl="0">
              <a:spcBef>
                <a:spcPts val="0"/>
              </a:spcBef>
              <a:spcAft>
                <a:spcPts val="0"/>
              </a:spcAft>
              <a:buNone/>
            </a:pPr>
            <a:endParaRPr b="1"/>
          </a:p>
          <a:p>
            <a:pPr marL="0" lvl="0" indent="0" algn="l" rtl="0">
              <a:spcBef>
                <a:spcPts val="0"/>
              </a:spcBef>
              <a:spcAft>
                <a:spcPts val="0"/>
              </a:spcAft>
              <a:buNone/>
            </a:pPr>
            <a:r>
              <a:rPr lang="es-PE" b="1"/>
              <a:t>La reusabilidad </a:t>
            </a:r>
            <a:r>
              <a:rPr lang="es-PE"/>
              <a:t>refiere a la habilidad de un componente para ser utilizado en más de un sistema de software o en la construcción de otros componentes. </a:t>
            </a:r>
            <a:endParaRPr/>
          </a:p>
          <a:p>
            <a:pPr marL="0" lvl="0" indent="0" algn="l" rtl="0">
              <a:spcBef>
                <a:spcPts val="0"/>
              </a:spcBef>
              <a:spcAft>
                <a:spcPts val="0"/>
              </a:spcAft>
              <a:buNone/>
            </a:pPr>
            <a:endParaRPr b="1"/>
          </a:p>
          <a:p>
            <a:pPr marL="0" lvl="0" indent="0" algn="l" rtl="0">
              <a:spcBef>
                <a:spcPts val="0"/>
              </a:spcBef>
              <a:spcAft>
                <a:spcPts val="0"/>
              </a:spcAft>
              <a:buNone/>
            </a:pPr>
            <a:r>
              <a:rPr lang="es-PE" b="1"/>
              <a:t>Reusabilidad: </a:t>
            </a:r>
            <a:r>
              <a:rPr lang="es-PE"/>
              <a:t>Indica el esfuerzo para reutilizar un componente de un sistema en otro. ▪ Ej. Las funciones de la entrada de la estructura química deben ser diseñadas para ser reusadas en el nivel de código objeto en otra aplicación. </a:t>
            </a:r>
            <a:endParaRPr/>
          </a:p>
          <a:p>
            <a:pPr marL="0" lvl="0" indent="0" algn="l" rtl="0">
              <a:spcBef>
                <a:spcPts val="0"/>
              </a:spcBef>
              <a:spcAft>
                <a:spcPts val="0"/>
              </a:spcAft>
              <a:buNone/>
            </a:pPr>
            <a:endParaRPr b="1"/>
          </a:p>
          <a:p>
            <a:pPr marL="0" lvl="0" indent="0" algn="l" rtl="0">
              <a:spcBef>
                <a:spcPts val="0"/>
              </a:spcBef>
              <a:spcAft>
                <a:spcPts val="0"/>
              </a:spcAft>
              <a:buNone/>
            </a:pPr>
            <a:r>
              <a:rPr lang="es-PE" b="1"/>
              <a:t>La analizabilidad </a:t>
            </a:r>
            <a:r>
              <a:rPr lang="es-PE"/>
              <a:t>apunta a la facilidad con la cual se puede evaluar el impacto de un cambio sobre el resto del software, diagnosticar las deficiencias o causas de fallos y/o identificar las partes a modificar ante una eventual reformulación de los componentes. </a:t>
            </a:r>
            <a:endParaRPr/>
          </a:p>
          <a:p>
            <a:pPr marL="0" lvl="0" indent="0" algn="l" rtl="0">
              <a:spcBef>
                <a:spcPts val="0"/>
              </a:spcBef>
              <a:spcAft>
                <a:spcPts val="0"/>
              </a:spcAft>
              <a:buNone/>
            </a:pPr>
            <a:endParaRPr b="1"/>
          </a:p>
          <a:p>
            <a:pPr marL="0" lvl="0" indent="0" algn="l" rtl="0">
              <a:spcBef>
                <a:spcPts val="0"/>
              </a:spcBef>
              <a:spcAft>
                <a:spcPts val="0"/>
              </a:spcAft>
              <a:buNone/>
            </a:pPr>
            <a:r>
              <a:rPr lang="es-PE" b="1"/>
              <a:t>La modificabilidad </a:t>
            </a:r>
            <a:r>
              <a:rPr lang="es-PE"/>
              <a:t>referencia la habilidad del producto para ser modificado de forma efectiva y eficiente sin introducir defectos o degradar su desempeño actual. </a:t>
            </a:r>
            <a:endParaRPr/>
          </a:p>
          <a:p>
            <a:pPr marL="0" lvl="0" indent="0" algn="l" rtl="0">
              <a:spcBef>
                <a:spcPts val="0"/>
              </a:spcBef>
              <a:spcAft>
                <a:spcPts val="0"/>
              </a:spcAft>
              <a:buNone/>
            </a:pPr>
            <a:endParaRPr b="1"/>
          </a:p>
          <a:p>
            <a:pPr marL="0" lvl="0" indent="0" algn="l" rtl="0">
              <a:spcBef>
                <a:spcPts val="0"/>
              </a:spcBef>
              <a:spcAft>
                <a:spcPts val="0"/>
              </a:spcAft>
              <a:buNone/>
            </a:pPr>
            <a:r>
              <a:rPr lang="es-PE" b="1"/>
              <a:t>La capacidad de testeo </a:t>
            </a:r>
            <a:r>
              <a:rPr lang="es-PE"/>
              <a:t>representa la facilidad con la cual es posible establecer criterios de prueba (tanto para un sistema como para un componente) junto con la simplicidad que existe para llevar a cabo estas pruebas a fin de determinar si se cumplen o no los criterios establecidos con anterioridad. </a:t>
            </a:r>
            <a:endParaRPr/>
          </a:p>
          <a:p>
            <a:pPr marL="0" lvl="0" indent="0" algn="l" rtl="0">
              <a:spcBef>
                <a:spcPts val="0"/>
              </a:spcBef>
              <a:spcAft>
                <a:spcPts val="0"/>
              </a:spcAft>
              <a:buNone/>
            </a:pPr>
            <a:endParaRPr/>
          </a:p>
          <a:p>
            <a:pPr marL="0" lvl="0" indent="0" algn="l" rtl="0">
              <a:spcBef>
                <a:spcPts val="0"/>
              </a:spcBef>
              <a:spcAft>
                <a:spcPts val="0"/>
              </a:spcAft>
              <a:buNone/>
            </a:pPr>
            <a:r>
              <a:rPr lang="es-PE" b="1"/>
              <a:t>Comprobable: </a:t>
            </a:r>
            <a:r>
              <a:rPr lang="es-PE"/>
              <a:t>se refiere al esfuerzo que se hace para buscar errores. ▪ Ej. La máxima complejidad “ciclomática” de un módulo no puede exceder a 20.</a:t>
            </a:r>
            <a:endParaRPr/>
          </a:p>
          <a:p>
            <a:pPr marL="0" lvl="0" indent="0" algn="l" rtl="0">
              <a:spcBef>
                <a:spcPts val="0"/>
              </a:spcBef>
              <a:spcAft>
                <a:spcPts val="0"/>
              </a:spcAft>
              <a:buNone/>
            </a:pPr>
            <a:endParaRPr b="0"/>
          </a:p>
          <a:p>
            <a:pPr marL="0" lvl="0" indent="0" algn="l" rtl="0">
              <a:spcBef>
                <a:spcPts val="0"/>
              </a:spcBef>
              <a:spcAft>
                <a:spcPts val="0"/>
              </a:spcAft>
              <a:buNone/>
            </a:pPr>
            <a:r>
              <a:rPr lang="es-PE" b="1"/>
              <a:t>Flexibilidad: </a:t>
            </a:r>
            <a:r>
              <a:rPr lang="es-PE"/>
              <a:t>es la medida que dice cuán fácil es agregar nuevas capacidades al sistema. ▪ Un programador que tenga al menos 6 meses de experiencia dando soporte a este sistema debería ser capaz de instalar un dispositivo de salida externo (incluyendo modificación de código y pruebas) en no más de una hora.</a:t>
            </a:r>
            <a:endParaRPr/>
          </a:p>
          <a:p>
            <a:pPr marL="0" lvl="0" indent="0" algn="l" rtl="0">
              <a:spcBef>
                <a:spcPts val="0"/>
              </a:spcBef>
              <a:spcAft>
                <a:spcPts val="0"/>
              </a:spcAft>
              <a:buNone/>
            </a:pPr>
            <a:endParaRPr b="0"/>
          </a:p>
          <a:p>
            <a:pPr marL="0" lvl="0" indent="0" algn="l" rtl="0">
              <a:spcBef>
                <a:spcPts val="0"/>
              </a:spcBef>
              <a:spcAft>
                <a:spcPts val="0"/>
              </a:spcAft>
              <a:buNone/>
            </a:pPr>
            <a:r>
              <a:rPr lang="es-PE" b="1"/>
              <a:t>Mantenimiento: </a:t>
            </a:r>
            <a:r>
              <a:rPr lang="es-PE"/>
              <a:t>Indica cuán fácil es corregir un defecto o realizar una modificación al sistema. ▪ Ej. Un programador deberá ser capaz de modificar un reporte existente en 5 horas o menos de trabajo.</a:t>
            </a:r>
            <a:endParaRPr/>
          </a:p>
          <a:p>
            <a:pPr marL="0" lvl="0" indent="0" algn="l" rtl="0">
              <a:spcBef>
                <a:spcPts val="0"/>
              </a:spcBef>
              <a:spcAft>
                <a:spcPts val="0"/>
              </a:spcAft>
              <a:buNone/>
            </a:pPr>
            <a:endParaRPr b="0"/>
          </a:p>
          <a:p>
            <a:pPr marL="0" lvl="0" indent="0" algn="l" rtl="0">
              <a:spcBef>
                <a:spcPts val="0"/>
              </a:spcBef>
              <a:spcAft>
                <a:spcPts val="0"/>
              </a:spcAft>
              <a:buNone/>
            </a:pPr>
            <a:endParaRPr b="0"/>
          </a:p>
        </p:txBody>
      </p:sp>
      <p:sp>
        <p:nvSpPr>
          <p:cNvPr id="449" name="Google Shape;449;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31</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31: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8" name="Google Shape;458;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b="1"/>
              <a:t>Portabilidad: </a:t>
            </a:r>
            <a:r>
              <a:rPr lang="es-PE"/>
              <a:t>Mide el esfuerzo requerido para migrar una parte del software de un ambiente operacional a otro.</a:t>
            </a:r>
            <a:endParaRPr/>
          </a:p>
          <a:p>
            <a:pPr marL="0" lvl="0" indent="0" algn="l" rtl="0">
              <a:spcBef>
                <a:spcPts val="0"/>
              </a:spcBef>
              <a:spcAft>
                <a:spcPts val="0"/>
              </a:spcAft>
              <a:buNone/>
            </a:pPr>
            <a:endParaRPr/>
          </a:p>
          <a:p>
            <a:pPr marL="0" lvl="0" indent="0" algn="l" rtl="0">
              <a:spcBef>
                <a:spcPts val="0"/>
              </a:spcBef>
              <a:spcAft>
                <a:spcPts val="0"/>
              </a:spcAft>
              <a:buNone/>
            </a:pPr>
            <a:r>
              <a:rPr lang="es-PE" b="1"/>
              <a:t>La adaptabilidad </a:t>
            </a:r>
            <a:r>
              <a:rPr lang="es-PE"/>
              <a:t>refiere a la capacidad del producto para acomodarse de forma efectiva y eficiente a entornos de hardware y software previamente definidos. </a:t>
            </a:r>
            <a:endParaRPr/>
          </a:p>
          <a:p>
            <a:pPr marL="0" lvl="0" indent="0" algn="l" rtl="0">
              <a:spcBef>
                <a:spcPts val="0"/>
              </a:spcBef>
              <a:spcAft>
                <a:spcPts val="0"/>
              </a:spcAft>
              <a:buNone/>
            </a:pPr>
            <a:r>
              <a:rPr lang="es-PE" b="1"/>
              <a:t>La facilidad de instalación </a:t>
            </a:r>
            <a:r>
              <a:rPr lang="es-PE"/>
              <a:t>representa la sencillez con la cual es posible instalar/desinstalar el producto exitosamente en un entorno determinado. </a:t>
            </a:r>
            <a:endParaRPr/>
          </a:p>
          <a:p>
            <a:pPr marL="0" lvl="0" indent="0" algn="l" rtl="0">
              <a:spcBef>
                <a:spcPts val="0"/>
              </a:spcBef>
              <a:spcAft>
                <a:spcPts val="0"/>
              </a:spcAft>
              <a:buNone/>
            </a:pPr>
            <a:r>
              <a:rPr lang="es-PE" b="1"/>
              <a:t>La capacidad de reemplazo </a:t>
            </a:r>
            <a:r>
              <a:rPr lang="es-PE"/>
              <a:t>trata la habilidad del producto para ser utilizado en lugar de otro software con el mismo propósito en el mismo entorno. </a:t>
            </a:r>
            <a:endParaRPr b="0"/>
          </a:p>
          <a:p>
            <a:pPr marL="0" lvl="0" indent="0" algn="l" rtl="0">
              <a:spcBef>
                <a:spcPts val="0"/>
              </a:spcBef>
              <a:spcAft>
                <a:spcPts val="0"/>
              </a:spcAft>
              <a:buNone/>
            </a:pPr>
            <a:endParaRPr b="0"/>
          </a:p>
        </p:txBody>
      </p:sp>
      <p:sp>
        <p:nvSpPr>
          <p:cNvPr id="459" name="Google Shape;459;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32</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p32: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0" name="Google Shape;470;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33</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33: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7" name="Google Shape;477;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8" name="Google Shape;478;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34</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p34: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5" name="Google Shape;485;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6" name="Google Shape;486;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35</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35: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37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Diapositiva de título">
  <p:cSld name="1_Diapositiva de título">
    <p:spTree>
      <p:nvGrpSpPr>
        <p:cNvPr id="1" name="Shape 14"/>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iapositiva de título" userDrawn="1">
  <p:cSld name="TITLE">
    <p:spTree>
      <p:nvGrpSpPr>
        <p:cNvPr id="1" name="Shape 1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1"/>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ubtema - 1 Imagen A" userDrawn="1">
  <p:cSld name="Subtema - 1 Imagen A">
    <p:spTree>
      <p:nvGrpSpPr>
        <p:cNvPr id="1" name="Shape 2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emf"/><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6" name="Rectangle 3">
            <a:extLst>
              <a:ext uri="{FF2B5EF4-FFF2-40B4-BE49-F238E27FC236}">
                <a16:creationId xmlns:a16="http://schemas.microsoft.com/office/drawing/2014/main" id="{39C0044A-6D10-654E-9DFA-A79EFCDC5C3D}"/>
              </a:ext>
            </a:extLst>
          </p:cNvPr>
          <p:cNvSpPr/>
          <p:nvPr userDrawn="1"/>
        </p:nvSpPr>
        <p:spPr>
          <a:xfrm>
            <a:off x="7204422" y="5371562"/>
            <a:ext cx="1544012" cy="184666"/>
          </a:xfrm>
          <a:prstGeom prst="rect">
            <a:avLst/>
          </a:prstGeom>
        </p:spPr>
        <p:txBody>
          <a:bodyPr wrap="none">
            <a:spAutoFit/>
          </a:bodyPr>
          <a:lstStyle/>
          <a:p>
            <a:pPr algn="r"/>
            <a:r>
              <a:rPr lang="es-ES_tradnl" sz="600" dirty="0">
                <a:solidFill>
                  <a:schemeClr val="bg1">
                    <a:lumMod val="50000"/>
                  </a:schemeClr>
                </a:solidFill>
              </a:rPr>
              <a:t>© ISIL. Todos los derechos reservados</a:t>
            </a:r>
          </a:p>
        </p:txBody>
      </p:sp>
      <p:sp>
        <p:nvSpPr>
          <p:cNvPr id="7" name="TextBox 7">
            <a:extLst>
              <a:ext uri="{FF2B5EF4-FFF2-40B4-BE49-F238E27FC236}">
                <a16:creationId xmlns:a16="http://schemas.microsoft.com/office/drawing/2014/main" id="{2E4B7A4C-1270-624F-B2D7-603C58B0101F}"/>
              </a:ext>
            </a:extLst>
          </p:cNvPr>
          <p:cNvSpPr txBox="1"/>
          <p:nvPr userDrawn="1"/>
        </p:nvSpPr>
        <p:spPr>
          <a:xfrm>
            <a:off x="876300" y="5343295"/>
            <a:ext cx="2164375" cy="215444"/>
          </a:xfrm>
          <a:prstGeom prst="rect">
            <a:avLst/>
          </a:prstGeom>
          <a:noFill/>
        </p:spPr>
        <p:txBody>
          <a:bodyPr wrap="none" rtlCol="0">
            <a:spAutoFit/>
          </a:bodyPr>
          <a:lstStyle/>
          <a:p>
            <a:r>
              <a:rPr lang="en-US" sz="800" kern="1200" baseline="0" dirty="0">
                <a:solidFill>
                  <a:schemeClr val="bg1">
                    <a:lumMod val="50000"/>
                  </a:schemeClr>
                </a:solidFill>
                <a:latin typeface="Calibri"/>
                <a:ea typeface="+mn-ea"/>
                <a:cs typeface="Calibri"/>
                <a:sym typeface="Wingdings"/>
              </a:rPr>
              <a:t>CALIDAD Y PRUEBAS DE SOFTWARE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TEMA 03</a:t>
            </a:r>
            <a:endParaRPr lang="en-US" sz="800" dirty="0">
              <a:solidFill>
                <a:schemeClr val="bg1">
                  <a:lumMod val="50000"/>
                </a:schemeClr>
              </a:solidFill>
              <a:latin typeface="Calibri"/>
              <a:cs typeface="Calibri"/>
            </a:endParaRPr>
          </a:p>
        </p:txBody>
      </p:sp>
      <p:pic>
        <p:nvPicPr>
          <p:cNvPr id="8" name="Imagen 7">
            <a:extLst>
              <a:ext uri="{FF2B5EF4-FFF2-40B4-BE49-F238E27FC236}">
                <a16:creationId xmlns:a16="http://schemas.microsoft.com/office/drawing/2014/main" id="{ECC0F95B-27C4-864D-80C9-77AD10D6D845}"/>
              </a:ext>
            </a:extLst>
          </p:cNvPr>
          <p:cNvPicPr>
            <a:picLocks noChangeAspect="1"/>
          </p:cNvPicPr>
          <p:nvPr userDrawn="1"/>
        </p:nvPicPr>
        <p:blipFill>
          <a:blip r:embed="rId6" cstate="screen">
            <a:alphaModFix amt="20000"/>
            <a:extLst>
              <a:ext uri="{28A0092B-C50C-407E-A947-70E740481C1C}">
                <a14:useLocalDpi xmlns:a14="http://schemas.microsoft.com/office/drawing/2010/main"/>
              </a:ext>
            </a:extLst>
          </a:blip>
          <a:stretch>
            <a:fillRect/>
          </a:stretch>
        </p:blipFill>
        <p:spPr>
          <a:xfrm>
            <a:off x="506316" y="5349405"/>
            <a:ext cx="369984" cy="206823"/>
          </a:xfrm>
          <a:prstGeom prst="rect">
            <a:avLst/>
          </a:prstGeom>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880" userDrawn="1">
          <p15:clr>
            <a:srgbClr val="F26B43"/>
          </p15:clr>
        </p15:guide>
        <p15:guide id="2" orient="horz" pos="1800" userDrawn="1">
          <p15:clr>
            <a:srgbClr val="F26B43"/>
          </p15:clr>
        </p15:guide>
        <p15:guide id="3" pos="2767" userDrawn="1">
          <p15:clr>
            <a:srgbClr val="F26B43"/>
          </p15:clr>
        </p15:guide>
        <p15:guide id="4" pos="2993" userDrawn="1">
          <p15:clr>
            <a:srgbClr val="F26B43"/>
          </p15:clr>
        </p15:guide>
        <p15:guide id="5" pos="295" userDrawn="1">
          <p15:clr>
            <a:srgbClr val="F26B43"/>
          </p15:clr>
        </p15:guide>
        <p15:guide id="6" pos="431" userDrawn="1">
          <p15:clr>
            <a:srgbClr val="F26B43"/>
          </p15:clr>
        </p15:guide>
        <p15:guide id="7" pos="5465" userDrawn="1">
          <p15:clr>
            <a:srgbClr val="F26B43"/>
          </p15:clr>
        </p15:guide>
        <p15:guide id="8" orient="horz" pos="303" userDrawn="1">
          <p15:clr>
            <a:srgbClr val="F26B43"/>
          </p15:clr>
        </p15:guide>
        <p15:guide id="9" orient="horz" pos="575" userDrawn="1">
          <p15:clr>
            <a:srgbClr val="F26B43"/>
          </p15:clr>
        </p15:guide>
        <p15:guide id="10" orient="horz" pos="3297"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emf"/></Relationships>
</file>

<file path=ppt/slides/_rels/slide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emf"/><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38.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11" name="Rectángulo 10">
            <a:extLst>
              <a:ext uri="{FF2B5EF4-FFF2-40B4-BE49-F238E27FC236}">
                <a16:creationId xmlns:a16="http://schemas.microsoft.com/office/drawing/2014/main" id="{0F0AAF09-BF15-484D-A011-8096271BAA1F}"/>
              </a:ext>
            </a:extLst>
          </p:cNvPr>
          <p:cNvSpPr/>
          <p:nvPr/>
        </p:nvSpPr>
        <p:spPr>
          <a:xfrm>
            <a:off x="182879" y="5120640"/>
            <a:ext cx="4304965" cy="46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3" name="CuadroTexto 12">
            <a:extLst>
              <a:ext uri="{FF2B5EF4-FFF2-40B4-BE49-F238E27FC236}">
                <a16:creationId xmlns:a16="http://schemas.microsoft.com/office/drawing/2014/main" id="{D202B806-5D3A-5547-B256-9C7C7F3AF383}"/>
              </a:ext>
            </a:extLst>
          </p:cNvPr>
          <p:cNvSpPr txBox="1"/>
          <p:nvPr/>
        </p:nvSpPr>
        <p:spPr>
          <a:xfrm>
            <a:off x="503238" y="808689"/>
            <a:ext cx="3104743" cy="138499"/>
          </a:xfrm>
          <a:prstGeom prst="rect">
            <a:avLst/>
          </a:prstGeom>
          <a:noFill/>
        </p:spPr>
        <p:txBody>
          <a:bodyPr wrap="square" lIns="0" tIns="0" rIns="0" bIns="0" rtlCol="0">
            <a:spAutoFit/>
          </a:bodyPr>
          <a:lstStyle/>
          <a:p>
            <a:r>
              <a:rPr lang="es-ES_tradnl" sz="900" b="1" dirty="0">
                <a:solidFill>
                  <a:srgbClr val="6C6D6C"/>
                </a:solidFill>
                <a:latin typeface="Calibri" charset="0"/>
                <a:cs typeface="Calibri" charset="0"/>
              </a:rPr>
              <a:t>CALIDAD Y PRUEBAS DE SOFTWARE</a:t>
            </a:r>
          </a:p>
        </p:txBody>
      </p:sp>
      <p:sp>
        <p:nvSpPr>
          <p:cNvPr id="25" name="Rectángulo 24">
            <a:extLst>
              <a:ext uri="{FF2B5EF4-FFF2-40B4-BE49-F238E27FC236}">
                <a16:creationId xmlns:a16="http://schemas.microsoft.com/office/drawing/2014/main" id="{E5AD4041-8E50-5C4E-8051-6C2A7BCD6654}"/>
              </a:ext>
            </a:extLst>
          </p:cNvPr>
          <p:cNvSpPr/>
          <p:nvPr/>
        </p:nvSpPr>
        <p:spPr>
          <a:xfrm>
            <a:off x="503239" y="2177570"/>
            <a:ext cx="3056852" cy="886397"/>
          </a:xfrm>
          <a:prstGeom prst="rect">
            <a:avLst/>
          </a:prstGeom>
        </p:spPr>
        <p:txBody>
          <a:bodyPr wrap="square" lIns="0" tIns="0" rIns="0" bIns="0">
            <a:spAutoFit/>
          </a:bodyPr>
          <a:lstStyle/>
          <a:p>
            <a:pPr>
              <a:lnSpc>
                <a:spcPct val="90000"/>
              </a:lnSpc>
            </a:pPr>
            <a:r>
              <a:rPr lang="es-PE" sz="3200" dirty="0">
                <a:latin typeface="Graphik-Medium" charset="0"/>
                <a:ea typeface="Graphik-Medium" charset="0"/>
                <a:cs typeface="Graphik-Medium" charset="0"/>
              </a:rPr>
              <a:t>MODELOS </a:t>
            </a:r>
            <a:br>
              <a:rPr lang="es-PE" sz="3200" dirty="0">
                <a:latin typeface="Graphik-Medium" charset="0"/>
                <a:ea typeface="Graphik-Medium" charset="0"/>
                <a:cs typeface="Graphik-Medium" charset="0"/>
              </a:rPr>
            </a:br>
            <a:r>
              <a:rPr lang="es-PE" sz="3200" b="1" dirty="0">
                <a:latin typeface="Graphik Bold" charset="0"/>
                <a:ea typeface="Graphik Bold" charset="0"/>
                <a:cs typeface="Graphik Bold" charset="0"/>
              </a:rPr>
              <a:t>DE CALIDAD</a:t>
            </a:r>
          </a:p>
        </p:txBody>
      </p:sp>
      <p:sp>
        <p:nvSpPr>
          <p:cNvPr id="26" name="Rectángulo 25">
            <a:extLst>
              <a:ext uri="{FF2B5EF4-FFF2-40B4-BE49-F238E27FC236}">
                <a16:creationId xmlns:a16="http://schemas.microsoft.com/office/drawing/2014/main" id="{C279052E-66B0-7745-A180-A552528E0449}"/>
              </a:ext>
            </a:extLst>
          </p:cNvPr>
          <p:cNvSpPr/>
          <p:nvPr/>
        </p:nvSpPr>
        <p:spPr>
          <a:xfrm>
            <a:off x="503238" y="3219842"/>
            <a:ext cx="2845526" cy="420884"/>
          </a:xfrm>
          <a:prstGeom prst="rect">
            <a:avLst/>
          </a:prstGeom>
        </p:spPr>
        <p:txBody>
          <a:bodyPr wrap="square" lIns="0" tIns="0" rIns="0" bIns="0">
            <a:spAutoFit/>
          </a:bodyPr>
          <a:lstStyle/>
          <a:p>
            <a:pPr marL="177800" lvl="0" indent="-177800">
              <a:lnSpc>
                <a:spcPct val="120000"/>
              </a:lnSpc>
              <a:buClr>
                <a:srgbClr val="4E697E"/>
              </a:buClr>
              <a:buSzPct val="100000"/>
              <a:buFont typeface="Arial"/>
              <a:buChar char="•"/>
            </a:pPr>
            <a:r>
              <a:rPr lang="es-PE" sz="1200" dirty="0">
                <a:latin typeface="Graphik-Medium" charset="0"/>
                <a:sym typeface="Calibri"/>
              </a:rPr>
              <a:t>Calidad del Software</a:t>
            </a:r>
          </a:p>
          <a:p>
            <a:pPr marL="177800" indent="-177800">
              <a:lnSpc>
                <a:spcPct val="120000"/>
              </a:lnSpc>
              <a:buClr>
                <a:srgbClr val="4E697E"/>
              </a:buClr>
              <a:buSzPct val="100000"/>
              <a:buFont typeface="Arial"/>
              <a:buChar char="•"/>
            </a:pPr>
            <a:r>
              <a:rPr lang="es-PE" sz="1200" dirty="0">
                <a:latin typeface="Graphik-Medium" charset="0"/>
                <a:sym typeface="Calibri"/>
              </a:rPr>
              <a:t>Atributos de calidad</a:t>
            </a:r>
            <a:endParaRPr lang="es-PE" sz="1200" dirty="0">
              <a:latin typeface="Graphik-Medium" charset="0"/>
            </a:endParaRPr>
          </a:p>
        </p:txBody>
      </p:sp>
      <p:sp>
        <p:nvSpPr>
          <p:cNvPr id="27" name="CuadroTexto 26">
            <a:extLst>
              <a:ext uri="{FF2B5EF4-FFF2-40B4-BE49-F238E27FC236}">
                <a16:creationId xmlns:a16="http://schemas.microsoft.com/office/drawing/2014/main" id="{5F0B937F-18DF-4A42-B962-E139025572A7}"/>
              </a:ext>
            </a:extLst>
          </p:cNvPr>
          <p:cNvSpPr txBox="1"/>
          <p:nvPr/>
        </p:nvSpPr>
        <p:spPr>
          <a:xfrm>
            <a:off x="743902" y="1819386"/>
            <a:ext cx="1457648" cy="307777"/>
          </a:xfrm>
          <a:prstGeom prst="rect">
            <a:avLst/>
          </a:prstGeom>
          <a:noFill/>
        </p:spPr>
        <p:txBody>
          <a:bodyPr wrap="square" lIns="0" tIns="0" rIns="0" bIns="0" rtlCol="0">
            <a:spAutoFit/>
          </a:bodyPr>
          <a:lstStyle/>
          <a:p>
            <a:r>
              <a:rPr lang="es-ES_tradnl" sz="2000" b="1" dirty="0">
                <a:solidFill>
                  <a:srgbClr val="4E697E"/>
                </a:solidFill>
                <a:latin typeface="Calibri" charset="0"/>
                <a:ea typeface="Calibri" charset="0"/>
                <a:cs typeface="Calibri" charset="0"/>
              </a:rPr>
              <a:t>TEMA 03</a:t>
            </a:r>
          </a:p>
        </p:txBody>
      </p:sp>
      <p:pic>
        <p:nvPicPr>
          <p:cNvPr id="29" name="Imagen 28">
            <a:extLst>
              <a:ext uri="{FF2B5EF4-FFF2-40B4-BE49-F238E27FC236}">
                <a16:creationId xmlns:a16="http://schemas.microsoft.com/office/drawing/2014/main" id="{C9EDB2C0-7F95-134A-910D-BCA7E7DF8D3D}"/>
              </a:ext>
            </a:extLst>
          </p:cNvPr>
          <p:cNvPicPr>
            <a:picLocks noChangeAspect="1"/>
          </p:cNvPicPr>
          <p:nvPr/>
        </p:nvPicPr>
        <p:blipFill>
          <a:blip r:embed="rId3"/>
          <a:stretch>
            <a:fillRect/>
          </a:stretch>
        </p:blipFill>
        <p:spPr>
          <a:xfrm>
            <a:off x="507464" y="1883411"/>
            <a:ext cx="166865" cy="170453"/>
          </a:xfrm>
          <a:prstGeom prst="rect">
            <a:avLst/>
          </a:prstGeom>
        </p:spPr>
      </p:pic>
      <p:pic>
        <p:nvPicPr>
          <p:cNvPr id="30" name="Imagen 29">
            <a:extLst>
              <a:ext uri="{FF2B5EF4-FFF2-40B4-BE49-F238E27FC236}">
                <a16:creationId xmlns:a16="http://schemas.microsoft.com/office/drawing/2014/main" id="{ADD59D5A-664B-CF40-BFC7-7FFCAD1A6AE0}"/>
              </a:ext>
            </a:extLst>
          </p:cNvPr>
          <p:cNvPicPr>
            <a:picLocks noChangeAspect="1"/>
          </p:cNvPicPr>
          <p:nvPr/>
        </p:nvPicPr>
        <p:blipFill>
          <a:blip r:embed="rId4"/>
          <a:stretch>
            <a:fillRect/>
          </a:stretch>
        </p:blipFill>
        <p:spPr>
          <a:xfrm>
            <a:off x="3752850" y="0"/>
            <a:ext cx="5391150" cy="5715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4545880D-3F81-974D-B2E3-398D201BC9E3}"/>
              </a:ext>
            </a:extLst>
          </p:cNvPr>
          <p:cNvSpPr/>
          <p:nvPr/>
        </p:nvSpPr>
        <p:spPr>
          <a:xfrm>
            <a:off x="0" y="1"/>
            <a:ext cx="9144000" cy="5715000"/>
          </a:xfrm>
          <a:prstGeom prst="rect">
            <a:avLst/>
          </a:prstGeom>
          <a:solidFill>
            <a:srgbClr val="ED4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3" name="Imagen 2">
            <a:extLst>
              <a:ext uri="{FF2B5EF4-FFF2-40B4-BE49-F238E27FC236}">
                <a16:creationId xmlns:a16="http://schemas.microsoft.com/office/drawing/2014/main" id="{2225BE53-B128-184D-ABFB-7B58420291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946969"/>
            <a:ext cx="2072213" cy="3898064"/>
          </a:xfrm>
          <a:prstGeom prst="rect">
            <a:avLst/>
          </a:prstGeom>
        </p:spPr>
      </p:pic>
      <p:sp>
        <p:nvSpPr>
          <p:cNvPr id="4" name="Rectángulo 3">
            <a:extLst>
              <a:ext uri="{FF2B5EF4-FFF2-40B4-BE49-F238E27FC236}">
                <a16:creationId xmlns:a16="http://schemas.microsoft.com/office/drawing/2014/main" id="{D79BE8FE-121D-E54F-BC09-45718AE7B46C}"/>
              </a:ext>
            </a:extLst>
          </p:cNvPr>
          <p:cNvSpPr/>
          <p:nvPr/>
        </p:nvSpPr>
        <p:spPr>
          <a:xfrm>
            <a:off x="149817" y="3724759"/>
            <a:ext cx="1037633" cy="1069383"/>
          </a:xfrm>
          <a:prstGeom prst="rect">
            <a:avLst/>
          </a:prstGeom>
          <a:solidFill>
            <a:srgbClr val="ED4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5" name="CuadroTexto 4">
            <a:extLst>
              <a:ext uri="{FF2B5EF4-FFF2-40B4-BE49-F238E27FC236}">
                <a16:creationId xmlns:a16="http://schemas.microsoft.com/office/drawing/2014/main" id="{7A8DBDAB-31B4-6A43-A42D-7A3DBE0A4E5C}"/>
              </a:ext>
            </a:extLst>
          </p:cNvPr>
          <p:cNvSpPr txBox="1"/>
          <p:nvPr/>
        </p:nvSpPr>
        <p:spPr>
          <a:xfrm>
            <a:off x="2519363" y="2540738"/>
            <a:ext cx="4581728" cy="812530"/>
          </a:xfrm>
          <a:prstGeom prst="rect">
            <a:avLst/>
          </a:prstGeom>
          <a:noFill/>
        </p:spPr>
        <p:txBody>
          <a:bodyPr wrap="square" lIns="0" tIns="0" rIns="0" bIns="0" rtlCol="0">
            <a:spAutoFit/>
          </a:bodyPr>
          <a:lstStyle/>
          <a:p>
            <a:pPr>
              <a:lnSpc>
                <a:spcPct val="80000"/>
              </a:lnSpc>
            </a:pPr>
            <a:r>
              <a:rPr lang="es-ES_tradnl" sz="3300" dirty="0">
                <a:solidFill>
                  <a:schemeClr val="bg1"/>
                </a:solidFill>
                <a:latin typeface="Graphik Regular" charset="0"/>
                <a:ea typeface="Graphik Regular" charset="0"/>
                <a:cs typeface="Graphik Regular" charset="0"/>
              </a:rPr>
              <a:t>INTRODUCCIÓN</a:t>
            </a:r>
          </a:p>
          <a:p>
            <a:pPr>
              <a:lnSpc>
                <a:spcPct val="80000"/>
              </a:lnSpc>
            </a:pPr>
            <a:r>
              <a:rPr lang="es-ES_tradnl" sz="3300" b="1" dirty="0">
                <a:solidFill>
                  <a:schemeClr val="bg1"/>
                </a:solidFill>
                <a:latin typeface="Graphik Bold" charset="0"/>
                <a:ea typeface="Graphik Bold" charset="0"/>
                <a:cs typeface="Graphik Bold" charset="0"/>
              </a:rPr>
              <a:t>DE LA SESIÓN</a:t>
            </a:r>
          </a:p>
        </p:txBody>
      </p:sp>
      <p:pic>
        <p:nvPicPr>
          <p:cNvPr id="6" name="Imagen 5">
            <a:extLst>
              <a:ext uri="{FF2B5EF4-FFF2-40B4-BE49-F238E27FC236}">
                <a16:creationId xmlns:a16="http://schemas.microsoft.com/office/drawing/2014/main" id="{0B4E3513-B3C2-0643-91DE-691B3C2988BD}"/>
              </a:ext>
            </a:extLst>
          </p:cNvPr>
          <p:cNvPicPr>
            <a:picLocks noChangeAspect="1"/>
          </p:cNvPicPr>
          <p:nvPr/>
        </p:nvPicPr>
        <p:blipFill>
          <a:blip r:embed="rId3">
            <a:alphaModFix amt="16000"/>
          </a:blip>
          <a:stretch>
            <a:fillRect/>
          </a:stretch>
        </p:blipFill>
        <p:spPr>
          <a:xfrm>
            <a:off x="334433" y="3817749"/>
            <a:ext cx="809264" cy="809264"/>
          </a:xfrm>
          <a:prstGeom prst="rect">
            <a:avLst/>
          </a:prstGeom>
        </p:spPr>
      </p:pic>
      <p:pic>
        <p:nvPicPr>
          <p:cNvPr id="7" name="Imagen 6">
            <a:extLst>
              <a:ext uri="{FF2B5EF4-FFF2-40B4-BE49-F238E27FC236}">
                <a16:creationId xmlns:a16="http://schemas.microsoft.com/office/drawing/2014/main" id="{3546672E-014E-DB4B-B7FF-E112847921C7}"/>
              </a:ext>
            </a:extLst>
          </p:cNvPr>
          <p:cNvPicPr>
            <a:picLocks noChangeAspect="1"/>
          </p:cNvPicPr>
          <p:nvPr/>
        </p:nvPicPr>
        <p:blipFill>
          <a:blip r:embed="rId4"/>
          <a:stretch>
            <a:fillRect/>
          </a:stretch>
        </p:blipFill>
        <p:spPr>
          <a:xfrm>
            <a:off x="2528619" y="2194222"/>
            <a:ext cx="202176" cy="208211"/>
          </a:xfrm>
          <a:prstGeom prst="rect">
            <a:avLst/>
          </a:prstGeom>
        </p:spPr>
      </p:pic>
    </p:spTree>
    <p:extLst>
      <p:ext uri="{BB962C8B-B14F-4D97-AF65-F5344CB8AC3E}">
        <p14:creationId xmlns:p14="http://schemas.microsoft.com/office/powerpoint/2010/main" val="8715581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4" name="Rectángulo 3">
            <a:extLst>
              <a:ext uri="{FF2B5EF4-FFF2-40B4-BE49-F238E27FC236}">
                <a16:creationId xmlns:a16="http://schemas.microsoft.com/office/drawing/2014/main" id="{284AF27B-D7F1-AF4E-8975-E9E8013E1299}"/>
              </a:ext>
            </a:extLst>
          </p:cNvPr>
          <p:cNvSpPr/>
          <p:nvPr/>
        </p:nvSpPr>
        <p:spPr>
          <a:xfrm>
            <a:off x="6918960" y="5364480"/>
            <a:ext cx="2133600" cy="2244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5" name="object 7">
            <a:extLst>
              <a:ext uri="{FF2B5EF4-FFF2-40B4-BE49-F238E27FC236}">
                <a16:creationId xmlns:a16="http://schemas.microsoft.com/office/drawing/2014/main" id="{AD8581FF-AC12-404D-9A71-1E85688272D4}"/>
              </a:ext>
            </a:extLst>
          </p:cNvPr>
          <p:cNvSpPr txBox="1"/>
          <p:nvPr/>
        </p:nvSpPr>
        <p:spPr>
          <a:xfrm>
            <a:off x="1282299" y="918372"/>
            <a:ext cx="5200798" cy="1723549"/>
          </a:xfrm>
          <a:prstGeom prst="rect">
            <a:avLst/>
          </a:prstGeom>
        </p:spPr>
        <p:txBody>
          <a:bodyPr vert="horz" wrap="square" lIns="0" tIns="0" rIns="0" bIns="0" rtlCol="0">
            <a:spAutoFit/>
          </a:bodyPr>
          <a:lstStyle/>
          <a:p>
            <a:pPr marR="0" lvl="0" algn="l" rtl="0">
              <a:spcBef>
                <a:spcPts val="0"/>
              </a:spcBef>
              <a:spcAft>
                <a:spcPts val="0"/>
              </a:spcAft>
              <a:buClr>
                <a:schemeClr val="dk1"/>
              </a:buClr>
              <a:buSzPts val="1600"/>
            </a:pPr>
            <a:r>
              <a:rPr lang="es-PE" dirty="0">
                <a:solidFill>
                  <a:schemeClr val="dk1"/>
                </a:solidFill>
                <a:latin typeface="Calibri"/>
                <a:ea typeface="Calibri"/>
                <a:cs typeface="Calibri"/>
                <a:sym typeface="Calibri"/>
              </a:rPr>
              <a:t>Hoy las diferentes empresas, “inmersas en una mejora continua de sus procesos, han identificado la </a:t>
            </a:r>
            <a:r>
              <a:rPr lang="es-PE" b="1" dirty="0">
                <a:solidFill>
                  <a:schemeClr val="dk1"/>
                </a:solidFill>
                <a:latin typeface="Calibri"/>
                <a:ea typeface="Calibri"/>
                <a:cs typeface="Calibri"/>
                <a:sym typeface="Calibri"/>
              </a:rPr>
              <a:t>importancia </a:t>
            </a:r>
            <a:r>
              <a:rPr lang="es-PE" dirty="0">
                <a:solidFill>
                  <a:schemeClr val="dk1"/>
                </a:solidFill>
                <a:latin typeface="Calibri"/>
                <a:ea typeface="Calibri"/>
                <a:cs typeface="Calibri"/>
                <a:sym typeface="Calibri"/>
              </a:rPr>
              <a:t>de hacerse a la </a:t>
            </a:r>
            <a:r>
              <a:rPr lang="es-PE" b="1" dirty="0">
                <a:solidFill>
                  <a:schemeClr val="dk1"/>
                </a:solidFill>
                <a:latin typeface="Calibri"/>
                <a:ea typeface="Calibri"/>
                <a:cs typeface="Calibri"/>
                <a:sym typeface="Calibri"/>
              </a:rPr>
              <a:t>implementación de modelos </a:t>
            </a:r>
            <a:r>
              <a:rPr lang="es-PE" dirty="0">
                <a:solidFill>
                  <a:schemeClr val="dk1"/>
                </a:solidFill>
                <a:latin typeface="Calibri"/>
                <a:ea typeface="Calibri"/>
                <a:cs typeface="Calibri"/>
                <a:sym typeface="Calibri"/>
              </a:rPr>
              <a:t>que permitan </a:t>
            </a:r>
            <a:r>
              <a:rPr lang="es-PE" b="1" dirty="0">
                <a:solidFill>
                  <a:schemeClr val="dk1"/>
                </a:solidFill>
                <a:latin typeface="Calibri"/>
                <a:ea typeface="Calibri"/>
                <a:cs typeface="Calibri"/>
                <a:sym typeface="Calibri"/>
              </a:rPr>
              <a:t>certificar y garantizar la calidad de sus productos”</a:t>
            </a:r>
            <a:r>
              <a:rPr lang="es-PE" dirty="0">
                <a:solidFill>
                  <a:schemeClr val="dk1"/>
                </a:solidFill>
                <a:latin typeface="Calibri"/>
                <a:ea typeface="Calibri"/>
                <a:cs typeface="Calibri"/>
                <a:sym typeface="Calibri"/>
              </a:rPr>
              <a:t>.</a:t>
            </a:r>
            <a:endParaRPr lang="es-PE" dirty="0"/>
          </a:p>
          <a:p>
            <a:pPr marL="101601" marR="0" lvl="0" algn="l" rtl="0">
              <a:spcBef>
                <a:spcPts val="0"/>
              </a:spcBef>
              <a:spcAft>
                <a:spcPts val="0"/>
              </a:spcAft>
              <a:buClr>
                <a:schemeClr val="dk1"/>
              </a:buClr>
              <a:buSzPts val="1600"/>
            </a:pPr>
            <a:endParaRPr lang="es-PE" dirty="0">
              <a:solidFill>
                <a:schemeClr val="dk1"/>
              </a:solidFill>
              <a:latin typeface="Calibri"/>
              <a:ea typeface="Calibri"/>
              <a:cs typeface="Calibri"/>
              <a:sym typeface="Calibri"/>
            </a:endParaRPr>
          </a:p>
          <a:p>
            <a:pPr marR="0" lvl="0" algn="l" rtl="0">
              <a:spcBef>
                <a:spcPts val="0"/>
              </a:spcBef>
              <a:spcAft>
                <a:spcPts val="0"/>
              </a:spcAft>
              <a:buClr>
                <a:schemeClr val="dk1"/>
              </a:buClr>
              <a:buSzPts val="1600"/>
            </a:pPr>
            <a:r>
              <a:rPr lang="es-PE" dirty="0">
                <a:solidFill>
                  <a:schemeClr val="dk1"/>
                </a:solidFill>
                <a:latin typeface="Calibri"/>
                <a:ea typeface="Calibri"/>
                <a:cs typeface="Calibri"/>
                <a:sym typeface="Calibri"/>
              </a:rPr>
              <a:t>Recordemos: Los requerimientos del usuario son usualmente medibles o cuantificables. Los requerimientos de calidad, no. Sin embargo, debemos buscar mecanismos para medir y verificar todos los </a:t>
            </a:r>
            <a:r>
              <a:rPr lang="es-PE" b="1" dirty="0">
                <a:solidFill>
                  <a:schemeClr val="dk1"/>
                </a:solidFill>
                <a:latin typeface="Calibri"/>
                <a:ea typeface="Calibri"/>
                <a:cs typeface="Calibri"/>
                <a:sym typeface="Calibri"/>
              </a:rPr>
              <a:t>atributos</a:t>
            </a:r>
            <a:r>
              <a:rPr lang="es-PE" dirty="0">
                <a:solidFill>
                  <a:schemeClr val="dk1"/>
                </a:solidFill>
                <a:latin typeface="Calibri"/>
                <a:ea typeface="Calibri"/>
                <a:cs typeface="Calibri"/>
                <a:sym typeface="Calibri"/>
              </a:rPr>
              <a:t>.</a:t>
            </a:r>
            <a:endParaRPr lang="es-PE" dirty="0"/>
          </a:p>
        </p:txBody>
      </p:sp>
      <p:pic>
        <p:nvPicPr>
          <p:cNvPr id="6" name="Imagen 5">
            <a:extLst>
              <a:ext uri="{FF2B5EF4-FFF2-40B4-BE49-F238E27FC236}">
                <a16:creationId xmlns:a16="http://schemas.microsoft.com/office/drawing/2014/main" id="{9475FC3D-F7EC-EC4D-97D6-BB0D43100F96}"/>
              </a:ext>
            </a:extLst>
          </p:cNvPr>
          <p:cNvPicPr>
            <a:picLocks noChangeAspect="1"/>
          </p:cNvPicPr>
          <p:nvPr/>
        </p:nvPicPr>
        <p:blipFill>
          <a:blip r:embed="rId3"/>
          <a:stretch>
            <a:fillRect/>
          </a:stretch>
        </p:blipFill>
        <p:spPr>
          <a:xfrm>
            <a:off x="1010839" y="954885"/>
            <a:ext cx="117851" cy="121369"/>
          </a:xfrm>
          <a:prstGeom prst="rect">
            <a:avLst/>
          </a:prstGeom>
        </p:spPr>
      </p:pic>
      <p:pic>
        <p:nvPicPr>
          <p:cNvPr id="7" name="Imagen 6">
            <a:extLst>
              <a:ext uri="{FF2B5EF4-FFF2-40B4-BE49-F238E27FC236}">
                <a16:creationId xmlns:a16="http://schemas.microsoft.com/office/drawing/2014/main" id="{FBD58076-4DE7-4B4D-B6B8-2823D6B05D84}"/>
              </a:ext>
            </a:extLst>
          </p:cNvPr>
          <p:cNvPicPr>
            <a:picLocks noChangeAspect="1"/>
          </p:cNvPicPr>
          <p:nvPr/>
        </p:nvPicPr>
        <p:blipFill>
          <a:blip r:embed="rId4">
            <a:alphaModFix amt="42000"/>
            <a:extLst>
              <a:ext uri="{28A0092B-C50C-407E-A947-70E740481C1C}">
                <a14:useLocalDpi xmlns:a14="http://schemas.microsoft.com/office/drawing/2010/main" val="0"/>
              </a:ext>
            </a:extLst>
          </a:blip>
          <a:stretch>
            <a:fillRect/>
          </a:stretch>
        </p:blipFill>
        <p:spPr>
          <a:xfrm>
            <a:off x="6986661" y="3052731"/>
            <a:ext cx="1689027" cy="2181257"/>
          </a:xfrm>
          <a:prstGeom prst="rect">
            <a:avLst/>
          </a:prstGeom>
        </p:spPr>
      </p:pic>
      <p:sp>
        <p:nvSpPr>
          <p:cNvPr id="8" name="Rectángulo 7">
            <a:extLst>
              <a:ext uri="{FF2B5EF4-FFF2-40B4-BE49-F238E27FC236}">
                <a16:creationId xmlns:a16="http://schemas.microsoft.com/office/drawing/2014/main" id="{B83785B2-4A22-B149-8D23-B6C8EE0AD61F}"/>
              </a:ext>
            </a:extLst>
          </p:cNvPr>
          <p:cNvSpPr/>
          <p:nvPr/>
        </p:nvSpPr>
        <p:spPr>
          <a:xfrm>
            <a:off x="301556" y="5321030"/>
            <a:ext cx="8453337" cy="291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9" name="Rectangle 5">
            <a:extLst>
              <a:ext uri="{FF2B5EF4-FFF2-40B4-BE49-F238E27FC236}">
                <a16:creationId xmlns:a16="http://schemas.microsoft.com/office/drawing/2014/main" id="{E1C45A2E-C448-124F-B63D-F080B93363A6}"/>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INTRODUCCIÓN </a:t>
            </a:r>
          </a:p>
        </p:txBody>
      </p:sp>
      <p:pic>
        <p:nvPicPr>
          <p:cNvPr id="11" name="Imagen 10">
            <a:extLst>
              <a:ext uri="{FF2B5EF4-FFF2-40B4-BE49-F238E27FC236}">
                <a16:creationId xmlns:a16="http://schemas.microsoft.com/office/drawing/2014/main" id="{26DADD77-3577-5A4B-AD3A-FC9622A9A361}"/>
              </a:ext>
            </a:extLst>
          </p:cNvPr>
          <p:cNvPicPr>
            <a:picLocks noChangeAspect="1"/>
          </p:cNvPicPr>
          <p:nvPr/>
        </p:nvPicPr>
        <p:blipFill>
          <a:blip r:embed="rId3"/>
          <a:stretch>
            <a:fillRect/>
          </a:stretch>
        </p:blipFill>
        <p:spPr>
          <a:xfrm>
            <a:off x="1010839" y="2027096"/>
            <a:ext cx="117851" cy="12136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4" name="Rectángulo 3">
            <a:extLst>
              <a:ext uri="{FF2B5EF4-FFF2-40B4-BE49-F238E27FC236}">
                <a16:creationId xmlns:a16="http://schemas.microsoft.com/office/drawing/2014/main" id="{336CFB84-4AEB-EF4C-AD0D-B85E82B6A9C4}"/>
              </a:ext>
            </a:extLst>
          </p:cNvPr>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5" name="CuadroTexto 4">
            <a:extLst>
              <a:ext uri="{FF2B5EF4-FFF2-40B4-BE49-F238E27FC236}">
                <a16:creationId xmlns:a16="http://schemas.microsoft.com/office/drawing/2014/main" id="{56C531B8-3E2D-3C47-A979-7B86A5476F3E}"/>
              </a:ext>
            </a:extLst>
          </p:cNvPr>
          <p:cNvSpPr txBox="1"/>
          <p:nvPr/>
        </p:nvSpPr>
        <p:spPr>
          <a:xfrm>
            <a:off x="1008063" y="3169972"/>
            <a:ext cx="5993558" cy="775597"/>
          </a:xfrm>
          <a:prstGeom prst="rect">
            <a:avLst/>
          </a:prstGeom>
          <a:noFill/>
        </p:spPr>
        <p:txBody>
          <a:bodyPr wrap="square" lIns="0" tIns="0" rIns="0" bIns="0" rtlCol="0">
            <a:spAutoFit/>
          </a:bodyPr>
          <a:lstStyle/>
          <a:p>
            <a:pPr>
              <a:lnSpc>
                <a:spcPct val="90000"/>
              </a:lnSpc>
              <a:spcBef>
                <a:spcPts val="1000"/>
              </a:spcBef>
              <a:defRPr/>
            </a:pPr>
            <a:r>
              <a:rPr lang="es-PE" sz="2800" dirty="0">
                <a:solidFill>
                  <a:schemeClr val="bg1"/>
                </a:solidFill>
                <a:latin typeface="Graphik Regular" charset="0"/>
                <a:ea typeface="Graphik Regular" charset="0"/>
                <a:cs typeface="Graphik Regular" charset="0"/>
              </a:rPr>
              <a:t>CALIDAD DEL</a:t>
            </a:r>
            <a:br>
              <a:rPr lang="es-PE" sz="2800" b="1" dirty="0">
                <a:solidFill>
                  <a:schemeClr val="bg1"/>
                </a:solidFill>
                <a:latin typeface="Calibri"/>
                <a:cs typeface="Calibri"/>
              </a:rPr>
            </a:br>
            <a:r>
              <a:rPr lang="es-PE" sz="2800" b="1" dirty="0">
                <a:solidFill>
                  <a:schemeClr val="bg1"/>
                </a:solidFill>
                <a:latin typeface="Graphik Bold" charset="0"/>
                <a:ea typeface="Graphik Bold" charset="0"/>
                <a:cs typeface="Graphik Bold" charset="0"/>
              </a:rPr>
              <a:t>SOFTWARE</a:t>
            </a:r>
          </a:p>
        </p:txBody>
      </p:sp>
      <p:pic>
        <p:nvPicPr>
          <p:cNvPr id="6" name="Imagen 5">
            <a:extLst>
              <a:ext uri="{FF2B5EF4-FFF2-40B4-BE49-F238E27FC236}">
                <a16:creationId xmlns:a16="http://schemas.microsoft.com/office/drawing/2014/main" id="{EA9FFE8F-1B83-B04B-B255-42238EAC7EA7}"/>
              </a:ext>
            </a:extLst>
          </p:cNvPr>
          <p:cNvPicPr>
            <a:picLocks noChangeAspect="1"/>
          </p:cNvPicPr>
          <p:nvPr/>
        </p:nvPicPr>
        <p:blipFill>
          <a:blip r:embed="rId3"/>
          <a:stretch>
            <a:fillRect/>
          </a:stretch>
        </p:blipFill>
        <p:spPr>
          <a:xfrm>
            <a:off x="1008063" y="2869612"/>
            <a:ext cx="195423" cy="20125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2" name="Google Shape;72;p4"/>
          <p:cNvSpPr/>
          <p:nvPr/>
        </p:nvSpPr>
        <p:spPr>
          <a:xfrm>
            <a:off x="503238" y="918316"/>
            <a:ext cx="8267813" cy="280076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PE" sz="1600" b="1" dirty="0">
                <a:solidFill>
                  <a:schemeClr val="dk1"/>
                </a:solidFill>
                <a:latin typeface="Calibri"/>
                <a:ea typeface="Calibri"/>
                <a:cs typeface="Calibri"/>
                <a:sym typeface="Calibri"/>
              </a:rPr>
              <a:t>MODELOS DE CALIDAD DEL SW</a:t>
            </a:r>
            <a:endParaRPr sz="1600" dirty="0"/>
          </a:p>
          <a:p>
            <a:pPr marL="177800" marR="0" lvl="0" indent="-168275"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Es un conjunto de elementos que proporciona una base para la especificación de requerimientos y para la evaluación de la calidad de un producto de software. </a:t>
            </a:r>
            <a:endParaRPr sz="1600" dirty="0"/>
          </a:p>
          <a:p>
            <a:pPr marL="177800" marR="0" lvl="0" indent="-66675" algn="l" rtl="0">
              <a:spcBef>
                <a:spcPts val="0"/>
              </a:spcBef>
              <a:spcAft>
                <a:spcPts val="0"/>
              </a:spcAft>
              <a:buClr>
                <a:schemeClr val="dk1"/>
              </a:buClr>
              <a:buSzPts val="1600"/>
              <a:buFont typeface="Arial"/>
              <a:buNone/>
            </a:pPr>
            <a:endParaRPr sz="1600" dirty="0">
              <a:solidFill>
                <a:schemeClr val="dk1"/>
              </a:solidFill>
              <a:latin typeface="Calibri"/>
              <a:ea typeface="Calibri"/>
              <a:cs typeface="Calibri"/>
              <a:sym typeface="Calibri"/>
            </a:endParaRPr>
          </a:p>
          <a:p>
            <a:pPr marL="177800" marR="0" lvl="0" indent="-168275"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Se conforma por un conjunto de factores de calidad y sus relaciones:</a:t>
            </a:r>
            <a:endParaRPr sz="1600" dirty="0"/>
          </a:p>
          <a:p>
            <a:pPr marL="177800" marR="0" lvl="0" indent="-66675" algn="l" rtl="0">
              <a:spcBef>
                <a:spcPts val="0"/>
              </a:spcBef>
              <a:spcAft>
                <a:spcPts val="0"/>
              </a:spcAft>
              <a:buClr>
                <a:schemeClr val="dk1"/>
              </a:buClr>
              <a:buSzPts val="1600"/>
              <a:buFont typeface="Arial"/>
              <a:buNone/>
            </a:pPr>
            <a:endParaRPr sz="1600" dirty="0">
              <a:solidFill>
                <a:schemeClr val="dk1"/>
              </a:solidFill>
              <a:latin typeface="Calibri"/>
              <a:ea typeface="Calibri"/>
              <a:cs typeface="Calibri"/>
              <a:sym typeface="Calibri"/>
            </a:endParaRPr>
          </a:p>
          <a:p>
            <a:pPr marL="358775" marR="0" lvl="1" indent="-176213"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Se clasifica la calidad del producto de software en base a un conjunto estructurado de características. </a:t>
            </a:r>
            <a:endParaRPr sz="1600" dirty="0"/>
          </a:p>
          <a:p>
            <a:pPr marL="358775" marR="0" lvl="1" indent="-176213"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Cada característica representa una cualidad externa (es decir, una propiedad que puede ser experimentada por el usuario). </a:t>
            </a:r>
            <a:endParaRPr sz="1600" dirty="0"/>
          </a:p>
          <a:p>
            <a:pPr marL="358775" marR="0" lvl="1" indent="-176213"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Cada característica se compone de subcaracterísticas.</a:t>
            </a:r>
            <a:endParaRPr sz="1600" dirty="0"/>
          </a:p>
        </p:txBody>
      </p:sp>
      <p:sp>
        <p:nvSpPr>
          <p:cNvPr id="73" name="Google Shape;73;p4"/>
          <p:cNvSpPr txBox="1"/>
          <p:nvPr/>
        </p:nvSpPr>
        <p:spPr>
          <a:xfrm>
            <a:off x="503238" y="5020478"/>
            <a:ext cx="4572000"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000">
                <a:solidFill>
                  <a:schemeClr val="bg1">
                    <a:lumMod val="50000"/>
                  </a:schemeClr>
                </a:solidFill>
                <a:latin typeface="Calibri"/>
                <a:ea typeface="Calibri"/>
                <a:cs typeface="Calibri"/>
                <a:sym typeface="Calibri"/>
              </a:rPr>
              <a:t>www.researchgate.net</a:t>
            </a:r>
            <a:endParaRPr>
              <a:solidFill>
                <a:schemeClr val="bg1">
                  <a:lumMod val="50000"/>
                </a:schemeClr>
              </a:solidFill>
            </a:endParaRPr>
          </a:p>
        </p:txBody>
      </p:sp>
      <p:sp>
        <p:nvSpPr>
          <p:cNvPr id="5" name="Rectangle 5">
            <a:extLst>
              <a:ext uri="{FF2B5EF4-FFF2-40B4-BE49-F238E27FC236}">
                <a16:creationId xmlns:a16="http://schemas.microsoft.com/office/drawing/2014/main" id="{22F61BBA-9063-3546-B172-85A15CC0D531}"/>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CALIDAD DEL SOFTWARE</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80" name="Google Shape;80;p5"/>
          <p:cNvSpPr/>
          <p:nvPr/>
        </p:nvSpPr>
        <p:spPr>
          <a:xfrm>
            <a:off x="503238" y="912813"/>
            <a:ext cx="4510967" cy="569387"/>
          </a:xfrm>
          <a:prstGeom prst="rect">
            <a:avLst/>
          </a:prstGeom>
          <a:noFill/>
          <a:ln>
            <a:noFill/>
          </a:ln>
        </p:spPr>
        <p:txBody>
          <a:bodyPr spcFirstLastPara="1" wrap="square" lIns="0" tIns="0" rIns="0" bIns="0" anchor="t" anchorCtr="0">
            <a:spAutoFit/>
          </a:bodyPr>
          <a:lstStyle/>
          <a:p>
            <a:pPr marL="0" marR="0" lvl="0" indent="9525" algn="l" rtl="0">
              <a:spcBef>
                <a:spcPts val="0"/>
              </a:spcBef>
              <a:spcAft>
                <a:spcPts val="600"/>
              </a:spcAft>
              <a:buNone/>
            </a:pPr>
            <a:r>
              <a:rPr lang="es-PE" sz="1600" b="1" dirty="0">
                <a:solidFill>
                  <a:schemeClr val="dk1"/>
                </a:solidFill>
                <a:latin typeface="Calibri"/>
                <a:ea typeface="Calibri"/>
                <a:cs typeface="Calibri"/>
                <a:sym typeface="Calibri"/>
              </a:rPr>
              <a:t>MODELOS DE CALIDAD DEL SW</a:t>
            </a:r>
            <a:endParaRPr dirty="0"/>
          </a:p>
          <a:p>
            <a:pPr marL="182563" marR="0" lvl="0" indent="-182563"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Tipos de Modelos Importantes:</a:t>
            </a:r>
            <a:endParaRPr dirty="0"/>
          </a:p>
        </p:txBody>
      </p:sp>
      <p:sp>
        <p:nvSpPr>
          <p:cNvPr id="4" name="Rectangle 5">
            <a:extLst>
              <a:ext uri="{FF2B5EF4-FFF2-40B4-BE49-F238E27FC236}">
                <a16:creationId xmlns:a16="http://schemas.microsoft.com/office/drawing/2014/main" id="{65F01364-7752-034E-9397-21F2DDA7D6AE}"/>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CALIDAD DEL SOFTWARE</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7" name="Rectángulo redondeado 6">
            <a:extLst>
              <a:ext uri="{FF2B5EF4-FFF2-40B4-BE49-F238E27FC236}">
                <a16:creationId xmlns:a16="http://schemas.microsoft.com/office/drawing/2014/main" id="{2F8F322F-F149-CA41-BB8F-098BB9A222E5}"/>
              </a:ext>
            </a:extLst>
          </p:cNvPr>
          <p:cNvSpPr/>
          <p:nvPr/>
        </p:nvSpPr>
        <p:spPr>
          <a:xfrm>
            <a:off x="1461719" y="3403422"/>
            <a:ext cx="1993935" cy="500394"/>
          </a:xfrm>
          <a:prstGeom prst="roundRect">
            <a:avLst>
              <a:gd name="adj" fmla="val 24207"/>
            </a:avLst>
          </a:prstGeom>
          <a:solidFill>
            <a:srgbClr val="714F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350" lvl="1" indent="-1588" algn="ctr">
              <a:buSzPts val="1600"/>
              <a:tabLst>
                <a:tab pos="569913" algn="l"/>
              </a:tabLst>
            </a:pPr>
            <a:r>
              <a:rPr lang="es-PE" b="1" dirty="0">
                <a:solidFill>
                  <a:schemeClr val="lt1"/>
                </a:solidFill>
                <a:latin typeface="Calibri" charset="0"/>
                <a:cs typeface="Calibri" charset="0"/>
                <a:sym typeface="Calibri"/>
              </a:rPr>
              <a:t>CALIDAD DE USO</a:t>
            </a:r>
            <a:endParaRPr lang="es-ES_tradnl" b="1" dirty="0">
              <a:solidFill>
                <a:schemeClr val="lt1"/>
              </a:solidFill>
              <a:latin typeface="Calibri" charset="0"/>
              <a:cs typeface="Calibri" charset="0"/>
            </a:endParaRPr>
          </a:p>
        </p:txBody>
      </p:sp>
      <p:grpSp>
        <p:nvGrpSpPr>
          <p:cNvPr id="8" name="Agrupar 4">
            <a:extLst>
              <a:ext uri="{FF2B5EF4-FFF2-40B4-BE49-F238E27FC236}">
                <a16:creationId xmlns:a16="http://schemas.microsoft.com/office/drawing/2014/main" id="{85570907-3503-D94B-9DAF-915B7A85E4F2}"/>
              </a:ext>
            </a:extLst>
          </p:cNvPr>
          <p:cNvGrpSpPr/>
          <p:nvPr/>
        </p:nvGrpSpPr>
        <p:grpSpPr>
          <a:xfrm>
            <a:off x="1245702" y="3451708"/>
            <a:ext cx="459474" cy="403823"/>
            <a:chOff x="5892512" y="2805541"/>
            <a:chExt cx="459474" cy="403823"/>
          </a:xfrm>
        </p:grpSpPr>
        <p:sp>
          <p:nvSpPr>
            <p:cNvPr id="9" name="Elipse 8">
              <a:extLst>
                <a:ext uri="{FF2B5EF4-FFF2-40B4-BE49-F238E27FC236}">
                  <a16:creationId xmlns:a16="http://schemas.microsoft.com/office/drawing/2014/main" id="{B637D68C-870B-0A48-8155-B9297706A9B7}"/>
                </a:ext>
              </a:extLst>
            </p:cNvPr>
            <p:cNvSpPr/>
            <p:nvPr/>
          </p:nvSpPr>
          <p:spPr>
            <a:xfrm>
              <a:off x="5956277" y="2824919"/>
              <a:ext cx="395709" cy="376075"/>
            </a:xfrm>
            <a:prstGeom prst="ellipse">
              <a:avLst/>
            </a:prstGeom>
            <a:solidFill>
              <a:srgbClr val="593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0" name="Elipse 9">
              <a:extLst>
                <a:ext uri="{FF2B5EF4-FFF2-40B4-BE49-F238E27FC236}">
                  <a16:creationId xmlns:a16="http://schemas.microsoft.com/office/drawing/2014/main" id="{DFACEA8E-AA65-BB4D-A3A6-B99020D98BCB}"/>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1" name="Triángulo 10">
              <a:extLst>
                <a:ext uri="{FF2B5EF4-FFF2-40B4-BE49-F238E27FC236}">
                  <a16:creationId xmlns:a16="http://schemas.microsoft.com/office/drawing/2014/main" id="{6116CEE8-0C43-2C43-90CC-302B6A14D21B}"/>
                </a:ext>
              </a:extLst>
            </p:cNvPr>
            <p:cNvSpPr/>
            <p:nvPr/>
          </p:nvSpPr>
          <p:spPr>
            <a:xfrm rot="5400000">
              <a:off x="6076285" y="2946262"/>
              <a:ext cx="186870" cy="122381"/>
            </a:xfrm>
            <a:prstGeom prst="triangle">
              <a:avLst/>
            </a:prstGeom>
            <a:solidFill>
              <a:srgbClr val="714F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sp>
        <p:nvSpPr>
          <p:cNvPr id="12" name="Rectángulo redondeado 11">
            <a:extLst>
              <a:ext uri="{FF2B5EF4-FFF2-40B4-BE49-F238E27FC236}">
                <a16:creationId xmlns:a16="http://schemas.microsoft.com/office/drawing/2014/main" id="{B9C2ECBD-2732-FF40-B812-A85A391224C7}"/>
              </a:ext>
            </a:extLst>
          </p:cNvPr>
          <p:cNvSpPr/>
          <p:nvPr/>
        </p:nvSpPr>
        <p:spPr>
          <a:xfrm>
            <a:off x="1461719" y="2780000"/>
            <a:ext cx="1993935" cy="500394"/>
          </a:xfrm>
          <a:prstGeom prst="roundRect">
            <a:avLst>
              <a:gd name="adj" fmla="val 26745"/>
            </a:avLst>
          </a:prstGeom>
          <a:solidFill>
            <a:srgbClr val="92C2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350" lvl="1" indent="-1588" algn="ctr">
              <a:buSzPts val="1600"/>
              <a:tabLst>
                <a:tab pos="569913" algn="l"/>
              </a:tabLst>
            </a:pPr>
            <a:r>
              <a:rPr lang="es-PE" b="1" dirty="0">
                <a:solidFill>
                  <a:schemeClr val="lt1"/>
                </a:solidFill>
                <a:latin typeface="Calibri" charset="0"/>
                <a:cs typeface="Calibri" charset="0"/>
                <a:sym typeface="Calibri"/>
              </a:rPr>
              <a:t>CALIDAD DEL </a:t>
            </a:r>
            <a:br>
              <a:rPr lang="es-PE" b="1" dirty="0">
                <a:solidFill>
                  <a:schemeClr val="lt1"/>
                </a:solidFill>
                <a:latin typeface="Calibri" charset="0"/>
                <a:cs typeface="Calibri" charset="0"/>
                <a:sym typeface="Calibri"/>
              </a:rPr>
            </a:br>
            <a:r>
              <a:rPr lang="es-PE" b="1" dirty="0">
                <a:solidFill>
                  <a:schemeClr val="lt1"/>
                </a:solidFill>
                <a:latin typeface="Calibri" charset="0"/>
                <a:cs typeface="Calibri" charset="0"/>
                <a:sym typeface="Calibri"/>
              </a:rPr>
              <a:t>PROCESO</a:t>
            </a:r>
            <a:endParaRPr lang="es-PE" b="1" dirty="0">
              <a:solidFill>
                <a:schemeClr val="lt1"/>
              </a:solidFill>
              <a:latin typeface="Calibri" charset="0"/>
              <a:cs typeface="Calibri" charset="0"/>
            </a:endParaRPr>
          </a:p>
        </p:txBody>
      </p:sp>
      <p:grpSp>
        <p:nvGrpSpPr>
          <p:cNvPr id="13" name="Agrupar 9">
            <a:extLst>
              <a:ext uri="{FF2B5EF4-FFF2-40B4-BE49-F238E27FC236}">
                <a16:creationId xmlns:a16="http://schemas.microsoft.com/office/drawing/2014/main" id="{64956FBC-E227-FE4D-A02C-F0DF6D0BF427}"/>
              </a:ext>
            </a:extLst>
          </p:cNvPr>
          <p:cNvGrpSpPr/>
          <p:nvPr/>
        </p:nvGrpSpPr>
        <p:grpSpPr>
          <a:xfrm>
            <a:off x="1245702" y="2828286"/>
            <a:ext cx="459474" cy="403823"/>
            <a:chOff x="5892512" y="2805541"/>
            <a:chExt cx="459474" cy="403823"/>
          </a:xfrm>
        </p:grpSpPr>
        <p:sp>
          <p:nvSpPr>
            <p:cNvPr id="14" name="Elipse 13">
              <a:extLst>
                <a:ext uri="{FF2B5EF4-FFF2-40B4-BE49-F238E27FC236}">
                  <a16:creationId xmlns:a16="http://schemas.microsoft.com/office/drawing/2014/main" id="{8F9D92CE-5E1B-7B43-8EA9-044FC2992DEA}"/>
                </a:ext>
              </a:extLst>
            </p:cNvPr>
            <p:cNvSpPr/>
            <p:nvPr/>
          </p:nvSpPr>
          <p:spPr>
            <a:xfrm>
              <a:off x="5956277" y="2824919"/>
              <a:ext cx="395709" cy="376075"/>
            </a:xfrm>
            <a:prstGeom prst="ellipse">
              <a:avLst/>
            </a:prstGeom>
            <a:solidFill>
              <a:srgbClr val="6A8F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5" name="Elipse 14">
              <a:extLst>
                <a:ext uri="{FF2B5EF4-FFF2-40B4-BE49-F238E27FC236}">
                  <a16:creationId xmlns:a16="http://schemas.microsoft.com/office/drawing/2014/main" id="{F633275B-27E5-4043-B0C0-457ECD40AC3A}"/>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6" name="Triángulo 15">
              <a:extLst>
                <a:ext uri="{FF2B5EF4-FFF2-40B4-BE49-F238E27FC236}">
                  <a16:creationId xmlns:a16="http://schemas.microsoft.com/office/drawing/2014/main" id="{FAB9BC6F-9A3F-854B-8645-11B4DB16FACF}"/>
                </a:ext>
              </a:extLst>
            </p:cNvPr>
            <p:cNvSpPr/>
            <p:nvPr/>
          </p:nvSpPr>
          <p:spPr>
            <a:xfrm rot="5400000">
              <a:off x="6076285" y="2946262"/>
              <a:ext cx="186870" cy="122381"/>
            </a:xfrm>
            <a:prstGeom prst="triangle">
              <a:avLst/>
            </a:prstGeom>
            <a:solidFill>
              <a:srgbClr val="92C2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sp>
        <p:nvSpPr>
          <p:cNvPr id="17" name="Rectángulo redondeado 16">
            <a:extLst>
              <a:ext uri="{FF2B5EF4-FFF2-40B4-BE49-F238E27FC236}">
                <a16:creationId xmlns:a16="http://schemas.microsoft.com/office/drawing/2014/main" id="{9D432B7E-9DF2-DC4E-8250-A01C0BDAF7FE}"/>
              </a:ext>
            </a:extLst>
          </p:cNvPr>
          <p:cNvSpPr/>
          <p:nvPr/>
        </p:nvSpPr>
        <p:spPr>
          <a:xfrm>
            <a:off x="1461719" y="2152339"/>
            <a:ext cx="1993935" cy="500394"/>
          </a:xfrm>
          <a:prstGeom prst="roundRect">
            <a:avLst>
              <a:gd name="adj" fmla="val 24841"/>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6350" lvl="1" indent="-1588" algn="ctr">
              <a:buSzPts val="1600"/>
              <a:tabLst>
                <a:tab pos="569913" algn="l"/>
              </a:tabLst>
            </a:pPr>
            <a:r>
              <a:rPr lang="es-PE" b="1" dirty="0">
                <a:solidFill>
                  <a:schemeClr val="lt1"/>
                </a:solidFill>
                <a:latin typeface="Calibri" charset="0"/>
                <a:cs typeface="Calibri" charset="0"/>
                <a:sym typeface="Calibri"/>
              </a:rPr>
              <a:t>CALIDAD DEL PRODUCTO</a:t>
            </a:r>
            <a:endParaRPr lang="es-PE" b="1" dirty="0">
              <a:solidFill>
                <a:schemeClr val="lt1"/>
              </a:solidFill>
              <a:latin typeface="Calibri" charset="0"/>
              <a:cs typeface="Calibri" charset="0"/>
            </a:endParaRPr>
          </a:p>
        </p:txBody>
      </p:sp>
      <p:grpSp>
        <p:nvGrpSpPr>
          <p:cNvPr id="18" name="Agrupar 14">
            <a:extLst>
              <a:ext uri="{FF2B5EF4-FFF2-40B4-BE49-F238E27FC236}">
                <a16:creationId xmlns:a16="http://schemas.microsoft.com/office/drawing/2014/main" id="{7C5DB03A-4CC3-284B-9018-019B5B8DED83}"/>
              </a:ext>
            </a:extLst>
          </p:cNvPr>
          <p:cNvGrpSpPr/>
          <p:nvPr/>
        </p:nvGrpSpPr>
        <p:grpSpPr>
          <a:xfrm>
            <a:off x="1245702" y="2200625"/>
            <a:ext cx="459474" cy="403823"/>
            <a:chOff x="5892512" y="2805541"/>
            <a:chExt cx="459474" cy="403823"/>
          </a:xfrm>
        </p:grpSpPr>
        <p:sp>
          <p:nvSpPr>
            <p:cNvPr id="19" name="Elipse 18">
              <a:extLst>
                <a:ext uri="{FF2B5EF4-FFF2-40B4-BE49-F238E27FC236}">
                  <a16:creationId xmlns:a16="http://schemas.microsoft.com/office/drawing/2014/main" id="{5641D038-C534-F842-B9F0-6EB29B2C64AA}"/>
                </a:ext>
              </a:extLst>
            </p:cNvPr>
            <p:cNvSpPr/>
            <p:nvPr/>
          </p:nvSpPr>
          <p:spPr>
            <a:xfrm>
              <a:off x="5956277" y="2824919"/>
              <a:ext cx="395709" cy="376075"/>
            </a:xfrm>
            <a:prstGeom prst="ellipse">
              <a:avLst/>
            </a:prstGeom>
            <a:solidFill>
              <a:srgbClr val="C73A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20" name="Elipse 19">
              <a:extLst>
                <a:ext uri="{FF2B5EF4-FFF2-40B4-BE49-F238E27FC236}">
                  <a16:creationId xmlns:a16="http://schemas.microsoft.com/office/drawing/2014/main" id="{DDD5A4AF-01EB-174C-A2C4-6AC11146507D}"/>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21" name="Triángulo 20">
              <a:extLst>
                <a:ext uri="{FF2B5EF4-FFF2-40B4-BE49-F238E27FC236}">
                  <a16:creationId xmlns:a16="http://schemas.microsoft.com/office/drawing/2014/main" id="{5F9C7E78-B9A2-E24D-92D5-5CE1A2510F86}"/>
                </a:ext>
              </a:extLst>
            </p:cNvPr>
            <p:cNvSpPr/>
            <p:nvPr/>
          </p:nvSpPr>
          <p:spPr>
            <a:xfrm rot="5400000">
              <a:off x="6076285" y="2946262"/>
              <a:ext cx="186870" cy="122381"/>
            </a:xfrm>
            <a:prstGeom prst="triangle">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pic>
        <p:nvPicPr>
          <p:cNvPr id="5" name="Imagen 4">
            <a:extLst>
              <a:ext uri="{FF2B5EF4-FFF2-40B4-BE49-F238E27FC236}">
                <a16:creationId xmlns:a16="http://schemas.microsoft.com/office/drawing/2014/main" id="{8414886D-C236-7C4F-A87E-2FA1AA6F86D9}"/>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4751388" y="912813"/>
            <a:ext cx="4392612" cy="43211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5" name="Rectangle 5">
            <a:extLst>
              <a:ext uri="{FF2B5EF4-FFF2-40B4-BE49-F238E27FC236}">
                <a16:creationId xmlns:a16="http://schemas.microsoft.com/office/drawing/2014/main" id="{30065016-BA92-A84F-8759-2F2BC25EDA63}"/>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CALIDAD DEL SOFTWARE</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grpSp>
        <p:nvGrpSpPr>
          <p:cNvPr id="6" name="Grupo 5">
            <a:extLst>
              <a:ext uri="{FF2B5EF4-FFF2-40B4-BE49-F238E27FC236}">
                <a16:creationId xmlns:a16="http://schemas.microsoft.com/office/drawing/2014/main" id="{5FC2ECE8-A695-3548-80DB-3CA8CD60639C}"/>
              </a:ext>
            </a:extLst>
          </p:cNvPr>
          <p:cNvGrpSpPr/>
          <p:nvPr/>
        </p:nvGrpSpPr>
        <p:grpSpPr>
          <a:xfrm>
            <a:off x="326977" y="917244"/>
            <a:ext cx="3018735" cy="394721"/>
            <a:chOff x="287221" y="917244"/>
            <a:chExt cx="3549469" cy="500394"/>
          </a:xfrm>
        </p:grpSpPr>
        <p:sp>
          <p:nvSpPr>
            <p:cNvPr id="7" name="Rectángulo redondeado 6">
              <a:extLst>
                <a:ext uri="{FF2B5EF4-FFF2-40B4-BE49-F238E27FC236}">
                  <a16:creationId xmlns:a16="http://schemas.microsoft.com/office/drawing/2014/main" id="{C9C4ADA5-F00A-2F4E-ADAC-25284E58BDC5}"/>
                </a:ext>
              </a:extLst>
            </p:cNvPr>
            <p:cNvSpPr/>
            <p:nvPr/>
          </p:nvSpPr>
          <p:spPr>
            <a:xfrm>
              <a:off x="503238" y="917244"/>
              <a:ext cx="3333452" cy="500394"/>
            </a:xfrm>
            <a:prstGeom prst="roundRect">
              <a:avLst>
                <a:gd name="adj" fmla="val 24841"/>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762" lvl="0" algn="ctr">
                <a:buSzPts val="1600"/>
                <a:tabLst>
                  <a:tab pos="569913" algn="l"/>
                </a:tabLst>
              </a:pPr>
              <a:r>
                <a:rPr lang="es-PE" b="1" dirty="0">
                  <a:solidFill>
                    <a:schemeClr val="lt1"/>
                  </a:solidFill>
                  <a:latin typeface="Calibri" charset="0"/>
                  <a:cs typeface="Calibri" charset="0"/>
                  <a:sym typeface="Calibri"/>
                </a:rPr>
                <a:t>1. CALIDAD DEL PRODUCTO</a:t>
              </a:r>
              <a:endParaRPr lang="es-PE" b="1" dirty="0">
                <a:solidFill>
                  <a:schemeClr val="lt1"/>
                </a:solidFill>
                <a:latin typeface="Calibri" charset="0"/>
                <a:cs typeface="Calibri" charset="0"/>
              </a:endParaRPr>
            </a:p>
          </p:txBody>
        </p:sp>
        <p:grpSp>
          <p:nvGrpSpPr>
            <p:cNvPr id="8" name="Agrupar 14">
              <a:extLst>
                <a:ext uri="{FF2B5EF4-FFF2-40B4-BE49-F238E27FC236}">
                  <a16:creationId xmlns:a16="http://schemas.microsoft.com/office/drawing/2014/main" id="{B6092B80-9973-9542-AA97-3AEE42FD0DA8}"/>
                </a:ext>
              </a:extLst>
            </p:cNvPr>
            <p:cNvGrpSpPr/>
            <p:nvPr/>
          </p:nvGrpSpPr>
          <p:grpSpPr>
            <a:xfrm>
              <a:off x="287221" y="965530"/>
              <a:ext cx="459474" cy="403823"/>
              <a:chOff x="5892512" y="2805541"/>
              <a:chExt cx="459474" cy="403823"/>
            </a:xfrm>
          </p:grpSpPr>
          <p:sp>
            <p:nvSpPr>
              <p:cNvPr id="9" name="Elipse 8">
                <a:extLst>
                  <a:ext uri="{FF2B5EF4-FFF2-40B4-BE49-F238E27FC236}">
                    <a16:creationId xmlns:a16="http://schemas.microsoft.com/office/drawing/2014/main" id="{34F0458A-AD78-9143-9110-B9F6E2721007}"/>
                  </a:ext>
                </a:extLst>
              </p:cNvPr>
              <p:cNvSpPr/>
              <p:nvPr/>
            </p:nvSpPr>
            <p:spPr>
              <a:xfrm>
                <a:off x="5956277" y="2824919"/>
                <a:ext cx="395709" cy="376075"/>
              </a:xfrm>
              <a:prstGeom prst="ellipse">
                <a:avLst/>
              </a:prstGeom>
              <a:solidFill>
                <a:srgbClr val="C73A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0" name="Elipse 9">
                <a:extLst>
                  <a:ext uri="{FF2B5EF4-FFF2-40B4-BE49-F238E27FC236}">
                    <a16:creationId xmlns:a16="http://schemas.microsoft.com/office/drawing/2014/main" id="{22F25C4D-201D-9545-92EF-2265C5E0F8C1}"/>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1" name="Triángulo 10">
                <a:extLst>
                  <a:ext uri="{FF2B5EF4-FFF2-40B4-BE49-F238E27FC236}">
                    <a16:creationId xmlns:a16="http://schemas.microsoft.com/office/drawing/2014/main" id="{9B3D03B9-3E97-7547-8236-23E9F3E271A3}"/>
                  </a:ext>
                </a:extLst>
              </p:cNvPr>
              <p:cNvSpPr/>
              <p:nvPr/>
            </p:nvSpPr>
            <p:spPr>
              <a:xfrm rot="5400000">
                <a:off x="6076285" y="2946262"/>
                <a:ext cx="186870" cy="122381"/>
              </a:xfrm>
              <a:prstGeom prst="triangle">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sp>
        <p:nvSpPr>
          <p:cNvPr id="12" name="Rectángulo 11">
            <a:extLst>
              <a:ext uri="{FF2B5EF4-FFF2-40B4-BE49-F238E27FC236}">
                <a16:creationId xmlns:a16="http://schemas.microsoft.com/office/drawing/2014/main" id="{C342B3A2-3858-FC4B-815F-87FCF28E02D5}"/>
              </a:ext>
            </a:extLst>
          </p:cNvPr>
          <p:cNvSpPr/>
          <p:nvPr/>
        </p:nvSpPr>
        <p:spPr>
          <a:xfrm>
            <a:off x="503238" y="1605377"/>
            <a:ext cx="7889396" cy="2769989"/>
          </a:xfrm>
          <a:prstGeom prst="rect">
            <a:avLst/>
          </a:prstGeom>
        </p:spPr>
        <p:txBody>
          <a:bodyPr wrap="square" lIns="0" tIns="0" rIns="0" bIns="0">
            <a:spAutoFit/>
          </a:bodyPr>
          <a:lstStyle/>
          <a:p>
            <a:pPr marL="182563" marR="0" lvl="2" indent="-182563" algn="l" rtl="0">
              <a:spcBef>
                <a:spcPts val="0"/>
              </a:spcBef>
              <a:spcAft>
                <a:spcPts val="0"/>
              </a:spcAft>
              <a:buClr>
                <a:schemeClr val="dk1"/>
              </a:buClr>
              <a:buSzPts val="1600"/>
              <a:buFont typeface="Arial" panose="020B0604020202020204" pitchFamily="34" charset="0"/>
              <a:buChar char="•"/>
            </a:pPr>
            <a:r>
              <a:rPr lang="es-PE" sz="1500" b="0" i="0" u="none" strike="noStrike" cap="none" dirty="0">
                <a:solidFill>
                  <a:schemeClr val="dk1"/>
                </a:solidFill>
                <a:latin typeface="Calibri"/>
                <a:ea typeface="Calibri"/>
                <a:cs typeface="Calibri"/>
                <a:sym typeface="Calibri"/>
              </a:rPr>
              <a:t>Propiedades del producto según el usuario y según el desarrollador.</a:t>
            </a:r>
          </a:p>
          <a:p>
            <a:pPr marL="182563" marR="0" lvl="2" indent="-182563" algn="l" rtl="0">
              <a:spcBef>
                <a:spcPts val="0"/>
              </a:spcBef>
              <a:spcAft>
                <a:spcPts val="0"/>
              </a:spcAft>
              <a:buClr>
                <a:schemeClr val="dk1"/>
              </a:buClr>
              <a:buSzPts val="1600"/>
              <a:buFont typeface="Arial" panose="020B0604020202020204" pitchFamily="34" charset="0"/>
              <a:buChar char="•"/>
            </a:pPr>
            <a:endParaRPr lang="es-PE" sz="1500" dirty="0">
              <a:solidFill>
                <a:schemeClr val="dk1"/>
              </a:solidFill>
              <a:latin typeface="Calibri"/>
              <a:cs typeface="Calibri"/>
              <a:sym typeface="Calibri"/>
            </a:endParaRPr>
          </a:p>
          <a:p>
            <a:pPr marL="0" marR="0" lvl="0" indent="0" algn="l" rtl="0">
              <a:spcBef>
                <a:spcPts val="0"/>
              </a:spcBef>
              <a:spcAft>
                <a:spcPts val="0"/>
              </a:spcAft>
              <a:buNone/>
            </a:pPr>
            <a:r>
              <a:rPr lang="es-PE" sz="1500" b="1" dirty="0">
                <a:solidFill>
                  <a:schemeClr val="dk1"/>
                </a:solidFill>
                <a:latin typeface="Calibri"/>
                <a:ea typeface="Calibri"/>
                <a:cs typeface="Calibri"/>
                <a:sym typeface="Calibri"/>
              </a:rPr>
              <a:t>Calidad a nivel de producto </a:t>
            </a:r>
            <a:endParaRPr lang="es-PE" sz="1500" dirty="0"/>
          </a:p>
          <a:p>
            <a:pPr marL="182563" marR="0" lvl="0" indent="-182563" algn="l" rtl="0">
              <a:spcBef>
                <a:spcPts val="0"/>
              </a:spcBef>
              <a:spcAft>
                <a:spcPts val="0"/>
              </a:spcAft>
              <a:buFont typeface="Arial" panose="020B0604020202020204" pitchFamily="34" charset="0"/>
              <a:buChar char="•"/>
            </a:pPr>
            <a:r>
              <a:rPr lang="es-PE" sz="1500" dirty="0">
                <a:solidFill>
                  <a:schemeClr val="dk1"/>
                </a:solidFill>
                <a:latin typeface="Calibri"/>
                <a:ea typeface="Calibri"/>
                <a:cs typeface="Calibri"/>
                <a:sym typeface="Calibri"/>
              </a:rPr>
              <a:t>“La principal finalidad del modelo de calidad de producto es especificar y evaluar el cumplimiento de criterios del producto, para lo cual se aplican medidas internas y/o medidas externas”. </a:t>
            </a:r>
            <a:endParaRPr lang="es-PE" sz="1500" dirty="0"/>
          </a:p>
          <a:p>
            <a:pPr marL="182563" marR="0" lvl="0" indent="-182563" algn="l" rtl="0">
              <a:spcBef>
                <a:spcPts val="0"/>
              </a:spcBef>
              <a:spcAft>
                <a:spcPts val="0"/>
              </a:spcAft>
              <a:buFont typeface="Arial" panose="020B0604020202020204" pitchFamily="34" charset="0"/>
              <a:buChar char="•"/>
            </a:pPr>
            <a:endParaRPr lang="es-PE" sz="1500" dirty="0">
              <a:solidFill>
                <a:schemeClr val="dk1"/>
              </a:solidFill>
              <a:latin typeface="Calibri"/>
              <a:ea typeface="Calibri"/>
              <a:cs typeface="Calibri"/>
              <a:sym typeface="Calibri"/>
            </a:endParaRPr>
          </a:p>
          <a:p>
            <a:pPr marL="182563" marR="0" lvl="0" indent="-182563" algn="l" rtl="0">
              <a:spcBef>
                <a:spcPts val="0"/>
              </a:spcBef>
              <a:spcAft>
                <a:spcPts val="0"/>
              </a:spcAft>
              <a:buFont typeface="Arial" panose="020B0604020202020204" pitchFamily="34" charset="0"/>
              <a:buChar char="•"/>
            </a:pPr>
            <a:r>
              <a:rPr lang="es-PE" sz="1500" dirty="0">
                <a:solidFill>
                  <a:schemeClr val="dk1"/>
                </a:solidFill>
                <a:latin typeface="Calibri"/>
                <a:ea typeface="Calibri"/>
                <a:cs typeface="Calibri"/>
                <a:sym typeface="Calibri"/>
              </a:rPr>
              <a:t>“Por esta razón, algunas normas y estándares han definido la calidad a nivel de producto en tres tipos: interna, externa y en uso”. </a:t>
            </a:r>
            <a:endParaRPr lang="es-PE" sz="1500" dirty="0"/>
          </a:p>
          <a:p>
            <a:pPr marL="182563" marR="0" lvl="0" indent="-182563" algn="l" rtl="0">
              <a:spcBef>
                <a:spcPts val="0"/>
              </a:spcBef>
              <a:spcAft>
                <a:spcPts val="0"/>
              </a:spcAft>
              <a:buFont typeface="Arial" panose="020B0604020202020204" pitchFamily="34" charset="0"/>
              <a:buChar char="•"/>
            </a:pPr>
            <a:endParaRPr lang="es-PE" sz="1500" dirty="0">
              <a:solidFill>
                <a:schemeClr val="dk1"/>
              </a:solidFill>
              <a:latin typeface="Calibri"/>
              <a:ea typeface="Calibri"/>
              <a:cs typeface="Calibri"/>
              <a:sym typeface="Calibri"/>
            </a:endParaRPr>
          </a:p>
          <a:p>
            <a:pPr marL="182563" marR="0" lvl="0" indent="-182563" algn="l" rtl="0">
              <a:spcBef>
                <a:spcPts val="0"/>
              </a:spcBef>
              <a:spcAft>
                <a:spcPts val="0"/>
              </a:spcAft>
              <a:buFont typeface="Arial" panose="020B0604020202020204" pitchFamily="34" charset="0"/>
              <a:buChar char="•"/>
            </a:pPr>
            <a:r>
              <a:rPr lang="es-PE" sz="1500" dirty="0">
                <a:solidFill>
                  <a:schemeClr val="dk1"/>
                </a:solidFill>
                <a:latin typeface="Calibri"/>
                <a:ea typeface="Calibri"/>
                <a:cs typeface="Calibri"/>
                <a:sym typeface="Calibri"/>
              </a:rPr>
              <a:t>“Este enfoque está orientado a verificar el cumplimiento de las características que permitan alcanzar la satisfacción del cliente en cuanto a los requisitos definidos en las etapas iniciales del proceso de desarrollo”.</a:t>
            </a:r>
            <a:endParaRPr lang="es-PE" sz="15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5" name="Rectangle 5">
            <a:extLst>
              <a:ext uri="{FF2B5EF4-FFF2-40B4-BE49-F238E27FC236}">
                <a16:creationId xmlns:a16="http://schemas.microsoft.com/office/drawing/2014/main" id="{0571C27C-39E4-9843-ABFD-ECF72C1F0D97}"/>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CALIDAD DEL SOFTWARE</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grpSp>
        <p:nvGrpSpPr>
          <p:cNvPr id="6" name="Grupo 5">
            <a:extLst>
              <a:ext uri="{FF2B5EF4-FFF2-40B4-BE49-F238E27FC236}">
                <a16:creationId xmlns:a16="http://schemas.microsoft.com/office/drawing/2014/main" id="{7D1CA3B3-2EED-174B-A06F-84CAD514C5EA}"/>
              </a:ext>
            </a:extLst>
          </p:cNvPr>
          <p:cNvGrpSpPr/>
          <p:nvPr/>
        </p:nvGrpSpPr>
        <p:grpSpPr>
          <a:xfrm>
            <a:off x="326977" y="917244"/>
            <a:ext cx="3018735" cy="394721"/>
            <a:chOff x="287221" y="917244"/>
            <a:chExt cx="3549469" cy="500394"/>
          </a:xfrm>
        </p:grpSpPr>
        <p:sp>
          <p:nvSpPr>
            <p:cNvPr id="7" name="Rectángulo redondeado 6">
              <a:extLst>
                <a:ext uri="{FF2B5EF4-FFF2-40B4-BE49-F238E27FC236}">
                  <a16:creationId xmlns:a16="http://schemas.microsoft.com/office/drawing/2014/main" id="{8C9B765D-E68C-CB48-B8EF-3B4E876DD758}"/>
                </a:ext>
              </a:extLst>
            </p:cNvPr>
            <p:cNvSpPr/>
            <p:nvPr/>
          </p:nvSpPr>
          <p:spPr>
            <a:xfrm>
              <a:off x="503238" y="917244"/>
              <a:ext cx="3333452" cy="500394"/>
            </a:xfrm>
            <a:prstGeom prst="roundRect">
              <a:avLst>
                <a:gd name="adj" fmla="val 24841"/>
              </a:avLst>
            </a:prstGeom>
            <a:solidFill>
              <a:srgbClr val="92C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762" lvl="0" algn="ctr">
                <a:buSzPts val="1600"/>
                <a:tabLst>
                  <a:tab pos="569913" algn="l"/>
                </a:tabLst>
              </a:pPr>
              <a:r>
                <a:rPr lang="es-PE" b="1" dirty="0">
                  <a:latin typeface="Calibri" charset="0"/>
                  <a:cs typeface="Calibri" charset="0"/>
                  <a:sym typeface="Calibri"/>
                </a:rPr>
                <a:t>2</a:t>
              </a:r>
              <a:r>
                <a:rPr lang="es-PE" b="1" dirty="0">
                  <a:solidFill>
                    <a:schemeClr val="lt1"/>
                  </a:solidFill>
                  <a:latin typeface="Calibri" charset="0"/>
                  <a:cs typeface="Calibri" charset="0"/>
                  <a:sym typeface="Calibri"/>
                </a:rPr>
                <a:t>. CALIDAD DEL PROCESO</a:t>
              </a:r>
              <a:endParaRPr lang="es-PE" b="1" dirty="0">
                <a:solidFill>
                  <a:schemeClr val="lt1"/>
                </a:solidFill>
                <a:latin typeface="Calibri" charset="0"/>
                <a:cs typeface="Calibri" charset="0"/>
              </a:endParaRPr>
            </a:p>
          </p:txBody>
        </p:sp>
        <p:grpSp>
          <p:nvGrpSpPr>
            <p:cNvPr id="8" name="Agrupar 14">
              <a:extLst>
                <a:ext uri="{FF2B5EF4-FFF2-40B4-BE49-F238E27FC236}">
                  <a16:creationId xmlns:a16="http://schemas.microsoft.com/office/drawing/2014/main" id="{6F72361D-AC5A-1C45-8F63-889F97E11CE4}"/>
                </a:ext>
              </a:extLst>
            </p:cNvPr>
            <p:cNvGrpSpPr/>
            <p:nvPr/>
          </p:nvGrpSpPr>
          <p:grpSpPr>
            <a:xfrm>
              <a:off x="287221" y="965530"/>
              <a:ext cx="459474" cy="403823"/>
              <a:chOff x="5892512" y="2805541"/>
              <a:chExt cx="459474" cy="403823"/>
            </a:xfrm>
          </p:grpSpPr>
          <p:sp>
            <p:nvSpPr>
              <p:cNvPr id="9" name="Elipse 8">
                <a:extLst>
                  <a:ext uri="{FF2B5EF4-FFF2-40B4-BE49-F238E27FC236}">
                    <a16:creationId xmlns:a16="http://schemas.microsoft.com/office/drawing/2014/main" id="{D41D4B91-A9E7-C845-8E55-D0DCA47ADE70}"/>
                  </a:ext>
                </a:extLst>
              </p:cNvPr>
              <p:cNvSpPr/>
              <p:nvPr/>
            </p:nvSpPr>
            <p:spPr>
              <a:xfrm>
                <a:off x="5956277" y="2824919"/>
                <a:ext cx="395709" cy="376075"/>
              </a:xfrm>
              <a:prstGeom prst="ellipse">
                <a:avLst/>
              </a:prstGeom>
              <a:solidFill>
                <a:srgbClr val="6A8F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0" name="Elipse 9">
                <a:extLst>
                  <a:ext uri="{FF2B5EF4-FFF2-40B4-BE49-F238E27FC236}">
                    <a16:creationId xmlns:a16="http://schemas.microsoft.com/office/drawing/2014/main" id="{9532F810-543F-9B48-895D-17AF020EF6B2}"/>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1" name="Triángulo 10">
                <a:extLst>
                  <a:ext uri="{FF2B5EF4-FFF2-40B4-BE49-F238E27FC236}">
                    <a16:creationId xmlns:a16="http://schemas.microsoft.com/office/drawing/2014/main" id="{D95A876C-C284-6D44-96E5-9BF5406D828A}"/>
                  </a:ext>
                </a:extLst>
              </p:cNvPr>
              <p:cNvSpPr/>
              <p:nvPr/>
            </p:nvSpPr>
            <p:spPr>
              <a:xfrm rot="5400000">
                <a:off x="6076285" y="2946262"/>
                <a:ext cx="186870" cy="122381"/>
              </a:xfrm>
              <a:prstGeom prst="triangle">
                <a:avLst/>
              </a:prstGeom>
              <a:solidFill>
                <a:srgbClr val="92C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sp>
        <p:nvSpPr>
          <p:cNvPr id="12" name="Rectángulo 11">
            <a:extLst>
              <a:ext uri="{FF2B5EF4-FFF2-40B4-BE49-F238E27FC236}">
                <a16:creationId xmlns:a16="http://schemas.microsoft.com/office/drawing/2014/main" id="{D9F6B9E6-E43B-734D-961C-BE33FBA61B55}"/>
              </a:ext>
            </a:extLst>
          </p:cNvPr>
          <p:cNvSpPr/>
          <p:nvPr/>
        </p:nvSpPr>
        <p:spPr>
          <a:xfrm>
            <a:off x="503238" y="1605377"/>
            <a:ext cx="7889396" cy="2308324"/>
          </a:xfrm>
          <a:prstGeom prst="rect">
            <a:avLst/>
          </a:prstGeom>
        </p:spPr>
        <p:txBody>
          <a:bodyPr wrap="square" lIns="0" tIns="0" rIns="0" bIns="0">
            <a:spAutoFit/>
          </a:bodyPr>
          <a:lstStyle/>
          <a:p>
            <a:pPr marL="182563" marR="0" lvl="2" indent="-182563" algn="l" rtl="0">
              <a:spcBef>
                <a:spcPts val="0"/>
              </a:spcBef>
              <a:spcAft>
                <a:spcPts val="0"/>
              </a:spcAft>
              <a:buClr>
                <a:schemeClr val="dk1"/>
              </a:buClr>
              <a:buSzPct val="100000"/>
              <a:buFont typeface="Arial" panose="020B0604020202020204" pitchFamily="34" charset="0"/>
              <a:buChar char="•"/>
            </a:pPr>
            <a:r>
              <a:rPr lang="es-PE" sz="1500" b="0" i="0" u="none" strike="noStrike" cap="none" dirty="0">
                <a:solidFill>
                  <a:schemeClr val="dk1"/>
                </a:solidFill>
                <a:latin typeface="Calibri"/>
                <a:ea typeface="Calibri"/>
                <a:cs typeface="Calibri"/>
                <a:sym typeface="Calibri"/>
              </a:rPr>
              <a:t>Actividades que influyen en la calidad del producto.</a:t>
            </a:r>
            <a:endParaRPr lang="es-PE" sz="1500" dirty="0"/>
          </a:p>
          <a:p>
            <a:pPr marL="182563" marR="0" lvl="2" indent="-182563" algn="l" rtl="0">
              <a:spcBef>
                <a:spcPts val="0"/>
              </a:spcBef>
              <a:spcAft>
                <a:spcPts val="0"/>
              </a:spcAft>
              <a:buClr>
                <a:schemeClr val="dk1"/>
              </a:buClr>
              <a:buSzPts val="1600"/>
              <a:buFont typeface="Arial" panose="020B0604020202020204" pitchFamily="34" charset="0"/>
              <a:buChar char="•"/>
            </a:pPr>
            <a:endParaRPr lang="es-PE" sz="1500" dirty="0">
              <a:solidFill>
                <a:schemeClr val="dk1"/>
              </a:solidFill>
              <a:latin typeface="Calibri"/>
              <a:cs typeface="Calibri"/>
              <a:sym typeface="Calibri"/>
            </a:endParaRPr>
          </a:p>
          <a:p>
            <a:pPr marL="0" marR="0" lvl="0" indent="0" algn="l" rtl="0">
              <a:spcBef>
                <a:spcPts val="0"/>
              </a:spcBef>
              <a:spcAft>
                <a:spcPts val="0"/>
              </a:spcAft>
              <a:buNone/>
            </a:pPr>
            <a:r>
              <a:rPr lang="es-PE" sz="1500" b="1" dirty="0">
                <a:solidFill>
                  <a:schemeClr val="dk1"/>
                </a:solidFill>
                <a:latin typeface="Calibri"/>
                <a:ea typeface="Calibri"/>
                <a:cs typeface="Calibri"/>
                <a:sym typeface="Calibri"/>
              </a:rPr>
              <a:t>Calidad a nivel de proceso</a:t>
            </a:r>
            <a:endParaRPr lang="es-PE" sz="1500" dirty="0"/>
          </a:p>
          <a:p>
            <a:pPr marL="0" marR="0" lvl="0" indent="0" algn="l" rtl="0">
              <a:spcBef>
                <a:spcPts val="0"/>
              </a:spcBef>
              <a:spcAft>
                <a:spcPts val="0"/>
              </a:spcAft>
              <a:buNone/>
            </a:pPr>
            <a:r>
              <a:rPr lang="es-PE" sz="1500" dirty="0">
                <a:solidFill>
                  <a:schemeClr val="dk1"/>
                </a:solidFill>
                <a:latin typeface="Calibri"/>
                <a:ea typeface="Calibri"/>
                <a:cs typeface="Calibri"/>
                <a:sym typeface="Calibri"/>
              </a:rPr>
              <a:t>“La calidad de un sistema software debe ser programada desde el inicio del proyecto, y posteriormente en cada etapa del proceso de desarrollo se debe llevar a cabo el control y seguimiento de los aspectos de calidad, para minimizar los riesgos y ofrecer soporte continuo. Se garantiza así un óptimo nivel de cumplimiento de los factores de calidad, teniendo en cuenta que si en alguna de las etapas se deja de lado la verificación de los factores y criterios es posible que se presente deficiencia en alguno de éstos y disminuirá el nivel de calidad no solo del proceso, sino también del producto en desarrollo”.</a:t>
            </a:r>
            <a:endParaRPr lang="es-PE" sz="15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5" name="Rectangle 5">
            <a:extLst>
              <a:ext uri="{FF2B5EF4-FFF2-40B4-BE49-F238E27FC236}">
                <a16:creationId xmlns:a16="http://schemas.microsoft.com/office/drawing/2014/main" id="{D9037126-ACA6-BE4E-A73F-CB30C25D9DDE}"/>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CALIDAD DEL SOFTWARE</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grpSp>
        <p:nvGrpSpPr>
          <p:cNvPr id="6" name="Grupo 5">
            <a:extLst>
              <a:ext uri="{FF2B5EF4-FFF2-40B4-BE49-F238E27FC236}">
                <a16:creationId xmlns:a16="http://schemas.microsoft.com/office/drawing/2014/main" id="{E972AFC1-3558-F948-9113-534D646082F6}"/>
              </a:ext>
            </a:extLst>
          </p:cNvPr>
          <p:cNvGrpSpPr/>
          <p:nvPr/>
        </p:nvGrpSpPr>
        <p:grpSpPr>
          <a:xfrm>
            <a:off x="326977" y="917244"/>
            <a:ext cx="3018735" cy="394721"/>
            <a:chOff x="287221" y="917244"/>
            <a:chExt cx="3549469" cy="500394"/>
          </a:xfrm>
        </p:grpSpPr>
        <p:sp>
          <p:nvSpPr>
            <p:cNvPr id="7" name="Rectángulo redondeado 6">
              <a:extLst>
                <a:ext uri="{FF2B5EF4-FFF2-40B4-BE49-F238E27FC236}">
                  <a16:creationId xmlns:a16="http://schemas.microsoft.com/office/drawing/2014/main" id="{8F6DE0FE-F66F-C641-A3B7-1082DDFA72B3}"/>
                </a:ext>
              </a:extLst>
            </p:cNvPr>
            <p:cNvSpPr/>
            <p:nvPr/>
          </p:nvSpPr>
          <p:spPr>
            <a:xfrm>
              <a:off x="503238" y="917244"/>
              <a:ext cx="3333452" cy="500394"/>
            </a:xfrm>
            <a:prstGeom prst="roundRect">
              <a:avLst>
                <a:gd name="adj" fmla="val 24841"/>
              </a:avLst>
            </a:prstGeom>
            <a:solidFill>
              <a:srgbClr val="92C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762" lvl="0" algn="ctr">
                <a:buSzPts val="1600"/>
                <a:tabLst>
                  <a:tab pos="569913" algn="l"/>
                </a:tabLst>
              </a:pPr>
              <a:r>
                <a:rPr lang="es-PE" b="1" dirty="0">
                  <a:latin typeface="Calibri" charset="0"/>
                  <a:cs typeface="Calibri" charset="0"/>
                  <a:sym typeface="Calibri"/>
                </a:rPr>
                <a:t>2</a:t>
              </a:r>
              <a:r>
                <a:rPr lang="es-PE" b="1" dirty="0">
                  <a:solidFill>
                    <a:schemeClr val="lt1"/>
                  </a:solidFill>
                  <a:latin typeface="Calibri" charset="0"/>
                  <a:cs typeface="Calibri" charset="0"/>
                  <a:sym typeface="Calibri"/>
                </a:rPr>
                <a:t>. CALIDAD DEL PROCESO</a:t>
              </a:r>
              <a:endParaRPr lang="es-PE" b="1" dirty="0">
                <a:solidFill>
                  <a:schemeClr val="lt1"/>
                </a:solidFill>
                <a:latin typeface="Calibri" charset="0"/>
                <a:cs typeface="Calibri" charset="0"/>
              </a:endParaRPr>
            </a:p>
          </p:txBody>
        </p:sp>
        <p:grpSp>
          <p:nvGrpSpPr>
            <p:cNvPr id="8" name="Agrupar 14">
              <a:extLst>
                <a:ext uri="{FF2B5EF4-FFF2-40B4-BE49-F238E27FC236}">
                  <a16:creationId xmlns:a16="http://schemas.microsoft.com/office/drawing/2014/main" id="{FA55A200-2072-B849-951C-0D00D07A82FC}"/>
                </a:ext>
              </a:extLst>
            </p:cNvPr>
            <p:cNvGrpSpPr/>
            <p:nvPr/>
          </p:nvGrpSpPr>
          <p:grpSpPr>
            <a:xfrm>
              <a:off x="287221" y="965530"/>
              <a:ext cx="459474" cy="403823"/>
              <a:chOff x="5892512" y="2805541"/>
              <a:chExt cx="459474" cy="403823"/>
            </a:xfrm>
          </p:grpSpPr>
          <p:sp>
            <p:nvSpPr>
              <p:cNvPr id="9" name="Elipse 8">
                <a:extLst>
                  <a:ext uri="{FF2B5EF4-FFF2-40B4-BE49-F238E27FC236}">
                    <a16:creationId xmlns:a16="http://schemas.microsoft.com/office/drawing/2014/main" id="{3330BD84-5925-9246-88D3-D0D02A6DA735}"/>
                  </a:ext>
                </a:extLst>
              </p:cNvPr>
              <p:cNvSpPr/>
              <p:nvPr/>
            </p:nvSpPr>
            <p:spPr>
              <a:xfrm>
                <a:off x="5956277" y="2824919"/>
                <a:ext cx="395709" cy="376075"/>
              </a:xfrm>
              <a:prstGeom prst="ellipse">
                <a:avLst/>
              </a:prstGeom>
              <a:solidFill>
                <a:srgbClr val="6A8F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0" name="Elipse 9">
                <a:extLst>
                  <a:ext uri="{FF2B5EF4-FFF2-40B4-BE49-F238E27FC236}">
                    <a16:creationId xmlns:a16="http://schemas.microsoft.com/office/drawing/2014/main" id="{DA17B526-0528-044A-A4F7-3332E990D3F5}"/>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1" name="Triángulo 10">
                <a:extLst>
                  <a:ext uri="{FF2B5EF4-FFF2-40B4-BE49-F238E27FC236}">
                    <a16:creationId xmlns:a16="http://schemas.microsoft.com/office/drawing/2014/main" id="{ACD16CCF-77C8-6E43-89E0-F26A4B7BCB3B}"/>
                  </a:ext>
                </a:extLst>
              </p:cNvPr>
              <p:cNvSpPr/>
              <p:nvPr/>
            </p:nvSpPr>
            <p:spPr>
              <a:xfrm rot="5400000">
                <a:off x="6076285" y="2946262"/>
                <a:ext cx="186870" cy="122381"/>
              </a:xfrm>
              <a:prstGeom prst="triangle">
                <a:avLst/>
              </a:prstGeom>
              <a:solidFill>
                <a:srgbClr val="92C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sp>
        <p:nvSpPr>
          <p:cNvPr id="12" name="Rectángulo 11">
            <a:extLst>
              <a:ext uri="{FF2B5EF4-FFF2-40B4-BE49-F238E27FC236}">
                <a16:creationId xmlns:a16="http://schemas.microsoft.com/office/drawing/2014/main" id="{D0DFF9F4-6E92-D54E-B182-2AF2C9F342BA}"/>
              </a:ext>
            </a:extLst>
          </p:cNvPr>
          <p:cNvSpPr/>
          <p:nvPr/>
        </p:nvSpPr>
        <p:spPr>
          <a:xfrm>
            <a:off x="503238" y="1605377"/>
            <a:ext cx="7889396" cy="1446550"/>
          </a:xfrm>
          <a:prstGeom prst="rect">
            <a:avLst/>
          </a:prstGeom>
        </p:spPr>
        <p:txBody>
          <a:bodyPr wrap="square" lIns="0" tIns="0" rIns="0" bIns="0">
            <a:spAutoFit/>
          </a:bodyPr>
          <a:lstStyle/>
          <a:p>
            <a:pPr marL="182563" marR="0" lvl="2" indent="-182563" algn="l" rtl="0">
              <a:spcBef>
                <a:spcPts val="0"/>
              </a:spcBef>
              <a:spcAft>
                <a:spcPts val="0"/>
              </a:spcAft>
              <a:buClr>
                <a:schemeClr val="dk1"/>
              </a:buClr>
              <a:buSzPct val="100000"/>
              <a:buFont typeface="Arial" panose="020B0604020202020204" pitchFamily="34" charset="0"/>
              <a:buChar char="•"/>
            </a:pPr>
            <a:r>
              <a:rPr lang="es-PE" sz="1500" b="0" i="0" u="none" strike="noStrike" cap="none" dirty="0">
                <a:solidFill>
                  <a:schemeClr val="dk1"/>
                </a:solidFill>
                <a:latin typeface="Calibri"/>
                <a:ea typeface="Calibri"/>
                <a:cs typeface="Calibri"/>
                <a:sym typeface="Calibri"/>
              </a:rPr>
              <a:t>Actividades que influyen en la calidad del producto.</a:t>
            </a:r>
            <a:endParaRPr lang="es-PE" sz="1500" dirty="0"/>
          </a:p>
          <a:p>
            <a:pPr marL="182563" marR="0" lvl="2" indent="-182563" algn="l" rtl="0">
              <a:spcBef>
                <a:spcPts val="0"/>
              </a:spcBef>
              <a:spcAft>
                <a:spcPts val="0"/>
              </a:spcAft>
              <a:buClr>
                <a:schemeClr val="dk1"/>
              </a:buClr>
              <a:buSzPts val="1600"/>
              <a:buFont typeface="Arial" panose="020B0604020202020204" pitchFamily="34" charset="0"/>
              <a:buChar char="•"/>
            </a:pPr>
            <a:endParaRPr lang="es-PE" sz="1500" dirty="0">
              <a:solidFill>
                <a:schemeClr val="dk1"/>
              </a:solidFill>
              <a:latin typeface="Calibri"/>
              <a:cs typeface="Calibri"/>
              <a:sym typeface="Calibri"/>
            </a:endParaRPr>
          </a:p>
          <a:p>
            <a:pPr marL="0" marR="0" lvl="0" indent="0" algn="l" rtl="0">
              <a:spcBef>
                <a:spcPts val="0"/>
              </a:spcBef>
              <a:spcAft>
                <a:spcPts val="0"/>
              </a:spcAft>
              <a:buNone/>
            </a:pPr>
            <a:r>
              <a:rPr lang="es-PE" sz="1600" b="1" dirty="0">
                <a:solidFill>
                  <a:schemeClr val="dk1"/>
                </a:solidFill>
                <a:latin typeface="Calibri"/>
                <a:ea typeface="Calibri"/>
                <a:cs typeface="Calibri"/>
                <a:sym typeface="Calibri"/>
              </a:rPr>
              <a:t>Calidad a nivel de proceso</a:t>
            </a:r>
            <a:endParaRPr lang="es-PE" dirty="0"/>
          </a:p>
          <a:p>
            <a:pPr marL="171450" marR="0" lvl="0" indent="-171450"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Analizar las actividades del proceso que influyen en la calidad del producto.</a:t>
            </a:r>
            <a:endParaRPr lang="es-PE" dirty="0"/>
          </a:p>
          <a:p>
            <a:pPr marL="171450" marR="0" lvl="0" indent="-171450"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Modelar el Proceso</a:t>
            </a:r>
            <a:endParaRPr lang="es-PE" dirty="0"/>
          </a:p>
          <a:p>
            <a:pPr marL="171450" marR="0" lvl="0" indent="-171450"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Preguntas como:</a:t>
            </a:r>
            <a:endParaRPr lang="es-PE" dirty="0"/>
          </a:p>
        </p:txBody>
      </p:sp>
      <p:sp>
        <p:nvSpPr>
          <p:cNvPr id="15" name="Rectángulo 14">
            <a:extLst>
              <a:ext uri="{FF2B5EF4-FFF2-40B4-BE49-F238E27FC236}">
                <a16:creationId xmlns:a16="http://schemas.microsoft.com/office/drawing/2014/main" id="{3561D867-E798-BA42-842D-7D7AAE03C927}"/>
              </a:ext>
            </a:extLst>
          </p:cNvPr>
          <p:cNvSpPr/>
          <p:nvPr/>
        </p:nvSpPr>
        <p:spPr>
          <a:xfrm>
            <a:off x="974956" y="3091999"/>
            <a:ext cx="4186619" cy="215444"/>
          </a:xfrm>
          <a:prstGeom prst="rect">
            <a:avLst/>
          </a:prstGeom>
        </p:spPr>
        <p:txBody>
          <a:bodyPr wrap="square" lIns="0" tIns="0" rIns="0" bIns="0">
            <a:spAutoFit/>
          </a:bodyPr>
          <a:lstStyle/>
          <a:p>
            <a:pPr marR="0" lvl="1" algn="l" rtl="0">
              <a:spcBef>
                <a:spcPts val="0"/>
              </a:spcBef>
              <a:spcAft>
                <a:spcPts val="0"/>
              </a:spcAft>
              <a:buClr>
                <a:schemeClr val="dk1"/>
              </a:buClr>
              <a:buSzPts val="1600"/>
            </a:pPr>
            <a:r>
              <a:rPr lang="es-PE" sz="1400" b="0" i="0" u="none" strike="noStrike" cap="none" dirty="0">
                <a:solidFill>
                  <a:schemeClr val="dk1"/>
                </a:solidFill>
                <a:latin typeface="Calibri"/>
                <a:ea typeface="Calibri"/>
                <a:cs typeface="Calibri"/>
                <a:sym typeface="Calibri"/>
              </a:rPr>
              <a:t>¿Dónde y cuándo se puede hallar un defecto?</a:t>
            </a:r>
            <a:endParaRPr lang="es-PE" dirty="0"/>
          </a:p>
        </p:txBody>
      </p:sp>
      <p:cxnSp>
        <p:nvCxnSpPr>
          <p:cNvPr id="16" name="Conector recto 15">
            <a:extLst>
              <a:ext uri="{FF2B5EF4-FFF2-40B4-BE49-F238E27FC236}">
                <a16:creationId xmlns:a16="http://schemas.microsoft.com/office/drawing/2014/main" id="{7F93E409-5DEA-0546-98C1-62DA9424F938}"/>
              </a:ext>
            </a:extLst>
          </p:cNvPr>
          <p:cNvCxnSpPr>
            <a:cxnSpLocks/>
          </p:cNvCxnSpPr>
          <p:nvPr/>
        </p:nvCxnSpPr>
        <p:spPr>
          <a:xfrm>
            <a:off x="760555" y="3294869"/>
            <a:ext cx="0" cy="249317"/>
          </a:xfrm>
          <a:prstGeom prst="line">
            <a:avLst/>
          </a:prstGeom>
          <a:ln w="12700">
            <a:solidFill>
              <a:srgbClr val="92C14E"/>
            </a:solidFill>
          </a:ln>
        </p:spPr>
        <p:style>
          <a:lnRef idx="1">
            <a:schemeClr val="accent1"/>
          </a:lnRef>
          <a:fillRef idx="0">
            <a:schemeClr val="accent1"/>
          </a:fillRef>
          <a:effectRef idx="0">
            <a:schemeClr val="accent1"/>
          </a:effectRef>
          <a:fontRef idx="minor">
            <a:schemeClr val="tx1"/>
          </a:fontRef>
        </p:style>
      </p:cxnSp>
      <p:sp>
        <p:nvSpPr>
          <p:cNvPr id="17" name="Rectángulo 16">
            <a:extLst>
              <a:ext uri="{FF2B5EF4-FFF2-40B4-BE49-F238E27FC236}">
                <a16:creationId xmlns:a16="http://schemas.microsoft.com/office/drawing/2014/main" id="{46FBD574-7689-0E49-8653-CB0C750945C1}"/>
              </a:ext>
            </a:extLst>
          </p:cNvPr>
          <p:cNvSpPr/>
          <p:nvPr/>
        </p:nvSpPr>
        <p:spPr>
          <a:xfrm>
            <a:off x="974956" y="3562634"/>
            <a:ext cx="4186619" cy="215444"/>
          </a:xfrm>
          <a:prstGeom prst="rect">
            <a:avLst/>
          </a:prstGeom>
        </p:spPr>
        <p:txBody>
          <a:bodyPr wrap="square" lIns="0" tIns="0" rIns="0" bIns="0">
            <a:spAutoFit/>
          </a:bodyPr>
          <a:lstStyle/>
          <a:p>
            <a:pPr marR="0" lvl="1" algn="l" rtl="0">
              <a:spcBef>
                <a:spcPts val="0"/>
              </a:spcBef>
              <a:spcAft>
                <a:spcPts val="0"/>
              </a:spcAft>
              <a:buClr>
                <a:schemeClr val="dk1"/>
              </a:buClr>
              <a:buSzPts val="1600"/>
            </a:pPr>
            <a:r>
              <a:rPr lang="es-PE" sz="1400" b="0" i="0" u="none" strike="noStrike" cap="none" dirty="0">
                <a:solidFill>
                  <a:schemeClr val="dk1"/>
                </a:solidFill>
                <a:latin typeface="Calibri"/>
                <a:ea typeface="Calibri"/>
                <a:cs typeface="Calibri"/>
                <a:sym typeface="Calibri"/>
              </a:rPr>
              <a:t>¿Cómo hallar los defectos antes?</a:t>
            </a:r>
            <a:endParaRPr lang="es-PE" dirty="0"/>
          </a:p>
        </p:txBody>
      </p:sp>
      <p:sp>
        <p:nvSpPr>
          <p:cNvPr id="18" name="Rectángulo 17">
            <a:extLst>
              <a:ext uri="{FF2B5EF4-FFF2-40B4-BE49-F238E27FC236}">
                <a16:creationId xmlns:a16="http://schemas.microsoft.com/office/drawing/2014/main" id="{B1F6AC08-9E7F-E040-BB53-3AF0DC885D12}"/>
              </a:ext>
            </a:extLst>
          </p:cNvPr>
          <p:cNvSpPr/>
          <p:nvPr/>
        </p:nvSpPr>
        <p:spPr>
          <a:xfrm>
            <a:off x="974956" y="4089423"/>
            <a:ext cx="5106867" cy="215444"/>
          </a:xfrm>
          <a:prstGeom prst="rect">
            <a:avLst/>
          </a:prstGeom>
        </p:spPr>
        <p:txBody>
          <a:bodyPr wrap="square" lIns="0" tIns="0" rIns="0" bIns="0">
            <a:spAutoFit/>
          </a:bodyPr>
          <a:lstStyle/>
          <a:p>
            <a:pPr marR="0" lvl="1" algn="l" rtl="0">
              <a:spcBef>
                <a:spcPts val="0"/>
              </a:spcBef>
              <a:spcAft>
                <a:spcPts val="0"/>
              </a:spcAft>
              <a:buClr>
                <a:schemeClr val="dk1"/>
              </a:buClr>
              <a:buSzPts val="1600"/>
            </a:pPr>
            <a:r>
              <a:rPr lang="es-PE" sz="1400" b="0" i="0" u="none" strike="noStrike" cap="none" dirty="0">
                <a:solidFill>
                  <a:schemeClr val="dk1"/>
                </a:solidFill>
                <a:latin typeface="Calibri"/>
                <a:ea typeface="Calibri"/>
                <a:cs typeface="Calibri"/>
                <a:sym typeface="Calibri"/>
              </a:rPr>
              <a:t>¿Existen actividades alternas que proporcion</a:t>
            </a:r>
            <a:r>
              <a:rPr lang="es-PE" sz="1400" dirty="0">
                <a:solidFill>
                  <a:schemeClr val="dk1"/>
                </a:solidFill>
                <a:latin typeface="Calibri"/>
                <a:ea typeface="Calibri"/>
                <a:cs typeface="Calibri"/>
                <a:sym typeface="Calibri"/>
              </a:rPr>
              <a:t>a</a:t>
            </a:r>
            <a:r>
              <a:rPr lang="es-PE" sz="1400" b="0" i="0" u="none" strike="noStrike" cap="none" dirty="0">
                <a:solidFill>
                  <a:schemeClr val="dk1"/>
                </a:solidFill>
                <a:latin typeface="Calibri"/>
                <a:ea typeface="Calibri"/>
                <a:cs typeface="Calibri"/>
                <a:sym typeface="Calibri"/>
              </a:rPr>
              <a:t>n mayor calidad?</a:t>
            </a:r>
          </a:p>
        </p:txBody>
      </p:sp>
      <p:sp>
        <p:nvSpPr>
          <p:cNvPr id="19" name="Más 18">
            <a:extLst>
              <a:ext uri="{FF2B5EF4-FFF2-40B4-BE49-F238E27FC236}">
                <a16:creationId xmlns:a16="http://schemas.microsoft.com/office/drawing/2014/main" id="{B851F452-4EC4-C840-809F-CE8E980EB7C1}"/>
              </a:ext>
            </a:extLst>
          </p:cNvPr>
          <p:cNvSpPr/>
          <p:nvPr/>
        </p:nvSpPr>
        <p:spPr>
          <a:xfrm>
            <a:off x="684213" y="3101771"/>
            <a:ext cx="152683" cy="152683"/>
          </a:xfrm>
          <a:prstGeom prst="mathPlus">
            <a:avLst>
              <a:gd name="adj1" fmla="val 15202"/>
            </a:avLst>
          </a:prstGeom>
          <a:solidFill>
            <a:srgbClr val="92C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cxnSp>
        <p:nvCxnSpPr>
          <p:cNvPr id="20" name="Conector recto 19">
            <a:extLst>
              <a:ext uri="{FF2B5EF4-FFF2-40B4-BE49-F238E27FC236}">
                <a16:creationId xmlns:a16="http://schemas.microsoft.com/office/drawing/2014/main" id="{FCDDF2A7-5D92-FA40-99CE-ABE1AF8BFDC3}"/>
              </a:ext>
            </a:extLst>
          </p:cNvPr>
          <p:cNvCxnSpPr>
            <a:cxnSpLocks/>
          </p:cNvCxnSpPr>
          <p:nvPr/>
        </p:nvCxnSpPr>
        <p:spPr>
          <a:xfrm>
            <a:off x="760555" y="3756271"/>
            <a:ext cx="0" cy="312455"/>
          </a:xfrm>
          <a:prstGeom prst="line">
            <a:avLst/>
          </a:prstGeom>
          <a:ln w="12700">
            <a:solidFill>
              <a:srgbClr val="92C14E"/>
            </a:solidFill>
          </a:ln>
        </p:spPr>
        <p:style>
          <a:lnRef idx="1">
            <a:schemeClr val="accent1"/>
          </a:lnRef>
          <a:fillRef idx="0">
            <a:schemeClr val="accent1"/>
          </a:fillRef>
          <a:effectRef idx="0">
            <a:schemeClr val="accent1"/>
          </a:effectRef>
          <a:fontRef idx="minor">
            <a:schemeClr val="tx1"/>
          </a:fontRef>
        </p:style>
      </p:cxnSp>
      <p:sp>
        <p:nvSpPr>
          <p:cNvPr id="21" name="Más 20">
            <a:extLst>
              <a:ext uri="{FF2B5EF4-FFF2-40B4-BE49-F238E27FC236}">
                <a16:creationId xmlns:a16="http://schemas.microsoft.com/office/drawing/2014/main" id="{283AB5CB-D03A-054B-A21D-18DC884EFEAA}"/>
              </a:ext>
            </a:extLst>
          </p:cNvPr>
          <p:cNvSpPr/>
          <p:nvPr/>
        </p:nvSpPr>
        <p:spPr>
          <a:xfrm>
            <a:off x="684213" y="3573522"/>
            <a:ext cx="152683" cy="152683"/>
          </a:xfrm>
          <a:prstGeom prst="mathPlus">
            <a:avLst>
              <a:gd name="adj1" fmla="val 15202"/>
            </a:avLst>
          </a:prstGeom>
          <a:solidFill>
            <a:srgbClr val="92C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22" name="Más 21">
            <a:extLst>
              <a:ext uri="{FF2B5EF4-FFF2-40B4-BE49-F238E27FC236}">
                <a16:creationId xmlns:a16="http://schemas.microsoft.com/office/drawing/2014/main" id="{7CBEA036-ACBB-D644-9CA0-0C2C85FB37A9}"/>
              </a:ext>
            </a:extLst>
          </p:cNvPr>
          <p:cNvSpPr/>
          <p:nvPr/>
        </p:nvSpPr>
        <p:spPr>
          <a:xfrm>
            <a:off x="684213" y="4089423"/>
            <a:ext cx="152683" cy="152683"/>
          </a:xfrm>
          <a:prstGeom prst="mathPlus">
            <a:avLst>
              <a:gd name="adj1" fmla="val 15202"/>
            </a:avLst>
          </a:prstGeom>
          <a:solidFill>
            <a:srgbClr val="92C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3" name="Google Shape;113;p9"/>
          <p:cNvSpPr/>
          <p:nvPr/>
        </p:nvSpPr>
        <p:spPr>
          <a:xfrm>
            <a:off x="647700" y="2482151"/>
            <a:ext cx="7792107" cy="966952"/>
          </a:xfrm>
          <a:prstGeom prst="rightArrow">
            <a:avLst>
              <a:gd name="adj1" fmla="val 50000"/>
              <a:gd name="adj2" fmla="val 50000"/>
            </a:avLst>
          </a:prstGeom>
          <a:solidFill>
            <a:srgbClr val="00B1C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4" name="Google Shape;114;p9"/>
          <p:cNvSpPr/>
          <p:nvPr/>
        </p:nvSpPr>
        <p:spPr>
          <a:xfrm>
            <a:off x="913057" y="2803998"/>
            <a:ext cx="310056" cy="310056"/>
          </a:xfrm>
          <a:prstGeom prst="ellipse">
            <a:avLst/>
          </a:prstGeom>
          <a:solidFill>
            <a:srgbClr val="92C14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5" name="Google Shape;115;p9"/>
          <p:cNvSpPr/>
          <p:nvPr/>
        </p:nvSpPr>
        <p:spPr>
          <a:xfrm>
            <a:off x="1538614" y="2803998"/>
            <a:ext cx="310056" cy="310056"/>
          </a:xfrm>
          <a:prstGeom prst="ellipse">
            <a:avLst/>
          </a:prstGeom>
          <a:solidFill>
            <a:srgbClr val="92C14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6" name="Google Shape;116;p9"/>
          <p:cNvSpPr/>
          <p:nvPr/>
        </p:nvSpPr>
        <p:spPr>
          <a:xfrm>
            <a:off x="2164171" y="2803998"/>
            <a:ext cx="310056" cy="310056"/>
          </a:xfrm>
          <a:prstGeom prst="ellipse">
            <a:avLst/>
          </a:prstGeom>
          <a:solidFill>
            <a:srgbClr val="92C14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7" name="Google Shape;117;p9"/>
          <p:cNvSpPr/>
          <p:nvPr/>
        </p:nvSpPr>
        <p:spPr>
          <a:xfrm>
            <a:off x="2789728" y="2803998"/>
            <a:ext cx="310056" cy="310056"/>
          </a:xfrm>
          <a:prstGeom prst="ellipse">
            <a:avLst/>
          </a:prstGeom>
          <a:solidFill>
            <a:srgbClr val="92C14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8" name="Google Shape;118;p9"/>
          <p:cNvSpPr/>
          <p:nvPr/>
        </p:nvSpPr>
        <p:spPr>
          <a:xfrm>
            <a:off x="3424116" y="2803998"/>
            <a:ext cx="310056" cy="310056"/>
          </a:xfrm>
          <a:prstGeom prst="ellipse">
            <a:avLst/>
          </a:prstGeom>
          <a:solidFill>
            <a:srgbClr val="92C14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9" name="Google Shape;119;p9"/>
          <p:cNvSpPr/>
          <p:nvPr/>
        </p:nvSpPr>
        <p:spPr>
          <a:xfrm>
            <a:off x="4096320" y="2803998"/>
            <a:ext cx="310056" cy="310056"/>
          </a:xfrm>
          <a:prstGeom prst="ellipse">
            <a:avLst/>
          </a:prstGeom>
          <a:solidFill>
            <a:srgbClr val="92C14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0" name="Google Shape;120;p9"/>
          <p:cNvSpPr/>
          <p:nvPr/>
        </p:nvSpPr>
        <p:spPr>
          <a:xfrm>
            <a:off x="4768524" y="2803998"/>
            <a:ext cx="310056" cy="310056"/>
          </a:xfrm>
          <a:prstGeom prst="ellipse">
            <a:avLst/>
          </a:prstGeom>
          <a:solidFill>
            <a:srgbClr val="92C14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1" name="Google Shape;121;p9"/>
          <p:cNvSpPr/>
          <p:nvPr/>
        </p:nvSpPr>
        <p:spPr>
          <a:xfrm>
            <a:off x="5440728" y="2803998"/>
            <a:ext cx="310056" cy="310056"/>
          </a:xfrm>
          <a:prstGeom prst="ellipse">
            <a:avLst/>
          </a:prstGeom>
          <a:solidFill>
            <a:srgbClr val="92C14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2" name="Google Shape;122;p9"/>
          <p:cNvSpPr/>
          <p:nvPr/>
        </p:nvSpPr>
        <p:spPr>
          <a:xfrm>
            <a:off x="6112932" y="2803998"/>
            <a:ext cx="310056" cy="310056"/>
          </a:xfrm>
          <a:prstGeom prst="ellipse">
            <a:avLst/>
          </a:prstGeom>
          <a:solidFill>
            <a:srgbClr val="92C14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3" name="Google Shape;123;p9"/>
          <p:cNvSpPr/>
          <p:nvPr/>
        </p:nvSpPr>
        <p:spPr>
          <a:xfrm>
            <a:off x="6785136" y="2803998"/>
            <a:ext cx="310056" cy="310056"/>
          </a:xfrm>
          <a:prstGeom prst="ellipse">
            <a:avLst/>
          </a:prstGeom>
          <a:solidFill>
            <a:srgbClr val="92C14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4" name="Google Shape;124;p9"/>
          <p:cNvSpPr/>
          <p:nvPr/>
        </p:nvSpPr>
        <p:spPr>
          <a:xfrm>
            <a:off x="7457340" y="2803998"/>
            <a:ext cx="310056" cy="310056"/>
          </a:xfrm>
          <a:prstGeom prst="ellipse">
            <a:avLst/>
          </a:prstGeom>
          <a:solidFill>
            <a:srgbClr val="92C14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5" name="Google Shape;125;p9"/>
          <p:cNvSpPr/>
          <p:nvPr/>
        </p:nvSpPr>
        <p:spPr>
          <a:xfrm>
            <a:off x="726899" y="3380575"/>
            <a:ext cx="1277807" cy="492443"/>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PE" sz="1600" dirty="0">
                <a:solidFill>
                  <a:schemeClr val="dk1"/>
                </a:solidFill>
                <a:latin typeface="Calibri"/>
                <a:ea typeface="Calibri"/>
                <a:cs typeface="Calibri"/>
                <a:sym typeface="Calibri"/>
              </a:rPr>
              <a:t>ISO 15504 </a:t>
            </a:r>
            <a:endParaRPr dirty="0"/>
          </a:p>
          <a:p>
            <a:pPr marL="0" marR="0" lvl="0" indent="0" algn="ctr" rtl="0">
              <a:spcBef>
                <a:spcPts val="0"/>
              </a:spcBef>
              <a:spcAft>
                <a:spcPts val="0"/>
              </a:spcAft>
              <a:buNone/>
            </a:pPr>
            <a:r>
              <a:rPr lang="es-PE" sz="1600" dirty="0">
                <a:solidFill>
                  <a:schemeClr val="dk1"/>
                </a:solidFill>
                <a:latin typeface="Calibri"/>
                <a:ea typeface="Calibri"/>
                <a:cs typeface="Calibri"/>
                <a:sym typeface="Calibri"/>
              </a:rPr>
              <a:t>1993 </a:t>
            </a:r>
            <a:endParaRPr dirty="0"/>
          </a:p>
        </p:txBody>
      </p:sp>
      <p:sp>
        <p:nvSpPr>
          <p:cNvPr id="126" name="Google Shape;126;p9"/>
          <p:cNvSpPr/>
          <p:nvPr/>
        </p:nvSpPr>
        <p:spPr>
          <a:xfrm>
            <a:off x="2183150" y="3380575"/>
            <a:ext cx="1277807" cy="492443"/>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PE" sz="1600">
                <a:solidFill>
                  <a:schemeClr val="dk1"/>
                </a:solidFill>
                <a:latin typeface="Calibri"/>
                <a:ea typeface="Calibri"/>
                <a:cs typeface="Calibri"/>
                <a:sym typeface="Calibri"/>
              </a:rPr>
              <a:t>Dromey </a:t>
            </a:r>
            <a:endParaRPr/>
          </a:p>
          <a:p>
            <a:pPr marL="0" marR="0" lvl="0" indent="0" algn="ctr" rtl="0">
              <a:spcBef>
                <a:spcPts val="0"/>
              </a:spcBef>
              <a:spcAft>
                <a:spcPts val="0"/>
              </a:spcAft>
              <a:buNone/>
            </a:pPr>
            <a:r>
              <a:rPr lang="es-PE" sz="1600">
                <a:solidFill>
                  <a:schemeClr val="dk1"/>
                </a:solidFill>
                <a:latin typeface="Calibri"/>
                <a:ea typeface="Calibri"/>
                <a:cs typeface="Calibri"/>
                <a:sym typeface="Calibri"/>
              </a:rPr>
              <a:t>1995 </a:t>
            </a:r>
            <a:endParaRPr/>
          </a:p>
        </p:txBody>
      </p:sp>
      <p:sp>
        <p:nvSpPr>
          <p:cNvPr id="127" name="Google Shape;127;p9"/>
          <p:cNvSpPr/>
          <p:nvPr/>
        </p:nvSpPr>
        <p:spPr>
          <a:xfrm>
            <a:off x="3639401" y="3380575"/>
            <a:ext cx="1277807" cy="492443"/>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PE" sz="1600">
                <a:solidFill>
                  <a:schemeClr val="dk1"/>
                </a:solidFill>
                <a:latin typeface="Calibri"/>
                <a:ea typeface="Calibri"/>
                <a:cs typeface="Calibri"/>
                <a:sym typeface="Calibri"/>
              </a:rPr>
              <a:t>TPS </a:t>
            </a:r>
            <a:endParaRPr/>
          </a:p>
          <a:p>
            <a:pPr marL="0" marR="0" lvl="0" indent="0" algn="ctr" rtl="0">
              <a:spcBef>
                <a:spcPts val="0"/>
              </a:spcBef>
              <a:spcAft>
                <a:spcPts val="0"/>
              </a:spcAft>
              <a:buNone/>
            </a:pPr>
            <a:r>
              <a:rPr lang="es-PE" sz="1600">
                <a:solidFill>
                  <a:schemeClr val="dk1"/>
                </a:solidFill>
                <a:latin typeface="Calibri"/>
                <a:ea typeface="Calibri"/>
                <a:cs typeface="Calibri"/>
                <a:sym typeface="Calibri"/>
              </a:rPr>
              <a:t>1996 </a:t>
            </a:r>
            <a:endParaRPr/>
          </a:p>
        </p:txBody>
      </p:sp>
      <p:sp>
        <p:nvSpPr>
          <p:cNvPr id="128" name="Google Shape;128;p9"/>
          <p:cNvSpPr/>
          <p:nvPr/>
        </p:nvSpPr>
        <p:spPr>
          <a:xfrm>
            <a:off x="5145181" y="3380575"/>
            <a:ext cx="1277807" cy="492443"/>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PE" sz="1600">
                <a:solidFill>
                  <a:schemeClr val="dk1"/>
                </a:solidFill>
                <a:latin typeface="Calibri"/>
                <a:ea typeface="Calibri"/>
                <a:cs typeface="Calibri"/>
                <a:sym typeface="Calibri"/>
              </a:rPr>
              <a:t>Cobit 4.0 </a:t>
            </a:r>
            <a:endParaRPr/>
          </a:p>
          <a:p>
            <a:pPr marL="0" marR="0" lvl="0" indent="0" algn="ctr" rtl="0">
              <a:spcBef>
                <a:spcPts val="0"/>
              </a:spcBef>
              <a:spcAft>
                <a:spcPts val="0"/>
              </a:spcAft>
              <a:buNone/>
            </a:pPr>
            <a:r>
              <a:rPr lang="es-PE" sz="1600">
                <a:solidFill>
                  <a:schemeClr val="dk1"/>
                </a:solidFill>
                <a:latin typeface="Calibri"/>
                <a:ea typeface="Calibri"/>
                <a:cs typeface="Calibri"/>
                <a:sym typeface="Calibri"/>
              </a:rPr>
              <a:t>1996 </a:t>
            </a:r>
            <a:endParaRPr/>
          </a:p>
        </p:txBody>
      </p:sp>
      <p:sp>
        <p:nvSpPr>
          <p:cNvPr id="129" name="Google Shape;129;p9"/>
          <p:cNvSpPr/>
          <p:nvPr/>
        </p:nvSpPr>
        <p:spPr>
          <a:xfrm>
            <a:off x="6489589" y="3380575"/>
            <a:ext cx="1277807" cy="492443"/>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PE" sz="1600">
                <a:solidFill>
                  <a:schemeClr val="dk1"/>
                </a:solidFill>
                <a:latin typeface="Calibri"/>
                <a:ea typeface="Calibri"/>
                <a:cs typeface="Calibri"/>
                <a:sym typeface="Calibri"/>
              </a:rPr>
              <a:t>CMMI</a:t>
            </a:r>
            <a:endParaRPr/>
          </a:p>
          <a:p>
            <a:pPr marL="0" marR="0" lvl="0" indent="0" algn="ctr" rtl="0">
              <a:spcBef>
                <a:spcPts val="0"/>
              </a:spcBef>
              <a:spcAft>
                <a:spcPts val="0"/>
              </a:spcAft>
              <a:buNone/>
            </a:pPr>
            <a:r>
              <a:rPr lang="es-PE" sz="1600">
                <a:solidFill>
                  <a:schemeClr val="dk1"/>
                </a:solidFill>
                <a:latin typeface="Calibri"/>
                <a:ea typeface="Calibri"/>
                <a:cs typeface="Calibri"/>
                <a:sym typeface="Calibri"/>
              </a:rPr>
              <a:t>2000</a:t>
            </a:r>
            <a:endParaRPr/>
          </a:p>
        </p:txBody>
      </p:sp>
      <p:sp>
        <p:nvSpPr>
          <p:cNvPr id="130" name="Google Shape;130;p9"/>
          <p:cNvSpPr/>
          <p:nvPr/>
        </p:nvSpPr>
        <p:spPr>
          <a:xfrm>
            <a:off x="872327" y="2068701"/>
            <a:ext cx="915600" cy="49244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600" dirty="0">
                <a:solidFill>
                  <a:schemeClr val="dk1"/>
                </a:solidFill>
                <a:latin typeface="Calibri"/>
                <a:ea typeface="Calibri"/>
                <a:cs typeface="Calibri"/>
                <a:sym typeface="Calibri"/>
              </a:rPr>
              <a:t>ITIL </a:t>
            </a:r>
            <a:endParaRPr dirty="0"/>
          </a:p>
          <a:p>
            <a:pPr marL="0" marR="0" lvl="0" indent="0" algn="ctr" rtl="0">
              <a:spcBef>
                <a:spcPts val="0"/>
              </a:spcBef>
              <a:spcAft>
                <a:spcPts val="0"/>
              </a:spcAft>
              <a:buNone/>
            </a:pPr>
            <a:r>
              <a:rPr lang="es-PE" sz="1600" dirty="0">
                <a:solidFill>
                  <a:schemeClr val="dk1"/>
                </a:solidFill>
                <a:latin typeface="Calibri"/>
                <a:ea typeface="Calibri"/>
                <a:cs typeface="Calibri"/>
                <a:sym typeface="Calibri"/>
              </a:rPr>
              <a:t>1989 </a:t>
            </a:r>
            <a:endParaRPr dirty="0"/>
          </a:p>
        </p:txBody>
      </p:sp>
      <p:sp>
        <p:nvSpPr>
          <p:cNvPr id="131" name="Google Shape;131;p9"/>
          <p:cNvSpPr/>
          <p:nvPr/>
        </p:nvSpPr>
        <p:spPr>
          <a:xfrm>
            <a:off x="1811371" y="2068701"/>
            <a:ext cx="1059656" cy="49244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600">
                <a:solidFill>
                  <a:schemeClr val="dk1"/>
                </a:solidFill>
                <a:latin typeface="Calibri"/>
                <a:ea typeface="Calibri"/>
                <a:cs typeface="Calibri"/>
                <a:sym typeface="Calibri"/>
              </a:rPr>
              <a:t>Bootstrap </a:t>
            </a:r>
            <a:endParaRPr/>
          </a:p>
          <a:p>
            <a:pPr marL="0" marR="0" lvl="0" indent="0" algn="ctr" rtl="0">
              <a:spcBef>
                <a:spcPts val="0"/>
              </a:spcBef>
              <a:spcAft>
                <a:spcPts val="0"/>
              </a:spcAft>
              <a:buNone/>
            </a:pPr>
            <a:r>
              <a:rPr lang="es-PE" sz="1600">
                <a:solidFill>
                  <a:schemeClr val="dk1"/>
                </a:solidFill>
                <a:latin typeface="Calibri"/>
                <a:ea typeface="Calibri"/>
                <a:cs typeface="Calibri"/>
                <a:sym typeface="Calibri"/>
              </a:rPr>
              <a:t>1996 </a:t>
            </a:r>
            <a:endParaRPr/>
          </a:p>
        </p:txBody>
      </p:sp>
      <p:sp>
        <p:nvSpPr>
          <p:cNvPr id="132" name="Google Shape;132;p9"/>
          <p:cNvSpPr/>
          <p:nvPr/>
        </p:nvSpPr>
        <p:spPr>
          <a:xfrm>
            <a:off x="2789728" y="2068701"/>
            <a:ext cx="1059656" cy="49244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600">
                <a:solidFill>
                  <a:schemeClr val="dk1"/>
                </a:solidFill>
                <a:latin typeface="Calibri"/>
                <a:ea typeface="Calibri"/>
                <a:cs typeface="Calibri"/>
                <a:sym typeface="Calibri"/>
              </a:rPr>
              <a:t>PSP </a:t>
            </a:r>
            <a:endParaRPr/>
          </a:p>
          <a:p>
            <a:pPr marL="0" marR="0" lvl="0" indent="0" algn="ctr" rtl="0">
              <a:spcBef>
                <a:spcPts val="0"/>
              </a:spcBef>
              <a:spcAft>
                <a:spcPts val="0"/>
              </a:spcAft>
              <a:buNone/>
            </a:pPr>
            <a:r>
              <a:rPr lang="es-PE" sz="1600">
                <a:solidFill>
                  <a:schemeClr val="dk1"/>
                </a:solidFill>
                <a:latin typeface="Calibri"/>
                <a:ea typeface="Calibri"/>
                <a:cs typeface="Calibri"/>
                <a:sym typeface="Calibri"/>
              </a:rPr>
              <a:t>1995</a:t>
            </a:r>
            <a:endParaRPr/>
          </a:p>
        </p:txBody>
      </p:sp>
      <p:sp>
        <p:nvSpPr>
          <p:cNvPr id="133" name="Google Shape;133;p9"/>
          <p:cNvSpPr/>
          <p:nvPr/>
        </p:nvSpPr>
        <p:spPr>
          <a:xfrm>
            <a:off x="3742405" y="2068701"/>
            <a:ext cx="1174803" cy="49244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600">
                <a:solidFill>
                  <a:schemeClr val="dk1"/>
                </a:solidFill>
                <a:latin typeface="Calibri"/>
                <a:ea typeface="Calibri"/>
                <a:cs typeface="Calibri"/>
                <a:sym typeface="Calibri"/>
              </a:rPr>
              <a:t>IEEE 12207 </a:t>
            </a:r>
            <a:endParaRPr/>
          </a:p>
          <a:p>
            <a:pPr marL="0" marR="0" lvl="0" indent="0" algn="ctr" rtl="0">
              <a:spcBef>
                <a:spcPts val="0"/>
              </a:spcBef>
              <a:spcAft>
                <a:spcPts val="0"/>
              </a:spcAft>
              <a:buNone/>
            </a:pPr>
            <a:r>
              <a:rPr lang="es-PE" sz="1600">
                <a:solidFill>
                  <a:schemeClr val="dk1"/>
                </a:solidFill>
                <a:latin typeface="Calibri"/>
                <a:ea typeface="Calibri"/>
                <a:cs typeface="Calibri"/>
                <a:sym typeface="Calibri"/>
              </a:rPr>
              <a:t>1996 </a:t>
            </a:r>
            <a:endParaRPr/>
          </a:p>
        </p:txBody>
      </p:sp>
      <p:sp>
        <p:nvSpPr>
          <p:cNvPr id="134" name="Google Shape;134;p9"/>
          <p:cNvSpPr/>
          <p:nvPr/>
        </p:nvSpPr>
        <p:spPr>
          <a:xfrm>
            <a:off x="4938129" y="2068701"/>
            <a:ext cx="1174803" cy="49244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600">
                <a:solidFill>
                  <a:schemeClr val="dk1"/>
                </a:solidFill>
                <a:latin typeface="Calibri"/>
                <a:ea typeface="Calibri"/>
                <a:cs typeface="Calibri"/>
                <a:sym typeface="Calibri"/>
              </a:rPr>
              <a:t>ISO 90003 </a:t>
            </a:r>
            <a:endParaRPr/>
          </a:p>
          <a:p>
            <a:pPr marL="0" marR="0" lvl="0" indent="0" algn="ctr" rtl="0">
              <a:spcBef>
                <a:spcPts val="0"/>
              </a:spcBef>
              <a:spcAft>
                <a:spcPts val="0"/>
              </a:spcAft>
              <a:buNone/>
            </a:pPr>
            <a:r>
              <a:rPr lang="es-PE" sz="1600">
                <a:solidFill>
                  <a:schemeClr val="dk1"/>
                </a:solidFill>
                <a:latin typeface="Calibri"/>
                <a:ea typeface="Calibri"/>
                <a:cs typeface="Calibri"/>
                <a:sym typeface="Calibri"/>
              </a:rPr>
              <a:t>1997 </a:t>
            </a:r>
            <a:endParaRPr/>
          </a:p>
        </p:txBody>
      </p:sp>
      <p:sp>
        <p:nvSpPr>
          <p:cNvPr id="135" name="Google Shape;135;p9"/>
          <p:cNvSpPr/>
          <p:nvPr/>
        </p:nvSpPr>
        <p:spPr>
          <a:xfrm>
            <a:off x="6227964" y="2068701"/>
            <a:ext cx="1397548" cy="49244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600">
                <a:solidFill>
                  <a:schemeClr val="dk1"/>
                </a:solidFill>
                <a:latin typeface="Calibri"/>
                <a:ea typeface="Calibri"/>
                <a:cs typeface="Calibri"/>
                <a:sym typeface="Calibri"/>
              </a:rPr>
              <a:t>ISO/IEC 20000 </a:t>
            </a:r>
            <a:endParaRPr/>
          </a:p>
          <a:p>
            <a:pPr marL="0" marR="0" lvl="0" indent="0" algn="ctr" rtl="0">
              <a:spcBef>
                <a:spcPts val="0"/>
              </a:spcBef>
              <a:spcAft>
                <a:spcPts val="0"/>
              </a:spcAft>
              <a:buNone/>
            </a:pPr>
            <a:r>
              <a:rPr lang="es-PE" sz="1600">
                <a:solidFill>
                  <a:schemeClr val="dk1"/>
                </a:solidFill>
                <a:latin typeface="Calibri"/>
                <a:ea typeface="Calibri"/>
                <a:cs typeface="Calibri"/>
                <a:sym typeface="Calibri"/>
              </a:rPr>
              <a:t>2005</a:t>
            </a:r>
            <a:endParaRPr/>
          </a:p>
        </p:txBody>
      </p:sp>
      <p:sp>
        <p:nvSpPr>
          <p:cNvPr id="28" name="Rectangle 5">
            <a:extLst>
              <a:ext uri="{FF2B5EF4-FFF2-40B4-BE49-F238E27FC236}">
                <a16:creationId xmlns:a16="http://schemas.microsoft.com/office/drawing/2014/main" id="{231E5D5C-FBD0-9945-8C6E-C5BF025B7B9E}"/>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CALIDAD DEL SOFTWARE</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grpSp>
        <p:nvGrpSpPr>
          <p:cNvPr id="29" name="Grupo 28">
            <a:extLst>
              <a:ext uri="{FF2B5EF4-FFF2-40B4-BE49-F238E27FC236}">
                <a16:creationId xmlns:a16="http://schemas.microsoft.com/office/drawing/2014/main" id="{228FC4C7-9BE5-2545-B7EB-80C624BAF6DB}"/>
              </a:ext>
            </a:extLst>
          </p:cNvPr>
          <p:cNvGrpSpPr/>
          <p:nvPr/>
        </p:nvGrpSpPr>
        <p:grpSpPr>
          <a:xfrm>
            <a:off x="326977" y="917244"/>
            <a:ext cx="3018735" cy="394721"/>
            <a:chOff x="287221" y="917244"/>
            <a:chExt cx="3549469" cy="500394"/>
          </a:xfrm>
        </p:grpSpPr>
        <p:sp>
          <p:nvSpPr>
            <p:cNvPr id="30" name="Rectángulo redondeado 29">
              <a:extLst>
                <a:ext uri="{FF2B5EF4-FFF2-40B4-BE49-F238E27FC236}">
                  <a16:creationId xmlns:a16="http://schemas.microsoft.com/office/drawing/2014/main" id="{7EBF1CB8-39E6-B04E-B69E-CB9AE556D6FB}"/>
                </a:ext>
              </a:extLst>
            </p:cNvPr>
            <p:cNvSpPr/>
            <p:nvPr/>
          </p:nvSpPr>
          <p:spPr>
            <a:xfrm>
              <a:off x="503238" y="917244"/>
              <a:ext cx="3333452" cy="500394"/>
            </a:xfrm>
            <a:prstGeom prst="roundRect">
              <a:avLst>
                <a:gd name="adj" fmla="val 24841"/>
              </a:avLst>
            </a:prstGeom>
            <a:solidFill>
              <a:srgbClr val="92C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762" lvl="0" algn="ctr">
                <a:buSzPts val="1600"/>
                <a:tabLst>
                  <a:tab pos="569913" algn="l"/>
                </a:tabLst>
              </a:pPr>
              <a:r>
                <a:rPr lang="es-PE" b="1" dirty="0">
                  <a:latin typeface="Calibri" charset="0"/>
                  <a:cs typeface="Calibri" charset="0"/>
                  <a:sym typeface="Calibri"/>
                </a:rPr>
                <a:t>2</a:t>
              </a:r>
              <a:r>
                <a:rPr lang="es-PE" b="1" dirty="0">
                  <a:solidFill>
                    <a:schemeClr val="lt1"/>
                  </a:solidFill>
                  <a:latin typeface="Calibri" charset="0"/>
                  <a:cs typeface="Calibri" charset="0"/>
                  <a:sym typeface="Calibri"/>
                </a:rPr>
                <a:t>. CALIDAD DEL PROCESO</a:t>
              </a:r>
              <a:endParaRPr lang="es-PE" b="1" dirty="0">
                <a:solidFill>
                  <a:schemeClr val="lt1"/>
                </a:solidFill>
                <a:latin typeface="Calibri" charset="0"/>
                <a:cs typeface="Calibri" charset="0"/>
              </a:endParaRPr>
            </a:p>
          </p:txBody>
        </p:sp>
        <p:grpSp>
          <p:nvGrpSpPr>
            <p:cNvPr id="31" name="Agrupar 14">
              <a:extLst>
                <a:ext uri="{FF2B5EF4-FFF2-40B4-BE49-F238E27FC236}">
                  <a16:creationId xmlns:a16="http://schemas.microsoft.com/office/drawing/2014/main" id="{CA083DF3-A35D-B84C-84BA-A5E52AEF3E26}"/>
                </a:ext>
              </a:extLst>
            </p:cNvPr>
            <p:cNvGrpSpPr/>
            <p:nvPr/>
          </p:nvGrpSpPr>
          <p:grpSpPr>
            <a:xfrm>
              <a:off x="287221" y="965530"/>
              <a:ext cx="459474" cy="403823"/>
              <a:chOff x="5892512" y="2805541"/>
              <a:chExt cx="459474" cy="403823"/>
            </a:xfrm>
          </p:grpSpPr>
          <p:sp>
            <p:nvSpPr>
              <p:cNvPr id="32" name="Elipse 31">
                <a:extLst>
                  <a:ext uri="{FF2B5EF4-FFF2-40B4-BE49-F238E27FC236}">
                    <a16:creationId xmlns:a16="http://schemas.microsoft.com/office/drawing/2014/main" id="{7B54618E-E694-B948-BBAE-0A3803A885C4}"/>
                  </a:ext>
                </a:extLst>
              </p:cNvPr>
              <p:cNvSpPr/>
              <p:nvPr/>
            </p:nvSpPr>
            <p:spPr>
              <a:xfrm>
                <a:off x="5956277" y="2824919"/>
                <a:ext cx="395709" cy="376075"/>
              </a:xfrm>
              <a:prstGeom prst="ellipse">
                <a:avLst/>
              </a:prstGeom>
              <a:solidFill>
                <a:srgbClr val="6A8F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33" name="Elipse 32">
                <a:extLst>
                  <a:ext uri="{FF2B5EF4-FFF2-40B4-BE49-F238E27FC236}">
                    <a16:creationId xmlns:a16="http://schemas.microsoft.com/office/drawing/2014/main" id="{24607ADB-A639-B441-BDEB-34354CDF2BE6}"/>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34" name="Triángulo 33">
                <a:extLst>
                  <a:ext uri="{FF2B5EF4-FFF2-40B4-BE49-F238E27FC236}">
                    <a16:creationId xmlns:a16="http://schemas.microsoft.com/office/drawing/2014/main" id="{085349E6-D477-0743-81E2-85C248FABC03}"/>
                  </a:ext>
                </a:extLst>
              </p:cNvPr>
              <p:cNvSpPr/>
              <p:nvPr/>
            </p:nvSpPr>
            <p:spPr>
              <a:xfrm rot="5400000">
                <a:off x="6076285" y="2946262"/>
                <a:ext cx="186870" cy="122381"/>
              </a:xfrm>
              <a:prstGeom prst="triangle">
                <a:avLst/>
              </a:prstGeom>
              <a:solidFill>
                <a:srgbClr val="92C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4" name="Google Shape;144;p10"/>
          <p:cNvSpPr/>
          <p:nvPr/>
        </p:nvSpPr>
        <p:spPr>
          <a:xfrm>
            <a:off x="647700" y="2638096"/>
            <a:ext cx="7792107" cy="966952"/>
          </a:xfrm>
          <a:prstGeom prst="rightArrow">
            <a:avLst>
              <a:gd name="adj1" fmla="val 50000"/>
              <a:gd name="adj2" fmla="val 50000"/>
            </a:avLst>
          </a:prstGeom>
          <a:solidFill>
            <a:srgbClr val="00B1C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5" name="Google Shape;145;p10"/>
          <p:cNvSpPr/>
          <p:nvPr/>
        </p:nvSpPr>
        <p:spPr>
          <a:xfrm>
            <a:off x="945439" y="2959943"/>
            <a:ext cx="310056" cy="310056"/>
          </a:xfrm>
          <a:prstGeom prst="ellipse">
            <a:avLst/>
          </a:prstGeom>
          <a:solidFill>
            <a:srgbClr val="92C14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6" name="Google Shape;146;p10"/>
          <p:cNvSpPr/>
          <p:nvPr/>
        </p:nvSpPr>
        <p:spPr>
          <a:xfrm>
            <a:off x="1691424" y="2959943"/>
            <a:ext cx="310056" cy="310056"/>
          </a:xfrm>
          <a:prstGeom prst="ellipse">
            <a:avLst/>
          </a:prstGeom>
          <a:solidFill>
            <a:srgbClr val="92C14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7" name="Google Shape;147;p10"/>
          <p:cNvSpPr/>
          <p:nvPr/>
        </p:nvSpPr>
        <p:spPr>
          <a:xfrm>
            <a:off x="2460868" y="2959943"/>
            <a:ext cx="310056" cy="310056"/>
          </a:xfrm>
          <a:prstGeom prst="ellipse">
            <a:avLst/>
          </a:prstGeom>
          <a:solidFill>
            <a:srgbClr val="92C14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8" name="Google Shape;148;p10"/>
          <p:cNvSpPr/>
          <p:nvPr/>
        </p:nvSpPr>
        <p:spPr>
          <a:xfrm>
            <a:off x="3280345" y="2959943"/>
            <a:ext cx="310056" cy="310056"/>
          </a:xfrm>
          <a:prstGeom prst="ellipse">
            <a:avLst/>
          </a:prstGeom>
          <a:solidFill>
            <a:srgbClr val="92C14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9" name="Google Shape;149;p10"/>
          <p:cNvSpPr/>
          <p:nvPr/>
        </p:nvSpPr>
        <p:spPr>
          <a:xfrm>
            <a:off x="4098179" y="2959943"/>
            <a:ext cx="310056" cy="310056"/>
          </a:xfrm>
          <a:prstGeom prst="ellipse">
            <a:avLst/>
          </a:prstGeom>
          <a:solidFill>
            <a:srgbClr val="92C14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0" name="Google Shape;150;p10"/>
          <p:cNvSpPr/>
          <p:nvPr/>
        </p:nvSpPr>
        <p:spPr>
          <a:xfrm>
            <a:off x="4880407" y="2959943"/>
            <a:ext cx="310056" cy="310056"/>
          </a:xfrm>
          <a:prstGeom prst="ellipse">
            <a:avLst/>
          </a:prstGeom>
          <a:solidFill>
            <a:srgbClr val="92C14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1" name="Google Shape;151;p10"/>
          <p:cNvSpPr/>
          <p:nvPr/>
        </p:nvSpPr>
        <p:spPr>
          <a:xfrm>
            <a:off x="5660992" y="2959943"/>
            <a:ext cx="310056" cy="310056"/>
          </a:xfrm>
          <a:prstGeom prst="ellipse">
            <a:avLst/>
          </a:prstGeom>
          <a:solidFill>
            <a:srgbClr val="92C14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2" name="Google Shape;152;p10"/>
          <p:cNvSpPr/>
          <p:nvPr/>
        </p:nvSpPr>
        <p:spPr>
          <a:xfrm>
            <a:off x="6488224" y="2959943"/>
            <a:ext cx="310056" cy="310056"/>
          </a:xfrm>
          <a:prstGeom prst="ellipse">
            <a:avLst/>
          </a:prstGeom>
          <a:solidFill>
            <a:srgbClr val="92C14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3" name="Google Shape;153;p10"/>
          <p:cNvSpPr/>
          <p:nvPr/>
        </p:nvSpPr>
        <p:spPr>
          <a:xfrm>
            <a:off x="7315456" y="2959943"/>
            <a:ext cx="310056" cy="310056"/>
          </a:xfrm>
          <a:prstGeom prst="ellipse">
            <a:avLst/>
          </a:prstGeom>
          <a:solidFill>
            <a:srgbClr val="92C14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4" name="Google Shape;154;p10"/>
          <p:cNvSpPr/>
          <p:nvPr/>
        </p:nvSpPr>
        <p:spPr>
          <a:xfrm>
            <a:off x="726899" y="3536520"/>
            <a:ext cx="1277807" cy="492443"/>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PE" sz="1600">
                <a:solidFill>
                  <a:schemeClr val="dk1"/>
                </a:solidFill>
                <a:latin typeface="Calibri"/>
                <a:ea typeface="Calibri"/>
                <a:cs typeface="Calibri"/>
                <a:sym typeface="Calibri"/>
              </a:rPr>
              <a:t>GQM</a:t>
            </a:r>
            <a:endParaRPr/>
          </a:p>
          <a:p>
            <a:pPr marL="0" marR="0" lvl="0" indent="0" algn="ctr" rtl="0">
              <a:spcBef>
                <a:spcPts val="0"/>
              </a:spcBef>
              <a:spcAft>
                <a:spcPts val="0"/>
              </a:spcAft>
              <a:buNone/>
            </a:pPr>
            <a:r>
              <a:rPr lang="es-PE" sz="1600">
                <a:solidFill>
                  <a:schemeClr val="dk1"/>
                </a:solidFill>
                <a:latin typeface="Calibri"/>
                <a:ea typeface="Calibri"/>
                <a:cs typeface="Calibri"/>
                <a:sym typeface="Calibri"/>
              </a:rPr>
              <a:t>1984</a:t>
            </a:r>
            <a:endParaRPr/>
          </a:p>
        </p:txBody>
      </p:sp>
      <p:sp>
        <p:nvSpPr>
          <p:cNvPr id="155" name="Google Shape;155;p10"/>
          <p:cNvSpPr/>
          <p:nvPr/>
        </p:nvSpPr>
        <p:spPr>
          <a:xfrm>
            <a:off x="2328059" y="3536520"/>
            <a:ext cx="1277807" cy="492443"/>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PE" sz="1600">
                <a:solidFill>
                  <a:schemeClr val="dk1"/>
                </a:solidFill>
                <a:latin typeface="Calibri"/>
                <a:ea typeface="Calibri"/>
                <a:cs typeface="Calibri"/>
                <a:sym typeface="Calibri"/>
              </a:rPr>
              <a:t>FURPS</a:t>
            </a:r>
            <a:endParaRPr/>
          </a:p>
          <a:p>
            <a:pPr marL="0" marR="0" lvl="0" indent="0" algn="ctr" rtl="0">
              <a:spcBef>
                <a:spcPts val="0"/>
              </a:spcBef>
              <a:spcAft>
                <a:spcPts val="0"/>
              </a:spcAft>
              <a:buNone/>
            </a:pPr>
            <a:r>
              <a:rPr lang="es-PE" sz="1600">
                <a:solidFill>
                  <a:schemeClr val="dk1"/>
                </a:solidFill>
                <a:latin typeface="Calibri"/>
                <a:ea typeface="Calibri"/>
                <a:cs typeface="Calibri"/>
                <a:sym typeface="Calibri"/>
              </a:rPr>
              <a:t>1987</a:t>
            </a:r>
            <a:endParaRPr sz="1600">
              <a:solidFill>
                <a:schemeClr val="dk1"/>
              </a:solidFill>
              <a:latin typeface="Calibri"/>
              <a:ea typeface="Calibri"/>
              <a:cs typeface="Calibri"/>
              <a:sym typeface="Calibri"/>
            </a:endParaRPr>
          </a:p>
        </p:txBody>
      </p:sp>
      <p:sp>
        <p:nvSpPr>
          <p:cNvPr id="156" name="Google Shape;156;p10"/>
          <p:cNvSpPr/>
          <p:nvPr/>
        </p:nvSpPr>
        <p:spPr>
          <a:xfrm>
            <a:off x="4188708" y="3536520"/>
            <a:ext cx="1277807" cy="492443"/>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PE" sz="1600">
                <a:solidFill>
                  <a:schemeClr val="dk1"/>
                </a:solidFill>
                <a:latin typeface="Calibri"/>
                <a:ea typeface="Calibri"/>
                <a:cs typeface="Calibri"/>
                <a:sym typeface="Calibri"/>
              </a:rPr>
              <a:t>ISO 9126-1</a:t>
            </a:r>
            <a:endParaRPr/>
          </a:p>
          <a:p>
            <a:pPr marL="0" marR="0" lvl="0" indent="0" algn="ctr" rtl="0">
              <a:spcBef>
                <a:spcPts val="0"/>
              </a:spcBef>
              <a:spcAft>
                <a:spcPts val="0"/>
              </a:spcAft>
              <a:buNone/>
            </a:pPr>
            <a:r>
              <a:rPr lang="es-PE" sz="1600">
                <a:solidFill>
                  <a:schemeClr val="dk1"/>
                </a:solidFill>
                <a:latin typeface="Calibri"/>
                <a:ea typeface="Calibri"/>
                <a:cs typeface="Calibri"/>
                <a:sym typeface="Calibri"/>
              </a:rPr>
              <a:t> 1991</a:t>
            </a:r>
            <a:endParaRPr sz="1600">
              <a:solidFill>
                <a:schemeClr val="dk1"/>
              </a:solidFill>
              <a:latin typeface="Calibri"/>
              <a:ea typeface="Calibri"/>
              <a:cs typeface="Calibri"/>
              <a:sym typeface="Calibri"/>
            </a:endParaRPr>
          </a:p>
        </p:txBody>
      </p:sp>
      <p:sp>
        <p:nvSpPr>
          <p:cNvPr id="157" name="Google Shape;157;p10"/>
          <p:cNvSpPr/>
          <p:nvPr/>
        </p:nvSpPr>
        <p:spPr>
          <a:xfrm>
            <a:off x="6112932" y="3536520"/>
            <a:ext cx="1277807" cy="492443"/>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PE" sz="1600" dirty="0">
                <a:solidFill>
                  <a:schemeClr val="dk1"/>
                </a:solidFill>
                <a:latin typeface="Calibri"/>
                <a:ea typeface="Calibri"/>
                <a:cs typeface="Calibri"/>
                <a:sym typeface="Calibri"/>
              </a:rPr>
              <a:t>WebQEM</a:t>
            </a:r>
            <a:endParaRPr dirty="0"/>
          </a:p>
          <a:p>
            <a:pPr marL="0" marR="0" lvl="0" indent="0" algn="ctr" rtl="0">
              <a:spcBef>
                <a:spcPts val="0"/>
              </a:spcBef>
              <a:spcAft>
                <a:spcPts val="0"/>
              </a:spcAft>
              <a:buNone/>
            </a:pPr>
            <a:r>
              <a:rPr lang="es-PE" sz="1600" dirty="0">
                <a:solidFill>
                  <a:schemeClr val="dk1"/>
                </a:solidFill>
                <a:latin typeface="Calibri"/>
                <a:ea typeface="Calibri"/>
                <a:cs typeface="Calibri"/>
                <a:sym typeface="Calibri"/>
              </a:rPr>
              <a:t>1998</a:t>
            </a:r>
            <a:endParaRPr dirty="0"/>
          </a:p>
        </p:txBody>
      </p:sp>
      <p:sp>
        <p:nvSpPr>
          <p:cNvPr id="158" name="Google Shape;158;p10"/>
          <p:cNvSpPr/>
          <p:nvPr/>
        </p:nvSpPr>
        <p:spPr>
          <a:xfrm>
            <a:off x="872327" y="2154813"/>
            <a:ext cx="915600" cy="49244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600">
                <a:solidFill>
                  <a:schemeClr val="dk1"/>
                </a:solidFill>
                <a:latin typeface="Calibri"/>
                <a:ea typeface="Calibri"/>
                <a:cs typeface="Calibri"/>
                <a:sym typeface="Calibri"/>
              </a:rPr>
              <a:t>McCall</a:t>
            </a:r>
            <a:endParaRPr/>
          </a:p>
          <a:p>
            <a:pPr marL="0" marR="0" lvl="0" indent="0" algn="ctr" rtl="0">
              <a:spcBef>
                <a:spcPts val="0"/>
              </a:spcBef>
              <a:spcAft>
                <a:spcPts val="0"/>
              </a:spcAft>
              <a:buNone/>
            </a:pPr>
            <a:r>
              <a:rPr lang="es-PE" sz="1600">
                <a:solidFill>
                  <a:schemeClr val="dk1"/>
                </a:solidFill>
                <a:latin typeface="Calibri"/>
                <a:ea typeface="Calibri"/>
                <a:cs typeface="Calibri"/>
                <a:sym typeface="Calibri"/>
              </a:rPr>
              <a:t>1977</a:t>
            </a:r>
            <a:endParaRPr/>
          </a:p>
        </p:txBody>
      </p:sp>
      <p:sp>
        <p:nvSpPr>
          <p:cNvPr id="159" name="Google Shape;159;p10"/>
          <p:cNvSpPr/>
          <p:nvPr/>
        </p:nvSpPr>
        <p:spPr>
          <a:xfrm>
            <a:off x="2313124" y="2154813"/>
            <a:ext cx="915600" cy="49244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600">
                <a:solidFill>
                  <a:schemeClr val="dk1"/>
                </a:solidFill>
                <a:latin typeface="Calibri"/>
                <a:ea typeface="Calibri"/>
                <a:cs typeface="Calibri"/>
                <a:sym typeface="Calibri"/>
              </a:rPr>
              <a:t>Boehm</a:t>
            </a:r>
            <a:endParaRPr/>
          </a:p>
          <a:p>
            <a:pPr marL="0" marR="0" lvl="0" indent="0" algn="ctr" rtl="0">
              <a:spcBef>
                <a:spcPts val="0"/>
              </a:spcBef>
              <a:spcAft>
                <a:spcPts val="0"/>
              </a:spcAft>
              <a:buNone/>
            </a:pPr>
            <a:r>
              <a:rPr lang="es-PE" sz="1600">
                <a:solidFill>
                  <a:schemeClr val="dk1"/>
                </a:solidFill>
                <a:latin typeface="Calibri"/>
                <a:ea typeface="Calibri"/>
                <a:cs typeface="Calibri"/>
                <a:sym typeface="Calibri"/>
              </a:rPr>
              <a:t>1986</a:t>
            </a:r>
            <a:endParaRPr/>
          </a:p>
        </p:txBody>
      </p:sp>
      <p:sp>
        <p:nvSpPr>
          <p:cNvPr id="160" name="Google Shape;160;p10"/>
          <p:cNvSpPr/>
          <p:nvPr/>
        </p:nvSpPr>
        <p:spPr>
          <a:xfrm>
            <a:off x="3795407" y="2154813"/>
            <a:ext cx="915600" cy="49244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600">
                <a:solidFill>
                  <a:schemeClr val="dk1"/>
                </a:solidFill>
                <a:latin typeface="Calibri"/>
                <a:ea typeface="Calibri"/>
                <a:cs typeface="Calibri"/>
                <a:sym typeface="Calibri"/>
              </a:rPr>
              <a:t>Gilb </a:t>
            </a:r>
            <a:endParaRPr/>
          </a:p>
          <a:p>
            <a:pPr marL="0" marR="0" lvl="0" indent="0" algn="ctr" rtl="0">
              <a:spcBef>
                <a:spcPts val="0"/>
              </a:spcBef>
              <a:spcAft>
                <a:spcPts val="0"/>
              </a:spcAft>
              <a:buNone/>
            </a:pPr>
            <a:r>
              <a:rPr lang="es-PE" sz="1600">
                <a:solidFill>
                  <a:schemeClr val="dk1"/>
                </a:solidFill>
                <a:latin typeface="Calibri"/>
                <a:ea typeface="Calibri"/>
                <a:cs typeface="Calibri"/>
                <a:sym typeface="Calibri"/>
              </a:rPr>
              <a:t>1988 </a:t>
            </a:r>
            <a:endParaRPr/>
          </a:p>
        </p:txBody>
      </p:sp>
      <p:sp>
        <p:nvSpPr>
          <p:cNvPr id="161" name="Google Shape;161;p10"/>
          <p:cNvSpPr/>
          <p:nvPr/>
        </p:nvSpPr>
        <p:spPr>
          <a:xfrm>
            <a:off x="5190463" y="2154813"/>
            <a:ext cx="915600" cy="49244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600">
                <a:solidFill>
                  <a:schemeClr val="dk1"/>
                </a:solidFill>
                <a:latin typeface="Calibri"/>
                <a:ea typeface="Calibri"/>
                <a:cs typeface="Calibri"/>
                <a:sym typeface="Calibri"/>
              </a:rPr>
              <a:t>SQAE </a:t>
            </a:r>
            <a:endParaRPr/>
          </a:p>
          <a:p>
            <a:pPr marL="0" marR="0" lvl="0" indent="0" algn="ctr" rtl="0">
              <a:spcBef>
                <a:spcPts val="0"/>
              </a:spcBef>
              <a:spcAft>
                <a:spcPts val="0"/>
              </a:spcAft>
              <a:buNone/>
            </a:pPr>
            <a:r>
              <a:rPr lang="es-PE" sz="1600">
                <a:solidFill>
                  <a:schemeClr val="dk1"/>
                </a:solidFill>
                <a:latin typeface="Calibri"/>
                <a:ea typeface="Calibri"/>
                <a:cs typeface="Calibri"/>
                <a:sym typeface="Calibri"/>
              </a:rPr>
              <a:t>1997</a:t>
            </a:r>
            <a:endParaRPr/>
          </a:p>
        </p:txBody>
      </p:sp>
      <p:sp>
        <p:nvSpPr>
          <p:cNvPr id="162" name="Google Shape;162;p10"/>
          <p:cNvSpPr/>
          <p:nvPr/>
        </p:nvSpPr>
        <p:spPr>
          <a:xfrm>
            <a:off x="6469010" y="2154813"/>
            <a:ext cx="1098711" cy="49244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600">
                <a:solidFill>
                  <a:schemeClr val="dk1"/>
                </a:solidFill>
                <a:latin typeface="Calibri"/>
                <a:ea typeface="Calibri"/>
                <a:cs typeface="Calibri"/>
                <a:sym typeface="Calibri"/>
              </a:rPr>
              <a:t>ISO 25000</a:t>
            </a:r>
            <a:endParaRPr/>
          </a:p>
          <a:p>
            <a:pPr marL="0" marR="0" lvl="0" indent="0" algn="ctr" rtl="0">
              <a:spcBef>
                <a:spcPts val="0"/>
              </a:spcBef>
              <a:spcAft>
                <a:spcPts val="0"/>
              </a:spcAft>
              <a:buNone/>
            </a:pPr>
            <a:r>
              <a:rPr lang="es-PE" sz="1600">
                <a:solidFill>
                  <a:schemeClr val="dk1"/>
                </a:solidFill>
                <a:latin typeface="Calibri"/>
                <a:ea typeface="Calibri"/>
                <a:cs typeface="Calibri"/>
                <a:sym typeface="Calibri"/>
              </a:rPr>
              <a:t>2005 </a:t>
            </a:r>
            <a:endParaRPr/>
          </a:p>
        </p:txBody>
      </p:sp>
      <p:sp>
        <p:nvSpPr>
          <p:cNvPr id="24" name="Rectangle 5">
            <a:extLst>
              <a:ext uri="{FF2B5EF4-FFF2-40B4-BE49-F238E27FC236}">
                <a16:creationId xmlns:a16="http://schemas.microsoft.com/office/drawing/2014/main" id="{03CB49B8-149A-F647-8901-E025B4D11EFA}"/>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CALIDAD DEL SOFTWARE</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grpSp>
        <p:nvGrpSpPr>
          <p:cNvPr id="25" name="Grupo 24">
            <a:extLst>
              <a:ext uri="{FF2B5EF4-FFF2-40B4-BE49-F238E27FC236}">
                <a16:creationId xmlns:a16="http://schemas.microsoft.com/office/drawing/2014/main" id="{E09B6D0F-26DC-4742-B50A-0EA283A8D545}"/>
              </a:ext>
            </a:extLst>
          </p:cNvPr>
          <p:cNvGrpSpPr/>
          <p:nvPr/>
        </p:nvGrpSpPr>
        <p:grpSpPr>
          <a:xfrm>
            <a:off x="326977" y="917244"/>
            <a:ext cx="3018735" cy="394721"/>
            <a:chOff x="287221" y="917244"/>
            <a:chExt cx="3549469" cy="500394"/>
          </a:xfrm>
        </p:grpSpPr>
        <p:sp>
          <p:nvSpPr>
            <p:cNvPr id="26" name="Rectángulo redondeado 25">
              <a:extLst>
                <a:ext uri="{FF2B5EF4-FFF2-40B4-BE49-F238E27FC236}">
                  <a16:creationId xmlns:a16="http://schemas.microsoft.com/office/drawing/2014/main" id="{206051AE-2A4E-8046-9B81-E9099A7FE407}"/>
                </a:ext>
              </a:extLst>
            </p:cNvPr>
            <p:cNvSpPr/>
            <p:nvPr/>
          </p:nvSpPr>
          <p:spPr>
            <a:xfrm>
              <a:off x="503238" y="917244"/>
              <a:ext cx="3333452" cy="500394"/>
            </a:xfrm>
            <a:prstGeom prst="roundRect">
              <a:avLst>
                <a:gd name="adj" fmla="val 24841"/>
              </a:avLst>
            </a:prstGeom>
            <a:solidFill>
              <a:srgbClr val="92C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762" lvl="0" algn="ctr">
                <a:buSzPts val="1600"/>
                <a:tabLst>
                  <a:tab pos="569913" algn="l"/>
                </a:tabLst>
              </a:pPr>
              <a:r>
                <a:rPr lang="es-PE" b="1" dirty="0">
                  <a:latin typeface="Calibri" charset="0"/>
                  <a:cs typeface="Calibri" charset="0"/>
                  <a:sym typeface="Calibri"/>
                </a:rPr>
                <a:t>2</a:t>
              </a:r>
              <a:r>
                <a:rPr lang="es-PE" b="1" dirty="0">
                  <a:solidFill>
                    <a:schemeClr val="lt1"/>
                  </a:solidFill>
                  <a:latin typeface="Calibri" charset="0"/>
                  <a:cs typeface="Calibri" charset="0"/>
                  <a:sym typeface="Calibri"/>
                </a:rPr>
                <a:t>. CALIDAD DEL PROCESO</a:t>
              </a:r>
              <a:endParaRPr lang="es-PE" b="1" dirty="0">
                <a:solidFill>
                  <a:schemeClr val="lt1"/>
                </a:solidFill>
                <a:latin typeface="Calibri" charset="0"/>
                <a:cs typeface="Calibri" charset="0"/>
              </a:endParaRPr>
            </a:p>
          </p:txBody>
        </p:sp>
        <p:grpSp>
          <p:nvGrpSpPr>
            <p:cNvPr id="27" name="Agrupar 14">
              <a:extLst>
                <a:ext uri="{FF2B5EF4-FFF2-40B4-BE49-F238E27FC236}">
                  <a16:creationId xmlns:a16="http://schemas.microsoft.com/office/drawing/2014/main" id="{1D9F3060-73E5-7A49-B304-D4CB75A0C9BC}"/>
                </a:ext>
              </a:extLst>
            </p:cNvPr>
            <p:cNvGrpSpPr/>
            <p:nvPr/>
          </p:nvGrpSpPr>
          <p:grpSpPr>
            <a:xfrm>
              <a:off x="287221" y="965530"/>
              <a:ext cx="459474" cy="403823"/>
              <a:chOff x="5892512" y="2805541"/>
              <a:chExt cx="459474" cy="403823"/>
            </a:xfrm>
          </p:grpSpPr>
          <p:sp>
            <p:nvSpPr>
              <p:cNvPr id="28" name="Elipse 27">
                <a:extLst>
                  <a:ext uri="{FF2B5EF4-FFF2-40B4-BE49-F238E27FC236}">
                    <a16:creationId xmlns:a16="http://schemas.microsoft.com/office/drawing/2014/main" id="{DC267B80-2DC8-8F49-A8B3-FD9BE7BFF286}"/>
                  </a:ext>
                </a:extLst>
              </p:cNvPr>
              <p:cNvSpPr/>
              <p:nvPr/>
            </p:nvSpPr>
            <p:spPr>
              <a:xfrm>
                <a:off x="5956277" y="2824919"/>
                <a:ext cx="395709" cy="376075"/>
              </a:xfrm>
              <a:prstGeom prst="ellipse">
                <a:avLst/>
              </a:prstGeom>
              <a:solidFill>
                <a:srgbClr val="6A8F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29" name="Elipse 28">
                <a:extLst>
                  <a:ext uri="{FF2B5EF4-FFF2-40B4-BE49-F238E27FC236}">
                    <a16:creationId xmlns:a16="http://schemas.microsoft.com/office/drawing/2014/main" id="{49D8FF4F-D5D1-7D4A-8624-04B35CCDD616}"/>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30" name="Triángulo 29">
                <a:extLst>
                  <a:ext uri="{FF2B5EF4-FFF2-40B4-BE49-F238E27FC236}">
                    <a16:creationId xmlns:a16="http://schemas.microsoft.com/office/drawing/2014/main" id="{0A678584-5FEA-5E46-8B44-5CA66ECA67B9}"/>
                  </a:ext>
                </a:extLst>
              </p:cNvPr>
              <p:cNvSpPr/>
              <p:nvPr/>
            </p:nvSpPr>
            <p:spPr>
              <a:xfrm rot="5400000">
                <a:off x="6076285" y="2946262"/>
                <a:ext cx="186870" cy="122381"/>
              </a:xfrm>
              <a:prstGeom prst="triangle">
                <a:avLst/>
              </a:prstGeom>
              <a:solidFill>
                <a:srgbClr val="92C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9" name="Google Shape;169;p11"/>
          <p:cNvSpPr/>
          <p:nvPr/>
        </p:nvSpPr>
        <p:spPr>
          <a:xfrm>
            <a:off x="503238" y="912813"/>
            <a:ext cx="3426964" cy="5693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PE" sz="1600" b="1" dirty="0">
                <a:solidFill>
                  <a:schemeClr val="dk1"/>
                </a:solidFill>
                <a:latin typeface="Calibri"/>
                <a:ea typeface="Calibri"/>
                <a:cs typeface="Calibri"/>
                <a:sym typeface="Calibri"/>
              </a:rPr>
              <a:t>PRUEBAS A LO LARGO DEL MODELO-V</a:t>
            </a:r>
            <a:endParaRPr dirty="0"/>
          </a:p>
          <a:p>
            <a:pPr marL="182563" marR="0" lvl="0" indent="-182563"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(Modelo secuencial de desarrollo) </a:t>
            </a:r>
            <a:endParaRPr dirty="0"/>
          </a:p>
        </p:txBody>
      </p:sp>
      <p:grpSp>
        <p:nvGrpSpPr>
          <p:cNvPr id="170" name="Google Shape;170;p11"/>
          <p:cNvGrpSpPr/>
          <p:nvPr/>
        </p:nvGrpSpPr>
        <p:grpSpPr>
          <a:xfrm>
            <a:off x="848989" y="1842199"/>
            <a:ext cx="7395588" cy="2871033"/>
            <a:chOff x="848989" y="1842199"/>
            <a:chExt cx="7395588" cy="2871033"/>
          </a:xfrm>
        </p:grpSpPr>
        <p:cxnSp>
          <p:nvCxnSpPr>
            <p:cNvPr id="171" name="Google Shape;171;p11"/>
            <p:cNvCxnSpPr>
              <a:cxnSpLocks/>
            </p:cNvCxnSpPr>
            <p:nvPr/>
          </p:nvCxnSpPr>
          <p:spPr>
            <a:xfrm>
              <a:off x="4153035" y="1882799"/>
              <a:ext cx="2596200" cy="2428500"/>
            </a:xfrm>
            <a:prstGeom prst="straightConnector1">
              <a:avLst/>
            </a:prstGeom>
            <a:noFill/>
            <a:ln w="44450" cap="flat" cmpd="sng">
              <a:solidFill>
                <a:srgbClr val="00B1C2"/>
              </a:solidFill>
              <a:prstDash val="solid"/>
              <a:round/>
              <a:headEnd type="none" w="sm" len="sm"/>
              <a:tailEnd type="triangle" w="med" len="med"/>
            </a:ln>
          </p:spPr>
        </p:cxnSp>
        <p:sp>
          <p:nvSpPr>
            <p:cNvPr id="173" name="Google Shape;173;p11"/>
            <p:cNvSpPr/>
            <p:nvPr/>
          </p:nvSpPr>
          <p:spPr>
            <a:xfrm>
              <a:off x="848989" y="3186294"/>
              <a:ext cx="2878853" cy="49244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600" b="1" dirty="0">
                  <a:solidFill>
                    <a:schemeClr val="dk1"/>
                  </a:solidFill>
                  <a:latin typeface="Calibri"/>
                  <a:ea typeface="Calibri"/>
                  <a:cs typeface="Calibri"/>
                  <a:sym typeface="Calibri"/>
                </a:rPr>
                <a:t>RAMA</a:t>
              </a:r>
              <a:endParaRPr dirty="0"/>
            </a:p>
            <a:p>
              <a:pPr marL="0" marR="0" lvl="0" indent="0" algn="ctr" rtl="0">
                <a:spcBef>
                  <a:spcPts val="0"/>
                </a:spcBef>
                <a:spcAft>
                  <a:spcPts val="0"/>
                </a:spcAft>
                <a:buNone/>
              </a:pPr>
              <a:r>
                <a:rPr lang="es-PE" sz="1600" b="1" dirty="0">
                  <a:solidFill>
                    <a:schemeClr val="dk1"/>
                  </a:solidFill>
                  <a:latin typeface="Calibri"/>
                  <a:ea typeface="Calibri"/>
                  <a:cs typeface="Calibri"/>
                  <a:sym typeface="Calibri"/>
                </a:rPr>
                <a:t>DESARROLLO SOFTWARE</a:t>
              </a:r>
              <a:endParaRPr dirty="0"/>
            </a:p>
          </p:txBody>
        </p:sp>
        <p:sp>
          <p:nvSpPr>
            <p:cNvPr id="172" name="Google Shape;172;p11"/>
            <p:cNvSpPr/>
            <p:nvPr/>
          </p:nvSpPr>
          <p:spPr>
            <a:xfrm>
              <a:off x="2812701" y="1842199"/>
              <a:ext cx="2672862" cy="401933"/>
            </a:xfrm>
            <a:prstGeom prst="roundRect">
              <a:avLst>
                <a:gd name="adj" fmla="val 16667"/>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600">
                  <a:solidFill>
                    <a:schemeClr val="lt1"/>
                  </a:solidFill>
                  <a:latin typeface="Calibri"/>
                  <a:ea typeface="Calibri"/>
                  <a:cs typeface="Calibri"/>
                  <a:sym typeface="Calibri"/>
                </a:rPr>
                <a:t>Definición de Requisitos</a:t>
              </a:r>
              <a:endParaRPr/>
            </a:p>
          </p:txBody>
        </p:sp>
        <p:sp>
          <p:nvSpPr>
            <p:cNvPr id="174" name="Google Shape;174;p11"/>
            <p:cNvSpPr/>
            <p:nvPr/>
          </p:nvSpPr>
          <p:spPr>
            <a:xfrm>
              <a:off x="3375409" y="2459474"/>
              <a:ext cx="2672862" cy="401933"/>
            </a:xfrm>
            <a:prstGeom prst="roundRect">
              <a:avLst>
                <a:gd name="adj" fmla="val 16667"/>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600">
                  <a:solidFill>
                    <a:schemeClr val="lt1"/>
                  </a:solidFill>
                  <a:latin typeface="Calibri"/>
                  <a:ea typeface="Calibri"/>
                  <a:cs typeface="Calibri"/>
                  <a:sym typeface="Calibri"/>
                </a:rPr>
                <a:t>Diseño Funcional del Sistema</a:t>
              </a:r>
              <a:endParaRPr/>
            </a:p>
          </p:txBody>
        </p:sp>
        <p:sp>
          <p:nvSpPr>
            <p:cNvPr id="175" name="Google Shape;175;p11"/>
            <p:cNvSpPr/>
            <p:nvPr/>
          </p:nvSpPr>
          <p:spPr>
            <a:xfrm>
              <a:off x="4114704" y="3076749"/>
              <a:ext cx="2672862" cy="401933"/>
            </a:xfrm>
            <a:prstGeom prst="roundRect">
              <a:avLst>
                <a:gd name="adj" fmla="val 16667"/>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600">
                  <a:solidFill>
                    <a:schemeClr val="lt1"/>
                  </a:solidFill>
                  <a:latin typeface="Calibri"/>
                  <a:ea typeface="Calibri"/>
                  <a:cs typeface="Calibri"/>
                  <a:sym typeface="Calibri"/>
                </a:rPr>
                <a:t>Diseño Técnico del Sistema</a:t>
              </a:r>
              <a:endParaRPr/>
            </a:p>
          </p:txBody>
        </p:sp>
        <p:sp>
          <p:nvSpPr>
            <p:cNvPr id="176" name="Google Shape;176;p11"/>
            <p:cNvSpPr/>
            <p:nvPr/>
          </p:nvSpPr>
          <p:spPr>
            <a:xfrm>
              <a:off x="4782178" y="3694024"/>
              <a:ext cx="2843684" cy="401933"/>
            </a:xfrm>
            <a:prstGeom prst="roundRect">
              <a:avLst>
                <a:gd name="adj" fmla="val 16667"/>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600" dirty="0">
                  <a:solidFill>
                    <a:schemeClr val="lt1"/>
                  </a:solidFill>
                  <a:latin typeface="Calibri"/>
                  <a:ea typeface="Calibri"/>
                  <a:cs typeface="Calibri"/>
                  <a:sym typeface="Calibri"/>
                </a:rPr>
                <a:t>Especificación de Componentes</a:t>
              </a:r>
              <a:endParaRPr dirty="0"/>
            </a:p>
          </p:txBody>
        </p:sp>
        <p:sp>
          <p:nvSpPr>
            <p:cNvPr id="177" name="Google Shape;177;p11"/>
            <p:cNvSpPr/>
            <p:nvPr/>
          </p:nvSpPr>
          <p:spPr>
            <a:xfrm>
              <a:off x="5571715" y="4311299"/>
              <a:ext cx="2672862" cy="401933"/>
            </a:xfrm>
            <a:prstGeom prst="roundRect">
              <a:avLst>
                <a:gd name="adj" fmla="val 16667"/>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600">
                  <a:solidFill>
                    <a:schemeClr val="lt1"/>
                  </a:solidFill>
                  <a:latin typeface="Calibri"/>
                  <a:ea typeface="Calibri"/>
                  <a:cs typeface="Calibri"/>
                  <a:sym typeface="Calibri"/>
                </a:rPr>
                <a:t>PROGRAMACIÓN</a:t>
              </a:r>
              <a:endParaRPr/>
            </a:p>
          </p:txBody>
        </p:sp>
      </p:grpSp>
      <p:sp>
        <p:nvSpPr>
          <p:cNvPr id="12" name="Rectangle 5">
            <a:extLst>
              <a:ext uri="{FF2B5EF4-FFF2-40B4-BE49-F238E27FC236}">
                <a16:creationId xmlns:a16="http://schemas.microsoft.com/office/drawing/2014/main" id="{49E207EA-D132-314A-B045-661922349849}"/>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CALIDAD DEL SOFTWARE</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grpSp>
        <p:nvGrpSpPr>
          <p:cNvPr id="185" name="Google Shape;185;p12"/>
          <p:cNvGrpSpPr/>
          <p:nvPr/>
        </p:nvGrpSpPr>
        <p:grpSpPr>
          <a:xfrm>
            <a:off x="1106897" y="1863971"/>
            <a:ext cx="6505471" cy="2871033"/>
            <a:chOff x="1106897" y="1863971"/>
            <a:chExt cx="6505471" cy="2871033"/>
          </a:xfrm>
        </p:grpSpPr>
        <p:cxnSp>
          <p:nvCxnSpPr>
            <p:cNvPr id="186" name="Google Shape;186;p12"/>
            <p:cNvCxnSpPr/>
            <p:nvPr/>
          </p:nvCxnSpPr>
          <p:spPr>
            <a:xfrm flipH="1">
              <a:off x="3603075" y="2105552"/>
              <a:ext cx="2717494" cy="2227519"/>
            </a:xfrm>
            <a:prstGeom prst="straightConnector1">
              <a:avLst/>
            </a:prstGeom>
            <a:noFill/>
            <a:ln w="44450" cap="flat" cmpd="sng">
              <a:solidFill>
                <a:srgbClr val="00B1C2"/>
              </a:solidFill>
              <a:prstDash val="solid"/>
              <a:round/>
              <a:headEnd type="none" w="sm" len="sm"/>
              <a:tailEnd type="triangle" w="med" len="med"/>
            </a:ln>
          </p:spPr>
        </p:cxnSp>
        <p:sp>
          <p:nvSpPr>
            <p:cNvPr id="187" name="Google Shape;187;p12"/>
            <p:cNvSpPr/>
            <p:nvPr/>
          </p:nvSpPr>
          <p:spPr>
            <a:xfrm>
              <a:off x="1106897" y="2335735"/>
              <a:ext cx="2319494" cy="49244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600" b="1" dirty="0">
                  <a:solidFill>
                    <a:schemeClr val="dk1"/>
                  </a:solidFill>
                  <a:latin typeface="Calibri"/>
                  <a:ea typeface="Calibri"/>
                  <a:cs typeface="Calibri"/>
                  <a:sym typeface="Calibri"/>
                </a:rPr>
                <a:t>RAMA PRUEBAS</a:t>
              </a:r>
              <a:endParaRPr dirty="0"/>
            </a:p>
            <a:p>
              <a:pPr marL="0" marR="0" lvl="0" indent="0" algn="ctr" rtl="0">
                <a:spcBef>
                  <a:spcPts val="0"/>
                </a:spcBef>
                <a:spcAft>
                  <a:spcPts val="0"/>
                </a:spcAft>
                <a:buNone/>
              </a:pPr>
              <a:r>
                <a:rPr lang="es-PE" sz="1600" b="1" dirty="0">
                  <a:solidFill>
                    <a:schemeClr val="dk1"/>
                  </a:solidFill>
                  <a:latin typeface="Calibri"/>
                  <a:ea typeface="Calibri"/>
                  <a:cs typeface="Calibri"/>
                  <a:sym typeface="Calibri"/>
                </a:rPr>
                <a:t> DE SOFTWARE</a:t>
              </a:r>
              <a:endParaRPr dirty="0"/>
            </a:p>
          </p:txBody>
        </p:sp>
        <p:sp>
          <p:nvSpPr>
            <p:cNvPr id="188" name="Google Shape;188;p12"/>
            <p:cNvSpPr/>
            <p:nvPr/>
          </p:nvSpPr>
          <p:spPr>
            <a:xfrm>
              <a:off x="4939506" y="1863971"/>
              <a:ext cx="2672862" cy="401933"/>
            </a:xfrm>
            <a:prstGeom prst="roundRect">
              <a:avLst>
                <a:gd name="adj" fmla="val 16667"/>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600">
                  <a:solidFill>
                    <a:schemeClr val="lt1"/>
                  </a:solidFill>
                  <a:latin typeface="Calibri"/>
                  <a:ea typeface="Calibri"/>
                  <a:cs typeface="Calibri"/>
                  <a:sym typeface="Calibri"/>
                </a:rPr>
                <a:t>Pruebas de Aceptación</a:t>
              </a:r>
              <a:endParaRPr/>
            </a:p>
          </p:txBody>
        </p:sp>
        <p:sp>
          <p:nvSpPr>
            <p:cNvPr id="189" name="Google Shape;189;p12"/>
            <p:cNvSpPr/>
            <p:nvPr/>
          </p:nvSpPr>
          <p:spPr>
            <a:xfrm>
              <a:off x="4325108" y="2492472"/>
              <a:ext cx="2672862" cy="401933"/>
            </a:xfrm>
            <a:prstGeom prst="roundRect">
              <a:avLst>
                <a:gd name="adj" fmla="val 16667"/>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600">
                  <a:solidFill>
                    <a:schemeClr val="lt1"/>
                  </a:solidFill>
                  <a:latin typeface="Calibri"/>
                  <a:ea typeface="Calibri"/>
                  <a:cs typeface="Calibri"/>
                  <a:sym typeface="Calibri"/>
                </a:rPr>
                <a:t>Pruebas de Sistema</a:t>
              </a:r>
              <a:endParaRPr/>
            </a:p>
          </p:txBody>
        </p:sp>
        <p:sp>
          <p:nvSpPr>
            <p:cNvPr id="190" name="Google Shape;190;p12"/>
            <p:cNvSpPr/>
            <p:nvPr/>
          </p:nvSpPr>
          <p:spPr>
            <a:xfrm>
              <a:off x="3603075" y="3098521"/>
              <a:ext cx="2672862" cy="401933"/>
            </a:xfrm>
            <a:prstGeom prst="roundRect">
              <a:avLst>
                <a:gd name="adj" fmla="val 16667"/>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600">
                  <a:solidFill>
                    <a:schemeClr val="lt1"/>
                  </a:solidFill>
                  <a:latin typeface="Calibri"/>
                  <a:ea typeface="Calibri"/>
                  <a:cs typeface="Calibri"/>
                  <a:sym typeface="Calibri"/>
                </a:rPr>
                <a:t>Pruebas de Integración</a:t>
              </a:r>
              <a:endParaRPr/>
            </a:p>
          </p:txBody>
        </p:sp>
        <p:sp>
          <p:nvSpPr>
            <p:cNvPr id="191" name="Google Shape;191;p12"/>
            <p:cNvSpPr/>
            <p:nvPr/>
          </p:nvSpPr>
          <p:spPr>
            <a:xfrm>
              <a:off x="2771519" y="3715796"/>
              <a:ext cx="2843684" cy="401933"/>
            </a:xfrm>
            <a:prstGeom prst="roundRect">
              <a:avLst>
                <a:gd name="adj" fmla="val 16667"/>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600">
                  <a:solidFill>
                    <a:schemeClr val="lt1"/>
                  </a:solidFill>
                  <a:latin typeface="Calibri"/>
                  <a:ea typeface="Calibri"/>
                  <a:cs typeface="Calibri"/>
                  <a:sym typeface="Calibri"/>
                </a:rPr>
                <a:t>Pruebas de Componentes</a:t>
              </a:r>
              <a:endParaRPr/>
            </a:p>
          </p:txBody>
        </p:sp>
        <p:sp>
          <p:nvSpPr>
            <p:cNvPr id="192" name="Google Shape;192;p12"/>
            <p:cNvSpPr/>
            <p:nvPr/>
          </p:nvSpPr>
          <p:spPr>
            <a:xfrm>
              <a:off x="2266644" y="4333071"/>
              <a:ext cx="2672862" cy="401933"/>
            </a:xfrm>
            <a:prstGeom prst="roundRect">
              <a:avLst>
                <a:gd name="adj" fmla="val 16667"/>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600">
                  <a:solidFill>
                    <a:schemeClr val="lt1"/>
                  </a:solidFill>
                  <a:latin typeface="Calibri"/>
                  <a:ea typeface="Calibri"/>
                  <a:cs typeface="Calibri"/>
                  <a:sym typeface="Calibri"/>
                </a:rPr>
                <a:t>PROGRAMACIÓN</a:t>
              </a:r>
              <a:endParaRPr/>
            </a:p>
          </p:txBody>
        </p:sp>
      </p:grpSp>
      <p:sp>
        <p:nvSpPr>
          <p:cNvPr id="12" name="Rectangle 5">
            <a:extLst>
              <a:ext uri="{FF2B5EF4-FFF2-40B4-BE49-F238E27FC236}">
                <a16:creationId xmlns:a16="http://schemas.microsoft.com/office/drawing/2014/main" id="{A6253A7F-D94B-D44E-B42B-675331DE1645}"/>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CALIDAD DEL SOFTWARE</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13" name="Google Shape;169;p11">
            <a:extLst>
              <a:ext uri="{FF2B5EF4-FFF2-40B4-BE49-F238E27FC236}">
                <a16:creationId xmlns:a16="http://schemas.microsoft.com/office/drawing/2014/main" id="{C6A6D2B7-0760-784F-9410-7BA4C0680CD1}"/>
              </a:ext>
            </a:extLst>
          </p:cNvPr>
          <p:cNvSpPr/>
          <p:nvPr/>
        </p:nvSpPr>
        <p:spPr>
          <a:xfrm>
            <a:off x="503238" y="912813"/>
            <a:ext cx="3426964" cy="5693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PE" sz="1600" b="1" dirty="0">
                <a:solidFill>
                  <a:schemeClr val="dk1"/>
                </a:solidFill>
                <a:latin typeface="Calibri"/>
                <a:ea typeface="Calibri"/>
                <a:cs typeface="Calibri"/>
                <a:sym typeface="Calibri"/>
              </a:rPr>
              <a:t>PRUEBAS A LO LARGO DEL MODELO-V</a:t>
            </a:r>
            <a:endParaRPr dirty="0"/>
          </a:p>
          <a:p>
            <a:pPr marL="182563" marR="0" lvl="0" indent="-182563"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(Modelo secuencial de desarrollo) </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grpSp>
        <p:nvGrpSpPr>
          <p:cNvPr id="200" name="Google Shape;200;p13"/>
          <p:cNvGrpSpPr/>
          <p:nvPr/>
        </p:nvGrpSpPr>
        <p:grpSpPr>
          <a:xfrm>
            <a:off x="691244" y="1869729"/>
            <a:ext cx="7755938" cy="3173913"/>
            <a:chOff x="691244" y="1869729"/>
            <a:chExt cx="7755938" cy="3173913"/>
          </a:xfrm>
        </p:grpSpPr>
        <p:cxnSp>
          <p:nvCxnSpPr>
            <p:cNvPr id="201" name="Google Shape;201;p13"/>
            <p:cNvCxnSpPr/>
            <p:nvPr/>
          </p:nvCxnSpPr>
          <p:spPr>
            <a:xfrm flipH="1">
              <a:off x="4837742" y="2064937"/>
              <a:ext cx="2793463" cy="2485292"/>
            </a:xfrm>
            <a:prstGeom prst="straightConnector1">
              <a:avLst/>
            </a:prstGeom>
            <a:noFill/>
            <a:ln w="44450" cap="flat" cmpd="sng">
              <a:solidFill>
                <a:srgbClr val="00B1C2"/>
              </a:solidFill>
              <a:prstDash val="solid"/>
              <a:round/>
              <a:headEnd type="none" w="sm" len="sm"/>
              <a:tailEnd type="triangle" w="med" len="med"/>
            </a:ln>
          </p:spPr>
        </p:cxnSp>
        <p:sp>
          <p:nvSpPr>
            <p:cNvPr id="202" name="Google Shape;202;p13"/>
            <p:cNvSpPr/>
            <p:nvPr/>
          </p:nvSpPr>
          <p:spPr>
            <a:xfrm>
              <a:off x="6038214" y="1876771"/>
              <a:ext cx="2408968" cy="401933"/>
            </a:xfrm>
            <a:prstGeom prst="roundRect">
              <a:avLst>
                <a:gd name="adj" fmla="val 16667"/>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600">
                  <a:solidFill>
                    <a:schemeClr val="lt1"/>
                  </a:solidFill>
                  <a:latin typeface="Calibri"/>
                  <a:ea typeface="Calibri"/>
                  <a:cs typeface="Calibri"/>
                  <a:sym typeface="Calibri"/>
                </a:rPr>
                <a:t>Pruebas de Aceptación</a:t>
              </a:r>
              <a:endParaRPr/>
            </a:p>
          </p:txBody>
        </p:sp>
        <p:sp>
          <p:nvSpPr>
            <p:cNvPr id="203" name="Google Shape;203;p13"/>
            <p:cNvSpPr/>
            <p:nvPr/>
          </p:nvSpPr>
          <p:spPr>
            <a:xfrm>
              <a:off x="5672481" y="2492472"/>
              <a:ext cx="2601250" cy="401933"/>
            </a:xfrm>
            <a:prstGeom prst="roundRect">
              <a:avLst>
                <a:gd name="adj" fmla="val 16667"/>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600">
                  <a:solidFill>
                    <a:schemeClr val="lt1"/>
                  </a:solidFill>
                  <a:latin typeface="Calibri"/>
                  <a:ea typeface="Calibri"/>
                  <a:cs typeface="Calibri"/>
                  <a:sym typeface="Calibri"/>
                </a:rPr>
                <a:t>Pruebas de Sistema</a:t>
              </a:r>
              <a:endParaRPr/>
            </a:p>
          </p:txBody>
        </p:sp>
        <p:sp>
          <p:nvSpPr>
            <p:cNvPr id="204" name="Google Shape;204;p13"/>
            <p:cNvSpPr/>
            <p:nvPr/>
          </p:nvSpPr>
          <p:spPr>
            <a:xfrm>
              <a:off x="5432730" y="3098521"/>
              <a:ext cx="2639778" cy="401933"/>
            </a:xfrm>
            <a:prstGeom prst="roundRect">
              <a:avLst>
                <a:gd name="adj" fmla="val 16667"/>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600">
                  <a:solidFill>
                    <a:schemeClr val="lt1"/>
                  </a:solidFill>
                  <a:latin typeface="Calibri"/>
                  <a:ea typeface="Calibri"/>
                  <a:cs typeface="Calibri"/>
                  <a:sym typeface="Calibri"/>
                </a:rPr>
                <a:t>Pruebas de Integración</a:t>
              </a:r>
              <a:endParaRPr/>
            </a:p>
          </p:txBody>
        </p:sp>
        <p:sp>
          <p:nvSpPr>
            <p:cNvPr id="205" name="Google Shape;205;p13"/>
            <p:cNvSpPr/>
            <p:nvPr/>
          </p:nvSpPr>
          <p:spPr>
            <a:xfrm>
              <a:off x="4954357" y="3715796"/>
              <a:ext cx="2691737" cy="401933"/>
            </a:xfrm>
            <a:prstGeom prst="roundRect">
              <a:avLst>
                <a:gd name="adj" fmla="val 16667"/>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600">
                  <a:solidFill>
                    <a:schemeClr val="lt1"/>
                  </a:solidFill>
                  <a:latin typeface="Calibri"/>
                  <a:ea typeface="Calibri"/>
                  <a:cs typeface="Calibri"/>
                  <a:sym typeface="Calibri"/>
                </a:rPr>
                <a:t>Pruebas de Componentes</a:t>
              </a:r>
              <a:endParaRPr/>
            </a:p>
          </p:txBody>
        </p:sp>
        <p:sp>
          <p:nvSpPr>
            <p:cNvPr id="206" name="Google Shape;206;p13"/>
            <p:cNvSpPr/>
            <p:nvPr/>
          </p:nvSpPr>
          <p:spPr>
            <a:xfrm>
              <a:off x="3437381" y="4641709"/>
              <a:ext cx="2408968" cy="401933"/>
            </a:xfrm>
            <a:prstGeom prst="roundRect">
              <a:avLst>
                <a:gd name="adj" fmla="val 16667"/>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600" dirty="0">
                  <a:solidFill>
                    <a:schemeClr val="lt1"/>
                  </a:solidFill>
                  <a:latin typeface="Calibri"/>
                  <a:ea typeface="Calibri"/>
                  <a:cs typeface="Calibri"/>
                  <a:sym typeface="Calibri"/>
                </a:rPr>
                <a:t>PROGRAMACIÓN</a:t>
              </a:r>
              <a:endParaRPr dirty="0"/>
            </a:p>
          </p:txBody>
        </p:sp>
        <p:cxnSp>
          <p:nvCxnSpPr>
            <p:cNvPr id="207" name="Google Shape;207;p13"/>
            <p:cNvCxnSpPr/>
            <p:nvPr/>
          </p:nvCxnSpPr>
          <p:spPr>
            <a:xfrm>
              <a:off x="1764405" y="2077737"/>
              <a:ext cx="2736521" cy="2485292"/>
            </a:xfrm>
            <a:prstGeom prst="straightConnector1">
              <a:avLst/>
            </a:prstGeom>
            <a:noFill/>
            <a:ln w="44450" cap="flat" cmpd="sng">
              <a:solidFill>
                <a:srgbClr val="00B1C2"/>
              </a:solidFill>
              <a:prstDash val="solid"/>
              <a:round/>
              <a:headEnd type="none" w="sm" len="sm"/>
              <a:tailEnd type="triangle" w="med" len="med"/>
            </a:ln>
          </p:spPr>
        </p:cxnSp>
        <p:sp>
          <p:nvSpPr>
            <p:cNvPr id="208" name="Google Shape;208;p13"/>
            <p:cNvSpPr/>
            <p:nvPr/>
          </p:nvSpPr>
          <p:spPr>
            <a:xfrm>
              <a:off x="930995" y="2492472"/>
              <a:ext cx="2694297" cy="401933"/>
            </a:xfrm>
            <a:prstGeom prst="roundRect">
              <a:avLst>
                <a:gd name="adj" fmla="val 16667"/>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600">
                  <a:solidFill>
                    <a:schemeClr val="lt1"/>
                  </a:solidFill>
                  <a:latin typeface="Calibri"/>
                  <a:ea typeface="Calibri"/>
                  <a:cs typeface="Calibri"/>
                  <a:sym typeface="Calibri"/>
                </a:rPr>
                <a:t>Diseño Funcional del Sistema</a:t>
              </a:r>
              <a:endParaRPr/>
            </a:p>
          </p:txBody>
        </p:sp>
        <p:sp>
          <p:nvSpPr>
            <p:cNvPr id="209" name="Google Shape;209;p13"/>
            <p:cNvSpPr/>
            <p:nvPr/>
          </p:nvSpPr>
          <p:spPr>
            <a:xfrm>
              <a:off x="1409368" y="3098521"/>
              <a:ext cx="2477148" cy="401933"/>
            </a:xfrm>
            <a:prstGeom prst="roundRect">
              <a:avLst>
                <a:gd name="adj" fmla="val 16667"/>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600">
                  <a:solidFill>
                    <a:schemeClr val="lt1"/>
                  </a:solidFill>
                  <a:latin typeface="Calibri"/>
                  <a:ea typeface="Calibri"/>
                  <a:cs typeface="Calibri"/>
                  <a:sym typeface="Calibri"/>
                </a:rPr>
                <a:t>Diseño Técnico del Sistema</a:t>
              </a:r>
              <a:endParaRPr/>
            </a:p>
          </p:txBody>
        </p:sp>
        <p:sp>
          <p:nvSpPr>
            <p:cNvPr id="210" name="Google Shape;210;p13"/>
            <p:cNvSpPr/>
            <p:nvPr/>
          </p:nvSpPr>
          <p:spPr>
            <a:xfrm>
              <a:off x="1715209" y="3715796"/>
              <a:ext cx="2834914" cy="401933"/>
            </a:xfrm>
            <a:prstGeom prst="roundRect">
              <a:avLst>
                <a:gd name="adj" fmla="val 16667"/>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600">
                  <a:solidFill>
                    <a:schemeClr val="lt1"/>
                  </a:solidFill>
                  <a:latin typeface="Calibri"/>
                  <a:ea typeface="Calibri"/>
                  <a:cs typeface="Calibri"/>
                  <a:sym typeface="Calibri"/>
                </a:rPr>
                <a:t>Especificación de Componentes</a:t>
              </a:r>
              <a:endParaRPr/>
            </a:p>
          </p:txBody>
        </p:sp>
        <p:sp>
          <p:nvSpPr>
            <p:cNvPr id="211" name="Google Shape;211;p13"/>
            <p:cNvSpPr/>
            <p:nvPr/>
          </p:nvSpPr>
          <p:spPr>
            <a:xfrm>
              <a:off x="691244" y="1869729"/>
              <a:ext cx="2408968" cy="401933"/>
            </a:xfrm>
            <a:prstGeom prst="roundRect">
              <a:avLst>
                <a:gd name="adj" fmla="val 16667"/>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600">
                  <a:solidFill>
                    <a:schemeClr val="lt1"/>
                  </a:solidFill>
                  <a:latin typeface="Calibri"/>
                  <a:ea typeface="Calibri"/>
                  <a:cs typeface="Calibri"/>
                  <a:sym typeface="Calibri"/>
                </a:rPr>
                <a:t>Definición de Requisitos</a:t>
              </a:r>
              <a:endParaRPr/>
            </a:p>
          </p:txBody>
        </p:sp>
      </p:grpSp>
      <p:sp>
        <p:nvSpPr>
          <p:cNvPr id="16" name="Rectangle 5">
            <a:extLst>
              <a:ext uri="{FF2B5EF4-FFF2-40B4-BE49-F238E27FC236}">
                <a16:creationId xmlns:a16="http://schemas.microsoft.com/office/drawing/2014/main" id="{7E0182E8-8180-BD40-BDB6-1C0935F10273}"/>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CALIDAD DEL SOFTWARE</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17" name="Google Shape;169;p11">
            <a:extLst>
              <a:ext uri="{FF2B5EF4-FFF2-40B4-BE49-F238E27FC236}">
                <a16:creationId xmlns:a16="http://schemas.microsoft.com/office/drawing/2014/main" id="{22F6D70E-A9FA-9445-BD18-D7DF2746B344}"/>
              </a:ext>
            </a:extLst>
          </p:cNvPr>
          <p:cNvSpPr/>
          <p:nvPr/>
        </p:nvSpPr>
        <p:spPr>
          <a:xfrm>
            <a:off x="503238" y="912813"/>
            <a:ext cx="3426964" cy="5693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PE" sz="1600" b="1" dirty="0">
                <a:solidFill>
                  <a:schemeClr val="dk1"/>
                </a:solidFill>
                <a:latin typeface="Calibri"/>
                <a:ea typeface="Calibri"/>
                <a:cs typeface="Calibri"/>
                <a:sym typeface="Calibri"/>
              </a:rPr>
              <a:t>PRUEBAS A LO LARGO DEL MODELO-V</a:t>
            </a:r>
            <a:endParaRPr dirty="0"/>
          </a:p>
          <a:p>
            <a:pPr marL="182563" marR="0" lvl="0" indent="-182563"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(Modelo secuencial de desarrollo) </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5" name="Rectangle 5">
            <a:extLst>
              <a:ext uri="{FF2B5EF4-FFF2-40B4-BE49-F238E27FC236}">
                <a16:creationId xmlns:a16="http://schemas.microsoft.com/office/drawing/2014/main" id="{C2BD5C4C-C209-3348-8851-2AB3AEA6103D}"/>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CALIDAD DEL SOFTWARE</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grpSp>
        <p:nvGrpSpPr>
          <p:cNvPr id="6" name="Grupo 5">
            <a:extLst>
              <a:ext uri="{FF2B5EF4-FFF2-40B4-BE49-F238E27FC236}">
                <a16:creationId xmlns:a16="http://schemas.microsoft.com/office/drawing/2014/main" id="{6CEE29E7-D867-2244-A635-055C52F7FEB9}"/>
              </a:ext>
            </a:extLst>
          </p:cNvPr>
          <p:cNvGrpSpPr/>
          <p:nvPr/>
        </p:nvGrpSpPr>
        <p:grpSpPr>
          <a:xfrm>
            <a:off x="326977" y="917244"/>
            <a:ext cx="2501283" cy="394721"/>
            <a:chOff x="287221" y="917244"/>
            <a:chExt cx="2941042" cy="500394"/>
          </a:xfrm>
        </p:grpSpPr>
        <p:sp>
          <p:nvSpPr>
            <p:cNvPr id="7" name="Rectángulo redondeado 6">
              <a:extLst>
                <a:ext uri="{FF2B5EF4-FFF2-40B4-BE49-F238E27FC236}">
                  <a16:creationId xmlns:a16="http://schemas.microsoft.com/office/drawing/2014/main" id="{0E021C75-A206-734E-A3BD-789C30CAD2D5}"/>
                </a:ext>
              </a:extLst>
            </p:cNvPr>
            <p:cNvSpPr/>
            <p:nvPr/>
          </p:nvSpPr>
          <p:spPr>
            <a:xfrm>
              <a:off x="503238" y="917244"/>
              <a:ext cx="2725025" cy="500394"/>
            </a:xfrm>
            <a:prstGeom prst="roundRect">
              <a:avLst>
                <a:gd name="adj" fmla="val 24841"/>
              </a:avLst>
            </a:prstGeom>
            <a:solidFill>
              <a:srgbClr val="92C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762" lvl="0" algn="ctr">
                <a:buSzPts val="1600"/>
                <a:tabLst>
                  <a:tab pos="569913" algn="l"/>
                </a:tabLst>
              </a:pPr>
              <a:r>
                <a:rPr lang="es-PE" b="1" dirty="0">
                  <a:solidFill>
                    <a:schemeClr val="lt1"/>
                  </a:solidFill>
                  <a:latin typeface="Calibri" charset="0"/>
                  <a:cs typeface="Calibri" charset="0"/>
                  <a:sym typeface="Calibri"/>
                </a:rPr>
                <a:t>3. CALIDAD DE USO</a:t>
              </a:r>
              <a:endParaRPr lang="es-PE" b="1" dirty="0">
                <a:solidFill>
                  <a:schemeClr val="lt1"/>
                </a:solidFill>
                <a:latin typeface="Calibri" charset="0"/>
                <a:cs typeface="Calibri" charset="0"/>
              </a:endParaRPr>
            </a:p>
          </p:txBody>
        </p:sp>
        <p:grpSp>
          <p:nvGrpSpPr>
            <p:cNvPr id="8" name="Agrupar 14">
              <a:extLst>
                <a:ext uri="{FF2B5EF4-FFF2-40B4-BE49-F238E27FC236}">
                  <a16:creationId xmlns:a16="http://schemas.microsoft.com/office/drawing/2014/main" id="{FBD35591-3051-734B-B521-C8B2491CDCB6}"/>
                </a:ext>
              </a:extLst>
            </p:cNvPr>
            <p:cNvGrpSpPr/>
            <p:nvPr/>
          </p:nvGrpSpPr>
          <p:grpSpPr>
            <a:xfrm>
              <a:off x="287221" y="965530"/>
              <a:ext cx="459474" cy="403823"/>
              <a:chOff x="5892512" y="2805541"/>
              <a:chExt cx="459474" cy="403823"/>
            </a:xfrm>
          </p:grpSpPr>
          <p:sp>
            <p:nvSpPr>
              <p:cNvPr id="9" name="Elipse 8">
                <a:extLst>
                  <a:ext uri="{FF2B5EF4-FFF2-40B4-BE49-F238E27FC236}">
                    <a16:creationId xmlns:a16="http://schemas.microsoft.com/office/drawing/2014/main" id="{1147D765-973C-FE4B-B640-AD0A7708660F}"/>
                  </a:ext>
                </a:extLst>
              </p:cNvPr>
              <p:cNvSpPr/>
              <p:nvPr/>
            </p:nvSpPr>
            <p:spPr>
              <a:xfrm>
                <a:off x="5956277" y="2824919"/>
                <a:ext cx="395709" cy="376075"/>
              </a:xfrm>
              <a:prstGeom prst="ellipse">
                <a:avLst/>
              </a:prstGeom>
              <a:solidFill>
                <a:srgbClr val="6A8F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0" name="Elipse 9">
                <a:extLst>
                  <a:ext uri="{FF2B5EF4-FFF2-40B4-BE49-F238E27FC236}">
                    <a16:creationId xmlns:a16="http://schemas.microsoft.com/office/drawing/2014/main" id="{501DBF69-2347-E945-B0A4-E52DE7E13304}"/>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1" name="Triángulo 10">
                <a:extLst>
                  <a:ext uri="{FF2B5EF4-FFF2-40B4-BE49-F238E27FC236}">
                    <a16:creationId xmlns:a16="http://schemas.microsoft.com/office/drawing/2014/main" id="{B7483C4C-2E4C-1A4E-BFD0-25177E5F8C89}"/>
                  </a:ext>
                </a:extLst>
              </p:cNvPr>
              <p:cNvSpPr/>
              <p:nvPr/>
            </p:nvSpPr>
            <p:spPr>
              <a:xfrm rot="5400000">
                <a:off x="6076285" y="2946262"/>
                <a:ext cx="186870" cy="122381"/>
              </a:xfrm>
              <a:prstGeom prst="triangle">
                <a:avLst/>
              </a:prstGeom>
              <a:solidFill>
                <a:srgbClr val="92C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sp>
        <p:nvSpPr>
          <p:cNvPr id="12" name="Rectángulo 11">
            <a:extLst>
              <a:ext uri="{FF2B5EF4-FFF2-40B4-BE49-F238E27FC236}">
                <a16:creationId xmlns:a16="http://schemas.microsoft.com/office/drawing/2014/main" id="{3937DE2D-4671-EE4E-8F19-FEDA48803C17}"/>
              </a:ext>
            </a:extLst>
          </p:cNvPr>
          <p:cNvSpPr/>
          <p:nvPr/>
        </p:nvSpPr>
        <p:spPr>
          <a:xfrm>
            <a:off x="503238" y="1605377"/>
            <a:ext cx="7889396" cy="2308324"/>
          </a:xfrm>
          <a:prstGeom prst="rect">
            <a:avLst/>
          </a:prstGeom>
        </p:spPr>
        <p:txBody>
          <a:bodyPr wrap="square" lIns="0" tIns="0" rIns="0" bIns="0">
            <a:spAutoFit/>
          </a:bodyPr>
          <a:lstStyle/>
          <a:p>
            <a:pPr marL="182563" lvl="2" indent="-182563">
              <a:buClr>
                <a:schemeClr val="dk1"/>
              </a:buClr>
              <a:buSzPct val="100000"/>
              <a:buFont typeface="Arial" panose="020B0604020202020204" pitchFamily="34" charset="0"/>
              <a:buChar char="•"/>
            </a:pPr>
            <a:r>
              <a:rPr lang="es-PE" sz="1500" dirty="0">
                <a:solidFill>
                  <a:schemeClr val="dk1"/>
                </a:solidFill>
                <a:latin typeface="Calibri"/>
                <a:cs typeface="Calibri"/>
                <a:sym typeface="Calibri"/>
              </a:rPr>
              <a:t>Relación del producto con el ambiente donde se utiliza</a:t>
            </a:r>
            <a:endParaRPr lang="es-PE" sz="1500" dirty="0">
              <a:solidFill>
                <a:schemeClr val="dk1"/>
              </a:solidFill>
              <a:latin typeface="Calibri"/>
              <a:cs typeface="Calibri"/>
            </a:endParaRPr>
          </a:p>
          <a:p>
            <a:pPr marL="182563" marR="0" lvl="2" indent="-182563" algn="l" rtl="0">
              <a:spcBef>
                <a:spcPts val="0"/>
              </a:spcBef>
              <a:spcAft>
                <a:spcPts val="0"/>
              </a:spcAft>
              <a:buClr>
                <a:schemeClr val="dk1"/>
              </a:buClr>
              <a:buSzPts val="1600"/>
              <a:buFont typeface="Arial" panose="020B0604020202020204" pitchFamily="34" charset="0"/>
              <a:buChar char="•"/>
            </a:pPr>
            <a:endParaRPr lang="es-PE" sz="1500" dirty="0">
              <a:solidFill>
                <a:schemeClr val="dk1"/>
              </a:solidFill>
              <a:latin typeface="Calibri"/>
              <a:cs typeface="Calibri"/>
              <a:sym typeface="Calibri"/>
            </a:endParaRPr>
          </a:p>
          <a:p>
            <a:pPr marL="358775" marR="0" lvl="0" indent="-176213" algn="l" rtl="0">
              <a:spcBef>
                <a:spcPts val="0"/>
              </a:spcBef>
              <a:spcAft>
                <a:spcPts val="0"/>
              </a:spcAft>
              <a:buClr>
                <a:schemeClr val="dk1"/>
              </a:buClr>
              <a:buSzPct val="100000"/>
              <a:buFont typeface="Arial"/>
              <a:buChar char="•"/>
            </a:pPr>
            <a:r>
              <a:rPr lang="es-PE" sz="1500" dirty="0">
                <a:solidFill>
                  <a:schemeClr val="dk1"/>
                </a:solidFill>
                <a:latin typeface="Calibri"/>
                <a:ea typeface="Calibri"/>
                <a:cs typeface="Calibri"/>
                <a:sym typeface="Calibri"/>
              </a:rPr>
              <a:t>Es importante resaltar que, aunque en diferentes escenarios se utilizan los términos usabilidad y calidad en uso, con el mismo propósito y de forma intercambiable tienen significados distintos, principalmente porque el concepto de calidad en uso es más amplio y abarca más elementos que la usabilidad, y esta última es una de las características de calidad de un producto software. </a:t>
            </a:r>
            <a:endParaRPr lang="es-PE" sz="1500" dirty="0"/>
          </a:p>
          <a:p>
            <a:pPr marL="358775" marR="0" lvl="0" indent="-176213" algn="l" rtl="0">
              <a:spcBef>
                <a:spcPts val="0"/>
              </a:spcBef>
              <a:spcAft>
                <a:spcPts val="0"/>
              </a:spcAft>
              <a:buSzPct val="100000"/>
              <a:buNone/>
            </a:pPr>
            <a:endParaRPr lang="es-PE" sz="1500" dirty="0">
              <a:solidFill>
                <a:schemeClr val="dk1"/>
              </a:solidFill>
              <a:latin typeface="Calibri"/>
              <a:ea typeface="Calibri"/>
              <a:cs typeface="Calibri"/>
              <a:sym typeface="Calibri"/>
            </a:endParaRPr>
          </a:p>
          <a:p>
            <a:pPr marL="358775" marR="0" lvl="0" indent="-176213" algn="l" rtl="0">
              <a:spcBef>
                <a:spcPts val="0"/>
              </a:spcBef>
              <a:spcAft>
                <a:spcPts val="0"/>
              </a:spcAft>
              <a:buClr>
                <a:schemeClr val="dk1"/>
              </a:buClr>
              <a:buSzPct val="100000"/>
              <a:buFont typeface="Arial"/>
              <a:buChar char="•"/>
            </a:pPr>
            <a:r>
              <a:rPr lang="es-PE" sz="1500" dirty="0">
                <a:solidFill>
                  <a:schemeClr val="dk1"/>
                </a:solidFill>
                <a:latin typeface="Calibri"/>
                <a:ea typeface="Calibri"/>
                <a:cs typeface="Calibri"/>
                <a:sym typeface="Calibri"/>
              </a:rPr>
              <a:t>La calidad en uso se define como el “conjunto de atributos relacionados con la aceptación por parte del usuario final y seguridad”, y está basada en la eficacia, productividad, seguridad y satisfacción, según ISO/IEC 9126. </a:t>
            </a:r>
            <a:endParaRPr lang="es-PE" sz="15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7" name="Rectangle 5">
            <a:extLst>
              <a:ext uri="{FF2B5EF4-FFF2-40B4-BE49-F238E27FC236}">
                <a16:creationId xmlns:a16="http://schemas.microsoft.com/office/drawing/2014/main" id="{09EC7917-BCF3-6444-881C-6A3196D4037A}"/>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CALIDAD DEL SOFTWARE</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grpSp>
        <p:nvGrpSpPr>
          <p:cNvPr id="8" name="Grupo 7">
            <a:extLst>
              <a:ext uri="{FF2B5EF4-FFF2-40B4-BE49-F238E27FC236}">
                <a16:creationId xmlns:a16="http://schemas.microsoft.com/office/drawing/2014/main" id="{D6FD9F5A-8F89-5148-8381-CD90908F2689}"/>
              </a:ext>
            </a:extLst>
          </p:cNvPr>
          <p:cNvGrpSpPr/>
          <p:nvPr/>
        </p:nvGrpSpPr>
        <p:grpSpPr>
          <a:xfrm>
            <a:off x="326977" y="917244"/>
            <a:ext cx="3153413" cy="394721"/>
            <a:chOff x="287221" y="917244"/>
            <a:chExt cx="3707825" cy="500394"/>
          </a:xfrm>
        </p:grpSpPr>
        <p:sp>
          <p:nvSpPr>
            <p:cNvPr id="9" name="Rectángulo redondeado 8">
              <a:extLst>
                <a:ext uri="{FF2B5EF4-FFF2-40B4-BE49-F238E27FC236}">
                  <a16:creationId xmlns:a16="http://schemas.microsoft.com/office/drawing/2014/main" id="{0DBAB7A8-ACE4-E549-88A8-7E80379FF6B1}"/>
                </a:ext>
              </a:extLst>
            </p:cNvPr>
            <p:cNvSpPr/>
            <p:nvPr/>
          </p:nvSpPr>
          <p:spPr>
            <a:xfrm>
              <a:off x="503237" y="917244"/>
              <a:ext cx="3491809" cy="500394"/>
            </a:xfrm>
            <a:prstGeom prst="roundRect">
              <a:avLst>
                <a:gd name="adj" fmla="val 24841"/>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762" algn="ctr">
                <a:buSzPts val="1600"/>
                <a:tabLst>
                  <a:tab pos="569913" algn="l"/>
                </a:tabLst>
              </a:pPr>
              <a:r>
                <a:rPr lang="es-PE" b="1" dirty="0">
                  <a:solidFill>
                    <a:schemeClr val="lt1"/>
                  </a:solidFill>
                  <a:latin typeface="Calibri" charset="0"/>
                  <a:cs typeface="Calibri" charset="0"/>
                  <a:sym typeface="Calibri"/>
                </a:rPr>
                <a:t>4. </a:t>
              </a:r>
              <a:r>
                <a:rPr lang="es-PE" b="1" dirty="0">
                  <a:solidFill>
                    <a:schemeClr val="lt1"/>
                  </a:solidFill>
                  <a:latin typeface="Calibri" charset="0"/>
                  <a:ea typeface="+mn-ea"/>
                  <a:cs typeface="Calibri" charset="0"/>
                  <a:sym typeface="Calibri"/>
                </a:rPr>
                <a:t>VERIFICACIÓN Y VALIDACIÓN</a:t>
              </a:r>
            </a:p>
          </p:txBody>
        </p:sp>
        <p:grpSp>
          <p:nvGrpSpPr>
            <p:cNvPr id="10" name="Agrupar 14">
              <a:extLst>
                <a:ext uri="{FF2B5EF4-FFF2-40B4-BE49-F238E27FC236}">
                  <a16:creationId xmlns:a16="http://schemas.microsoft.com/office/drawing/2014/main" id="{B3BC8BD7-0665-684F-9C0C-9ECF2923FF30}"/>
                </a:ext>
              </a:extLst>
            </p:cNvPr>
            <p:cNvGrpSpPr/>
            <p:nvPr/>
          </p:nvGrpSpPr>
          <p:grpSpPr>
            <a:xfrm>
              <a:off x="287221" y="965530"/>
              <a:ext cx="459474" cy="403823"/>
              <a:chOff x="5892512" y="2805541"/>
              <a:chExt cx="459474" cy="403823"/>
            </a:xfrm>
          </p:grpSpPr>
          <p:sp>
            <p:nvSpPr>
              <p:cNvPr id="11" name="Elipse 10">
                <a:extLst>
                  <a:ext uri="{FF2B5EF4-FFF2-40B4-BE49-F238E27FC236}">
                    <a16:creationId xmlns:a16="http://schemas.microsoft.com/office/drawing/2014/main" id="{414E19A4-EC13-BA4F-851F-E27DF9D9FCE4}"/>
                  </a:ext>
                </a:extLst>
              </p:cNvPr>
              <p:cNvSpPr/>
              <p:nvPr/>
            </p:nvSpPr>
            <p:spPr>
              <a:xfrm>
                <a:off x="5956277" y="2824919"/>
                <a:ext cx="395709" cy="376075"/>
              </a:xfrm>
              <a:prstGeom prst="ellipse">
                <a:avLst/>
              </a:prstGeom>
              <a:solidFill>
                <a:srgbClr val="0792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2" name="Elipse 11">
                <a:extLst>
                  <a:ext uri="{FF2B5EF4-FFF2-40B4-BE49-F238E27FC236}">
                    <a16:creationId xmlns:a16="http://schemas.microsoft.com/office/drawing/2014/main" id="{8D725BF5-C658-5B43-9408-6E34A1D46545}"/>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3" name="Triángulo 12">
                <a:extLst>
                  <a:ext uri="{FF2B5EF4-FFF2-40B4-BE49-F238E27FC236}">
                    <a16:creationId xmlns:a16="http://schemas.microsoft.com/office/drawing/2014/main" id="{8B5A9351-E0B6-9A46-9362-DFD96EA7E977}"/>
                  </a:ext>
                </a:extLst>
              </p:cNvPr>
              <p:cNvSpPr/>
              <p:nvPr/>
            </p:nvSpPr>
            <p:spPr>
              <a:xfrm rot="5400000">
                <a:off x="6076285" y="2946262"/>
                <a:ext cx="186870" cy="122381"/>
              </a:xfrm>
              <a:prstGeom prst="triangle">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sp>
        <p:nvSpPr>
          <p:cNvPr id="14" name="Rectángulo redondeado 13">
            <a:extLst>
              <a:ext uri="{FF2B5EF4-FFF2-40B4-BE49-F238E27FC236}">
                <a16:creationId xmlns:a16="http://schemas.microsoft.com/office/drawing/2014/main" id="{2C2F7615-297B-5047-B8E4-000BE34DDAB0}"/>
              </a:ext>
            </a:extLst>
          </p:cNvPr>
          <p:cNvSpPr/>
          <p:nvPr/>
        </p:nvSpPr>
        <p:spPr>
          <a:xfrm>
            <a:off x="907312" y="1654671"/>
            <a:ext cx="3485301" cy="3129980"/>
          </a:xfrm>
          <a:prstGeom prst="roundRect">
            <a:avLst>
              <a:gd name="adj" fmla="val 4547"/>
            </a:avLst>
          </a:prstGeom>
          <a:solidFill>
            <a:srgbClr val="FFD7C1"/>
          </a:solidFill>
          <a:ln w="38100">
            <a:solidFill>
              <a:srgbClr val="FE7828"/>
            </a:solidFill>
          </a:ln>
        </p:spPr>
        <p:style>
          <a:lnRef idx="2">
            <a:schemeClr val="accent1">
              <a:shade val="50000"/>
            </a:schemeClr>
          </a:lnRef>
          <a:fillRef idx="1">
            <a:schemeClr val="accent1"/>
          </a:fillRef>
          <a:effectRef idx="0">
            <a:schemeClr val="accent1"/>
          </a:effectRef>
          <a:fontRef idx="minor">
            <a:schemeClr val="lt1"/>
          </a:fontRef>
        </p:style>
        <p:txBody>
          <a:bodyPr lIns="180000" tIns="108000" rIns="36000" rtlCol="0" anchor="t"/>
          <a:lstStyle/>
          <a:p>
            <a:pPr marL="182563" marR="0" lvl="0" indent="-182563" algn="l" rtl="0">
              <a:spcBef>
                <a:spcPts val="0"/>
              </a:spcBef>
              <a:spcAft>
                <a:spcPts val="0"/>
              </a:spcAft>
              <a:buClr>
                <a:srgbClr val="FE7828"/>
              </a:buClr>
              <a:buSzPct val="100000"/>
              <a:buFont typeface="Arial"/>
              <a:buChar char="•"/>
            </a:pPr>
            <a:r>
              <a:rPr lang="es-PE" sz="1400" dirty="0">
                <a:solidFill>
                  <a:schemeClr val="dk1"/>
                </a:solidFill>
                <a:latin typeface="Calibri"/>
                <a:ea typeface="Calibri"/>
                <a:cs typeface="Calibri"/>
                <a:sym typeface="Calibri"/>
              </a:rPr>
              <a:t>La verificación es un mecanismo de comprobación para asegurar la </a:t>
            </a:r>
            <a:r>
              <a:rPr lang="es-PE" sz="1400" b="1" dirty="0">
                <a:solidFill>
                  <a:schemeClr val="dk1"/>
                </a:solidFill>
                <a:latin typeface="Calibri"/>
                <a:ea typeface="Calibri"/>
                <a:cs typeface="Calibri"/>
                <a:sym typeface="Calibri"/>
              </a:rPr>
              <a:t>conformidad de los requisitos del producto o servicio con respecto a su diseño y desarrollo antes de su entrega  al cliente. </a:t>
            </a:r>
            <a:endParaRPr lang="es-PE" dirty="0"/>
          </a:p>
          <a:p>
            <a:pPr marL="182563" marR="0" lvl="0" indent="-80963" algn="l" rtl="0">
              <a:spcBef>
                <a:spcPts val="0"/>
              </a:spcBef>
              <a:spcAft>
                <a:spcPts val="0"/>
              </a:spcAft>
              <a:buClr>
                <a:srgbClr val="FE7828"/>
              </a:buClr>
              <a:buSzPct val="100000"/>
              <a:buFont typeface="Arial"/>
              <a:buNone/>
            </a:pPr>
            <a:endParaRPr lang="es-PE" sz="1400" dirty="0">
              <a:solidFill>
                <a:schemeClr val="dk1"/>
              </a:solidFill>
              <a:latin typeface="Calibri"/>
              <a:ea typeface="Calibri"/>
              <a:cs typeface="Calibri"/>
              <a:sym typeface="Calibri"/>
            </a:endParaRPr>
          </a:p>
          <a:p>
            <a:pPr marL="182563" marR="0" lvl="0" indent="-182563" algn="l" rtl="0">
              <a:spcBef>
                <a:spcPts val="0"/>
              </a:spcBef>
              <a:spcAft>
                <a:spcPts val="0"/>
              </a:spcAft>
              <a:buClr>
                <a:srgbClr val="FE7828"/>
              </a:buClr>
              <a:buSzPct val="100000"/>
              <a:buFont typeface="Arial"/>
              <a:buChar char="•"/>
            </a:pPr>
            <a:r>
              <a:rPr lang="es-PE" sz="1400" dirty="0">
                <a:solidFill>
                  <a:schemeClr val="dk1"/>
                </a:solidFill>
                <a:latin typeface="Calibri"/>
                <a:ea typeface="Calibri"/>
                <a:cs typeface="Calibri"/>
                <a:sym typeface="Calibri"/>
              </a:rPr>
              <a:t>Comprobar que una aplicación software cumple correctamente todos los requisitos.</a:t>
            </a:r>
          </a:p>
        </p:txBody>
      </p:sp>
      <p:sp>
        <p:nvSpPr>
          <p:cNvPr id="229" name="Google Shape;229;p15"/>
          <p:cNvSpPr txBox="1"/>
          <p:nvPr/>
        </p:nvSpPr>
        <p:spPr>
          <a:xfrm>
            <a:off x="1292361" y="4052876"/>
            <a:ext cx="2188029"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000" dirty="0">
                <a:solidFill>
                  <a:schemeClr val="bg1">
                    <a:lumMod val="50000"/>
                  </a:schemeClr>
                </a:solidFill>
                <a:latin typeface="Calibri"/>
                <a:ea typeface="Calibri"/>
                <a:cs typeface="Calibri"/>
                <a:sym typeface="Calibri"/>
              </a:rPr>
              <a:t>max-schwarz.blogspot.cl</a:t>
            </a:r>
            <a:endParaRPr dirty="0">
              <a:solidFill>
                <a:schemeClr val="bg1">
                  <a:lumMod val="50000"/>
                </a:schemeClr>
              </a:solidFill>
            </a:endParaRPr>
          </a:p>
        </p:txBody>
      </p:sp>
      <p:sp>
        <p:nvSpPr>
          <p:cNvPr id="15" name="Rectángulo redondeado 14">
            <a:extLst>
              <a:ext uri="{FF2B5EF4-FFF2-40B4-BE49-F238E27FC236}">
                <a16:creationId xmlns:a16="http://schemas.microsoft.com/office/drawing/2014/main" id="{9B8E6139-A51C-6F41-9602-D051E1DF6B3A}"/>
              </a:ext>
            </a:extLst>
          </p:cNvPr>
          <p:cNvSpPr/>
          <p:nvPr/>
        </p:nvSpPr>
        <p:spPr>
          <a:xfrm>
            <a:off x="4763386" y="1654671"/>
            <a:ext cx="3485301" cy="3129980"/>
          </a:xfrm>
          <a:prstGeom prst="roundRect">
            <a:avLst>
              <a:gd name="adj" fmla="val 4547"/>
            </a:avLst>
          </a:prstGeom>
          <a:solidFill>
            <a:srgbClr val="E3DCED"/>
          </a:solidFill>
          <a:ln w="38100">
            <a:solidFill>
              <a:srgbClr val="7150A0"/>
            </a:solidFill>
          </a:ln>
        </p:spPr>
        <p:style>
          <a:lnRef idx="2">
            <a:schemeClr val="accent1">
              <a:shade val="50000"/>
            </a:schemeClr>
          </a:lnRef>
          <a:fillRef idx="1">
            <a:schemeClr val="accent1"/>
          </a:fillRef>
          <a:effectRef idx="0">
            <a:schemeClr val="accent1"/>
          </a:effectRef>
          <a:fontRef idx="minor">
            <a:schemeClr val="lt1"/>
          </a:fontRef>
        </p:style>
        <p:txBody>
          <a:bodyPr lIns="180000" tIns="108000" rIns="36000" rtlCol="0" anchor="t"/>
          <a:lstStyle/>
          <a:p>
            <a:pPr marL="225425" marR="0" lvl="0" indent="-173038" algn="l" rtl="0">
              <a:spcBef>
                <a:spcPts val="0"/>
              </a:spcBef>
              <a:spcAft>
                <a:spcPts val="0"/>
              </a:spcAft>
              <a:buClr>
                <a:srgbClr val="7150A0"/>
              </a:buClr>
              <a:buSzPct val="100000"/>
              <a:buFont typeface="Arial"/>
              <a:buChar char="•"/>
            </a:pPr>
            <a:r>
              <a:rPr lang="es-PE" sz="1400" dirty="0">
                <a:solidFill>
                  <a:schemeClr val="dk1"/>
                </a:solidFill>
                <a:latin typeface="Calibri"/>
                <a:ea typeface="Calibri"/>
                <a:cs typeface="Calibri"/>
                <a:sym typeface="Calibri"/>
              </a:rPr>
              <a:t>La validación es un mecanismo de comprobación para </a:t>
            </a:r>
            <a:r>
              <a:rPr lang="es-PE" sz="1400" b="1" dirty="0">
                <a:solidFill>
                  <a:schemeClr val="dk1"/>
                </a:solidFill>
                <a:latin typeface="Calibri"/>
                <a:ea typeface="Calibri"/>
                <a:cs typeface="Calibri"/>
                <a:sym typeface="Calibri"/>
              </a:rPr>
              <a:t>asegurar que el producto o servicio satisface los requisitos para los cuales fue diseñado y es conforme respecto a su aplicación de diseño o uso previsto que solo puede realizarse después de que se ha completado el producto o servicio. </a:t>
            </a:r>
            <a:endParaRPr lang="es-PE" dirty="0"/>
          </a:p>
          <a:p>
            <a:pPr marL="225425" marR="0" lvl="0" indent="-173038" algn="l" rtl="0">
              <a:spcBef>
                <a:spcPts val="0"/>
              </a:spcBef>
              <a:spcAft>
                <a:spcPts val="0"/>
              </a:spcAft>
              <a:buClr>
                <a:srgbClr val="7150A0"/>
              </a:buClr>
              <a:buSzPct val="100000"/>
              <a:buFont typeface="Arial"/>
              <a:buNone/>
            </a:pPr>
            <a:endParaRPr lang="es-PE" sz="1400" dirty="0">
              <a:solidFill>
                <a:schemeClr val="dk1"/>
              </a:solidFill>
              <a:latin typeface="Calibri"/>
              <a:ea typeface="Calibri"/>
              <a:cs typeface="Calibri"/>
              <a:sym typeface="Calibri"/>
            </a:endParaRPr>
          </a:p>
          <a:p>
            <a:pPr marL="225425" marR="0" lvl="0" indent="-173038" algn="l" rtl="0">
              <a:spcBef>
                <a:spcPts val="0"/>
              </a:spcBef>
              <a:spcAft>
                <a:spcPts val="0"/>
              </a:spcAft>
              <a:buClr>
                <a:srgbClr val="7150A0"/>
              </a:buClr>
              <a:buSzPct val="100000"/>
              <a:buFont typeface="Arial"/>
              <a:buChar char="•"/>
            </a:pPr>
            <a:r>
              <a:rPr lang="es-PE" sz="1400" dirty="0">
                <a:solidFill>
                  <a:schemeClr val="dk1"/>
                </a:solidFill>
                <a:latin typeface="Calibri"/>
                <a:ea typeface="Calibri"/>
                <a:cs typeface="Calibri"/>
                <a:sym typeface="Calibri"/>
              </a:rPr>
              <a:t>Comprobar que una aplicación software sirve para el propósito para el que fue concebida, es decir, que además de cumplir los requisitos sirve para algo.</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6" name="Rectangle 5">
            <a:extLst>
              <a:ext uri="{FF2B5EF4-FFF2-40B4-BE49-F238E27FC236}">
                <a16:creationId xmlns:a16="http://schemas.microsoft.com/office/drawing/2014/main" id="{629B7250-CEF5-5141-9668-8C48F31D91E8}"/>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CALIDAD DEL SOFTWARE</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grpSp>
        <p:nvGrpSpPr>
          <p:cNvPr id="7" name="Grupo 6">
            <a:extLst>
              <a:ext uri="{FF2B5EF4-FFF2-40B4-BE49-F238E27FC236}">
                <a16:creationId xmlns:a16="http://schemas.microsoft.com/office/drawing/2014/main" id="{D352CDBF-76D7-3247-A4B1-138C30EEADA5}"/>
              </a:ext>
            </a:extLst>
          </p:cNvPr>
          <p:cNvGrpSpPr/>
          <p:nvPr/>
        </p:nvGrpSpPr>
        <p:grpSpPr>
          <a:xfrm>
            <a:off x="326977" y="917244"/>
            <a:ext cx="3153413" cy="394721"/>
            <a:chOff x="287221" y="917244"/>
            <a:chExt cx="3707825" cy="500394"/>
          </a:xfrm>
        </p:grpSpPr>
        <p:sp>
          <p:nvSpPr>
            <p:cNvPr id="8" name="Rectángulo redondeado 7">
              <a:extLst>
                <a:ext uri="{FF2B5EF4-FFF2-40B4-BE49-F238E27FC236}">
                  <a16:creationId xmlns:a16="http://schemas.microsoft.com/office/drawing/2014/main" id="{897A47F6-0EA4-0843-B4AC-3BA2EEDDC3ED}"/>
                </a:ext>
              </a:extLst>
            </p:cNvPr>
            <p:cNvSpPr/>
            <p:nvPr/>
          </p:nvSpPr>
          <p:spPr>
            <a:xfrm>
              <a:off x="503237" y="917244"/>
              <a:ext cx="3491809" cy="500394"/>
            </a:xfrm>
            <a:prstGeom prst="roundRect">
              <a:avLst>
                <a:gd name="adj" fmla="val 24841"/>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762" algn="ctr">
                <a:buSzPts val="1600"/>
                <a:tabLst>
                  <a:tab pos="569913" algn="l"/>
                </a:tabLst>
              </a:pPr>
              <a:r>
                <a:rPr lang="es-PE" b="1" dirty="0">
                  <a:solidFill>
                    <a:schemeClr val="lt1"/>
                  </a:solidFill>
                  <a:latin typeface="Calibri" charset="0"/>
                  <a:cs typeface="Calibri" charset="0"/>
                  <a:sym typeface="Calibri"/>
                </a:rPr>
                <a:t>4. </a:t>
              </a:r>
              <a:r>
                <a:rPr lang="es-PE" b="1" dirty="0">
                  <a:solidFill>
                    <a:schemeClr val="lt1"/>
                  </a:solidFill>
                  <a:latin typeface="Calibri" charset="0"/>
                  <a:ea typeface="+mn-ea"/>
                  <a:cs typeface="Calibri" charset="0"/>
                  <a:sym typeface="Calibri"/>
                </a:rPr>
                <a:t>VERIFICACIÓN Y VALIDACIÓN</a:t>
              </a:r>
            </a:p>
          </p:txBody>
        </p:sp>
        <p:grpSp>
          <p:nvGrpSpPr>
            <p:cNvPr id="9" name="Agrupar 14">
              <a:extLst>
                <a:ext uri="{FF2B5EF4-FFF2-40B4-BE49-F238E27FC236}">
                  <a16:creationId xmlns:a16="http://schemas.microsoft.com/office/drawing/2014/main" id="{20417D74-9EBF-D94F-93A4-FF5EC1CB7FB1}"/>
                </a:ext>
              </a:extLst>
            </p:cNvPr>
            <p:cNvGrpSpPr/>
            <p:nvPr/>
          </p:nvGrpSpPr>
          <p:grpSpPr>
            <a:xfrm>
              <a:off x="287221" y="965530"/>
              <a:ext cx="459474" cy="403823"/>
              <a:chOff x="5892512" y="2805541"/>
              <a:chExt cx="459474" cy="403823"/>
            </a:xfrm>
          </p:grpSpPr>
          <p:sp>
            <p:nvSpPr>
              <p:cNvPr id="10" name="Elipse 9">
                <a:extLst>
                  <a:ext uri="{FF2B5EF4-FFF2-40B4-BE49-F238E27FC236}">
                    <a16:creationId xmlns:a16="http://schemas.microsoft.com/office/drawing/2014/main" id="{B55511C8-9DC6-DA4C-B3DF-412B58415300}"/>
                  </a:ext>
                </a:extLst>
              </p:cNvPr>
              <p:cNvSpPr/>
              <p:nvPr/>
            </p:nvSpPr>
            <p:spPr>
              <a:xfrm>
                <a:off x="5956277" y="2824919"/>
                <a:ext cx="395709" cy="376075"/>
              </a:xfrm>
              <a:prstGeom prst="ellipse">
                <a:avLst/>
              </a:prstGeom>
              <a:solidFill>
                <a:srgbClr val="0792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1" name="Elipse 10">
                <a:extLst>
                  <a:ext uri="{FF2B5EF4-FFF2-40B4-BE49-F238E27FC236}">
                    <a16:creationId xmlns:a16="http://schemas.microsoft.com/office/drawing/2014/main" id="{5B6BDBA5-8DD5-3C48-876C-8DEE71F58159}"/>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2" name="Triángulo 11">
                <a:extLst>
                  <a:ext uri="{FF2B5EF4-FFF2-40B4-BE49-F238E27FC236}">
                    <a16:creationId xmlns:a16="http://schemas.microsoft.com/office/drawing/2014/main" id="{9D49585F-548F-7246-ABE1-AD52D36B17E5}"/>
                  </a:ext>
                </a:extLst>
              </p:cNvPr>
              <p:cNvSpPr/>
              <p:nvPr/>
            </p:nvSpPr>
            <p:spPr>
              <a:xfrm rot="5400000">
                <a:off x="6076285" y="2946262"/>
                <a:ext cx="186870" cy="122381"/>
              </a:xfrm>
              <a:prstGeom prst="triangle">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sp>
        <p:nvSpPr>
          <p:cNvPr id="13" name="Rectángulo redondeado 12">
            <a:extLst>
              <a:ext uri="{FF2B5EF4-FFF2-40B4-BE49-F238E27FC236}">
                <a16:creationId xmlns:a16="http://schemas.microsoft.com/office/drawing/2014/main" id="{4FC0BDB5-80E9-0044-B5C3-1A0C70161C0F}"/>
              </a:ext>
            </a:extLst>
          </p:cNvPr>
          <p:cNvSpPr/>
          <p:nvPr/>
        </p:nvSpPr>
        <p:spPr>
          <a:xfrm>
            <a:off x="4614830" y="1638278"/>
            <a:ext cx="1973019" cy="3348589"/>
          </a:xfrm>
          <a:prstGeom prst="roundRect">
            <a:avLst>
              <a:gd name="adj" fmla="val 6436"/>
            </a:avLst>
          </a:prstGeom>
          <a:solidFill>
            <a:srgbClr val="8FC53F"/>
          </a:solidFill>
          <a:ln>
            <a:noFill/>
          </a:ln>
        </p:spPr>
        <p:style>
          <a:lnRef idx="2">
            <a:schemeClr val="accent1">
              <a:shade val="50000"/>
            </a:schemeClr>
          </a:lnRef>
          <a:fillRef idx="1">
            <a:schemeClr val="accent1"/>
          </a:fillRef>
          <a:effectRef idx="0">
            <a:schemeClr val="accent1"/>
          </a:effectRef>
          <a:fontRef idx="minor">
            <a:schemeClr val="lt1"/>
          </a:fontRef>
        </p:style>
        <p:txBody>
          <a:bodyPr lIns="251999" tIns="144000" rIns="0" rtlCol="0" anchor="t"/>
          <a:lstStyle/>
          <a:p>
            <a:pPr marL="4763" indent="0" defTabSz="666750">
              <a:lnSpc>
                <a:spcPct val="90000"/>
              </a:lnSpc>
              <a:spcAft>
                <a:spcPts val="1200"/>
              </a:spcAft>
              <a:buClr>
                <a:schemeClr val="bg1"/>
              </a:buClr>
              <a:buFont typeface="Arial"/>
              <a:buNone/>
            </a:pPr>
            <a:r>
              <a:rPr lang="es-PE" b="1" dirty="0">
                <a:solidFill>
                  <a:schemeClr val="bg1"/>
                </a:solidFill>
                <a:latin typeface="Calibri" charset="0"/>
                <a:cs typeface="Calibri" charset="0"/>
                <a:sym typeface="Calibri"/>
              </a:rPr>
              <a:t>VALIDACIÓN</a:t>
            </a:r>
            <a:endParaRPr lang="es-PE" b="1" dirty="0">
              <a:solidFill>
                <a:schemeClr val="bg1"/>
              </a:solidFill>
              <a:latin typeface="Calibri" charset="0"/>
              <a:cs typeface="Calibri" charset="0"/>
            </a:endParaRPr>
          </a:p>
          <a:p>
            <a:pPr marL="138113" indent="-133350" defTabSz="577850">
              <a:buClr>
                <a:schemeClr val="bg1"/>
              </a:buClr>
              <a:buSzPct val="100000"/>
              <a:buFont typeface="Arial" panose="020B0604020202020204" pitchFamily="34" charset="0"/>
              <a:buChar char="•"/>
            </a:pPr>
            <a:r>
              <a:rPr lang="es-PE" dirty="0">
                <a:solidFill>
                  <a:schemeClr val="bg1"/>
                </a:solidFill>
                <a:latin typeface="Calibri" charset="0"/>
                <a:cs typeface="Calibri" charset="0"/>
                <a:sym typeface="Calibri"/>
              </a:rPr>
              <a:t>Comprobación de </a:t>
            </a:r>
            <a:br>
              <a:rPr lang="es-PE" dirty="0">
                <a:solidFill>
                  <a:schemeClr val="bg1"/>
                </a:solidFill>
                <a:latin typeface="Calibri" charset="0"/>
                <a:cs typeface="Calibri" charset="0"/>
                <a:sym typeface="Calibri"/>
              </a:rPr>
            </a:br>
            <a:r>
              <a:rPr lang="es-PE" dirty="0">
                <a:solidFill>
                  <a:schemeClr val="bg1"/>
                </a:solidFill>
                <a:latin typeface="Calibri" charset="0"/>
                <a:cs typeface="Calibri" charset="0"/>
                <a:sym typeface="Calibri"/>
              </a:rPr>
              <a:t>la idoneidad para </a:t>
            </a:r>
            <a:br>
              <a:rPr lang="es-PE" dirty="0">
                <a:solidFill>
                  <a:schemeClr val="bg1"/>
                </a:solidFill>
                <a:latin typeface="Calibri" charset="0"/>
                <a:cs typeface="Calibri" charset="0"/>
                <a:sym typeface="Calibri"/>
              </a:rPr>
            </a:br>
            <a:r>
              <a:rPr lang="es-PE" dirty="0">
                <a:solidFill>
                  <a:schemeClr val="bg1"/>
                </a:solidFill>
                <a:latin typeface="Calibri" charset="0"/>
                <a:cs typeface="Calibri" charset="0"/>
                <a:sym typeface="Calibri"/>
              </a:rPr>
              <a:t>el uso esperado</a:t>
            </a:r>
            <a:endParaRPr lang="es-PE" dirty="0">
              <a:solidFill>
                <a:schemeClr val="bg1"/>
              </a:solidFill>
              <a:latin typeface="Calibri" charset="0"/>
              <a:cs typeface="Calibri" charset="0"/>
            </a:endParaRPr>
          </a:p>
          <a:p>
            <a:pPr marL="138113" indent="-133350" defTabSz="577850">
              <a:buClr>
                <a:schemeClr val="bg1"/>
              </a:buClr>
              <a:buSzPct val="100000"/>
              <a:buFont typeface="Arial" panose="020B0604020202020204" pitchFamily="34" charset="0"/>
              <a:buChar char="•"/>
            </a:pPr>
            <a:r>
              <a:rPr lang="es-PE" dirty="0">
                <a:solidFill>
                  <a:schemeClr val="bg1"/>
                </a:solidFill>
                <a:latin typeface="Calibri" charset="0"/>
                <a:cs typeface="Calibri" charset="0"/>
                <a:sym typeface="Calibri"/>
              </a:rPr>
              <a:t>Cuestión clave: ¿Hemos construido el sistema de software correcto?</a:t>
            </a:r>
            <a:endParaRPr lang="es-PE" dirty="0">
              <a:solidFill>
                <a:schemeClr val="bg1"/>
              </a:solidFill>
              <a:latin typeface="Calibri" charset="0"/>
              <a:cs typeface="Calibri" charset="0"/>
            </a:endParaRPr>
          </a:p>
          <a:p>
            <a:pPr marL="138113" indent="-133350" defTabSz="577850">
              <a:buClr>
                <a:schemeClr val="bg1"/>
              </a:buClr>
              <a:buSzPct val="100000"/>
              <a:buFont typeface="Arial" panose="020B0604020202020204" pitchFamily="34" charset="0"/>
              <a:buChar char="•"/>
            </a:pPr>
            <a:r>
              <a:rPr lang="es-PE" b="1" dirty="0">
                <a:solidFill>
                  <a:schemeClr val="bg1"/>
                </a:solidFill>
                <a:latin typeface="Calibri" charset="0"/>
                <a:cs typeface="Calibri" charset="0"/>
                <a:sym typeface="Calibri"/>
              </a:rPr>
              <a:t>¿El objetivo era sumar 1 más 1 o deberíamos haber restado?</a:t>
            </a:r>
            <a:endParaRPr lang="es-PE" b="1" dirty="0">
              <a:solidFill>
                <a:schemeClr val="bg1"/>
              </a:solidFill>
              <a:latin typeface="Calibri" charset="0"/>
              <a:cs typeface="Calibri" charset="0"/>
            </a:endParaRPr>
          </a:p>
        </p:txBody>
      </p:sp>
      <p:sp>
        <p:nvSpPr>
          <p:cNvPr id="14" name="Elipse 13">
            <a:extLst>
              <a:ext uri="{FF2B5EF4-FFF2-40B4-BE49-F238E27FC236}">
                <a16:creationId xmlns:a16="http://schemas.microsoft.com/office/drawing/2014/main" id="{BB62CCDF-43F7-1941-9F93-1BCC63862EEF}"/>
              </a:ext>
            </a:extLst>
          </p:cNvPr>
          <p:cNvSpPr/>
          <p:nvPr/>
        </p:nvSpPr>
        <p:spPr>
          <a:xfrm>
            <a:off x="4461017" y="3084656"/>
            <a:ext cx="395709" cy="376075"/>
          </a:xfrm>
          <a:prstGeom prst="ellipse">
            <a:avLst/>
          </a:prstGeom>
          <a:solidFill>
            <a:srgbClr val="658E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5" name="Elipse 14">
            <a:extLst>
              <a:ext uri="{FF2B5EF4-FFF2-40B4-BE49-F238E27FC236}">
                <a16:creationId xmlns:a16="http://schemas.microsoft.com/office/drawing/2014/main" id="{BDB80402-1DCB-E342-BFEB-3E505E25C61B}"/>
              </a:ext>
            </a:extLst>
          </p:cNvPr>
          <p:cNvSpPr/>
          <p:nvPr/>
        </p:nvSpPr>
        <p:spPr>
          <a:xfrm>
            <a:off x="4397252" y="3070782"/>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6" name="Triángulo 15">
            <a:extLst>
              <a:ext uri="{FF2B5EF4-FFF2-40B4-BE49-F238E27FC236}">
                <a16:creationId xmlns:a16="http://schemas.microsoft.com/office/drawing/2014/main" id="{B4E00D80-B7A5-D94A-85AB-5CE5DF2B39D8}"/>
              </a:ext>
            </a:extLst>
          </p:cNvPr>
          <p:cNvSpPr/>
          <p:nvPr/>
        </p:nvSpPr>
        <p:spPr>
          <a:xfrm rot="5400000">
            <a:off x="4581024" y="3211503"/>
            <a:ext cx="186870" cy="122381"/>
          </a:xfrm>
          <a:prstGeom prst="triangle">
            <a:avLst/>
          </a:prstGeom>
          <a:solidFill>
            <a:srgbClr val="8FC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7" name="Rectángulo redondeado 16">
            <a:extLst>
              <a:ext uri="{FF2B5EF4-FFF2-40B4-BE49-F238E27FC236}">
                <a16:creationId xmlns:a16="http://schemas.microsoft.com/office/drawing/2014/main" id="{17FF5516-ED3D-5648-986F-F118FEF0B8B3}"/>
              </a:ext>
            </a:extLst>
          </p:cNvPr>
          <p:cNvSpPr/>
          <p:nvPr/>
        </p:nvSpPr>
        <p:spPr>
          <a:xfrm>
            <a:off x="2553146" y="1638278"/>
            <a:ext cx="1973019" cy="3348589"/>
          </a:xfrm>
          <a:prstGeom prst="roundRect">
            <a:avLst>
              <a:gd name="adj" fmla="val 6436"/>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lIns="251999" tIns="144000" rIns="0" rtlCol="0" anchor="t"/>
          <a:lstStyle/>
          <a:p>
            <a:pPr marL="4763" indent="0" defTabSz="666750">
              <a:lnSpc>
                <a:spcPct val="90000"/>
              </a:lnSpc>
              <a:spcAft>
                <a:spcPts val="1200"/>
              </a:spcAft>
              <a:buClr>
                <a:schemeClr val="bg1"/>
              </a:buClr>
              <a:buFont typeface="Arial"/>
              <a:buNone/>
            </a:pPr>
            <a:r>
              <a:rPr lang="es-PE" b="1" dirty="0">
                <a:solidFill>
                  <a:schemeClr val="bg1"/>
                </a:solidFill>
                <a:latin typeface="Calibri" charset="0"/>
                <a:cs typeface="Calibri" charset="0"/>
                <a:sym typeface="Calibri"/>
              </a:rPr>
              <a:t>VERIFICACIÓN</a:t>
            </a:r>
            <a:endParaRPr lang="es-PE" b="1" dirty="0">
              <a:solidFill>
                <a:schemeClr val="bg1"/>
              </a:solidFill>
              <a:latin typeface="Calibri" charset="0"/>
              <a:cs typeface="Calibri" charset="0"/>
            </a:endParaRPr>
          </a:p>
          <a:p>
            <a:pPr marL="138113" indent="-133350" defTabSz="577850">
              <a:buClr>
                <a:schemeClr val="bg1"/>
              </a:buClr>
              <a:buSzPct val="100000"/>
              <a:buFont typeface="Arial" panose="020B0604020202020204" pitchFamily="34" charset="0"/>
              <a:buChar char="•"/>
            </a:pPr>
            <a:r>
              <a:rPr lang="es-PE" dirty="0">
                <a:solidFill>
                  <a:schemeClr val="bg1"/>
                </a:solidFill>
                <a:latin typeface="Calibri" charset="0"/>
                <a:cs typeface="Calibri" charset="0"/>
                <a:sym typeface="Calibri"/>
              </a:rPr>
              <a:t>Comprobación de la conformidad con los requisitos establecidos.</a:t>
            </a:r>
            <a:endParaRPr lang="es-PE" dirty="0">
              <a:solidFill>
                <a:schemeClr val="bg1"/>
              </a:solidFill>
              <a:latin typeface="Calibri" charset="0"/>
              <a:cs typeface="Calibri" charset="0"/>
            </a:endParaRPr>
          </a:p>
          <a:p>
            <a:pPr marL="138113" indent="-133350" defTabSz="577850">
              <a:buClr>
                <a:schemeClr val="bg1"/>
              </a:buClr>
              <a:buSzPct val="100000"/>
              <a:buFont typeface="Arial" panose="020B0604020202020204" pitchFamily="34" charset="0"/>
              <a:buChar char="•"/>
            </a:pPr>
            <a:r>
              <a:rPr lang="es-PE" dirty="0">
                <a:solidFill>
                  <a:schemeClr val="bg1"/>
                </a:solidFill>
                <a:latin typeface="Calibri" charset="0"/>
                <a:cs typeface="Calibri" charset="0"/>
                <a:sym typeface="Calibri"/>
              </a:rPr>
              <a:t>Cuestión clave: ¿Se ha procedido correctamente en </a:t>
            </a:r>
            <a:br>
              <a:rPr lang="es-PE" dirty="0">
                <a:solidFill>
                  <a:schemeClr val="bg1"/>
                </a:solidFill>
                <a:latin typeface="Calibri" charset="0"/>
                <a:cs typeface="Calibri" charset="0"/>
                <a:sym typeface="Calibri"/>
              </a:rPr>
            </a:br>
            <a:r>
              <a:rPr lang="es-PE" dirty="0">
                <a:solidFill>
                  <a:schemeClr val="bg1"/>
                </a:solidFill>
                <a:latin typeface="Calibri" charset="0"/>
                <a:cs typeface="Calibri" charset="0"/>
                <a:sym typeface="Calibri"/>
              </a:rPr>
              <a:t>la construcción del sistema?</a:t>
            </a:r>
            <a:endParaRPr lang="es-PE" dirty="0">
              <a:solidFill>
                <a:schemeClr val="bg1"/>
              </a:solidFill>
              <a:latin typeface="Calibri" charset="0"/>
              <a:cs typeface="Calibri" charset="0"/>
            </a:endParaRPr>
          </a:p>
          <a:p>
            <a:pPr marL="138113" indent="-133350" defTabSz="577850">
              <a:buClr>
                <a:schemeClr val="bg1"/>
              </a:buClr>
              <a:buSzPct val="100000"/>
              <a:buFont typeface="Arial" panose="020B0604020202020204" pitchFamily="34" charset="0"/>
              <a:buChar char="•"/>
            </a:pPr>
            <a:r>
              <a:rPr lang="es-PE" b="1" dirty="0">
                <a:solidFill>
                  <a:schemeClr val="bg1"/>
                </a:solidFill>
                <a:latin typeface="Calibri" charset="0"/>
                <a:cs typeface="Calibri" charset="0"/>
                <a:sym typeface="Calibri"/>
              </a:rPr>
              <a:t>¿Hemos sumado </a:t>
            </a:r>
            <a:br>
              <a:rPr lang="es-PE" b="1" dirty="0">
                <a:solidFill>
                  <a:schemeClr val="bg1"/>
                </a:solidFill>
                <a:latin typeface="Calibri" charset="0"/>
                <a:cs typeface="Calibri" charset="0"/>
                <a:sym typeface="Calibri"/>
              </a:rPr>
            </a:br>
            <a:r>
              <a:rPr lang="es-PE" b="1" dirty="0">
                <a:solidFill>
                  <a:schemeClr val="bg1"/>
                </a:solidFill>
                <a:latin typeface="Calibri" charset="0"/>
                <a:cs typeface="Calibri" charset="0"/>
                <a:sym typeface="Calibri"/>
              </a:rPr>
              <a:t>1 más 1 correctamente?</a:t>
            </a:r>
            <a:endParaRPr lang="es-PE" b="1" dirty="0">
              <a:solidFill>
                <a:schemeClr val="bg1"/>
              </a:solidFill>
              <a:latin typeface="Calibri" charset="0"/>
              <a:cs typeface="Calibri" charset="0"/>
            </a:endParaRPr>
          </a:p>
        </p:txBody>
      </p:sp>
      <p:sp>
        <p:nvSpPr>
          <p:cNvPr id="18" name="Elipse 17">
            <a:extLst>
              <a:ext uri="{FF2B5EF4-FFF2-40B4-BE49-F238E27FC236}">
                <a16:creationId xmlns:a16="http://schemas.microsoft.com/office/drawing/2014/main" id="{16656507-9BCA-004A-8159-582E87D5C93F}"/>
              </a:ext>
            </a:extLst>
          </p:cNvPr>
          <p:cNvSpPr/>
          <p:nvPr/>
        </p:nvSpPr>
        <p:spPr>
          <a:xfrm>
            <a:off x="2403718" y="3084656"/>
            <a:ext cx="395709" cy="376075"/>
          </a:xfrm>
          <a:prstGeom prst="ellipse">
            <a:avLst/>
          </a:prstGeom>
          <a:solidFill>
            <a:srgbClr val="C73A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9" name="Elipse 18">
            <a:extLst>
              <a:ext uri="{FF2B5EF4-FFF2-40B4-BE49-F238E27FC236}">
                <a16:creationId xmlns:a16="http://schemas.microsoft.com/office/drawing/2014/main" id="{2750F9D6-561C-514F-BC75-745DFAFFD68B}"/>
              </a:ext>
            </a:extLst>
          </p:cNvPr>
          <p:cNvSpPr/>
          <p:nvPr/>
        </p:nvSpPr>
        <p:spPr>
          <a:xfrm>
            <a:off x="2339952" y="3070782"/>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20" name="Triángulo 19">
            <a:extLst>
              <a:ext uri="{FF2B5EF4-FFF2-40B4-BE49-F238E27FC236}">
                <a16:creationId xmlns:a16="http://schemas.microsoft.com/office/drawing/2014/main" id="{D09446B4-365F-F84E-BC7C-65C7B0ACBA48}"/>
              </a:ext>
            </a:extLst>
          </p:cNvPr>
          <p:cNvSpPr/>
          <p:nvPr/>
        </p:nvSpPr>
        <p:spPr>
          <a:xfrm rot="5400000">
            <a:off x="2523725" y="3211503"/>
            <a:ext cx="186870" cy="122381"/>
          </a:xfrm>
          <a:prstGeom prst="triangle">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5" name="Google Shape;245;p17"/>
          <p:cNvSpPr/>
          <p:nvPr/>
        </p:nvSpPr>
        <p:spPr>
          <a:xfrm>
            <a:off x="442800" y="1013070"/>
            <a:ext cx="8232888" cy="24622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600" b="1" dirty="0">
                <a:solidFill>
                  <a:schemeClr val="dk1"/>
                </a:solidFill>
                <a:latin typeface="Calibri"/>
                <a:ea typeface="Calibri"/>
                <a:cs typeface="Calibri"/>
                <a:sym typeface="Calibri"/>
              </a:rPr>
              <a:t>PRUEBAS A LO LARGO DEL MODELO-V</a:t>
            </a:r>
            <a:endParaRPr dirty="0"/>
          </a:p>
        </p:txBody>
      </p:sp>
      <p:cxnSp>
        <p:nvCxnSpPr>
          <p:cNvPr id="247" name="Google Shape;247;p17"/>
          <p:cNvCxnSpPr/>
          <p:nvPr/>
        </p:nvCxnSpPr>
        <p:spPr>
          <a:xfrm flipH="1">
            <a:off x="4933570" y="1787484"/>
            <a:ext cx="2697636" cy="2333099"/>
          </a:xfrm>
          <a:prstGeom prst="straightConnector1">
            <a:avLst/>
          </a:prstGeom>
          <a:noFill/>
          <a:ln w="44450" cap="flat" cmpd="sng">
            <a:solidFill>
              <a:srgbClr val="00B1C2"/>
            </a:solidFill>
            <a:prstDash val="solid"/>
            <a:round/>
            <a:headEnd type="none" w="sm" len="sm"/>
            <a:tailEnd type="triangle" w="med" len="med"/>
          </a:ln>
        </p:spPr>
      </p:cxnSp>
      <p:sp>
        <p:nvSpPr>
          <p:cNvPr id="248" name="Google Shape;248;p17"/>
          <p:cNvSpPr/>
          <p:nvPr/>
        </p:nvSpPr>
        <p:spPr>
          <a:xfrm>
            <a:off x="6038214" y="1599318"/>
            <a:ext cx="2408968" cy="401933"/>
          </a:xfrm>
          <a:prstGeom prst="roundRect">
            <a:avLst>
              <a:gd name="adj" fmla="val 16667"/>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500">
                <a:solidFill>
                  <a:schemeClr val="lt1"/>
                </a:solidFill>
                <a:latin typeface="Calibri"/>
                <a:ea typeface="Calibri"/>
                <a:cs typeface="Calibri"/>
                <a:sym typeface="Calibri"/>
              </a:rPr>
              <a:t>Pruebas de Aceptación</a:t>
            </a:r>
            <a:endParaRPr sz="1500"/>
          </a:p>
        </p:txBody>
      </p:sp>
      <p:sp>
        <p:nvSpPr>
          <p:cNvPr id="249" name="Google Shape;249;p17"/>
          <p:cNvSpPr/>
          <p:nvPr/>
        </p:nvSpPr>
        <p:spPr>
          <a:xfrm>
            <a:off x="5672481" y="2215019"/>
            <a:ext cx="2601250" cy="401933"/>
          </a:xfrm>
          <a:prstGeom prst="roundRect">
            <a:avLst>
              <a:gd name="adj" fmla="val 16667"/>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500">
                <a:solidFill>
                  <a:schemeClr val="lt1"/>
                </a:solidFill>
                <a:latin typeface="Calibri"/>
                <a:ea typeface="Calibri"/>
                <a:cs typeface="Calibri"/>
                <a:sym typeface="Calibri"/>
              </a:rPr>
              <a:t>Pruebas de Sistema</a:t>
            </a:r>
            <a:endParaRPr sz="1500"/>
          </a:p>
        </p:txBody>
      </p:sp>
      <p:sp>
        <p:nvSpPr>
          <p:cNvPr id="250" name="Google Shape;250;p17"/>
          <p:cNvSpPr/>
          <p:nvPr/>
        </p:nvSpPr>
        <p:spPr>
          <a:xfrm>
            <a:off x="5432730" y="2821068"/>
            <a:ext cx="2639778" cy="401933"/>
          </a:xfrm>
          <a:prstGeom prst="roundRect">
            <a:avLst>
              <a:gd name="adj" fmla="val 16667"/>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500">
                <a:solidFill>
                  <a:schemeClr val="lt1"/>
                </a:solidFill>
                <a:latin typeface="Calibri"/>
                <a:ea typeface="Calibri"/>
                <a:cs typeface="Calibri"/>
                <a:sym typeface="Calibri"/>
              </a:rPr>
              <a:t>Pruebas de Integración</a:t>
            </a:r>
            <a:endParaRPr sz="1500"/>
          </a:p>
        </p:txBody>
      </p:sp>
      <p:sp>
        <p:nvSpPr>
          <p:cNvPr id="251" name="Google Shape;251;p17"/>
          <p:cNvSpPr/>
          <p:nvPr/>
        </p:nvSpPr>
        <p:spPr>
          <a:xfrm>
            <a:off x="4954357" y="3438343"/>
            <a:ext cx="2691737" cy="401933"/>
          </a:xfrm>
          <a:prstGeom prst="roundRect">
            <a:avLst>
              <a:gd name="adj" fmla="val 16667"/>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500">
                <a:solidFill>
                  <a:schemeClr val="lt1"/>
                </a:solidFill>
                <a:latin typeface="Calibri"/>
                <a:ea typeface="Calibri"/>
                <a:cs typeface="Calibri"/>
                <a:sym typeface="Calibri"/>
              </a:rPr>
              <a:t>Pruebas de Componentes</a:t>
            </a:r>
            <a:endParaRPr sz="1500"/>
          </a:p>
        </p:txBody>
      </p:sp>
      <p:sp>
        <p:nvSpPr>
          <p:cNvPr id="252" name="Google Shape;252;p17"/>
          <p:cNvSpPr/>
          <p:nvPr/>
        </p:nvSpPr>
        <p:spPr>
          <a:xfrm>
            <a:off x="3437381" y="4187819"/>
            <a:ext cx="2408968" cy="401933"/>
          </a:xfrm>
          <a:prstGeom prst="roundRect">
            <a:avLst>
              <a:gd name="adj" fmla="val 16667"/>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500">
                <a:solidFill>
                  <a:schemeClr val="lt1"/>
                </a:solidFill>
                <a:latin typeface="Calibri"/>
                <a:ea typeface="Calibri"/>
                <a:cs typeface="Calibri"/>
                <a:sym typeface="Calibri"/>
              </a:rPr>
              <a:t>PROGRAMACIÓN</a:t>
            </a:r>
            <a:endParaRPr sz="1500"/>
          </a:p>
        </p:txBody>
      </p:sp>
      <p:cxnSp>
        <p:nvCxnSpPr>
          <p:cNvPr id="253" name="Google Shape;253;p17"/>
          <p:cNvCxnSpPr/>
          <p:nvPr/>
        </p:nvCxnSpPr>
        <p:spPr>
          <a:xfrm>
            <a:off x="1813602" y="1787484"/>
            <a:ext cx="2710717" cy="2333099"/>
          </a:xfrm>
          <a:prstGeom prst="straightConnector1">
            <a:avLst/>
          </a:prstGeom>
          <a:noFill/>
          <a:ln w="44450" cap="flat" cmpd="sng">
            <a:solidFill>
              <a:srgbClr val="00B1C2"/>
            </a:solidFill>
            <a:prstDash val="solid"/>
            <a:round/>
            <a:headEnd type="none" w="sm" len="sm"/>
            <a:tailEnd type="triangle" w="med" len="med"/>
          </a:ln>
        </p:spPr>
      </p:cxnSp>
      <p:sp>
        <p:nvSpPr>
          <p:cNvPr id="254" name="Google Shape;254;p17"/>
          <p:cNvSpPr/>
          <p:nvPr/>
        </p:nvSpPr>
        <p:spPr>
          <a:xfrm>
            <a:off x="997626" y="2215019"/>
            <a:ext cx="2627666" cy="401933"/>
          </a:xfrm>
          <a:prstGeom prst="roundRect">
            <a:avLst>
              <a:gd name="adj" fmla="val 16667"/>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500">
                <a:solidFill>
                  <a:schemeClr val="lt1"/>
                </a:solidFill>
                <a:latin typeface="Calibri"/>
                <a:ea typeface="Calibri"/>
                <a:cs typeface="Calibri"/>
                <a:sym typeface="Calibri"/>
              </a:rPr>
              <a:t>Diseño Funcional del Sistema</a:t>
            </a:r>
            <a:endParaRPr sz="1500"/>
          </a:p>
        </p:txBody>
      </p:sp>
      <p:sp>
        <p:nvSpPr>
          <p:cNvPr id="255" name="Google Shape;255;p17"/>
          <p:cNvSpPr/>
          <p:nvPr/>
        </p:nvSpPr>
        <p:spPr>
          <a:xfrm>
            <a:off x="1409368" y="2821068"/>
            <a:ext cx="2477148" cy="401933"/>
          </a:xfrm>
          <a:prstGeom prst="roundRect">
            <a:avLst>
              <a:gd name="adj" fmla="val 16667"/>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500">
                <a:solidFill>
                  <a:schemeClr val="lt1"/>
                </a:solidFill>
                <a:latin typeface="Calibri"/>
                <a:ea typeface="Calibri"/>
                <a:cs typeface="Calibri"/>
                <a:sym typeface="Calibri"/>
              </a:rPr>
              <a:t>Diseño Técnico del Sistema</a:t>
            </a:r>
            <a:endParaRPr sz="1500"/>
          </a:p>
        </p:txBody>
      </p:sp>
      <p:sp>
        <p:nvSpPr>
          <p:cNvPr id="256" name="Google Shape;256;p17"/>
          <p:cNvSpPr/>
          <p:nvPr/>
        </p:nvSpPr>
        <p:spPr>
          <a:xfrm>
            <a:off x="1715209" y="3438343"/>
            <a:ext cx="2834914" cy="401933"/>
          </a:xfrm>
          <a:prstGeom prst="roundRect">
            <a:avLst>
              <a:gd name="adj" fmla="val 16667"/>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500">
                <a:solidFill>
                  <a:schemeClr val="lt1"/>
                </a:solidFill>
                <a:latin typeface="Calibri"/>
                <a:ea typeface="Calibri"/>
                <a:cs typeface="Calibri"/>
                <a:sym typeface="Calibri"/>
              </a:rPr>
              <a:t>Especificación de Componentes</a:t>
            </a:r>
            <a:endParaRPr sz="1500"/>
          </a:p>
        </p:txBody>
      </p:sp>
      <p:sp>
        <p:nvSpPr>
          <p:cNvPr id="257" name="Google Shape;257;p17"/>
          <p:cNvSpPr/>
          <p:nvPr/>
        </p:nvSpPr>
        <p:spPr>
          <a:xfrm>
            <a:off x="691244" y="1592276"/>
            <a:ext cx="2408968" cy="401933"/>
          </a:xfrm>
          <a:prstGeom prst="roundRect">
            <a:avLst>
              <a:gd name="adj" fmla="val 16667"/>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500">
                <a:solidFill>
                  <a:schemeClr val="lt1"/>
                </a:solidFill>
                <a:latin typeface="Calibri"/>
                <a:ea typeface="Calibri"/>
                <a:cs typeface="Calibri"/>
                <a:sym typeface="Calibri"/>
              </a:rPr>
              <a:t>Definición de Requisitos</a:t>
            </a:r>
            <a:endParaRPr sz="1500"/>
          </a:p>
        </p:txBody>
      </p:sp>
      <p:sp>
        <p:nvSpPr>
          <p:cNvPr id="258" name="Google Shape;258;p17"/>
          <p:cNvSpPr/>
          <p:nvPr/>
        </p:nvSpPr>
        <p:spPr>
          <a:xfrm>
            <a:off x="521167" y="4088556"/>
            <a:ext cx="1733950" cy="498598"/>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None/>
            </a:pPr>
            <a:r>
              <a:rPr lang="es-PE" sz="1800" b="1" dirty="0">
                <a:solidFill>
                  <a:srgbClr val="EE4639"/>
                </a:solidFill>
                <a:latin typeface="Calibri"/>
                <a:ea typeface="Calibri"/>
                <a:cs typeface="Calibri"/>
                <a:sym typeface="Calibri"/>
              </a:rPr>
              <a:t>COMPROBAR </a:t>
            </a:r>
            <a:endParaRPr dirty="0">
              <a:solidFill>
                <a:srgbClr val="EE4639"/>
              </a:solidFill>
            </a:endParaRPr>
          </a:p>
          <a:p>
            <a:pPr marL="0" marR="0" lvl="0" indent="0" algn="ctr" rtl="0">
              <a:lnSpc>
                <a:spcPct val="90000"/>
              </a:lnSpc>
              <a:spcBef>
                <a:spcPts val="0"/>
              </a:spcBef>
              <a:spcAft>
                <a:spcPts val="0"/>
              </a:spcAft>
              <a:buNone/>
            </a:pPr>
            <a:r>
              <a:rPr lang="es-PE" sz="1800" b="1" dirty="0">
                <a:solidFill>
                  <a:srgbClr val="EE4639"/>
                </a:solidFill>
                <a:latin typeface="Calibri"/>
                <a:ea typeface="Calibri"/>
                <a:cs typeface="Calibri"/>
                <a:sym typeface="Calibri"/>
              </a:rPr>
              <a:t>LA EVIDENCIA</a:t>
            </a:r>
            <a:endParaRPr dirty="0">
              <a:solidFill>
                <a:srgbClr val="EE4639"/>
              </a:solidFill>
            </a:endParaRPr>
          </a:p>
        </p:txBody>
      </p:sp>
      <p:sp>
        <p:nvSpPr>
          <p:cNvPr id="259" name="Google Shape;259;p17"/>
          <p:cNvSpPr/>
          <p:nvPr/>
        </p:nvSpPr>
        <p:spPr>
          <a:xfrm>
            <a:off x="6843195" y="4106074"/>
            <a:ext cx="1832493" cy="2000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300" dirty="0">
                <a:solidFill>
                  <a:schemeClr val="dk1"/>
                </a:solidFill>
                <a:latin typeface="Calibri"/>
                <a:ea typeface="Calibri"/>
                <a:cs typeface="Calibri"/>
                <a:sym typeface="Calibri"/>
              </a:rPr>
              <a:t>Desarrollo e Integración</a:t>
            </a:r>
            <a:endParaRPr sz="1300" dirty="0"/>
          </a:p>
        </p:txBody>
      </p:sp>
      <p:sp>
        <p:nvSpPr>
          <p:cNvPr id="260" name="Google Shape;260;p17"/>
          <p:cNvSpPr/>
          <p:nvPr/>
        </p:nvSpPr>
        <p:spPr>
          <a:xfrm>
            <a:off x="6843195" y="4444038"/>
            <a:ext cx="1319889" cy="2000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300" dirty="0">
                <a:solidFill>
                  <a:schemeClr val="dk1"/>
                </a:solidFill>
                <a:latin typeface="Calibri"/>
                <a:ea typeface="Calibri"/>
                <a:cs typeface="Calibri"/>
                <a:sym typeface="Calibri"/>
              </a:rPr>
              <a:t>Verificación</a:t>
            </a:r>
            <a:endParaRPr sz="1300" dirty="0"/>
          </a:p>
        </p:txBody>
      </p:sp>
      <p:sp>
        <p:nvSpPr>
          <p:cNvPr id="261" name="Google Shape;261;p17"/>
          <p:cNvSpPr/>
          <p:nvPr/>
        </p:nvSpPr>
        <p:spPr>
          <a:xfrm>
            <a:off x="6234473" y="4127316"/>
            <a:ext cx="518146" cy="204357"/>
          </a:xfrm>
          <a:prstGeom prst="rightArrow">
            <a:avLst>
              <a:gd name="adj1" fmla="val 50000"/>
              <a:gd name="adj2" fmla="val 50000"/>
            </a:avLst>
          </a:prstGeom>
          <a:solidFill>
            <a:srgbClr val="00B1C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2" name="Google Shape;262;p17"/>
          <p:cNvSpPr/>
          <p:nvPr/>
        </p:nvSpPr>
        <p:spPr>
          <a:xfrm>
            <a:off x="6234473" y="4435953"/>
            <a:ext cx="518146" cy="204357"/>
          </a:xfrm>
          <a:prstGeom prst="rightArrow">
            <a:avLst>
              <a:gd name="adj1" fmla="val 50000"/>
              <a:gd name="adj2" fmla="val 50000"/>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 name="Rectangle 5">
            <a:extLst>
              <a:ext uri="{FF2B5EF4-FFF2-40B4-BE49-F238E27FC236}">
                <a16:creationId xmlns:a16="http://schemas.microsoft.com/office/drawing/2014/main" id="{62B27634-1C19-4149-91C9-00F5BBCE34D5}"/>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CALIDAD DEL SOFTWARE</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2" name="Forma libre 1">
            <a:extLst>
              <a:ext uri="{FF2B5EF4-FFF2-40B4-BE49-F238E27FC236}">
                <a16:creationId xmlns:a16="http://schemas.microsoft.com/office/drawing/2014/main" id="{B38D481B-1C98-3648-A1F7-003AAE01A6C4}"/>
              </a:ext>
            </a:extLst>
          </p:cNvPr>
          <p:cNvSpPr/>
          <p:nvPr/>
        </p:nvSpPr>
        <p:spPr>
          <a:xfrm>
            <a:off x="3192819" y="4120583"/>
            <a:ext cx="171629" cy="326065"/>
          </a:xfrm>
          <a:custGeom>
            <a:avLst/>
            <a:gdLst>
              <a:gd name="connsiteX0" fmla="*/ 0 w 290623"/>
              <a:gd name="connsiteY0" fmla="*/ 0 h 326065"/>
              <a:gd name="connsiteX1" fmla="*/ 0 w 290623"/>
              <a:gd name="connsiteY1" fmla="*/ 326065 h 326065"/>
              <a:gd name="connsiteX2" fmla="*/ 290623 w 290623"/>
              <a:gd name="connsiteY2" fmla="*/ 326065 h 326065"/>
            </a:gdLst>
            <a:ahLst/>
            <a:cxnLst>
              <a:cxn ang="0">
                <a:pos x="connsiteX0" y="connsiteY0"/>
              </a:cxn>
              <a:cxn ang="0">
                <a:pos x="connsiteX1" y="connsiteY1"/>
              </a:cxn>
              <a:cxn ang="0">
                <a:pos x="connsiteX2" y="connsiteY2"/>
              </a:cxn>
            </a:cxnLst>
            <a:rect l="l" t="t" r="r" b="b"/>
            <a:pathLst>
              <a:path w="290623" h="326065">
                <a:moveTo>
                  <a:pt x="0" y="0"/>
                </a:moveTo>
                <a:lnTo>
                  <a:pt x="0" y="326065"/>
                </a:lnTo>
                <a:lnTo>
                  <a:pt x="290623" y="326065"/>
                </a:lnTo>
              </a:path>
            </a:pathLst>
          </a:custGeom>
          <a:noFill/>
          <a:ln w="28575">
            <a:solidFill>
              <a:srgbClr val="EE4639"/>
            </a:solidFill>
            <a:head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7" name="Forma libre 26">
            <a:extLst>
              <a:ext uri="{FF2B5EF4-FFF2-40B4-BE49-F238E27FC236}">
                <a16:creationId xmlns:a16="http://schemas.microsoft.com/office/drawing/2014/main" id="{B63B061C-F4E0-5441-A984-A30162F40A8B}"/>
              </a:ext>
            </a:extLst>
          </p:cNvPr>
          <p:cNvSpPr/>
          <p:nvPr/>
        </p:nvSpPr>
        <p:spPr>
          <a:xfrm>
            <a:off x="1477433" y="3355039"/>
            <a:ext cx="171629" cy="326065"/>
          </a:xfrm>
          <a:custGeom>
            <a:avLst/>
            <a:gdLst>
              <a:gd name="connsiteX0" fmla="*/ 0 w 290623"/>
              <a:gd name="connsiteY0" fmla="*/ 0 h 326065"/>
              <a:gd name="connsiteX1" fmla="*/ 0 w 290623"/>
              <a:gd name="connsiteY1" fmla="*/ 326065 h 326065"/>
              <a:gd name="connsiteX2" fmla="*/ 290623 w 290623"/>
              <a:gd name="connsiteY2" fmla="*/ 326065 h 326065"/>
            </a:gdLst>
            <a:ahLst/>
            <a:cxnLst>
              <a:cxn ang="0">
                <a:pos x="connsiteX0" y="connsiteY0"/>
              </a:cxn>
              <a:cxn ang="0">
                <a:pos x="connsiteX1" y="connsiteY1"/>
              </a:cxn>
              <a:cxn ang="0">
                <a:pos x="connsiteX2" y="connsiteY2"/>
              </a:cxn>
            </a:cxnLst>
            <a:rect l="l" t="t" r="r" b="b"/>
            <a:pathLst>
              <a:path w="290623" h="326065">
                <a:moveTo>
                  <a:pt x="0" y="0"/>
                </a:moveTo>
                <a:lnTo>
                  <a:pt x="0" y="326065"/>
                </a:lnTo>
                <a:lnTo>
                  <a:pt x="290623" y="326065"/>
                </a:lnTo>
              </a:path>
            </a:pathLst>
          </a:custGeom>
          <a:noFill/>
          <a:ln w="28575">
            <a:solidFill>
              <a:srgbClr val="EE4639"/>
            </a:solidFill>
            <a:head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8" name="Forma libre 27">
            <a:extLst>
              <a:ext uri="{FF2B5EF4-FFF2-40B4-BE49-F238E27FC236}">
                <a16:creationId xmlns:a16="http://schemas.microsoft.com/office/drawing/2014/main" id="{3D8C96EF-7418-8B4F-9108-C6833AD1243C}"/>
              </a:ext>
            </a:extLst>
          </p:cNvPr>
          <p:cNvSpPr/>
          <p:nvPr/>
        </p:nvSpPr>
        <p:spPr>
          <a:xfrm>
            <a:off x="1155469" y="2727545"/>
            <a:ext cx="171629" cy="326065"/>
          </a:xfrm>
          <a:custGeom>
            <a:avLst/>
            <a:gdLst>
              <a:gd name="connsiteX0" fmla="*/ 0 w 290623"/>
              <a:gd name="connsiteY0" fmla="*/ 0 h 326065"/>
              <a:gd name="connsiteX1" fmla="*/ 0 w 290623"/>
              <a:gd name="connsiteY1" fmla="*/ 326065 h 326065"/>
              <a:gd name="connsiteX2" fmla="*/ 290623 w 290623"/>
              <a:gd name="connsiteY2" fmla="*/ 326065 h 326065"/>
            </a:gdLst>
            <a:ahLst/>
            <a:cxnLst>
              <a:cxn ang="0">
                <a:pos x="connsiteX0" y="connsiteY0"/>
              </a:cxn>
              <a:cxn ang="0">
                <a:pos x="connsiteX1" y="connsiteY1"/>
              </a:cxn>
              <a:cxn ang="0">
                <a:pos x="connsiteX2" y="connsiteY2"/>
              </a:cxn>
            </a:cxnLst>
            <a:rect l="l" t="t" r="r" b="b"/>
            <a:pathLst>
              <a:path w="290623" h="326065">
                <a:moveTo>
                  <a:pt x="0" y="0"/>
                </a:moveTo>
                <a:lnTo>
                  <a:pt x="0" y="326065"/>
                </a:lnTo>
                <a:lnTo>
                  <a:pt x="290623" y="326065"/>
                </a:lnTo>
              </a:path>
            </a:pathLst>
          </a:custGeom>
          <a:noFill/>
          <a:ln w="28575">
            <a:solidFill>
              <a:srgbClr val="EE4639"/>
            </a:solidFill>
            <a:head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9" name="Forma libre 28">
            <a:extLst>
              <a:ext uri="{FF2B5EF4-FFF2-40B4-BE49-F238E27FC236}">
                <a16:creationId xmlns:a16="http://schemas.microsoft.com/office/drawing/2014/main" id="{D6FB4D22-92E3-CF43-B7AC-1967C895FEA9}"/>
              </a:ext>
            </a:extLst>
          </p:cNvPr>
          <p:cNvSpPr/>
          <p:nvPr/>
        </p:nvSpPr>
        <p:spPr>
          <a:xfrm>
            <a:off x="747329" y="2114574"/>
            <a:ext cx="171629" cy="326065"/>
          </a:xfrm>
          <a:custGeom>
            <a:avLst/>
            <a:gdLst>
              <a:gd name="connsiteX0" fmla="*/ 0 w 290623"/>
              <a:gd name="connsiteY0" fmla="*/ 0 h 326065"/>
              <a:gd name="connsiteX1" fmla="*/ 0 w 290623"/>
              <a:gd name="connsiteY1" fmla="*/ 326065 h 326065"/>
              <a:gd name="connsiteX2" fmla="*/ 290623 w 290623"/>
              <a:gd name="connsiteY2" fmla="*/ 326065 h 326065"/>
            </a:gdLst>
            <a:ahLst/>
            <a:cxnLst>
              <a:cxn ang="0">
                <a:pos x="connsiteX0" y="connsiteY0"/>
              </a:cxn>
              <a:cxn ang="0">
                <a:pos x="connsiteX1" y="connsiteY1"/>
              </a:cxn>
              <a:cxn ang="0">
                <a:pos x="connsiteX2" y="connsiteY2"/>
              </a:cxn>
            </a:cxnLst>
            <a:rect l="l" t="t" r="r" b="b"/>
            <a:pathLst>
              <a:path w="290623" h="326065">
                <a:moveTo>
                  <a:pt x="0" y="0"/>
                </a:moveTo>
                <a:lnTo>
                  <a:pt x="0" y="326065"/>
                </a:lnTo>
                <a:lnTo>
                  <a:pt x="290623" y="326065"/>
                </a:lnTo>
              </a:path>
            </a:pathLst>
          </a:custGeom>
          <a:noFill/>
          <a:ln w="28575">
            <a:solidFill>
              <a:srgbClr val="EE4639"/>
            </a:solidFill>
            <a:head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cxnSp>
        <p:nvCxnSpPr>
          <p:cNvPr id="60" name="Conector recto de flecha 59">
            <a:extLst>
              <a:ext uri="{FF2B5EF4-FFF2-40B4-BE49-F238E27FC236}">
                <a16:creationId xmlns:a16="http://schemas.microsoft.com/office/drawing/2014/main" id="{385957C1-6311-4D47-BF4F-CAF663EBFFEA}"/>
              </a:ext>
            </a:extLst>
          </p:cNvPr>
          <p:cNvCxnSpPr>
            <a:cxnSpLocks/>
          </p:cNvCxnSpPr>
          <p:nvPr/>
        </p:nvCxnSpPr>
        <p:spPr>
          <a:xfrm flipH="1">
            <a:off x="3913824" y="3005934"/>
            <a:ext cx="1664725" cy="0"/>
          </a:xfrm>
          <a:prstGeom prst="straightConnector1">
            <a:avLst/>
          </a:prstGeom>
          <a:ln w="57150">
            <a:solidFill>
              <a:srgbClr val="92C14E"/>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ector recto de flecha 56">
            <a:extLst>
              <a:ext uri="{FF2B5EF4-FFF2-40B4-BE49-F238E27FC236}">
                <a16:creationId xmlns:a16="http://schemas.microsoft.com/office/drawing/2014/main" id="{40887539-02EF-FB40-9AC2-578C42E55532}"/>
              </a:ext>
            </a:extLst>
          </p:cNvPr>
          <p:cNvCxnSpPr>
            <a:cxnSpLocks/>
          </p:cNvCxnSpPr>
          <p:nvPr/>
        </p:nvCxnSpPr>
        <p:spPr>
          <a:xfrm flipH="1">
            <a:off x="3701172" y="2410510"/>
            <a:ext cx="2001553" cy="1"/>
          </a:xfrm>
          <a:prstGeom prst="straightConnector1">
            <a:avLst/>
          </a:prstGeom>
          <a:ln w="57150">
            <a:solidFill>
              <a:srgbClr val="92C14E"/>
            </a:solidFill>
            <a:tailEnd type="triangle"/>
          </a:ln>
        </p:spPr>
        <p:style>
          <a:lnRef idx="1">
            <a:schemeClr val="accent1"/>
          </a:lnRef>
          <a:fillRef idx="0">
            <a:schemeClr val="accent1"/>
          </a:fillRef>
          <a:effectRef idx="0">
            <a:schemeClr val="accent1"/>
          </a:effectRef>
          <a:fontRef idx="minor">
            <a:schemeClr val="tx1"/>
          </a:fontRef>
        </p:style>
      </p:cxnSp>
      <p:sp>
        <p:nvSpPr>
          <p:cNvPr id="31" name="Rectangle 5">
            <a:extLst>
              <a:ext uri="{FF2B5EF4-FFF2-40B4-BE49-F238E27FC236}">
                <a16:creationId xmlns:a16="http://schemas.microsoft.com/office/drawing/2014/main" id="{66F810F6-B997-1047-A8AE-39FE29A66CE0}"/>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CALIDAD DEL SOFTWARE</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32" name="Google Shape;245;p17">
            <a:extLst>
              <a:ext uri="{FF2B5EF4-FFF2-40B4-BE49-F238E27FC236}">
                <a16:creationId xmlns:a16="http://schemas.microsoft.com/office/drawing/2014/main" id="{E2518407-B905-4041-BDD5-FD2CBCAC703D}"/>
              </a:ext>
            </a:extLst>
          </p:cNvPr>
          <p:cNvSpPr/>
          <p:nvPr/>
        </p:nvSpPr>
        <p:spPr>
          <a:xfrm>
            <a:off x="442800" y="1013070"/>
            <a:ext cx="8232888" cy="24622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600" b="1" dirty="0">
                <a:solidFill>
                  <a:schemeClr val="dk1"/>
                </a:solidFill>
                <a:latin typeface="Calibri"/>
                <a:ea typeface="Calibri"/>
                <a:cs typeface="Calibri"/>
                <a:sym typeface="Calibri"/>
              </a:rPr>
              <a:t>PRUEBAS A LO LARGO DEL MODELO-V</a:t>
            </a:r>
            <a:endParaRPr dirty="0"/>
          </a:p>
        </p:txBody>
      </p:sp>
      <p:cxnSp>
        <p:nvCxnSpPr>
          <p:cNvPr id="33" name="Google Shape;247;p17">
            <a:extLst>
              <a:ext uri="{FF2B5EF4-FFF2-40B4-BE49-F238E27FC236}">
                <a16:creationId xmlns:a16="http://schemas.microsoft.com/office/drawing/2014/main" id="{A37BACF0-82E7-774C-8929-C36B7A54FA8D}"/>
              </a:ext>
            </a:extLst>
          </p:cNvPr>
          <p:cNvCxnSpPr/>
          <p:nvPr/>
        </p:nvCxnSpPr>
        <p:spPr>
          <a:xfrm flipH="1">
            <a:off x="4933570" y="1787484"/>
            <a:ext cx="2697636" cy="2333099"/>
          </a:xfrm>
          <a:prstGeom prst="straightConnector1">
            <a:avLst/>
          </a:prstGeom>
          <a:noFill/>
          <a:ln w="44450" cap="flat" cmpd="sng">
            <a:solidFill>
              <a:srgbClr val="00B1C2"/>
            </a:solidFill>
            <a:prstDash val="solid"/>
            <a:round/>
            <a:headEnd type="none" w="sm" len="sm"/>
            <a:tailEnd type="triangle" w="med" len="med"/>
          </a:ln>
        </p:spPr>
      </p:cxnSp>
      <p:sp>
        <p:nvSpPr>
          <p:cNvPr id="34" name="Google Shape;248;p17">
            <a:extLst>
              <a:ext uri="{FF2B5EF4-FFF2-40B4-BE49-F238E27FC236}">
                <a16:creationId xmlns:a16="http://schemas.microsoft.com/office/drawing/2014/main" id="{155326FD-11E9-5049-9181-08EC91564002}"/>
              </a:ext>
            </a:extLst>
          </p:cNvPr>
          <p:cNvSpPr/>
          <p:nvPr/>
        </p:nvSpPr>
        <p:spPr>
          <a:xfrm>
            <a:off x="6038214" y="1599318"/>
            <a:ext cx="2408968" cy="401933"/>
          </a:xfrm>
          <a:prstGeom prst="roundRect">
            <a:avLst>
              <a:gd name="adj" fmla="val 16667"/>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500">
                <a:solidFill>
                  <a:schemeClr val="lt1"/>
                </a:solidFill>
                <a:latin typeface="Calibri"/>
                <a:ea typeface="Calibri"/>
                <a:cs typeface="Calibri"/>
                <a:sym typeface="Calibri"/>
              </a:rPr>
              <a:t>Pruebas de Aceptación</a:t>
            </a:r>
            <a:endParaRPr sz="1500"/>
          </a:p>
        </p:txBody>
      </p:sp>
      <p:sp>
        <p:nvSpPr>
          <p:cNvPr id="35" name="Google Shape;249;p17">
            <a:extLst>
              <a:ext uri="{FF2B5EF4-FFF2-40B4-BE49-F238E27FC236}">
                <a16:creationId xmlns:a16="http://schemas.microsoft.com/office/drawing/2014/main" id="{9F0163FB-700B-1748-B9FD-E9DF54545983}"/>
              </a:ext>
            </a:extLst>
          </p:cNvPr>
          <p:cNvSpPr/>
          <p:nvPr/>
        </p:nvSpPr>
        <p:spPr>
          <a:xfrm>
            <a:off x="5672481" y="2215019"/>
            <a:ext cx="2601250" cy="401933"/>
          </a:xfrm>
          <a:prstGeom prst="roundRect">
            <a:avLst>
              <a:gd name="adj" fmla="val 16667"/>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500">
                <a:solidFill>
                  <a:schemeClr val="lt1"/>
                </a:solidFill>
                <a:latin typeface="Calibri"/>
                <a:ea typeface="Calibri"/>
                <a:cs typeface="Calibri"/>
                <a:sym typeface="Calibri"/>
              </a:rPr>
              <a:t>Pruebas de Sistema</a:t>
            </a:r>
            <a:endParaRPr sz="1500"/>
          </a:p>
        </p:txBody>
      </p:sp>
      <p:sp>
        <p:nvSpPr>
          <p:cNvPr id="36" name="Google Shape;250;p17">
            <a:extLst>
              <a:ext uri="{FF2B5EF4-FFF2-40B4-BE49-F238E27FC236}">
                <a16:creationId xmlns:a16="http://schemas.microsoft.com/office/drawing/2014/main" id="{442EA12E-3507-6A4E-8D5A-E15FAA3B0E6C}"/>
              </a:ext>
            </a:extLst>
          </p:cNvPr>
          <p:cNvSpPr/>
          <p:nvPr/>
        </p:nvSpPr>
        <p:spPr>
          <a:xfrm>
            <a:off x="5432730" y="2821068"/>
            <a:ext cx="2639778" cy="401933"/>
          </a:xfrm>
          <a:prstGeom prst="roundRect">
            <a:avLst>
              <a:gd name="adj" fmla="val 16667"/>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500">
                <a:solidFill>
                  <a:schemeClr val="lt1"/>
                </a:solidFill>
                <a:latin typeface="Calibri"/>
                <a:ea typeface="Calibri"/>
                <a:cs typeface="Calibri"/>
                <a:sym typeface="Calibri"/>
              </a:rPr>
              <a:t>Pruebas de Integración</a:t>
            </a:r>
            <a:endParaRPr sz="1500"/>
          </a:p>
        </p:txBody>
      </p:sp>
      <p:sp>
        <p:nvSpPr>
          <p:cNvPr id="37" name="Google Shape;251;p17">
            <a:extLst>
              <a:ext uri="{FF2B5EF4-FFF2-40B4-BE49-F238E27FC236}">
                <a16:creationId xmlns:a16="http://schemas.microsoft.com/office/drawing/2014/main" id="{9E1134EE-2404-5E44-85AD-5D27D1CBC108}"/>
              </a:ext>
            </a:extLst>
          </p:cNvPr>
          <p:cNvSpPr/>
          <p:nvPr/>
        </p:nvSpPr>
        <p:spPr>
          <a:xfrm>
            <a:off x="4954357" y="3438343"/>
            <a:ext cx="2691737" cy="401933"/>
          </a:xfrm>
          <a:prstGeom prst="roundRect">
            <a:avLst>
              <a:gd name="adj" fmla="val 16667"/>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500">
                <a:solidFill>
                  <a:schemeClr val="lt1"/>
                </a:solidFill>
                <a:latin typeface="Calibri"/>
                <a:ea typeface="Calibri"/>
                <a:cs typeface="Calibri"/>
                <a:sym typeface="Calibri"/>
              </a:rPr>
              <a:t>Pruebas de Componentes</a:t>
            </a:r>
            <a:endParaRPr sz="1500"/>
          </a:p>
        </p:txBody>
      </p:sp>
      <p:sp>
        <p:nvSpPr>
          <p:cNvPr id="38" name="Google Shape;252;p17">
            <a:extLst>
              <a:ext uri="{FF2B5EF4-FFF2-40B4-BE49-F238E27FC236}">
                <a16:creationId xmlns:a16="http://schemas.microsoft.com/office/drawing/2014/main" id="{B8150831-A3DF-564F-959B-852151158262}"/>
              </a:ext>
            </a:extLst>
          </p:cNvPr>
          <p:cNvSpPr/>
          <p:nvPr/>
        </p:nvSpPr>
        <p:spPr>
          <a:xfrm>
            <a:off x="3437381" y="4187819"/>
            <a:ext cx="2408968" cy="401933"/>
          </a:xfrm>
          <a:prstGeom prst="roundRect">
            <a:avLst>
              <a:gd name="adj" fmla="val 16667"/>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500">
                <a:solidFill>
                  <a:schemeClr val="lt1"/>
                </a:solidFill>
                <a:latin typeface="Calibri"/>
                <a:ea typeface="Calibri"/>
                <a:cs typeface="Calibri"/>
                <a:sym typeface="Calibri"/>
              </a:rPr>
              <a:t>PROGRAMACIÓN</a:t>
            </a:r>
            <a:endParaRPr sz="1500"/>
          </a:p>
        </p:txBody>
      </p:sp>
      <p:cxnSp>
        <p:nvCxnSpPr>
          <p:cNvPr id="39" name="Google Shape;253;p17">
            <a:extLst>
              <a:ext uri="{FF2B5EF4-FFF2-40B4-BE49-F238E27FC236}">
                <a16:creationId xmlns:a16="http://schemas.microsoft.com/office/drawing/2014/main" id="{DA5389A3-C9AF-9943-B0D6-1A5AF036ABA8}"/>
              </a:ext>
            </a:extLst>
          </p:cNvPr>
          <p:cNvCxnSpPr/>
          <p:nvPr/>
        </p:nvCxnSpPr>
        <p:spPr>
          <a:xfrm>
            <a:off x="1813602" y="1787484"/>
            <a:ext cx="2710717" cy="2333099"/>
          </a:xfrm>
          <a:prstGeom prst="straightConnector1">
            <a:avLst/>
          </a:prstGeom>
          <a:noFill/>
          <a:ln w="44450" cap="flat" cmpd="sng">
            <a:solidFill>
              <a:srgbClr val="00B1C2"/>
            </a:solidFill>
            <a:prstDash val="solid"/>
            <a:round/>
            <a:headEnd type="none" w="sm" len="sm"/>
            <a:tailEnd type="triangle" w="med" len="med"/>
          </a:ln>
        </p:spPr>
      </p:cxnSp>
      <p:sp>
        <p:nvSpPr>
          <p:cNvPr id="40" name="Google Shape;254;p17">
            <a:extLst>
              <a:ext uri="{FF2B5EF4-FFF2-40B4-BE49-F238E27FC236}">
                <a16:creationId xmlns:a16="http://schemas.microsoft.com/office/drawing/2014/main" id="{3E4AB3C5-5017-DB4E-927D-DEC1C58C31F6}"/>
              </a:ext>
            </a:extLst>
          </p:cNvPr>
          <p:cNvSpPr/>
          <p:nvPr/>
        </p:nvSpPr>
        <p:spPr>
          <a:xfrm>
            <a:off x="997626" y="2215019"/>
            <a:ext cx="2627666" cy="401933"/>
          </a:xfrm>
          <a:prstGeom prst="roundRect">
            <a:avLst>
              <a:gd name="adj" fmla="val 16667"/>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500">
                <a:solidFill>
                  <a:schemeClr val="lt1"/>
                </a:solidFill>
                <a:latin typeface="Calibri"/>
                <a:ea typeface="Calibri"/>
                <a:cs typeface="Calibri"/>
                <a:sym typeface="Calibri"/>
              </a:rPr>
              <a:t>Diseño Funcional del Sistema</a:t>
            </a:r>
            <a:endParaRPr sz="1500"/>
          </a:p>
        </p:txBody>
      </p:sp>
      <p:sp>
        <p:nvSpPr>
          <p:cNvPr id="41" name="Google Shape;255;p17">
            <a:extLst>
              <a:ext uri="{FF2B5EF4-FFF2-40B4-BE49-F238E27FC236}">
                <a16:creationId xmlns:a16="http://schemas.microsoft.com/office/drawing/2014/main" id="{8100C9B8-7270-EB46-B1C3-3398A66D2BA6}"/>
              </a:ext>
            </a:extLst>
          </p:cNvPr>
          <p:cNvSpPr/>
          <p:nvPr/>
        </p:nvSpPr>
        <p:spPr>
          <a:xfrm>
            <a:off x="1409368" y="2821068"/>
            <a:ext cx="2477148" cy="401933"/>
          </a:xfrm>
          <a:prstGeom prst="roundRect">
            <a:avLst>
              <a:gd name="adj" fmla="val 16667"/>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500">
                <a:solidFill>
                  <a:schemeClr val="lt1"/>
                </a:solidFill>
                <a:latin typeface="Calibri"/>
                <a:ea typeface="Calibri"/>
                <a:cs typeface="Calibri"/>
                <a:sym typeface="Calibri"/>
              </a:rPr>
              <a:t>Diseño Técnico del Sistema</a:t>
            </a:r>
            <a:endParaRPr sz="1500"/>
          </a:p>
        </p:txBody>
      </p:sp>
      <p:sp>
        <p:nvSpPr>
          <p:cNvPr id="42" name="Google Shape;256;p17">
            <a:extLst>
              <a:ext uri="{FF2B5EF4-FFF2-40B4-BE49-F238E27FC236}">
                <a16:creationId xmlns:a16="http://schemas.microsoft.com/office/drawing/2014/main" id="{FC59B0D9-F046-6B47-BCEC-0BB4A00A3908}"/>
              </a:ext>
            </a:extLst>
          </p:cNvPr>
          <p:cNvSpPr/>
          <p:nvPr/>
        </p:nvSpPr>
        <p:spPr>
          <a:xfrm>
            <a:off x="1715209" y="3438343"/>
            <a:ext cx="2834914" cy="401933"/>
          </a:xfrm>
          <a:prstGeom prst="roundRect">
            <a:avLst>
              <a:gd name="adj" fmla="val 16667"/>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500">
                <a:solidFill>
                  <a:schemeClr val="lt1"/>
                </a:solidFill>
                <a:latin typeface="Calibri"/>
                <a:ea typeface="Calibri"/>
                <a:cs typeface="Calibri"/>
                <a:sym typeface="Calibri"/>
              </a:rPr>
              <a:t>Especificación de Componentes</a:t>
            </a:r>
            <a:endParaRPr sz="1500"/>
          </a:p>
        </p:txBody>
      </p:sp>
      <p:sp>
        <p:nvSpPr>
          <p:cNvPr id="43" name="Google Shape;257;p17">
            <a:extLst>
              <a:ext uri="{FF2B5EF4-FFF2-40B4-BE49-F238E27FC236}">
                <a16:creationId xmlns:a16="http://schemas.microsoft.com/office/drawing/2014/main" id="{8CF37AD2-9015-504E-9137-B3619F36D295}"/>
              </a:ext>
            </a:extLst>
          </p:cNvPr>
          <p:cNvSpPr/>
          <p:nvPr/>
        </p:nvSpPr>
        <p:spPr>
          <a:xfrm>
            <a:off x="691244" y="1592276"/>
            <a:ext cx="2408968" cy="401933"/>
          </a:xfrm>
          <a:prstGeom prst="roundRect">
            <a:avLst>
              <a:gd name="adj" fmla="val 16667"/>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500">
                <a:solidFill>
                  <a:schemeClr val="lt1"/>
                </a:solidFill>
                <a:latin typeface="Calibri"/>
                <a:ea typeface="Calibri"/>
                <a:cs typeface="Calibri"/>
                <a:sym typeface="Calibri"/>
              </a:rPr>
              <a:t>Definición de Requisitos</a:t>
            </a:r>
            <a:endParaRPr sz="1500"/>
          </a:p>
        </p:txBody>
      </p:sp>
      <p:sp>
        <p:nvSpPr>
          <p:cNvPr id="45" name="Google Shape;259;p17">
            <a:extLst>
              <a:ext uri="{FF2B5EF4-FFF2-40B4-BE49-F238E27FC236}">
                <a16:creationId xmlns:a16="http://schemas.microsoft.com/office/drawing/2014/main" id="{AEECE492-D2B0-E94D-BF17-BBC11D7DD35A}"/>
              </a:ext>
            </a:extLst>
          </p:cNvPr>
          <p:cNvSpPr/>
          <p:nvPr/>
        </p:nvSpPr>
        <p:spPr>
          <a:xfrm>
            <a:off x="6843195" y="4106074"/>
            <a:ext cx="1832493" cy="2000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300" dirty="0">
                <a:solidFill>
                  <a:schemeClr val="dk1"/>
                </a:solidFill>
                <a:latin typeface="Calibri"/>
                <a:ea typeface="Calibri"/>
                <a:cs typeface="Calibri"/>
                <a:sym typeface="Calibri"/>
              </a:rPr>
              <a:t>Desarrollo e Integración</a:t>
            </a:r>
            <a:endParaRPr sz="1300" dirty="0"/>
          </a:p>
        </p:txBody>
      </p:sp>
      <p:sp>
        <p:nvSpPr>
          <p:cNvPr id="46" name="Google Shape;260;p17">
            <a:extLst>
              <a:ext uri="{FF2B5EF4-FFF2-40B4-BE49-F238E27FC236}">
                <a16:creationId xmlns:a16="http://schemas.microsoft.com/office/drawing/2014/main" id="{B39D6344-D21A-3D41-B4E1-C41AA5CA2012}"/>
              </a:ext>
            </a:extLst>
          </p:cNvPr>
          <p:cNvSpPr/>
          <p:nvPr/>
        </p:nvSpPr>
        <p:spPr>
          <a:xfrm>
            <a:off x="6843195" y="4444038"/>
            <a:ext cx="1319889" cy="2000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300" dirty="0">
                <a:solidFill>
                  <a:schemeClr val="dk1"/>
                </a:solidFill>
                <a:latin typeface="Calibri"/>
                <a:ea typeface="Calibri"/>
                <a:cs typeface="Calibri"/>
                <a:sym typeface="Calibri"/>
              </a:rPr>
              <a:t>Verificación</a:t>
            </a:r>
            <a:endParaRPr sz="1300" dirty="0"/>
          </a:p>
        </p:txBody>
      </p:sp>
      <p:sp>
        <p:nvSpPr>
          <p:cNvPr id="47" name="Google Shape;261;p17">
            <a:extLst>
              <a:ext uri="{FF2B5EF4-FFF2-40B4-BE49-F238E27FC236}">
                <a16:creationId xmlns:a16="http://schemas.microsoft.com/office/drawing/2014/main" id="{AB0B4140-E496-F14C-92D7-4802B763C912}"/>
              </a:ext>
            </a:extLst>
          </p:cNvPr>
          <p:cNvSpPr/>
          <p:nvPr/>
        </p:nvSpPr>
        <p:spPr>
          <a:xfrm>
            <a:off x="6234473" y="4127316"/>
            <a:ext cx="518146" cy="204357"/>
          </a:xfrm>
          <a:prstGeom prst="rightArrow">
            <a:avLst>
              <a:gd name="adj1" fmla="val 50000"/>
              <a:gd name="adj2" fmla="val 50000"/>
            </a:avLst>
          </a:prstGeom>
          <a:solidFill>
            <a:srgbClr val="00B1C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 name="Google Shape;262;p17">
            <a:extLst>
              <a:ext uri="{FF2B5EF4-FFF2-40B4-BE49-F238E27FC236}">
                <a16:creationId xmlns:a16="http://schemas.microsoft.com/office/drawing/2014/main" id="{6808529D-2485-D04D-ABC0-14CE0C4E78E8}"/>
              </a:ext>
            </a:extLst>
          </p:cNvPr>
          <p:cNvSpPr/>
          <p:nvPr/>
        </p:nvSpPr>
        <p:spPr>
          <a:xfrm>
            <a:off x="6234473" y="4435953"/>
            <a:ext cx="518146" cy="204357"/>
          </a:xfrm>
          <a:prstGeom prst="rightArrow">
            <a:avLst>
              <a:gd name="adj1" fmla="val 50000"/>
              <a:gd name="adj2" fmla="val 50000"/>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 name="Forma libre 48">
            <a:extLst>
              <a:ext uri="{FF2B5EF4-FFF2-40B4-BE49-F238E27FC236}">
                <a16:creationId xmlns:a16="http://schemas.microsoft.com/office/drawing/2014/main" id="{EEE1CE79-B596-6C42-8B8C-62615D565178}"/>
              </a:ext>
            </a:extLst>
          </p:cNvPr>
          <p:cNvSpPr/>
          <p:nvPr/>
        </p:nvSpPr>
        <p:spPr>
          <a:xfrm>
            <a:off x="3192819" y="4120583"/>
            <a:ext cx="171629" cy="326065"/>
          </a:xfrm>
          <a:custGeom>
            <a:avLst/>
            <a:gdLst>
              <a:gd name="connsiteX0" fmla="*/ 0 w 290623"/>
              <a:gd name="connsiteY0" fmla="*/ 0 h 326065"/>
              <a:gd name="connsiteX1" fmla="*/ 0 w 290623"/>
              <a:gd name="connsiteY1" fmla="*/ 326065 h 326065"/>
              <a:gd name="connsiteX2" fmla="*/ 290623 w 290623"/>
              <a:gd name="connsiteY2" fmla="*/ 326065 h 326065"/>
            </a:gdLst>
            <a:ahLst/>
            <a:cxnLst>
              <a:cxn ang="0">
                <a:pos x="connsiteX0" y="connsiteY0"/>
              </a:cxn>
              <a:cxn ang="0">
                <a:pos x="connsiteX1" y="connsiteY1"/>
              </a:cxn>
              <a:cxn ang="0">
                <a:pos x="connsiteX2" y="connsiteY2"/>
              </a:cxn>
            </a:cxnLst>
            <a:rect l="l" t="t" r="r" b="b"/>
            <a:pathLst>
              <a:path w="290623" h="326065">
                <a:moveTo>
                  <a:pt x="0" y="0"/>
                </a:moveTo>
                <a:lnTo>
                  <a:pt x="0" y="326065"/>
                </a:lnTo>
                <a:lnTo>
                  <a:pt x="290623" y="326065"/>
                </a:lnTo>
              </a:path>
            </a:pathLst>
          </a:custGeom>
          <a:noFill/>
          <a:ln w="28575">
            <a:solidFill>
              <a:srgbClr val="EE4639"/>
            </a:solidFill>
            <a:head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50" name="Forma libre 49">
            <a:extLst>
              <a:ext uri="{FF2B5EF4-FFF2-40B4-BE49-F238E27FC236}">
                <a16:creationId xmlns:a16="http://schemas.microsoft.com/office/drawing/2014/main" id="{DE6D003F-F6CE-5F4A-B7BE-000EA115A33D}"/>
              </a:ext>
            </a:extLst>
          </p:cNvPr>
          <p:cNvSpPr/>
          <p:nvPr/>
        </p:nvSpPr>
        <p:spPr>
          <a:xfrm>
            <a:off x="1477433" y="3355039"/>
            <a:ext cx="171629" cy="326065"/>
          </a:xfrm>
          <a:custGeom>
            <a:avLst/>
            <a:gdLst>
              <a:gd name="connsiteX0" fmla="*/ 0 w 290623"/>
              <a:gd name="connsiteY0" fmla="*/ 0 h 326065"/>
              <a:gd name="connsiteX1" fmla="*/ 0 w 290623"/>
              <a:gd name="connsiteY1" fmla="*/ 326065 h 326065"/>
              <a:gd name="connsiteX2" fmla="*/ 290623 w 290623"/>
              <a:gd name="connsiteY2" fmla="*/ 326065 h 326065"/>
            </a:gdLst>
            <a:ahLst/>
            <a:cxnLst>
              <a:cxn ang="0">
                <a:pos x="connsiteX0" y="connsiteY0"/>
              </a:cxn>
              <a:cxn ang="0">
                <a:pos x="connsiteX1" y="connsiteY1"/>
              </a:cxn>
              <a:cxn ang="0">
                <a:pos x="connsiteX2" y="connsiteY2"/>
              </a:cxn>
            </a:cxnLst>
            <a:rect l="l" t="t" r="r" b="b"/>
            <a:pathLst>
              <a:path w="290623" h="326065">
                <a:moveTo>
                  <a:pt x="0" y="0"/>
                </a:moveTo>
                <a:lnTo>
                  <a:pt x="0" y="326065"/>
                </a:lnTo>
                <a:lnTo>
                  <a:pt x="290623" y="326065"/>
                </a:lnTo>
              </a:path>
            </a:pathLst>
          </a:custGeom>
          <a:noFill/>
          <a:ln w="28575">
            <a:solidFill>
              <a:srgbClr val="EE4639"/>
            </a:solidFill>
            <a:head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51" name="Forma libre 50">
            <a:extLst>
              <a:ext uri="{FF2B5EF4-FFF2-40B4-BE49-F238E27FC236}">
                <a16:creationId xmlns:a16="http://schemas.microsoft.com/office/drawing/2014/main" id="{C65B3F41-5C49-8F4B-960A-3ED338BA18C0}"/>
              </a:ext>
            </a:extLst>
          </p:cNvPr>
          <p:cNvSpPr/>
          <p:nvPr/>
        </p:nvSpPr>
        <p:spPr>
          <a:xfrm>
            <a:off x="1155469" y="2727545"/>
            <a:ext cx="171629" cy="326065"/>
          </a:xfrm>
          <a:custGeom>
            <a:avLst/>
            <a:gdLst>
              <a:gd name="connsiteX0" fmla="*/ 0 w 290623"/>
              <a:gd name="connsiteY0" fmla="*/ 0 h 326065"/>
              <a:gd name="connsiteX1" fmla="*/ 0 w 290623"/>
              <a:gd name="connsiteY1" fmla="*/ 326065 h 326065"/>
              <a:gd name="connsiteX2" fmla="*/ 290623 w 290623"/>
              <a:gd name="connsiteY2" fmla="*/ 326065 h 326065"/>
            </a:gdLst>
            <a:ahLst/>
            <a:cxnLst>
              <a:cxn ang="0">
                <a:pos x="connsiteX0" y="connsiteY0"/>
              </a:cxn>
              <a:cxn ang="0">
                <a:pos x="connsiteX1" y="connsiteY1"/>
              </a:cxn>
              <a:cxn ang="0">
                <a:pos x="connsiteX2" y="connsiteY2"/>
              </a:cxn>
            </a:cxnLst>
            <a:rect l="l" t="t" r="r" b="b"/>
            <a:pathLst>
              <a:path w="290623" h="326065">
                <a:moveTo>
                  <a:pt x="0" y="0"/>
                </a:moveTo>
                <a:lnTo>
                  <a:pt x="0" y="326065"/>
                </a:lnTo>
                <a:lnTo>
                  <a:pt x="290623" y="326065"/>
                </a:lnTo>
              </a:path>
            </a:pathLst>
          </a:custGeom>
          <a:noFill/>
          <a:ln w="28575">
            <a:solidFill>
              <a:srgbClr val="EE4639"/>
            </a:solidFill>
            <a:head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52" name="Forma libre 51">
            <a:extLst>
              <a:ext uri="{FF2B5EF4-FFF2-40B4-BE49-F238E27FC236}">
                <a16:creationId xmlns:a16="http://schemas.microsoft.com/office/drawing/2014/main" id="{1689D5BF-F690-264E-B953-C60998360557}"/>
              </a:ext>
            </a:extLst>
          </p:cNvPr>
          <p:cNvSpPr/>
          <p:nvPr/>
        </p:nvSpPr>
        <p:spPr>
          <a:xfrm>
            <a:off x="747329" y="2114574"/>
            <a:ext cx="171629" cy="326065"/>
          </a:xfrm>
          <a:custGeom>
            <a:avLst/>
            <a:gdLst>
              <a:gd name="connsiteX0" fmla="*/ 0 w 290623"/>
              <a:gd name="connsiteY0" fmla="*/ 0 h 326065"/>
              <a:gd name="connsiteX1" fmla="*/ 0 w 290623"/>
              <a:gd name="connsiteY1" fmla="*/ 326065 h 326065"/>
              <a:gd name="connsiteX2" fmla="*/ 290623 w 290623"/>
              <a:gd name="connsiteY2" fmla="*/ 326065 h 326065"/>
            </a:gdLst>
            <a:ahLst/>
            <a:cxnLst>
              <a:cxn ang="0">
                <a:pos x="connsiteX0" y="connsiteY0"/>
              </a:cxn>
              <a:cxn ang="0">
                <a:pos x="connsiteX1" y="connsiteY1"/>
              </a:cxn>
              <a:cxn ang="0">
                <a:pos x="connsiteX2" y="connsiteY2"/>
              </a:cxn>
            </a:cxnLst>
            <a:rect l="l" t="t" r="r" b="b"/>
            <a:pathLst>
              <a:path w="290623" h="326065">
                <a:moveTo>
                  <a:pt x="0" y="0"/>
                </a:moveTo>
                <a:lnTo>
                  <a:pt x="0" y="326065"/>
                </a:lnTo>
                <a:lnTo>
                  <a:pt x="290623" y="326065"/>
                </a:lnTo>
              </a:path>
            </a:pathLst>
          </a:custGeom>
          <a:noFill/>
          <a:ln w="28575">
            <a:solidFill>
              <a:srgbClr val="EE4639"/>
            </a:solidFill>
            <a:head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53" name="Google Shape;286;p18">
            <a:extLst>
              <a:ext uri="{FF2B5EF4-FFF2-40B4-BE49-F238E27FC236}">
                <a16:creationId xmlns:a16="http://schemas.microsoft.com/office/drawing/2014/main" id="{9228E160-6917-064E-BA50-2181DB65E084}"/>
              </a:ext>
            </a:extLst>
          </p:cNvPr>
          <p:cNvSpPr/>
          <p:nvPr/>
        </p:nvSpPr>
        <p:spPr>
          <a:xfrm>
            <a:off x="7461489" y="3435029"/>
            <a:ext cx="1458164" cy="443198"/>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None/>
            </a:pPr>
            <a:r>
              <a:rPr lang="es-PE" sz="1600" b="1" dirty="0">
                <a:solidFill>
                  <a:srgbClr val="92C14E"/>
                </a:solidFill>
                <a:latin typeface="Calibri"/>
                <a:ea typeface="Calibri"/>
                <a:cs typeface="Calibri"/>
                <a:sym typeface="Calibri"/>
              </a:rPr>
              <a:t>DE PRUEBA </a:t>
            </a:r>
            <a:br>
              <a:rPr lang="es-PE" sz="1600" b="1" dirty="0">
                <a:solidFill>
                  <a:srgbClr val="92C14E"/>
                </a:solidFill>
                <a:latin typeface="Calibri"/>
                <a:ea typeface="Calibri"/>
                <a:cs typeface="Calibri"/>
                <a:sym typeface="Calibri"/>
              </a:rPr>
            </a:br>
            <a:r>
              <a:rPr lang="es-PE" sz="1600" b="1" dirty="0">
                <a:solidFill>
                  <a:srgbClr val="92C14E"/>
                </a:solidFill>
                <a:latin typeface="Calibri"/>
                <a:ea typeface="Calibri"/>
                <a:cs typeface="Calibri"/>
                <a:sym typeface="Calibri"/>
              </a:rPr>
              <a:t>DE VALOR</a:t>
            </a:r>
            <a:endParaRPr sz="1600" dirty="0">
              <a:solidFill>
                <a:srgbClr val="92C14E"/>
              </a:solidFill>
            </a:endParaRPr>
          </a:p>
        </p:txBody>
      </p:sp>
      <p:cxnSp>
        <p:nvCxnSpPr>
          <p:cNvPr id="3" name="Conector recto de flecha 2">
            <a:extLst>
              <a:ext uri="{FF2B5EF4-FFF2-40B4-BE49-F238E27FC236}">
                <a16:creationId xmlns:a16="http://schemas.microsoft.com/office/drawing/2014/main" id="{AE524572-B0F1-0949-9206-343120FB0E18}"/>
              </a:ext>
            </a:extLst>
          </p:cNvPr>
          <p:cNvCxnSpPr>
            <a:cxnSpLocks/>
            <a:stCxn id="34" idx="1"/>
          </p:cNvCxnSpPr>
          <p:nvPr/>
        </p:nvCxnSpPr>
        <p:spPr>
          <a:xfrm flipH="1" flipV="1">
            <a:off x="3192820" y="1787485"/>
            <a:ext cx="2845394" cy="12800"/>
          </a:xfrm>
          <a:prstGeom prst="straightConnector1">
            <a:avLst/>
          </a:prstGeom>
          <a:ln w="57150">
            <a:solidFill>
              <a:srgbClr val="92C14E"/>
            </a:solidFill>
            <a:tailEnd type="triangle"/>
          </a:ln>
        </p:spPr>
        <p:style>
          <a:lnRef idx="1">
            <a:schemeClr val="accent1"/>
          </a:lnRef>
          <a:fillRef idx="0">
            <a:schemeClr val="accent1"/>
          </a:fillRef>
          <a:effectRef idx="0">
            <a:schemeClr val="accent1"/>
          </a:effectRef>
          <a:fontRef idx="minor">
            <a:schemeClr val="tx1"/>
          </a:fontRef>
        </p:style>
      </p:cxnSp>
      <p:cxnSp>
        <p:nvCxnSpPr>
          <p:cNvPr id="62" name="Conector recto de flecha 61">
            <a:extLst>
              <a:ext uri="{FF2B5EF4-FFF2-40B4-BE49-F238E27FC236}">
                <a16:creationId xmlns:a16="http://schemas.microsoft.com/office/drawing/2014/main" id="{584E6C17-28A8-9945-9B56-6ABE29D4A696}"/>
              </a:ext>
            </a:extLst>
          </p:cNvPr>
          <p:cNvCxnSpPr>
            <a:cxnSpLocks/>
          </p:cNvCxnSpPr>
          <p:nvPr/>
        </p:nvCxnSpPr>
        <p:spPr>
          <a:xfrm flipH="1">
            <a:off x="4402922" y="3639309"/>
            <a:ext cx="693618" cy="4578"/>
          </a:xfrm>
          <a:prstGeom prst="straightConnector1">
            <a:avLst/>
          </a:prstGeom>
          <a:ln w="57150">
            <a:solidFill>
              <a:srgbClr val="92C14E"/>
            </a:solidFill>
            <a:tailEnd type="triangle"/>
          </a:ln>
        </p:spPr>
        <p:style>
          <a:lnRef idx="1">
            <a:schemeClr val="accent1"/>
          </a:lnRef>
          <a:fillRef idx="0">
            <a:schemeClr val="accent1"/>
          </a:fillRef>
          <a:effectRef idx="0">
            <a:schemeClr val="accent1"/>
          </a:effectRef>
          <a:fontRef idx="minor">
            <a:schemeClr val="tx1"/>
          </a:fontRef>
        </p:style>
      </p:cxnSp>
      <p:sp>
        <p:nvSpPr>
          <p:cNvPr id="64" name="Google Shape;262;p17">
            <a:extLst>
              <a:ext uri="{FF2B5EF4-FFF2-40B4-BE49-F238E27FC236}">
                <a16:creationId xmlns:a16="http://schemas.microsoft.com/office/drawing/2014/main" id="{37A43D41-D769-D64D-80E8-355381EA9EC4}"/>
              </a:ext>
            </a:extLst>
          </p:cNvPr>
          <p:cNvSpPr/>
          <p:nvPr/>
        </p:nvSpPr>
        <p:spPr>
          <a:xfrm>
            <a:off x="6234473" y="4769107"/>
            <a:ext cx="518146" cy="204357"/>
          </a:xfrm>
          <a:prstGeom prst="rightArrow">
            <a:avLst>
              <a:gd name="adj1" fmla="val 50000"/>
              <a:gd name="adj2" fmla="val 50000"/>
            </a:avLst>
          </a:prstGeom>
          <a:solidFill>
            <a:srgbClr val="92C14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5" name="Google Shape;260;p17">
            <a:extLst>
              <a:ext uri="{FF2B5EF4-FFF2-40B4-BE49-F238E27FC236}">
                <a16:creationId xmlns:a16="http://schemas.microsoft.com/office/drawing/2014/main" id="{D5C1DC7D-1FC1-9341-96D9-0873AF5C1798}"/>
              </a:ext>
            </a:extLst>
          </p:cNvPr>
          <p:cNvSpPr/>
          <p:nvPr/>
        </p:nvSpPr>
        <p:spPr>
          <a:xfrm>
            <a:off x="6843195" y="4763015"/>
            <a:ext cx="1319889" cy="2000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300" dirty="0">
                <a:solidFill>
                  <a:schemeClr val="dk1"/>
                </a:solidFill>
                <a:latin typeface="Calibri"/>
                <a:ea typeface="Calibri"/>
                <a:cs typeface="Calibri"/>
                <a:sym typeface="Calibri"/>
              </a:rPr>
              <a:t>Validación</a:t>
            </a:r>
            <a:endParaRPr sz="13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cxnSp>
        <p:nvCxnSpPr>
          <p:cNvPr id="308" name="Google Shape;308;p19"/>
          <p:cNvCxnSpPr/>
          <p:nvPr/>
        </p:nvCxnSpPr>
        <p:spPr>
          <a:xfrm>
            <a:off x="2774819" y="2192979"/>
            <a:ext cx="1503680" cy="2220071"/>
          </a:xfrm>
          <a:prstGeom prst="straightConnector1">
            <a:avLst/>
          </a:prstGeom>
          <a:noFill/>
          <a:ln w="38100" cap="flat" cmpd="sng">
            <a:solidFill>
              <a:srgbClr val="808799"/>
            </a:solidFill>
            <a:prstDash val="solid"/>
            <a:round/>
            <a:headEnd type="none" w="sm" len="sm"/>
            <a:tailEnd type="triangle" w="med" len="med"/>
          </a:ln>
        </p:spPr>
      </p:cxnSp>
      <p:cxnSp>
        <p:nvCxnSpPr>
          <p:cNvPr id="309" name="Google Shape;309;p19"/>
          <p:cNvCxnSpPr/>
          <p:nvPr/>
        </p:nvCxnSpPr>
        <p:spPr>
          <a:xfrm rot="10800000" flipH="1">
            <a:off x="4945550" y="2284420"/>
            <a:ext cx="1310245" cy="2154251"/>
          </a:xfrm>
          <a:prstGeom prst="straightConnector1">
            <a:avLst/>
          </a:prstGeom>
          <a:noFill/>
          <a:ln w="38100" cap="flat" cmpd="sng">
            <a:solidFill>
              <a:srgbClr val="808799"/>
            </a:solidFill>
            <a:prstDash val="solid"/>
            <a:round/>
            <a:headEnd type="none" w="sm" len="sm"/>
            <a:tailEnd type="triangle" w="med" len="med"/>
          </a:ln>
        </p:spPr>
      </p:cxnSp>
      <p:cxnSp>
        <p:nvCxnSpPr>
          <p:cNvPr id="310" name="Google Shape;310;p19"/>
          <p:cNvCxnSpPr>
            <a:endCxn id="311" idx="2"/>
          </p:cNvCxnSpPr>
          <p:nvPr/>
        </p:nvCxnSpPr>
        <p:spPr>
          <a:xfrm rot="10800000" flipH="1">
            <a:off x="6586748" y="2284420"/>
            <a:ext cx="1310100" cy="2154300"/>
          </a:xfrm>
          <a:prstGeom prst="straightConnector1">
            <a:avLst/>
          </a:prstGeom>
          <a:noFill/>
          <a:ln w="38100" cap="flat" cmpd="sng">
            <a:solidFill>
              <a:srgbClr val="808799"/>
            </a:solidFill>
            <a:prstDash val="solid"/>
            <a:round/>
            <a:headEnd type="none" w="sm" len="sm"/>
            <a:tailEnd type="triangle" w="med" len="med"/>
          </a:ln>
        </p:spPr>
      </p:cxnSp>
      <p:cxnSp>
        <p:nvCxnSpPr>
          <p:cNvPr id="312" name="Google Shape;312;p19"/>
          <p:cNvCxnSpPr/>
          <p:nvPr/>
        </p:nvCxnSpPr>
        <p:spPr>
          <a:xfrm>
            <a:off x="1133038" y="2192979"/>
            <a:ext cx="1503680" cy="2220071"/>
          </a:xfrm>
          <a:prstGeom prst="straightConnector1">
            <a:avLst/>
          </a:prstGeom>
          <a:noFill/>
          <a:ln w="38100" cap="flat" cmpd="sng">
            <a:solidFill>
              <a:srgbClr val="808799"/>
            </a:solidFill>
            <a:prstDash val="solid"/>
            <a:round/>
            <a:headEnd type="none" w="sm" len="sm"/>
            <a:tailEnd type="triangle" w="med" len="med"/>
          </a:ln>
        </p:spPr>
      </p:cxnSp>
      <p:sp>
        <p:nvSpPr>
          <p:cNvPr id="313" name="Google Shape;313;p19"/>
          <p:cNvSpPr/>
          <p:nvPr/>
        </p:nvSpPr>
        <p:spPr>
          <a:xfrm>
            <a:off x="597491" y="1757065"/>
            <a:ext cx="1282109" cy="527355"/>
          </a:xfrm>
          <a:prstGeom prst="roundRect">
            <a:avLst>
              <a:gd name="adj" fmla="val 11391"/>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100">
                <a:solidFill>
                  <a:schemeClr val="lt1"/>
                </a:solidFill>
                <a:latin typeface="Calibri"/>
                <a:ea typeface="Calibri"/>
                <a:cs typeface="Calibri"/>
                <a:sym typeface="Calibri"/>
              </a:rPr>
              <a:t>Definición </a:t>
            </a:r>
            <a:endParaRPr sz="1100"/>
          </a:p>
          <a:p>
            <a:pPr marL="0" marR="0" lvl="0" indent="0" algn="ctr" rtl="0">
              <a:spcBef>
                <a:spcPts val="0"/>
              </a:spcBef>
              <a:spcAft>
                <a:spcPts val="0"/>
              </a:spcAft>
              <a:buNone/>
            </a:pPr>
            <a:r>
              <a:rPr lang="es-PE" sz="1100">
                <a:solidFill>
                  <a:schemeClr val="lt1"/>
                </a:solidFill>
                <a:latin typeface="Calibri"/>
                <a:ea typeface="Calibri"/>
                <a:cs typeface="Calibri"/>
                <a:sym typeface="Calibri"/>
              </a:rPr>
              <a:t>de Requisitos</a:t>
            </a:r>
            <a:endParaRPr sz="1100"/>
          </a:p>
        </p:txBody>
      </p:sp>
      <p:sp>
        <p:nvSpPr>
          <p:cNvPr id="314" name="Google Shape;314;p19"/>
          <p:cNvSpPr/>
          <p:nvPr/>
        </p:nvSpPr>
        <p:spPr>
          <a:xfrm>
            <a:off x="912451" y="2417465"/>
            <a:ext cx="1282109" cy="527355"/>
          </a:xfrm>
          <a:prstGeom prst="roundRect">
            <a:avLst>
              <a:gd name="adj" fmla="val 11391"/>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100">
                <a:solidFill>
                  <a:schemeClr val="lt1"/>
                </a:solidFill>
                <a:latin typeface="Calibri"/>
                <a:ea typeface="Calibri"/>
                <a:cs typeface="Calibri"/>
                <a:sym typeface="Calibri"/>
              </a:rPr>
              <a:t>Diseño Funcional del Sistema</a:t>
            </a:r>
            <a:endParaRPr sz="1100"/>
          </a:p>
        </p:txBody>
      </p:sp>
      <p:sp>
        <p:nvSpPr>
          <p:cNvPr id="315" name="Google Shape;315;p19"/>
          <p:cNvSpPr/>
          <p:nvPr/>
        </p:nvSpPr>
        <p:spPr>
          <a:xfrm>
            <a:off x="1238545" y="3077865"/>
            <a:ext cx="1282109" cy="527355"/>
          </a:xfrm>
          <a:prstGeom prst="roundRect">
            <a:avLst>
              <a:gd name="adj" fmla="val 11391"/>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100">
                <a:solidFill>
                  <a:schemeClr val="lt1"/>
                </a:solidFill>
                <a:latin typeface="Calibri"/>
                <a:ea typeface="Calibri"/>
                <a:cs typeface="Calibri"/>
                <a:sym typeface="Calibri"/>
              </a:rPr>
              <a:t>Diseño Técnico del Sistema</a:t>
            </a:r>
            <a:endParaRPr sz="1100"/>
          </a:p>
        </p:txBody>
      </p:sp>
      <p:sp>
        <p:nvSpPr>
          <p:cNvPr id="316" name="Google Shape;316;p19"/>
          <p:cNvSpPr/>
          <p:nvPr/>
        </p:nvSpPr>
        <p:spPr>
          <a:xfrm>
            <a:off x="1553505" y="3738265"/>
            <a:ext cx="1282109" cy="527355"/>
          </a:xfrm>
          <a:prstGeom prst="roundRect">
            <a:avLst>
              <a:gd name="adj" fmla="val 11391"/>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100">
                <a:solidFill>
                  <a:schemeClr val="lt1"/>
                </a:solidFill>
                <a:latin typeface="Calibri"/>
                <a:ea typeface="Calibri"/>
                <a:cs typeface="Calibri"/>
                <a:sym typeface="Calibri"/>
              </a:rPr>
              <a:t>Especificación de Componentes</a:t>
            </a:r>
            <a:endParaRPr sz="1100"/>
          </a:p>
        </p:txBody>
      </p:sp>
      <p:sp>
        <p:nvSpPr>
          <p:cNvPr id="317" name="Google Shape;317;p19"/>
          <p:cNvSpPr/>
          <p:nvPr/>
        </p:nvSpPr>
        <p:spPr>
          <a:xfrm>
            <a:off x="3144572" y="3738265"/>
            <a:ext cx="1282109" cy="527355"/>
          </a:xfrm>
          <a:prstGeom prst="roundRect">
            <a:avLst>
              <a:gd name="adj" fmla="val 11391"/>
            </a:avLst>
          </a:prstGeom>
          <a:solidFill>
            <a:srgbClr val="FE782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100">
                <a:solidFill>
                  <a:schemeClr val="lt1"/>
                </a:solidFill>
                <a:latin typeface="Calibri"/>
                <a:ea typeface="Calibri"/>
                <a:cs typeface="Calibri"/>
                <a:sym typeface="Calibri"/>
              </a:rPr>
              <a:t>Plan de Pruebas de Componentes</a:t>
            </a:r>
            <a:endParaRPr sz="1100"/>
          </a:p>
        </p:txBody>
      </p:sp>
      <p:sp>
        <p:nvSpPr>
          <p:cNvPr id="318" name="Google Shape;318;p19"/>
          <p:cNvSpPr/>
          <p:nvPr/>
        </p:nvSpPr>
        <p:spPr>
          <a:xfrm>
            <a:off x="2835614" y="3077865"/>
            <a:ext cx="1282109" cy="527355"/>
          </a:xfrm>
          <a:prstGeom prst="roundRect">
            <a:avLst>
              <a:gd name="adj" fmla="val 11391"/>
            </a:avLst>
          </a:prstGeom>
          <a:solidFill>
            <a:srgbClr val="FE782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100">
                <a:solidFill>
                  <a:schemeClr val="lt1"/>
                </a:solidFill>
                <a:latin typeface="Calibri"/>
                <a:ea typeface="Calibri"/>
                <a:cs typeface="Calibri"/>
                <a:sym typeface="Calibri"/>
              </a:rPr>
              <a:t>Plan de Pruebas de Integración</a:t>
            </a:r>
            <a:endParaRPr sz="1100"/>
          </a:p>
        </p:txBody>
      </p:sp>
      <p:sp>
        <p:nvSpPr>
          <p:cNvPr id="319" name="Google Shape;319;p19"/>
          <p:cNvSpPr/>
          <p:nvPr/>
        </p:nvSpPr>
        <p:spPr>
          <a:xfrm>
            <a:off x="2479143" y="2417464"/>
            <a:ext cx="1282109" cy="527355"/>
          </a:xfrm>
          <a:prstGeom prst="roundRect">
            <a:avLst>
              <a:gd name="adj" fmla="val 11391"/>
            </a:avLst>
          </a:prstGeom>
          <a:solidFill>
            <a:srgbClr val="FE782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100">
                <a:solidFill>
                  <a:schemeClr val="lt1"/>
                </a:solidFill>
                <a:latin typeface="Calibri"/>
                <a:ea typeface="Calibri"/>
                <a:cs typeface="Calibri"/>
                <a:sym typeface="Calibri"/>
              </a:rPr>
              <a:t>Plan de Pruebas del Sistema</a:t>
            </a:r>
            <a:endParaRPr sz="1100"/>
          </a:p>
        </p:txBody>
      </p:sp>
      <p:sp>
        <p:nvSpPr>
          <p:cNvPr id="320" name="Google Shape;320;p19"/>
          <p:cNvSpPr/>
          <p:nvPr/>
        </p:nvSpPr>
        <p:spPr>
          <a:xfrm>
            <a:off x="2194559" y="1769227"/>
            <a:ext cx="1282109" cy="527355"/>
          </a:xfrm>
          <a:prstGeom prst="roundRect">
            <a:avLst>
              <a:gd name="adj" fmla="val 11391"/>
            </a:avLst>
          </a:prstGeom>
          <a:solidFill>
            <a:srgbClr val="FE782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100">
                <a:solidFill>
                  <a:schemeClr val="lt1"/>
                </a:solidFill>
                <a:latin typeface="Calibri"/>
                <a:ea typeface="Calibri"/>
                <a:cs typeface="Calibri"/>
                <a:sym typeface="Calibri"/>
              </a:rPr>
              <a:t>Planificación    de Pruebas</a:t>
            </a:r>
            <a:endParaRPr sz="1100"/>
          </a:p>
        </p:txBody>
      </p:sp>
      <p:sp>
        <p:nvSpPr>
          <p:cNvPr id="321" name="Google Shape;321;p19"/>
          <p:cNvSpPr/>
          <p:nvPr/>
        </p:nvSpPr>
        <p:spPr>
          <a:xfrm>
            <a:off x="4663440" y="3738265"/>
            <a:ext cx="1282109" cy="527355"/>
          </a:xfrm>
          <a:prstGeom prst="roundRect">
            <a:avLst>
              <a:gd name="adj" fmla="val 11391"/>
            </a:avLst>
          </a:prstGeom>
          <a:solidFill>
            <a:srgbClr val="FE782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100">
                <a:solidFill>
                  <a:schemeClr val="lt1"/>
                </a:solidFill>
                <a:latin typeface="Calibri"/>
                <a:ea typeface="Calibri"/>
                <a:cs typeface="Calibri"/>
                <a:sym typeface="Calibri"/>
              </a:rPr>
              <a:t>Pruebas de Componentes</a:t>
            </a:r>
            <a:endParaRPr sz="1100"/>
          </a:p>
        </p:txBody>
      </p:sp>
      <p:sp>
        <p:nvSpPr>
          <p:cNvPr id="322" name="Google Shape;322;p19"/>
          <p:cNvSpPr/>
          <p:nvPr/>
        </p:nvSpPr>
        <p:spPr>
          <a:xfrm>
            <a:off x="4988560" y="3077865"/>
            <a:ext cx="1282109" cy="527355"/>
          </a:xfrm>
          <a:prstGeom prst="roundRect">
            <a:avLst>
              <a:gd name="adj" fmla="val 11391"/>
            </a:avLst>
          </a:prstGeom>
          <a:solidFill>
            <a:srgbClr val="FE782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100">
                <a:solidFill>
                  <a:schemeClr val="lt1"/>
                </a:solidFill>
                <a:latin typeface="Calibri"/>
                <a:ea typeface="Calibri"/>
                <a:cs typeface="Calibri"/>
                <a:sym typeface="Calibri"/>
              </a:rPr>
              <a:t>Pruebas </a:t>
            </a:r>
            <a:endParaRPr sz="1100"/>
          </a:p>
          <a:p>
            <a:pPr marL="0" marR="0" lvl="0" indent="0" algn="ctr" rtl="0">
              <a:spcBef>
                <a:spcPts val="0"/>
              </a:spcBef>
              <a:spcAft>
                <a:spcPts val="0"/>
              </a:spcAft>
              <a:buNone/>
            </a:pPr>
            <a:r>
              <a:rPr lang="es-PE" sz="1100">
                <a:solidFill>
                  <a:schemeClr val="lt1"/>
                </a:solidFill>
                <a:latin typeface="Calibri"/>
                <a:ea typeface="Calibri"/>
                <a:cs typeface="Calibri"/>
                <a:sym typeface="Calibri"/>
              </a:rPr>
              <a:t>de Integración</a:t>
            </a:r>
            <a:endParaRPr sz="1100"/>
          </a:p>
        </p:txBody>
      </p:sp>
      <p:sp>
        <p:nvSpPr>
          <p:cNvPr id="323" name="Google Shape;323;p19"/>
          <p:cNvSpPr/>
          <p:nvPr/>
        </p:nvSpPr>
        <p:spPr>
          <a:xfrm>
            <a:off x="5304494" y="2417464"/>
            <a:ext cx="1282109" cy="527355"/>
          </a:xfrm>
          <a:prstGeom prst="roundRect">
            <a:avLst>
              <a:gd name="adj" fmla="val 11391"/>
            </a:avLst>
          </a:prstGeom>
          <a:solidFill>
            <a:srgbClr val="FE782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100">
                <a:solidFill>
                  <a:schemeClr val="lt1"/>
                </a:solidFill>
                <a:latin typeface="Calibri"/>
                <a:ea typeface="Calibri"/>
                <a:cs typeface="Calibri"/>
                <a:sym typeface="Calibri"/>
              </a:rPr>
              <a:t>Pruebas</a:t>
            </a:r>
            <a:endParaRPr sz="1100"/>
          </a:p>
          <a:p>
            <a:pPr marL="0" marR="0" lvl="0" indent="0" algn="ctr" rtl="0">
              <a:spcBef>
                <a:spcPts val="0"/>
              </a:spcBef>
              <a:spcAft>
                <a:spcPts val="0"/>
              </a:spcAft>
              <a:buNone/>
            </a:pPr>
            <a:r>
              <a:rPr lang="es-PE" sz="1100">
                <a:solidFill>
                  <a:schemeClr val="lt1"/>
                </a:solidFill>
                <a:latin typeface="Calibri"/>
                <a:ea typeface="Calibri"/>
                <a:cs typeface="Calibri"/>
                <a:sym typeface="Calibri"/>
              </a:rPr>
              <a:t> de Sistema</a:t>
            </a:r>
            <a:endParaRPr sz="1100"/>
          </a:p>
        </p:txBody>
      </p:sp>
      <p:sp>
        <p:nvSpPr>
          <p:cNvPr id="324" name="Google Shape;324;p19"/>
          <p:cNvSpPr/>
          <p:nvPr/>
        </p:nvSpPr>
        <p:spPr>
          <a:xfrm>
            <a:off x="5629614" y="1769227"/>
            <a:ext cx="1282109" cy="527355"/>
          </a:xfrm>
          <a:prstGeom prst="roundRect">
            <a:avLst>
              <a:gd name="adj" fmla="val 11391"/>
            </a:avLst>
          </a:prstGeom>
          <a:solidFill>
            <a:srgbClr val="FE782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100">
                <a:solidFill>
                  <a:schemeClr val="lt1"/>
                </a:solidFill>
                <a:latin typeface="Calibri"/>
                <a:ea typeface="Calibri"/>
                <a:cs typeface="Calibri"/>
                <a:sym typeface="Calibri"/>
              </a:rPr>
              <a:t>Pruebas de Aceptación</a:t>
            </a:r>
            <a:endParaRPr sz="1100"/>
          </a:p>
        </p:txBody>
      </p:sp>
      <p:sp>
        <p:nvSpPr>
          <p:cNvPr id="311" name="Google Shape;311;p19"/>
          <p:cNvSpPr/>
          <p:nvPr/>
        </p:nvSpPr>
        <p:spPr>
          <a:xfrm>
            <a:off x="7255793" y="1757065"/>
            <a:ext cx="1282109" cy="527355"/>
          </a:xfrm>
          <a:prstGeom prst="roundRect">
            <a:avLst>
              <a:gd name="adj" fmla="val 11391"/>
            </a:avLst>
          </a:prstGeom>
          <a:solidFill>
            <a:srgbClr val="EE4639"/>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PE" sz="1100">
                <a:solidFill>
                  <a:schemeClr val="lt1"/>
                </a:solidFill>
                <a:latin typeface="Calibri"/>
                <a:ea typeface="Calibri"/>
                <a:cs typeface="Calibri"/>
                <a:sym typeface="Calibri"/>
              </a:rPr>
              <a:t>Depuración y Corrección de Defectos</a:t>
            </a:r>
            <a:endParaRPr sz="1100"/>
          </a:p>
        </p:txBody>
      </p:sp>
      <p:sp>
        <p:nvSpPr>
          <p:cNvPr id="325" name="Google Shape;325;p19"/>
          <p:cNvSpPr/>
          <p:nvPr/>
        </p:nvSpPr>
        <p:spPr>
          <a:xfrm>
            <a:off x="6911723" y="2417465"/>
            <a:ext cx="1282109" cy="527355"/>
          </a:xfrm>
          <a:prstGeom prst="roundRect">
            <a:avLst>
              <a:gd name="adj" fmla="val 11391"/>
            </a:avLst>
          </a:prstGeom>
          <a:solidFill>
            <a:srgbClr val="EE4639"/>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PE" sz="1100">
                <a:solidFill>
                  <a:schemeClr val="lt1"/>
                </a:solidFill>
                <a:latin typeface="Calibri"/>
                <a:ea typeface="Calibri"/>
                <a:cs typeface="Calibri"/>
                <a:sym typeface="Calibri"/>
              </a:rPr>
              <a:t>Depuración y Corrección de Defectos</a:t>
            </a:r>
            <a:endParaRPr sz="1100"/>
          </a:p>
        </p:txBody>
      </p:sp>
      <p:sp>
        <p:nvSpPr>
          <p:cNvPr id="326" name="Google Shape;326;p19"/>
          <p:cNvSpPr/>
          <p:nvPr/>
        </p:nvSpPr>
        <p:spPr>
          <a:xfrm>
            <a:off x="6586603" y="3077864"/>
            <a:ext cx="1282109" cy="527355"/>
          </a:xfrm>
          <a:prstGeom prst="roundRect">
            <a:avLst>
              <a:gd name="adj" fmla="val 11391"/>
            </a:avLst>
          </a:prstGeom>
          <a:solidFill>
            <a:srgbClr val="EE4639"/>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PE" sz="1100">
                <a:solidFill>
                  <a:schemeClr val="lt1"/>
                </a:solidFill>
                <a:latin typeface="Calibri"/>
                <a:ea typeface="Calibri"/>
                <a:cs typeface="Calibri"/>
                <a:sym typeface="Calibri"/>
              </a:rPr>
              <a:t>Depuración y Corrección de Defectos</a:t>
            </a:r>
            <a:endParaRPr sz="1100"/>
          </a:p>
        </p:txBody>
      </p:sp>
      <p:sp>
        <p:nvSpPr>
          <p:cNvPr id="327" name="Google Shape;327;p19"/>
          <p:cNvSpPr/>
          <p:nvPr/>
        </p:nvSpPr>
        <p:spPr>
          <a:xfrm>
            <a:off x="6270668" y="3738264"/>
            <a:ext cx="1282109" cy="527355"/>
          </a:xfrm>
          <a:prstGeom prst="roundRect">
            <a:avLst>
              <a:gd name="adj" fmla="val 11391"/>
            </a:avLst>
          </a:prstGeom>
          <a:solidFill>
            <a:srgbClr val="EE4639"/>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PE" sz="1100">
                <a:solidFill>
                  <a:schemeClr val="lt1"/>
                </a:solidFill>
                <a:latin typeface="Calibri"/>
                <a:ea typeface="Calibri"/>
                <a:cs typeface="Calibri"/>
                <a:sym typeface="Calibri"/>
              </a:rPr>
              <a:t>Depuración y Corrección de Defectos</a:t>
            </a:r>
            <a:endParaRPr sz="1100"/>
          </a:p>
        </p:txBody>
      </p:sp>
      <p:cxnSp>
        <p:nvCxnSpPr>
          <p:cNvPr id="329" name="Google Shape;329;p19"/>
          <p:cNvCxnSpPr/>
          <p:nvPr/>
        </p:nvCxnSpPr>
        <p:spPr>
          <a:xfrm rot="10800000" flipH="1">
            <a:off x="1875120" y="2019928"/>
            <a:ext cx="290230" cy="813"/>
          </a:xfrm>
          <a:prstGeom prst="straightConnector1">
            <a:avLst/>
          </a:prstGeom>
          <a:noFill/>
          <a:ln w="38100" cap="flat" cmpd="sng">
            <a:solidFill>
              <a:srgbClr val="808799"/>
            </a:solidFill>
            <a:prstDash val="solid"/>
            <a:round/>
            <a:headEnd type="none" w="sm" len="sm"/>
            <a:tailEnd type="triangle" w="med" len="med"/>
          </a:ln>
        </p:spPr>
      </p:cxnSp>
      <p:cxnSp>
        <p:nvCxnSpPr>
          <p:cNvPr id="330" name="Google Shape;330;p19"/>
          <p:cNvCxnSpPr/>
          <p:nvPr/>
        </p:nvCxnSpPr>
        <p:spPr>
          <a:xfrm rot="10800000" flipH="1">
            <a:off x="2194559" y="2687928"/>
            <a:ext cx="290230" cy="813"/>
          </a:xfrm>
          <a:prstGeom prst="straightConnector1">
            <a:avLst/>
          </a:prstGeom>
          <a:noFill/>
          <a:ln w="38100" cap="flat" cmpd="sng">
            <a:solidFill>
              <a:srgbClr val="808799"/>
            </a:solidFill>
            <a:prstDash val="solid"/>
            <a:round/>
            <a:headEnd type="none" w="sm" len="sm"/>
            <a:tailEnd type="triangle" w="med" len="med"/>
          </a:ln>
        </p:spPr>
      </p:cxnSp>
      <p:cxnSp>
        <p:nvCxnSpPr>
          <p:cNvPr id="331" name="Google Shape;331;p19"/>
          <p:cNvCxnSpPr/>
          <p:nvPr/>
        </p:nvCxnSpPr>
        <p:spPr>
          <a:xfrm rot="10800000" flipH="1">
            <a:off x="2521900" y="3340322"/>
            <a:ext cx="290230" cy="813"/>
          </a:xfrm>
          <a:prstGeom prst="straightConnector1">
            <a:avLst/>
          </a:prstGeom>
          <a:noFill/>
          <a:ln w="38100" cap="flat" cmpd="sng">
            <a:solidFill>
              <a:srgbClr val="808799"/>
            </a:solidFill>
            <a:prstDash val="solid"/>
            <a:round/>
            <a:headEnd type="none" w="sm" len="sm"/>
            <a:tailEnd type="triangle" w="med" len="med"/>
          </a:ln>
        </p:spPr>
      </p:cxnSp>
      <p:cxnSp>
        <p:nvCxnSpPr>
          <p:cNvPr id="332" name="Google Shape;332;p19"/>
          <p:cNvCxnSpPr/>
          <p:nvPr/>
        </p:nvCxnSpPr>
        <p:spPr>
          <a:xfrm rot="10800000" flipH="1">
            <a:off x="2835613" y="4010282"/>
            <a:ext cx="290230" cy="813"/>
          </a:xfrm>
          <a:prstGeom prst="straightConnector1">
            <a:avLst/>
          </a:prstGeom>
          <a:noFill/>
          <a:ln w="38100" cap="flat" cmpd="sng">
            <a:solidFill>
              <a:srgbClr val="808799"/>
            </a:solidFill>
            <a:prstDash val="solid"/>
            <a:round/>
            <a:headEnd type="none" w="sm" len="sm"/>
            <a:tailEnd type="triangle" w="med" len="med"/>
          </a:ln>
        </p:spPr>
      </p:cxnSp>
      <p:cxnSp>
        <p:nvCxnSpPr>
          <p:cNvPr id="333" name="Google Shape;333;p19"/>
          <p:cNvCxnSpPr/>
          <p:nvPr/>
        </p:nvCxnSpPr>
        <p:spPr>
          <a:xfrm rot="10800000" flipH="1">
            <a:off x="5944188" y="3997010"/>
            <a:ext cx="290230" cy="813"/>
          </a:xfrm>
          <a:prstGeom prst="straightConnector1">
            <a:avLst/>
          </a:prstGeom>
          <a:noFill/>
          <a:ln w="38100" cap="flat" cmpd="sng">
            <a:solidFill>
              <a:srgbClr val="808799"/>
            </a:solidFill>
            <a:prstDash val="solid"/>
            <a:round/>
            <a:headEnd type="none" w="sm" len="sm"/>
            <a:tailEnd type="triangle" w="med" len="med"/>
          </a:ln>
        </p:spPr>
      </p:cxnSp>
      <p:cxnSp>
        <p:nvCxnSpPr>
          <p:cNvPr id="334" name="Google Shape;334;p19"/>
          <p:cNvCxnSpPr/>
          <p:nvPr/>
        </p:nvCxnSpPr>
        <p:spPr>
          <a:xfrm rot="10800000" flipH="1">
            <a:off x="6263838" y="3320320"/>
            <a:ext cx="290230" cy="813"/>
          </a:xfrm>
          <a:prstGeom prst="straightConnector1">
            <a:avLst/>
          </a:prstGeom>
          <a:noFill/>
          <a:ln w="38100" cap="flat" cmpd="sng">
            <a:solidFill>
              <a:srgbClr val="808799"/>
            </a:solidFill>
            <a:prstDash val="solid"/>
            <a:round/>
            <a:headEnd type="none" w="sm" len="sm"/>
            <a:tailEnd type="triangle" w="med" len="med"/>
          </a:ln>
        </p:spPr>
      </p:cxnSp>
      <p:cxnSp>
        <p:nvCxnSpPr>
          <p:cNvPr id="335" name="Google Shape;335;p19"/>
          <p:cNvCxnSpPr/>
          <p:nvPr/>
        </p:nvCxnSpPr>
        <p:spPr>
          <a:xfrm rot="10800000" flipH="1">
            <a:off x="6586816" y="2676164"/>
            <a:ext cx="290230" cy="813"/>
          </a:xfrm>
          <a:prstGeom prst="straightConnector1">
            <a:avLst/>
          </a:prstGeom>
          <a:noFill/>
          <a:ln w="38100" cap="flat" cmpd="sng">
            <a:solidFill>
              <a:srgbClr val="808799"/>
            </a:solidFill>
            <a:prstDash val="solid"/>
            <a:round/>
            <a:headEnd type="none" w="sm" len="sm"/>
            <a:tailEnd type="triangle" w="med" len="med"/>
          </a:ln>
        </p:spPr>
      </p:cxnSp>
      <p:cxnSp>
        <p:nvCxnSpPr>
          <p:cNvPr id="336" name="Google Shape;336;p19"/>
          <p:cNvCxnSpPr/>
          <p:nvPr/>
        </p:nvCxnSpPr>
        <p:spPr>
          <a:xfrm rot="10800000" flipH="1">
            <a:off x="6911722" y="2011726"/>
            <a:ext cx="290230" cy="813"/>
          </a:xfrm>
          <a:prstGeom prst="straightConnector1">
            <a:avLst/>
          </a:prstGeom>
          <a:noFill/>
          <a:ln w="38100" cap="flat" cmpd="sng">
            <a:solidFill>
              <a:srgbClr val="808799"/>
            </a:solidFill>
            <a:prstDash val="solid"/>
            <a:round/>
            <a:headEnd type="none" w="sm" len="sm"/>
            <a:tailEnd type="triangle" w="med" len="med"/>
          </a:ln>
        </p:spPr>
      </p:cxnSp>
      <p:sp>
        <p:nvSpPr>
          <p:cNvPr id="337" name="Google Shape;337;p19"/>
          <p:cNvSpPr/>
          <p:nvPr/>
        </p:nvSpPr>
        <p:spPr>
          <a:xfrm>
            <a:off x="503238" y="1215413"/>
            <a:ext cx="8137525"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1600" b="1">
                <a:solidFill>
                  <a:schemeClr val="dk1"/>
                </a:solidFill>
                <a:latin typeface="Calibri"/>
                <a:ea typeface="Calibri"/>
                <a:cs typeface="Calibri"/>
                <a:sym typeface="Calibri"/>
              </a:rPr>
              <a:t>MODELO-W</a:t>
            </a:r>
            <a:endParaRPr sz="1600" b="1">
              <a:solidFill>
                <a:schemeClr val="dk1"/>
              </a:solidFill>
              <a:latin typeface="Calibri"/>
              <a:ea typeface="Calibri"/>
              <a:cs typeface="Calibri"/>
              <a:sym typeface="Calibri"/>
            </a:endParaRPr>
          </a:p>
        </p:txBody>
      </p:sp>
      <p:sp>
        <p:nvSpPr>
          <p:cNvPr id="34" name="Rectangle 5">
            <a:extLst>
              <a:ext uri="{FF2B5EF4-FFF2-40B4-BE49-F238E27FC236}">
                <a16:creationId xmlns:a16="http://schemas.microsoft.com/office/drawing/2014/main" id="{6A15FA15-6633-344E-ADCB-2E3ACF547099}"/>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CALIDAD DEL SOFTWARE</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328" name="Google Shape;328;p19"/>
          <p:cNvSpPr/>
          <p:nvPr/>
        </p:nvSpPr>
        <p:spPr>
          <a:xfrm>
            <a:off x="2194559" y="4419007"/>
            <a:ext cx="4717164" cy="472329"/>
          </a:xfrm>
          <a:prstGeom prst="roundRect">
            <a:avLst>
              <a:gd name="adj" fmla="val 11391"/>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200">
                <a:solidFill>
                  <a:schemeClr val="lt1"/>
                </a:solidFill>
                <a:latin typeface="Calibri"/>
                <a:ea typeface="Calibri"/>
                <a:cs typeface="Calibri"/>
                <a:sym typeface="Calibri"/>
              </a:rPr>
              <a:t>PROGRAMACIÓN</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4" name="Google Shape;344;p20"/>
          <p:cNvSpPr/>
          <p:nvPr/>
        </p:nvSpPr>
        <p:spPr>
          <a:xfrm>
            <a:off x="511012" y="912813"/>
            <a:ext cx="8121976" cy="361633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PE" sz="1600" b="1" dirty="0">
                <a:solidFill>
                  <a:schemeClr val="dk1"/>
                </a:solidFill>
                <a:latin typeface="Calibri"/>
                <a:ea typeface="Calibri"/>
                <a:cs typeface="Calibri"/>
                <a:sym typeface="Calibri"/>
              </a:rPr>
              <a:t>OTROS MODELOS DE PRUEBA</a:t>
            </a:r>
            <a:endParaRPr dirty="0"/>
          </a:p>
          <a:p>
            <a:pPr marL="184150" marR="0" lvl="0" indent="-174625" algn="l" rtl="0">
              <a:spcBef>
                <a:spcPts val="0"/>
              </a:spcBef>
              <a:spcAft>
                <a:spcPts val="0"/>
              </a:spcAft>
              <a:buClr>
                <a:schemeClr val="dk1"/>
              </a:buClr>
              <a:buSzPts val="1600"/>
              <a:buFont typeface="Arial"/>
              <a:buChar char="•"/>
            </a:pPr>
            <a:r>
              <a:rPr lang="es-PE" sz="1600" b="1" dirty="0">
                <a:solidFill>
                  <a:schemeClr val="dk1"/>
                </a:solidFill>
                <a:latin typeface="Calibri"/>
                <a:ea typeface="Calibri"/>
                <a:cs typeface="Calibri"/>
                <a:sym typeface="Calibri"/>
              </a:rPr>
              <a:t>Desarrollo software iterativo.</a:t>
            </a:r>
            <a:endParaRPr dirty="0"/>
          </a:p>
          <a:p>
            <a:pPr marL="360363" marR="0" lvl="1" indent="-176213"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Las actividades: Definición de requisitos, diseño, desarrollo y pruebas se segmentan en pasos reducidos y se ejecutan de forma continua.</a:t>
            </a:r>
            <a:endParaRPr dirty="0"/>
          </a:p>
          <a:p>
            <a:pPr marL="360363" marR="0" lvl="1" indent="-176213"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Se debe lograr el consentimiento con el cliente tras cada iteración con el objeto de modificar el rumbo del proyecto si fuera necesario.</a:t>
            </a:r>
            <a:endParaRPr dirty="0"/>
          </a:p>
          <a:p>
            <a:pPr marL="139700" marR="0" lvl="0" indent="-28575" algn="l" rtl="0">
              <a:spcBef>
                <a:spcPts val="0"/>
              </a:spcBef>
              <a:spcAft>
                <a:spcPts val="0"/>
              </a:spcAft>
              <a:buClr>
                <a:schemeClr val="dk1"/>
              </a:buClr>
              <a:buSzPts val="1600"/>
              <a:buFont typeface="Arial"/>
              <a:buNone/>
            </a:pPr>
            <a:endParaRPr sz="1600" dirty="0">
              <a:solidFill>
                <a:schemeClr val="dk1"/>
              </a:solidFill>
              <a:latin typeface="Calibri"/>
              <a:ea typeface="Calibri"/>
              <a:cs typeface="Calibri"/>
              <a:sym typeface="Calibri"/>
            </a:endParaRPr>
          </a:p>
          <a:p>
            <a:pPr marL="184150" marR="0" lvl="0" indent="-174625" algn="l" rtl="0">
              <a:spcBef>
                <a:spcPts val="0"/>
              </a:spcBef>
              <a:spcAft>
                <a:spcPts val="0"/>
              </a:spcAft>
              <a:buClr>
                <a:schemeClr val="dk1"/>
              </a:buClr>
              <a:buSzPts val="1600"/>
              <a:buFont typeface="Arial"/>
              <a:buChar char="•"/>
            </a:pPr>
            <a:r>
              <a:rPr lang="es-PE" sz="1600" b="1" dirty="0">
                <a:solidFill>
                  <a:schemeClr val="dk1"/>
                </a:solidFill>
                <a:latin typeface="Calibri"/>
                <a:ea typeface="Calibri"/>
                <a:cs typeface="Calibri"/>
                <a:sym typeface="Calibri"/>
              </a:rPr>
              <a:t>Ejemplos de modelos iterativos:</a:t>
            </a:r>
            <a:endParaRPr dirty="0"/>
          </a:p>
          <a:p>
            <a:pPr marL="139700" marR="0" lvl="0" indent="-28575" algn="l" rtl="0">
              <a:spcBef>
                <a:spcPts val="0"/>
              </a:spcBef>
              <a:spcAft>
                <a:spcPts val="0"/>
              </a:spcAft>
              <a:buClr>
                <a:schemeClr val="dk1"/>
              </a:buClr>
              <a:buSzPts val="1600"/>
              <a:buFont typeface="Arial"/>
              <a:buNone/>
            </a:pPr>
            <a:endParaRPr sz="1600" dirty="0">
              <a:solidFill>
                <a:schemeClr val="dk1"/>
              </a:solidFill>
              <a:latin typeface="Calibri"/>
              <a:ea typeface="Calibri"/>
              <a:cs typeface="Calibri"/>
              <a:sym typeface="Calibri"/>
            </a:endParaRPr>
          </a:p>
          <a:p>
            <a:pPr marL="360363" marR="0" lvl="1" indent="-176213"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Modelo Prototipado</a:t>
            </a:r>
            <a:endParaRPr dirty="0"/>
          </a:p>
          <a:p>
            <a:pPr marL="360363" marR="0" lvl="1" indent="-176213"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Desarrollo Rápido de Aplicaciones (Rapid Application Development - RAD)</a:t>
            </a:r>
            <a:endParaRPr dirty="0"/>
          </a:p>
          <a:p>
            <a:pPr marL="360363" marR="0" lvl="1" indent="-176213"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Proceso Unificado (Rational Unified Process - RUP).</a:t>
            </a:r>
            <a:endParaRPr dirty="0"/>
          </a:p>
          <a:p>
            <a:pPr marL="360363" marR="0" lvl="1" indent="-176213"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Programación Extrema (Extreme Programming - XP)</a:t>
            </a:r>
            <a:endParaRPr dirty="0"/>
          </a:p>
          <a:p>
            <a:pPr marL="360363" marR="0" lvl="1" indent="-176213"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Desarrollo guiado por pruebas (Test Driven Development - TDD)</a:t>
            </a:r>
            <a:endParaRPr dirty="0"/>
          </a:p>
        </p:txBody>
      </p:sp>
      <p:sp>
        <p:nvSpPr>
          <p:cNvPr id="345" name="Google Shape;345;p20"/>
          <p:cNvSpPr txBox="1"/>
          <p:nvPr/>
        </p:nvSpPr>
        <p:spPr>
          <a:xfrm>
            <a:off x="684213" y="4648299"/>
            <a:ext cx="4572000"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000" dirty="0">
                <a:solidFill>
                  <a:schemeClr val="bg1">
                    <a:lumMod val="50000"/>
                  </a:schemeClr>
                </a:solidFill>
                <a:latin typeface="Calibri"/>
                <a:ea typeface="Calibri"/>
                <a:cs typeface="Calibri"/>
                <a:sym typeface="Calibri"/>
              </a:rPr>
              <a:t>kupdf.net</a:t>
            </a:r>
            <a:endParaRPr dirty="0">
              <a:solidFill>
                <a:schemeClr val="bg1">
                  <a:lumMod val="50000"/>
                </a:schemeClr>
              </a:solidFill>
            </a:endParaRPr>
          </a:p>
        </p:txBody>
      </p:sp>
      <p:sp>
        <p:nvSpPr>
          <p:cNvPr id="5" name="Rectangle 5">
            <a:extLst>
              <a:ext uri="{FF2B5EF4-FFF2-40B4-BE49-F238E27FC236}">
                <a16:creationId xmlns:a16="http://schemas.microsoft.com/office/drawing/2014/main" id="{1DFB11FA-E2E3-894C-9408-359FA2071481}"/>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CALIDAD DEL SOFTWARE</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4" name="Rectángulo 3">
            <a:extLst>
              <a:ext uri="{FF2B5EF4-FFF2-40B4-BE49-F238E27FC236}">
                <a16:creationId xmlns:a16="http://schemas.microsoft.com/office/drawing/2014/main" id="{57E043B9-62CB-CB43-B8C0-FF53636C59A7}"/>
              </a:ext>
            </a:extLst>
          </p:cNvPr>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5" name="CuadroTexto 4">
            <a:extLst>
              <a:ext uri="{FF2B5EF4-FFF2-40B4-BE49-F238E27FC236}">
                <a16:creationId xmlns:a16="http://schemas.microsoft.com/office/drawing/2014/main" id="{BADD0F8F-D7FA-FF48-838F-22332304C2C7}"/>
              </a:ext>
            </a:extLst>
          </p:cNvPr>
          <p:cNvSpPr txBox="1"/>
          <p:nvPr/>
        </p:nvSpPr>
        <p:spPr>
          <a:xfrm>
            <a:off x="1008063" y="3169972"/>
            <a:ext cx="5993558" cy="775597"/>
          </a:xfrm>
          <a:prstGeom prst="rect">
            <a:avLst/>
          </a:prstGeom>
          <a:noFill/>
        </p:spPr>
        <p:txBody>
          <a:bodyPr wrap="square" lIns="0" tIns="0" rIns="0" bIns="0" rtlCol="0">
            <a:spAutoFit/>
          </a:bodyPr>
          <a:lstStyle/>
          <a:p>
            <a:pPr>
              <a:lnSpc>
                <a:spcPct val="90000"/>
              </a:lnSpc>
              <a:spcBef>
                <a:spcPts val="1000"/>
              </a:spcBef>
              <a:defRPr/>
            </a:pPr>
            <a:r>
              <a:rPr lang="es-PE" sz="2800" dirty="0">
                <a:solidFill>
                  <a:schemeClr val="bg1"/>
                </a:solidFill>
                <a:latin typeface="Graphik Regular" charset="0"/>
                <a:ea typeface="Graphik Regular" charset="0"/>
                <a:cs typeface="Graphik Regular" charset="0"/>
              </a:rPr>
              <a:t>ATRIBUTOS</a:t>
            </a:r>
            <a:br>
              <a:rPr lang="es-PE" sz="2800" b="1" dirty="0">
                <a:solidFill>
                  <a:schemeClr val="bg1"/>
                </a:solidFill>
                <a:latin typeface="Calibri"/>
                <a:cs typeface="Calibri"/>
              </a:rPr>
            </a:br>
            <a:r>
              <a:rPr lang="es-PE" sz="2800" b="1" dirty="0">
                <a:solidFill>
                  <a:schemeClr val="bg1"/>
                </a:solidFill>
                <a:latin typeface="Graphik Bold" charset="0"/>
                <a:ea typeface="Graphik Bold" charset="0"/>
                <a:cs typeface="Graphik Bold" charset="0"/>
              </a:rPr>
              <a:t>DE CALIDAD</a:t>
            </a:r>
          </a:p>
        </p:txBody>
      </p:sp>
      <p:pic>
        <p:nvPicPr>
          <p:cNvPr id="6" name="Imagen 5">
            <a:extLst>
              <a:ext uri="{FF2B5EF4-FFF2-40B4-BE49-F238E27FC236}">
                <a16:creationId xmlns:a16="http://schemas.microsoft.com/office/drawing/2014/main" id="{1284E3A0-2A72-CB4E-971D-EB6015DF5127}"/>
              </a:ext>
            </a:extLst>
          </p:cNvPr>
          <p:cNvPicPr>
            <a:picLocks noChangeAspect="1"/>
          </p:cNvPicPr>
          <p:nvPr/>
        </p:nvPicPr>
        <p:blipFill>
          <a:blip r:embed="rId3"/>
          <a:stretch>
            <a:fillRect/>
          </a:stretch>
        </p:blipFill>
        <p:spPr>
          <a:xfrm>
            <a:off x="1008063" y="2869612"/>
            <a:ext cx="195423" cy="20125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9" name="Google Shape;359;p22"/>
          <p:cNvSpPr/>
          <p:nvPr/>
        </p:nvSpPr>
        <p:spPr>
          <a:xfrm>
            <a:off x="503238" y="912813"/>
            <a:ext cx="7513613" cy="287767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PE" sz="1600" b="1" dirty="0">
                <a:solidFill>
                  <a:schemeClr val="dk1"/>
                </a:solidFill>
                <a:latin typeface="Calibri"/>
                <a:ea typeface="Calibri"/>
                <a:cs typeface="Calibri"/>
                <a:sym typeface="Calibri"/>
              </a:rPr>
              <a:t>ATRIBUTOS DE CALIDAD (CALIDAD DE PRODUCTO Y USO)</a:t>
            </a:r>
            <a:endParaRPr dirty="0"/>
          </a:p>
          <a:p>
            <a:pPr marL="179388" marR="0" lvl="0" indent="-166688"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Es un conjunto de elementos que proporciona una base para la especificación de requerimientos y para la evaluación de la calidad de un producto de software. </a:t>
            </a:r>
            <a:endParaRPr dirty="0"/>
          </a:p>
          <a:p>
            <a:pPr marL="179388" marR="0" lvl="0" indent="-166688" algn="l" rtl="0">
              <a:spcBef>
                <a:spcPts val="0"/>
              </a:spcBef>
              <a:spcAft>
                <a:spcPts val="0"/>
              </a:spcAft>
              <a:buClr>
                <a:schemeClr val="dk1"/>
              </a:buClr>
              <a:buSzPts val="1600"/>
              <a:buFont typeface="Arial"/>
              <a:buNone/>
            </a:pPr>
            <a:endParaRPr sz="1600" dirty="0">
              <a:solidFill>
                <a:schemeClr val="dk1"/>
              </a:solidFill>
              <a:latin typeface="Calibri"/>
              <a:ea typeface="Calibri"/>
              <a:cs typeface="Calibri"/>
              <a:sym typeface="Calibri"/>
            </a:endParaRPr>
          </a:p>
          <a:p>
            <a:pPr marL="179388" marR="0" lvl="0" indent="-166688"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En general, se conforma por un conjunto de factores de calidad y sus relaciones: </a:t>
            </a:r>
            <a:endParaRPr dirty="0"/>
          </a:p>
          <a:p>
            <a:pPr marL="133350" marR="0" lvl="0" indent="-19050" algn="l" rtl="0">
              <a:spcBef>
                <a:spcPts val="0"/>
              </a:spcBef>
              <a:spcAft>
                <a:spcPts val="0"/>
              </a:spcAft>
              <a:buClr>
                <a:schemeClr val="dk1"/>
              </a:buClr>
              <a:buSzPts val="1600"/>
              <a:buFont typeface="Arial"/>
              <a:buNone/>
            </a:pPr>
            <a:endParaRPr sz="1600" dirty="0">
              <a:solidFill>
                <a:schemeClr val="dk1"/>
              </a:solidFill>
              <a:latin typeface="Calibri"/>
              <a:ea typeface="Calibri"/>
              <a:cs typeface="Calibri"/>
              <a:sym typeface="Calibri"/>
            </a:endParaRPr>
          </a:p>
          <a:p>
            <a:pPr marL="360363" marR="0" lvl="1" indent="-180975"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Se clasifica la calidad del producto de software en base a un conjunto estructurado de características. </a:t>
            </a:r>
            <a:endParaRPr dirty="0"/>
          </a:p>
          <a:p>
            <a:pPr marL="360363" marR="0" lvl="1" indent="-180975"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Cada característica representa una cualidad externa (es decir, una propiedad que puede ser experimentada por el usuario), </a:t>
            </a:r>
            <a:endParaRPr dirty="0"/>
          </a:p>
          <a:p>
            <a:pPr marL="360363" marR="0" lvl="1" indent="-180975"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Cada característica se compone de subcaracterísticas.</a:t>
            </a:r>
            <a:endParaRPr dirty="0"/>
          </a:p>
        </p:txBody>
      </p:sp>
      <p:sp>
        <p:nvSpPr>
          <p:cNvPr id="360" name="Google Shape;360;p22"/>
          <p:cNvSpPr txBox="1"/>
          <p:nvPr/>
        </p:nvSpPr>
        <p:spPr>
          <a:xfrm>
            <a:off x="554210" y="5011323"/>
            <a:ext cx="4572000"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000" dirty="0">
                <a:solidFill>
                  <a:schemeClr val="bg1">
                    <a:lumMod val="50000"/>
                  </a:schemeClr>
                </a:solidFill>
                <a:latin typeface="Calibri"/>
                <a:ea typeface="Calibri"/>
                <a:cs typeface="Calibri"/>
                <a:sym typeface="Calibri"/>
              </a:rPr>
              <a:t>www.researchgate.net</a:t>
            </a:r>
            <a:endParaRPr dirty="0">
              <a:solidFill>
                <a:schemeClr val="bg1">
                  <a:lumMod val="50000"/>
                </a:schemeClr>
              </a:solidFill>
            </a:endParaRPr>
          </a:p>
        </p:txBody>
      </p:sp>
      <p:sp>
        <p:nvSpPr>
          <p:cNvPr id="5" name="Rectangle 5">
            <a:extLst>
              <a:ext uri="{FF2B5EF4-FFF2-40B4-BE49-F238E27FC236}">
                <a16:creationId xmlns:a16="http://schemas.microsoft.com/office/drawing/2014/main" id="{A45015B1-85CA-514F-B06E-C588E3398A8B}"/>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ATRIBUTOS DE CALIDAD</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7" name="Google Shape;367;p23"/>
          <p:cNvSpPr/>
          <p:nvPr/>
        </p:nvSpPr>
        <p:spPr>
          <a:xfrm>
            <a:off x="503238" y="912813"/>
            <a:ext cx="8137524" cy="24622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600" b="1" dirty="0">
                <a:solidFill>
                  <a:schemeClr val="dk1"/>
                </a:solidFill>
                <a:latin typeface="Calibri"/>
                <a:ea typeface="Calibri"/>
                <a:cs typeface="Calibri"/>
                <a:sym typeface="Calibri"/>
              </a:rPr>
              <a:t>ATRIBUTOS DE CALIDAD</a:t>
            </a:r>
            <a:endParaRPr sz="1600" b="1" dirty="0">
              <a:solidFill>
                <a:schemeClr val="dk1"/>
              </a:solidFill>
              <a:latin typeface="Calibri"/>
              <a:ea typeface="Calibri"/>
              <a:cs typeface="Calibri"/>
              <a:sym typeface="Calibri"/>
            </a:endParaRPr>
          </a:p>
        </p:txBody>
      </p:sp>
      <p:sp>
        <p:nvSpPr>
          <p:cNvPr id="21" name="Rectangle 5">
            <a:extLst>
              <a:ext uri="{FF2B5EF4-FFF2-40B4-BE49-F238E27FC236}">
                <a16:creationId xmlns:a16="http://schemas.microsoft.com/office/drawing/2014/main" id="{DBEDAF31-6E07-774E-8537-0B1D920EF4C5}"/>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ATRIBUTOS DE CALIDAD</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22" name="Rectángulo redondeado 21">
            <a:extLst>
              <a:ext uri="{FF2B5EF4-FFF2-40B4-BE49-F238E27FC236}">
                <a16:creationId xmlns:a16="http://schemas.microsoft.com/office/drawing/2014/main" id="{701895BE-CAD6-9048-8012-9966DDF5C103}"/>
              </a:ext>
            </a:extLst>
          </p:cNvPr>
          <p:cNvSpPr/>
          <p:nvPr/>
        </p:nvSpPr>
        <p:spPr>
          <a:xfrm>
            <a:off x="1819535" y="1557116"/>
            <a:ext cx="1735449" cy="947330"/>
          </a:xfrm>
          <a:prstGeom prst="roundRect">
            <a:avLst>
              <a:gd name="adj" fmla="val 12027"/>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lnSpc>
                <a:spcPct val="90000"/>
              </a:lnSpc>
              <a:spcBef>
                <a:spcPts val="0"/>
              </a:spcBef>
              <a:spcAft>
                <a:spcPts val="0"/>
              </a:spcAft>
              <a:buClr>
                <a:schemeClr val="lt1"/>
              </a:buClr>
              <a:buSzPts val="1800"/>
              <a:buFont typeface="Calibri"/>
              <a:buNone/>
            </a:pPr>
            <a:r>
              <a:rPr lang="es-PE" sz="1400" b="1" dirty="0">
                <a:solidFill>
                  <a:schemeClr val="lt1"/>
                </a:solidFill>
                <a:latin typeface="Calibri"/>
                <a:ea typeface="Calibri"/>
                <a:cs typeface="Calibri"/>
                <a:sym typeface="Calibri"/>
              </a:rPr>
              <a:t>FUNCIONALIDAD</a:t>
            </a:r>
            <a:endParaRPr lang="es-PE" dirty="0"/>
          </a:p>
        </p:txBody>
      </p:sp>
      <p:sp>
        <p:nvSpPr>
          <p:cNvPr id="23" name="Rectángulo redondeado 22">
            <a:extLst>
              <a:ext uri="{FF2B5EF4-FFF2-40B4-BE49-F238E27FC236}">
                <a16:creationId xmlns:a16="http://schemas.microsoft.com/office/drawing/2014/main" id="{003A5F48-C049-7F4F-A2EE-334AFD6C54CA}"/>
              </a:ext>
            </a:extLst>
          </p:cNvPr>
          <p:cNvSpPr/>
          <p:nvPr/>
        </p:nvSpPr>
        <p:spPr>
          <a:xfrm>
            <a:off x="3704275" y="1557116"/>
            <a:ext cx="1735449" cy="947330"/>
          </a:xfrm>
          <a:prstGeom prst="roundRect">
            <a:avLst>
              <a:gd name="adj" fmla="val 12027"/>
            </a:avLst>
          </a:prstGeom>
          <a:solidFill>
            <a:srgbClr val="92C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lnSpc>
                <a:spcPct val="90000"/>
              </a:lnSpc>
              <a:spcBef>
                <a:spcPts val="0"/>
              </a:spcBef>
              <a:spcAft>
                <a:spcPts val="0"/>
              </a:spcAft>
              <a:buClr>
                <a:schemeClr val="lt1"/>
              </a:buClr>
              <a:buSzPts val="1800"/>
              <a:buFont typeface="Calibri"/>
              <a:buNone/>
            </a:pPr>
            <a:r>
              <a:rPr lang="es-PE" sz="1400" b="1" dirty="0">
                <a:solidFill>
                  <a:schemeClr val="lt1"/>
                </a:solidFill>
                <a:latin typeface="Calibri"/>
                <a:ea typeface="Calibri"/>
                <a:cs typeface="Calibri"/>
                <a:sym typeface="Calibri"/>
              </a:rPr>
              <a:t>RENDIMIENTO</a:t>
            </a:r>
            <a:endParaRPr lang="es-PE" dirty="0"/>
          </a:p>
        </p:txBody>
      </p:sp>
      <p:sp>
        <p:nvSpPr>
          <p:cNvPr id="24" name="Rectángulo redondeado 23">
            <a:extLst>
              <a:ext uri="{FF2B5EF4-FFF2-40B4-BE49-F238E27FC236}">
                <a16:creationId xmlns:a16="http://schemas.microsoft.com/office/drawing/2014/main" id="{EECA81C3-4686-E447-B6D2-70D5C6461301}"/>
              </a:ext>
            </a:extLst>
          </p:cNvPr>
          <p:cNvSpPr/>
          <p:nvPr/>
        </p:nvSpPr>
        <p:spPr>
          <a:xfrm>
            <a:off x="5589016" y="1557116"/>
            <a:ext cx="1735449" cy="947330"/>
          </a:xfrm>
          <a:prstGeom prst="roundRect">
            <a:avLst>
              <a:gd name="adj" fmla="val 12027"/>
            </a:avLst>
          </a:prstGeom>
          <a:solidFill>
            <a:srgbClr val="715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lnSpc>
                <a:spcPct val="90000"/>
              </a:lnSpc>
              <a:spcBef>
                <a:spcPts val="0"/>
              </a:spcBef>
              <a:spcAft>
                <a:spcPts val="0"/>
              </a:spcAft>
              <a:buClr>
                <a:schemeClr val="lt1"/>
              </a:buClr>
              <a:buSzPts val="1800"/>
              <a:buFont typeface="Calibri"/>
              <a:buNone/>
            </a:pPr>
            <a:r>
              <a:rPr lang="es-PE" sz="1400" b="1" dirty="0">
                <a:solidFill>
                  <a:schemeClr val="lt1"/>
                </a:solidFill>
                <a:latin typeface="Calibri"/>
                <a:ea typeface="Calibri"/>
                <a:cs typeface="Calibri"/>
                <a:sym typeface="Calibri"/>
              </a:rPr>
              <a:t>COMPATIBILIDAD</a:t>
            </a:r>
            <a:endParaRPr lang="es-PE" dirty="0"/>
          </a:p>
        </p:txBody>
      </p:sp>
      <p:sp>
        <p:nvSpPr>
          <p:cNvPr id="25" name="Rectángulo redondeado 24">
            <a:extLst>
              <a:ext uri="{FF2B5EF4-FFF2-40B4-BE49-F238E27FC236}">
                <a16:creationId xmlns:a16="http://schemas.microsoft.com/office/drawing/2014/main" id="{68ADD2F3-8FA1-7243-B2F8-547282692BF8}"/>
              </a:ext>
            </a:extLst>
          </p:cNvPr>
          <p:cNvSpPr/>
          <p:nvPr/>
        </p:nvSpPr>
        <p:spPr>
          <a:xfrm>
            <a:off x="1819535" y="2651278"/>
            <a:ext cx="1735449" cy="947330"/>
          </a:xfrm>
          <a:prstGeom prst="roundRect">
            <a:avLst>
              <a:gd name="adj" fmla="val 12027"/>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lnSpc>
                <a:spcPct val="90000"/>
              </a:lnSpc>
              <a:spcBef>
                <a:spcPts val="0"/>
              </a:spcBef>
              <a:spcAft>
                <a:spcPts val="0"/>
              </a:spcAft>
              <a:buClr>
                <a:schemeClr val="lt1"/>
              </a:buClr>
              <a:buSzPts val="1800"/>
              <a:buFont typeface="Calibri"/>
              <a:buNone/>
            </a:pPr>
            <a:r>
              <a:rPr lang="es-PE" sz="1400" b="1" dirty="0">
                <a:solidFill>
                  <a:schemeClr val="lt1"/>
                </a:solidFill>
                <a:latin typeface="Calibri"/>
                <a:ea typeface="Calibri"/>
                <a:cs typeface="Calibri"/>
                <a:sym typeface="Calibri"/>
              </a:rPr>
              <a:t>USABILIDAD</a:t>
            </a:r>
            <a:endParaRPr lang="es-PE" dirty="0"/>
          </a:p>
        </p:txBody>
      </p:sp>
      <p:sp>
        <p:nvSpPr>
          <p:cNvPr id="26" name="Rectángulo redondeado 25">
            <a:extLst>
              <a:ext uri="{FF2B5EF4-FFF2-40B4-BE49-F238E27FC236}">
                <a16:creationId xmlns:a16="http://schemas.microsoft.com/office/drawing/2014/main" id="{2339EF96-66CB-AF42-BC76-CF2E780906F9}"/>
              </a:ext>
            </a:extLst>
          </p:cNvPr>
          <p:cNvSpPr/>
          <p:nvPr/>
        </p:nvSpPr>
        <p:spPr>
          <a:xfrm>
            <a:off x="3704275" y="2651278"/>
            <a:ext cx="1735449" cy="947330"/>
          </a:xfrm>
          <a:prstGeom prst="roundRect">
            <a:avLst>
              <a:gd name="adj" fmla="val 12027"/>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lnSpc>
                <a:spcPct val="90000"/>
              </a:lnSpc>
              <a:spcBef>
                <a:spcPts val="0"/>
              </a:spcBef>
              <a:spcAft>
                <a:spcPts val="0"/>
              </a:spcAft>
              <a:buClr>
                <a:schemeClr val="lt1"/>
              </a:buClr>
              <a:buSzPts val="1800"/>
              <a:buFont typeface="Calibri"/>
              <a:buNone/>
            </a:pPr>
            <a:r>
              <a:rPr lang="es-PE" sz="1400" b="1" dirty="0">
                <a:solidFill>
                  <a:schemeClr val="lt1"/>
                </a:solidFill>
                <a:latin typeface="Calibri"/>
                <a:ea typeface="Calibri"/>
                <a:cs typeface="Calibri"/>
                <a:sym typeface="Calibri"/>
              </a:rPr>
              <a:t>CONFIABILIDAD</a:t>
            </a:r>
            <a:endParaRPr lang="es-PE" dirty="0"/>
          </a:p>
        </p:txBody>
      </p:sp>
      <p:sp>
        <p:nvSpPr>
          <p:cNvPr id="27" name="Rectángulo redondeado 26">
            <a:extLst>
              <a:ext uri="{FF2B5EF4-FFF2-40B4-BE49-F238E27FC236}">
                <a16:creationId xmlns:a16="http://schemas.microsoft.com/office/drawing/2014/main" id="{1D22E2EC-B929-514B-92E6-73C5ED1C9030}"/>
              </a:ext>
            </a:extLst>
          </p:cNvPr>
          <p:cNvSpPr/>
          <p:nvPr/>
        </p:nvSpPr>
        <p:spPr>
          <a:xfrm>
            <a:off x="5589016" y="2651278"/>
            <a:ext cx="1735449" cy="947330"/>
          </a:xfrm>
          <a:prstGeom prst="roundRect">
            <a:avLst>
              <a:gd name="adj" fmla="val 12027"/>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lnSpc>
                <a:spcPct val="90000"/>
              </a:lnSpc>
              <a:spcBef>
                <a:spcPts val="0"/>
              </a:spcBef>
              <a:spcAft>
                <a:spcPts val="0"/>
              </a:spcAft>
              <a:buClr>
                <a:schemeClr val="lt1"/>
              </a:buClr>
              <a:buSzPts val="1800"/>
              <a:buFont typeface="Calibri"/>
              <a:buNone/>
            </a:pPr>
            <a:r>
              <a:rPr lang="es-PE" sz="1400" b="1" dirty="0">
                <a:solidFill>
                  <a:schemeClr val="lt1"/>
                </a:solidFill>
                <a:latin typeface="Calibri"/>
                <a:ea typeface="Calibri"/>
                <a:cs typeface="Calibri"/>
                <a:sym typeface="Calibri"/>
              </a:rPr>
              <a:t>SEGURIDAD</a:t>
            </a:r>
            <a:endParaRPr lang="es-PE" dirty="0"/>
          </a:p>
        </p:txBody>
      </p:sp>
      <p:sp>
        <p:nvSpPr>
          <p:cNvPr id="28" name="Rectángulo redondeado 27">
            <a:extLst>
              <a:ext uri="{FF2B5EF4-FFF2-40B4-BE49-F238E27FC236}">
                <a16:creationId xmlns:a16="http://schemas.microsoft.com/office/drawing/2014/main" id="{1C18924A-DFC9-D549-91F2-94BC5ADEED74}"/>
              </a:ext>
            </a:extLst>
          </p:cNvPr>
          <p:cNvSpPr/>
          <p:nvPr/>
        </p:nvSpPr>
        <p:spPr>
          <a:xfrm>
            <a:off x="2711514" y="3726466"/>
            <a:ext cx="1735449" cy="947330"/>
          </a:xfrm>
          <a:prstGeom prst="roundRect">
            <a:avLst>
              <a:gd name="adj" fmla="val 12027"/>
            </a:avLst>
          </a:prstGeom>
          <a:solidFill>
            <a:srgbClr val="92C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lnSpc>
                <a:spcPct val="90000"/>
              </a:lnSpc>
              <a:spcBef>
                <a:spcPts val="0"/>
              </a:spcBef>
              <a:spcAft>
                <a:spcPts val="0"/>
              </a:spcAft>
              <a:buClr>
                <a:schemeClr val="lt1"/>
              </a:buClr>
              <a:buSzPts val="1800"/>
              <a:buFont typeface="Calibri"/>
              <a:buNone/>
            </a:pPr>
            <a:r>
              <a:rPr lang="es-PE" sz="1400" b="1" dirty="0">
                <a:solidFill>
                  <a:schemeClr val="lt1"/>
                </a:solidFill>
                <a:latin typeface="Calibri"/>
                <a:ea typeface="Calibri"/>
                <a:cs typeface="Calibri"/>
                <a:sym typeface="Calibri"/>
              </a:rPr>
              <a:t>MANTENIBILIDAD</a:t>
            </a:r>
            <a:endParaRPr lang="es-PE" dirty="0"/>
          </a:p>
        </p:txBody>
      </p:sp>
      <p:sp>
        <p:nvSpPr>
          <p:cNvPr id="29" name="Rectángulo redondeado 28">
            <a:extLst>
              <a:ext uri="{FF2B5EF4-FFF2-40B4-BE49-F238E27FC236}">
                <a16:creationId xmlns:a16="http://schemas.microsoft.com/office/drawing/2014/main" id="{53D3F413-AC41-B24D-A5AD-ABA5DA6F8615}"/>
              </a:ext>
            </a:extLst>
          </p:cNvPr>
          <p:cNvSpPr/>
          <p:nvPr/>
        </p:nvSpPr>
        <p:spPr>
          <a:xfrm>
            <a:off x="4596254" y="3726466"/>
            <a:ext cx="1735449" cy="947330"/>
          </a:xfrm>
          <a:prstGeom prst="roundRect">
            <a:avLst>
              <a:gd name="adj" fmla="val 12027"/>
            </a:avLst>
          </a:prstGeom>
          <a:solidFill>
            <a:srgbClr val="715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lnSpc>
                <a:spcPct val="90000"/>
              </a:lnSpc>
              <a:spcBef>
                <a:spcPts val="0"/>
              </a:spcBef>
              <a:spcAft>
                <a:spcPts val="0"/>
              </a:spcAft>
              <a:buClr>
                <a:schemeClr val="lt1"/>
              </a:buClr>
              <a:buSzPts val="1800"/>
              <a:buFont typeface="Calibri"/>
              <a:buNone/>
            </a:pPr>
            <a:r>
              <a:rPr lang="es-PE" sz="1400" b="1" dirty="0">
                <a:solidFill>
                  <a:schemeClr val="lt1"/>
                </a:solidFill>
                <a:latin typeface="Calibri"/>
                <a:ea typeface="Calibri"/>
                <a:cs typeface="Calibri"/>
                <a:sym typeface="Calibri"/>
              </a:rPr>
              <a:t>PORTABILIDAD</a:t>
            </a:r>
            <a:endParaRPr lang="es-PE"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4" name="Google Shape;394;p24"/>
          <p:cNvSpPr/>
          <p:nvPr/>
        </p:nvSpPr>
        <p:spPr>
          <a:xfrm>
            <a:off x="3179349" y="1274296"/>
            <a:ext cx="5496339" cy="1785104"/>
          </a:xfrm>
          <a:prstGeom prst="rect">
            <a:avLst/>
          </a:prstGeom>
          <a:noFill/>
          <a:ln>
            <a:noFill/>
          </a:ln>
        </p:spPr>
        <p:txBody>
          <a:bodyPr spcFirstLastPara="1" wrap="square" lIns="0" tIns="0" rIns="0" bIns="0" anchor="t" anchorCtr="0">
            <a:spAutoFit/>
          </a:bodyPr>
          <a:lstStyle/>
          <a:p>
            <a:pPr lvl="0">
              <a:spcAft>
                <a:spcPts val="600"/>
              </a:spcAft>
            </a:pPr>
            <a:r>
              <a:rPr lang="es-ES" sz="2000" b="1" dirty="0">
                <a:solidFill>
                  <a:srgbClr val="EE4639"/>
                </a:solidFill>
                <a:latin typeface="Graphik Bold" panose="020B0503030202060203" pitchFamily="34" charset="77"/>
                <a:cs typeface="Calibri" charset="0"/>
              </a:rPr>
              <a:t>+ 01.</a:t>
            </a:r>
            <a:br>
              <a:rPr lang="es-ES" sz="1600" b="1" dirty="0">
                <a:solidFill>
                  <a:srgbClr val="EE4639"/>
                </a:solidFill>
                <a:latin typeface="Calibri" charset="0"/>
                <a:cs typeface="Calibri" charset="0"/>
              </a:rPr>
            </a:br>
            <a:r>
              <a:rPr lang="es-ES" sz="1600" b="1" dirty="0">
                <a:solidFill>
                  <a:srgbClr val="EE4639"/>
                </a:solidFill>
                <a:latin typeface="Calibri" charset="0"/>
                <a:cs typeface="Calibri" charset="0"/>
              </a:rPr>
              <a:t>FUNCIONALIDAD</a:t>
            </a:r>
            <a:endParaRPr lang="es-PE" sz="1600" b="1" dirty="0">
              <a:solidFill>
                <a:srgbClr val="EE4639"/>
              </a:solidFill>
              <a:latin typeface="Calibri" charset="0"/>
              <a:cs typeface="Calibri" charset="0"/>
            </a:endParaRPr>
          </a:p>
          <a:p>
            <a:pPr marL="185738" marR="0" lvl="0" indent="-176213" algn="l" rtl="0">
              <a:spcBef>
                <a:spcPts val="0"/>
              </a:spcBef>
              <a:spcAft>
                <a:spcPts val="0"/>
              </a:spcAft>
              <a:buClr>
                <a:schemeClr val="dk1"/>
              </a:buClr>
              <a:buSzPct val="100000"/>
              <a:buFont typeface="Arial"/>
              <a:buChar char="•"/>
            </a:pPr>
            <a:r>
              <a:rPr lang="es-PE" sz="1500" dirty="0">
                <a:solidFill>
                  <a:schemeClr val="dk1"/>
                </a:solidFill>
                <a:latin typeface="Calibri"/>
                <a:ea typeface="Calibri"/>
                <a:cs typeface="Calibri"/>
                <a:sym typeface="Calibri"/>
              </a:rPr>
              <a:t>Es la capacidad del producto de software para proporcionar el conjunto de funciones que satisface las necesidades (explícitas e implícitas) de los usuarios.</a:t>
            </a:r>
            <a:endParaRPr lang="es-PE" sz="1500" dirty="0"/>
          </a:p>
          <a:p>
            <a:pPr marL="185738" marR="0" lvl="0" indent="-74613" algn="l" rtl="0">
              <a:spcBef>
                <a:spcPts val="0"/>
              </a:spcBef>
              <a:spcAft>
                <a:spcPts val="0"/>
              </a:spcAft>
              <a:buClr>
                <a:schemeClr val="dk1"/>
              </a:buClr>
              <a:buSzPct val="100000"/>
              <a:buFont typeface="Arial"/>
              <a:buNone/>
            </a:pPr>
            <a:endParaRPr lang="es-PE" sz="1500" dirty="0">
              <a:solidFill>
                <a:schemeClr val="dk1"/>
              </a:solidFill>
              <a:latin typeface="Calibri"/>
              <a:ea typeface="Calibri"/>
              <a:cs typeface="Calibri"/>
              <a:sym typeface="Calibri"/>
            </a:endParaRPr>
          </a:p>
          <a:p>
            <a:pPr marL="185738" marR="0" lvl="0" indent="-176213" algn="l" rtl="0">
              <a:spcBef>
                <a:spcPts val="0"/>
              </a:spcBef>
              <a:spcAft>
                <a:spcPts val="0"/>
              </a:spcAft>
              <a:buClr>
                <a:schemeClr val="dk1"/>
              </a:buClr>
              <a:buSzPct val="100000"/>
              <a:buFont typeface="Arial"/>
              <a:buChar char="•"/>
            </a:pPr>
            <a:r>
              <a:rPr lang="es-PE" sz="1500" dirty="0">
                <a:solidFill>
                  <a:schemeClr val="dk1"/>
                </a:solidFill>
                <a:latin typeface="Calibri"/>
                <a:ea typeface="Calibri"/>
                <a:cs typeface="Calibri"/>
                <a:sym typeface="Calibri"/>
              </a:rPr>
              <a:t>Se divide en tres subcaracterísticas:</a:t>
            </a:r>
            <a:endParaRPr lang="es-PE" sz="1500" dirty="0"/>
          </a:p>
        </p:txBody>
      </p:sp>
      <p:sp>
        <p:nvSpPr>
          <p:cNvPr id="7" name="Rectangle 5">
            <a:extLst>
              <a:ext uri="{FF2B5EF4-FFF2-40B4-BE49-F238E27FC236}">
                <a16:creationId xmlns:a16="http://schemas.microsoft.com/office/drawing/2014/main" id="{DA8471D0-F313-CC44-99E8-AAA49DE0B49C}"/>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ATRIBUTOS DE CALIDAD</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8" name="Rectángulo redondeado 7">
            <a:extLst>
              <a:ext uri="{FF2B5EF4-FFF2-40B4-BE49-F238E27FC236}">
                <a16:creationId xmlns:a16="http://schemas.microsoft.com/office/drawing/2014/main" id="{E7BC9514-3590-6040-B23D-6EE6948F6ADD}"/>
              </a:ext>
            </a:extLst>
          </p:cNvPr>
          <p:cNvSpPr/>
          <p:nvPr/>
        </p:nvSpPr>
        <p:spPr>
          <a:xfrm>
            <a:off x="468313" y="1274296"/>
            <a:ext cx="1735449" cy="947330"/>
          </a:xfrm>
          <a:prstGeom prst="roundRect">
            <a:avLst>
              <a:gd name="adj" fmla="val 12027"/>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lnSpc>
                <a:spcPct val="90000"/>
              </a:lnSpc>
              <a:spcBef>
                <a:spcPts val="0"/>
              </a:spcBef>
              <a:spcAft>
                <a:spcPts val="0"/>
              </a:spcAft>
              <a:buClr>
                <a:schemeClr val="lt1"/>
              </a:buClr>
              <a:buSzPts val="1800"/>
              <a:buFont typeface="Calibri"/>
              <a:buNone/>
            </a:pPr>
            <a:r>
              <a:rPr lang="es-PE" sz="1400" b="1" dirty="0">
                <a:solidFill>
                  <a:schemeClr val="lt1"/>
                </a:solidFill>
                <a:latin typeface="Calibri"/>
                <a:ea typeface="Calibri"/>
                <a:cs typeface="Calibri"/>
                <a:sym typeface="Calibri"/>
              </a:rPr>
              <a:t>FUNCIONALIDAD</a:t>
            </a:r>
            <a:endParaRPr lang="es-PE" dirty="0"/>
          </a:p>
        </p:txBody>
      </p:sp>
      <p:grpSp>
        <p:nvGrpSpPr>
          <p:cNvPr id="12" name="Grupo 11">
            <a:extLst>
              <a:ext uri="{FF2B5EF4-FFF2-40B4-BE49-F238E27FC236}">
                <a16:creationId xmlns:a16="http://schemas.microsoft.com/office/drawing/2014/main" id="{6B4F6CEA-B509-1441-B3AE-039F0BC4D9D0}"/>
              </a:ext>
            </a:extLst>
          </p:cNvPr>
          <p:cNvGrpSpPr/>
          <p:nvPr/>
        </p:nvGrpSpPr>
        <p:grpSpPr>
          <a:xfrm>
            <a:off x="3179349" y="3152268"/>
            <a:ext cx="1879509" cy="394721"/>
            <a:chOff x="287221" y="917244"/>
            <a:chExt cx="2209952" cy="500394"/>
          </a:xfrm>
        </p:grpSpPr>
        <p:sp>
          <p:nvSpPr>
            <p:cNvPr id="13" name="Rectángulo redondeado 12">
              <a:extLst>
                <a:ext uri="{FF2B5EF4-FFF2-40B4-BE49-F238E27FC236}">
                  <a16:creationId xmlns:a16="http://schemas.microsoft.com/office/drawing/2014/main" id="{CB90FD61-BFEC-044C-AE05-1823656D0A2F}"/>
                </a:ext>
              </a:extLst>
            </p:cNvPr>
            <p:cNvSpPr/>
            <p:nvPr/>
          </p:nvSpPr>
          <p:spPr>
            <a:xfrm>
              <a:off x="503238" y="917244"/>
              <a:ext cx="1993935" cy="500394"/>
            </a:xfrm>
            <a:prstGeom prst="roundRect">
              <a:avLst>
                <a:gd name="adj" fmla="val 24841"/>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762" lvl="1" algn="ctr">
                <a:buSzPts val="1600"/>
                <a:tabLst>
                  <a:tab pos="569913" algn="l"/>
                </a:tabLst>
              </a:pPr>
              <a:r>
                <a:rPr lang="es-PE" b="1" dirty="0">
                  <a:solidFill>
                    <a:schemeClr val="lt1"/>
                  </a:solidFill>
                  <a:latin typeface="Calibri" charset="0"/>
                  <a:cs typeface="Calibri" charset="0"/>
                  <a:sym typeface="Calibri"/>
                </a:rPr>
                <a:t>Completitud</a:t>
              </a:r>
              <a:endParaRPr lang="es-PE" b="1" dirty="0">
                <a:solidFill>
                  <a:schemeClr val="lt1"/>
                </a:solidFill>
                <a:latin typeface="Calibri" charset="0"/>
                <a:cs typeface="Calibri" charset="0"/>
              </a:endParaRPr>
            </a:p>
          </p:txBody>
        </p:sp>
        <p:grpSp>
          <p:nvGrpSpPr>
            <p:cNvPr id="14" name="Agrupar 14">
              <a:extLst>
                <a:ext uri="{FF2B5EF4-FFF2-40B4-BE49-F238E27FC236}">
                  <a16:creationId xmlns:a16="http://schemas.microsoft.com/office/drawing/2014/main" id="{757E3939-AF0D-5D48-A068-2A1B3A3E819D}"/>
                </a:ext>
              </a:extLst>
            </p:cNvPr>
            <p:cNvGrpSpPr/>
            <p:nvPr/>
          </p:nvGrpSpPr>
          <p:grpSpPr>
            <a:xfrm>
              <a:off x="287221" y="965530"/>
              <a:ext cx="459474" cy="403823"/>
              <a:chOff x="5892512" y="2805541"/>
              <a:chExt cx="459474" cy="403823"/>
            </a:xfrm>
          </p:grpSpPr>
          <p:sp>
            <p:nvSpPr>
              <p:cNvPr id="15" name="Elipse 14">
                <a:extLst>
                  <a:ext uri="{FF2B5EF4-FFF2-40B4-BE49-F238E27FC236}">
                    <a16:creationId xmlns:a16="http://schemas.microsoft.com/office/drawing/2014/main" id="{4B47ACE8-8728-2345-9941-64670E12A26B}"/>
                  </a:ext>
                </a:extLst>
              </p:cNvPr>
              <p:cNvSpPr/>
              <p:nvPr/>
            </p:nvSpPr>
            <p:spPr>
              <a:xfrm>
                <a:off x="5956277" y="2824919"/>
                <a:ext cx="395709" cy="376075"/>
              </a:xfrm>
              <a:prstGeom prst="ellipse">
                <a:avLst/>
              </a:prstGeom>
              <a:solidFill>
                <a:srgbClr val="C73A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6" name="Elipse 15">
                <a:extLst>
                  <a:ext uri="{FF2B5EF4-FFF2-40B4-BE49-F238E27FC236}">
                    <a16:creationId xmlns:a16="http://schemas.microsoft.com/office/drawing/2014/main" id="{B2F48BB5-B4C2-8440-AACE-527B7A08F2A4}"/>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7" name="Triángulo 16">
                <a:extLst>
                  <a:ext uri="{FF2B5EF4-FFF2-40B4-BE49-F238E27FC236}">
                    <a16:creationId xmlns:a16="http://schemas.microsoft.com/office/drawing/2014/main" id="{AA96E7D5-4392-2748-95F9-5109C0CA7125}"/>
                  </a:ext>
                </a:extLst>
              </p:cNvPr>
              <p:cNvSpPr/>
              <p:nvPr/>
            </p:nvSpPr>
            <p:spPr>
              <a:xfrm rot="5400000">
                <a:off x="6076285" y="2946262"/>
                <a:ext cx="186870" cy="122381"/>
              </a:xfrm>
              <a:prstGeom prst="triangle">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grpSp>
        <p:nvGrpSpPr>
          <p:cNvPr id="18" name="Grupo 17">
            <a:extLst>
              <a:ext uri="{FF2B5EF4-FFF2-40B4-BE49-F238E27FC236}">
                <a16:creationId xmlns:a16="http://schemas.microsoft.com/office/drawing/2014/main" id="{C3F1361A-2525-A644-B403-B8D244BFE2D4}"/>
              </a:ext>
            </a:extLst>
          </p:cNvPr>
          <p:cNvGrpSpPr/>
          <p:nvPr/>
        </p:nvGrpSpPr>
        <p:grpSpPr>
          <a:xfrm>
            <a:off x="3179349" y="3622915"/>
            <a:ext cx="1879509" cy="394721"/>
            <a:chOff x="287221" y="917244"/>
            <a:chExt cx="2209952" cy="500394"/>
          </a:xfrm>
        </p:grpSpPr>
        <p:sp>
          <p:nvSpPr>
            <p:cNvPr id="19" name="Rectángulo redondeado 18">
              <a:extLst>
                <a:ext uri="{FF2B5EF4-FFF2-40B4-BE49-F238E27FC236}">
                  <a16:creationId xmlns:a16="http://schemas.microsoft.com/office/drawing/2014/main" id="{9F783D96-3418-DD45-B90A-0B7110F82B17}"/>
                </a:ext>
              </a:extLst>
            </p:cNvPr>
            <p:cNvSpPr/>
            <p:nvPr/>
          </p:nvSpPr>
          <p:spPr>
            <a:xfrm>
              <a:off x="503238" y="917244"/>
              <a:ext cx="1993935" cy="500394"/>
            </a:xfrm>
            <a:prstGeom prst="roundRect">
              <a:avLst>
                <a:gd name="adj" fmla="val 24841"/>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762" lvl="1" algn="ctr">
                <a:buSzPts val="1600"/>
                <a:tabLst>
                  <a:tab pos="569913" algn="l"/>
                </a:tabLst>
              </a:pPr>
              <a:r>
                <a:rPr lang="es-PE" b="1" dirty="0">
                  <a:solidFill>
                    <a:schemeClr val="lt1"/>
                  </a:solidFill>
                  <a:latin typeface="Calibri" charset="0"/>
                  <a:cs typeface="Calibri" charset="0"/>
                  <a:sym typeface="Calibri"/>
                </a:rPr>
                <a:t>Correctitud</a:t>
              </a:r>
              <a:endParaRPr lang="es-PE" b="1" dirty="0">
                <a:solidFill>
                  <a:schemeClr val="lt1"/>
                </a:solidFill>
                <a:latin typeface="Calibri" charset="0"/>
                <a:cs typeface="Calibri" charset="0"/>
              </a:endParaRPr>
            </a:p>
          </p:txBody>
        </p:sp>
        <p:grpSp>
          <p:nvGrpSpPr>
            <p:cNvPr id="20" name="Agrupar 14">
              <a:extLst>
                <a:ext uri="{FF2B5EF4-FFF2-40B4-BE49-F238E27FC236}">
                  <a16:creationId xmlns:a16="http://schemas.microsoft.com/office/drawing/2014/main" id="{99E599A3-0CEE-6A49-A4D5-5608715BF2EC}"/>
                </a:ext>
              </a:extLst>
            </p:cNvPr>
            <p:cNvGrpSpPr/>
            <p:nvPr/>
          </p:nvGrpSpPr>
          <p:grpSpPr>
            <a:xfrm>
              <a:off x="287221" y="965530"/>
              <a:ext cx="459474" cy="403823"/>
              <a:chOff x="5892512" y="2805541"/>
              <a:chExt cx="459474" cy="403823"/>
            </a:xfrm>
          </p:grpSpPr>
          <p:sp>
            <p:nvSpPr>
              <p:cNvPr id="21" name="Elipse 20">
                <a:extLst>
                  <a:ext uri="{FF2B5EF4-FFF2-40B4-BE49-F238E27FC236}">
                    <a16:creationId xmlns:a16="http://schemas.microsoft.com/office/drawing/2014/main" id="{21DEC820-761D-0542-AB12-E6D35E9802E5}"/>
                  </a:ext>
                </a:extLst>
              </p:cNvPr>
              <p:cNvSpPr/>
              <p:nvPr/>
            </p:nvSpPr>
            <p:spPr>
              <a:xfrm>
                <a:off x="5956277" y="2824919"/>
                <a:ext cx="395709" cy="376075"/>
              </a:xfrm>
              <a:prstGeom prst="ellipse">
                <a:avLst/>
              </a:prstGeom>
              <a:solidFill>
                <a:srgbClr val="C73A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22" name="Elipse 21">
                <a:extLst>
                  <a:ext uri="{FF2B5EF4-FFF2-40B4-BE49-F238E27FC236}">
                    <a16:creationId xmlns:a16="http://schemas.microsoft.com/office/drawing/2014/main" id="{41D75991-1D76-974C-8D18-117767D5A5DC}"/>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23" name="Triángulo 22">
                <a:extLst>
                  <a:ext uri="{FF2B5EF4-FFF2-40B4-BE49-F238E27FC236}">
                    <a16:creationId xmlns:a16="http://schemas.microsoft.com/office/drawing/2014/main" id="{58F1DFE1-21F6-EE4F-8412-C1A4087D8A0E}"/>
                  </a:ext>
                </a:extLst>
              </p:cNvPr>
              <p:cNvSpPr/>
              <p:nvPr/>
            </p:nvSpPr>
            <p:spPr>
              <a:xfrm rot="5400000">
                <a:off x="6076285" y="2946262"/>
                <a:ext cx="186870" cy="122381"/>
              </a:xfrm>
              <a:prstGeom prst="triangle">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grpSp>
        <p:nvGrpSpPr>
          <p:cNvPr id="24" name="Grupo 23">
            <a:extLst>
              <a:ext uri="{FF2B5EF4-FFF2-40B4-BE49-F238E27FC236}">
                <a16:creationId xmlns:a16="http://schemas.microsoft.com/office/drawing/2014/main" id="{D8C259FE-74A9-C044-9130-44C2C9A88E65}"/>
              </a:ext>
            </a:extLst>
          </p:cNvPr>
          <p:cNvGrpSpPr/>
          <p:nvPr/>
        </p:nvGrpSpPr>
        <p:grpSpPr>
          <a:xfrm>
            <a:off x="3179349" y="4100286"/>
            <a:ext cx="1879509" cy="394721"/>
            <a:chOff x="287221" y="917244"/>
            <a:chExt cx="2209952" cy="500394"/>
          </a:xfrm>
        </p:grpSpPr>
        <p:sp>
          <p:nvSpPr>
            <p:cNvPr id="25" name="Rectángulo redondeado 24">
              <a:extLst>
                <a:ext uri="{FF2B5EF4-FFF2-40B4-BE49-F238E27FC236}">
                  <a16:creationId xmlns:a16="http://schemas.microsoft.com/office/drawing/2014/main" id="{8D59EAC7-87A6-A148-A06A-CC803D74A181}"/>
                </a:ext>
              </a:extLst>
            </p:cNvPr>
            <p:cNvSpPr/>
            <p:nvPr/>
          </p:nvSpPr>
          <p:spPr>
            <a:xfrm>
              <a:off x="503238" y="917244"/>
              <a:ext cx="1993935" cy="500394"/>
            </a:xfrm>
            <a:prstGeom prst="roundRect">
              <a:avLst>
                <a:gd name="adj" fmla="val 24841"/>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762" lvl="1" algn="ctr">
                <a:buSzPts val="1600"/>
                <a:tabLst>
                  <a:tab pos="569913" algn="l"/>
                </a:tabLst>
              </a:pPr>
              <a:r>
                <a:rPr lang="es-PE" b="1" dirty="0">
                  <a:solidFill>
                    <a:schemeClr val="lt1"/>
                  </a:solidFill>
                  <a:latin typeface="Calibri" charset="0"/>
                  <a:cs typeface="Calibri" charset="0"/>
                  <a:sym typeface="Calibri"/>
                </a:rPr>
                <a:t>Adecuación</a:t>
              </a:r>
              <a:endParaRPr lang="es-PE" b="1" dirty="0">
                <a:solidFill>
                  <a:schemeClr val="lt1"/>
                </a:solidFill>
                <a:latin typeface="Calibri" charset="0"/>
                <a:cs typeface="Calibri" charset="0"/>
              </a:endParaRPr>
            </a:p>
          </p:txBody>
        </p:sp>
        <p:grpSp>
          <p:nvGrpSpPr>
            <p:cNvPr id="26" name="Agrupar 14">
              <a:extLst>
                <a:ext uri="{FF2B5EF4-FFF2-40B4-BE49-F238E27FC236}">
                  <a16:creationId xmlns:a16="http://schemas.microsoft.com/office/drawing/2014/main" id="{2EA798F5-4265-024E-B10A-F81A4E41FD0C}"/>
                </a:ext>
              </a:extLst>
            </p:cNvPr>
            <p:cNvGrpSpPr/>
            <p:nvPr/>
          </p:nvGrpSpPr>
          <p:grpSpPr>
            <a:xfrm>
              <a:off x="287221" y="965530"/>
              <a:ext cx="459474" cy="403823"/>
              <a:chOff x="5892512" y="2805541"/>
              <a:chExt cx="459474" cy="403823"/>
            </a:xfrm>
          </p:grpSpPr>
          <p:sp>
            <p:nvSpPr>
              <p:cNvPr id="27" name="Elipse 26">
                <a:extLst>
                  <a:ext uri="{FF2B5EF4-FFF2-40B4-BE49-F238E27FC236}">
                    <a16:creationId xmlns:a16="http://schemas.microsoft.com/office/drawing/2014/main" id="{0CCECE17-DA93-4345-A219-9AB18463A468}"/>
                  </a:ext>
                </a:extLst>
              </p:cNvPr>
              <p:cNvSpPr/>
              <p:nvPr/>
            </p:nvSpPr>
            <p:spPr>
              <a:xfrm>
                <a:off x="5956277" y="2824919"/>
                <a:ext cx="395709" cy="376075"/>
              </a:xfrm>
              <a:prstGeom prst="ellipse">
                <a:avLst/>
              </a:prstGeom>
              <a:solidFill>
                <a:srgbClr val="C73A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28" name="Elipse 27">
                <a:extLst>
                  <a:ext uri="{FF2B5EF4-FFF2-40B4-BE49-F238E27FC236}">
                    <a16:creationId xmlns:a16="http://schemas.microsoft.com/office/drawing/2014/main" id="{42746387-80D1-DB42-92EB-1EE49B708B66}"/>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29" name="Triángulo 28">
                <a:extLst>
                  <a:ext uri="{FF2B5EF4-FFF2-40B4-BE49-F238E27FC236}">
                    <a16:creationId xmlns:a16="http://schemas.microsoft.com/office/drawing/2014/main" id="{0E8A4B9E-35F9-F94D-9C71-BCB87C85BA3F}"/>
                  </a:ext>
                </a:extLst>
              </p:cNvPr>
              <p:cNvSpPr/>
              <p:nvPr/>
            </p:nvSpPr>
            <p:spPr>
              <a:xfrm rot="5400000">
                <a:off x="6076285" y="2946262"/>
                <a:ext cx="186870" cy="122381"/>
              </a:xfrm>
              <a:prstGeom prst="triangle">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7" name="Rectangle 5">
            <a:extLst>
              <a:ext uri="{FF2B5EF4-FFF2-40B4-BE49-F238E27FC236}">
                <a16:creationId xmlns:a16="http://schemas.microsoft.com/office/drawing/2014/main" id="{77F033D3-9DFE-6D4D-B81F-D2319E3595D7}"/>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ATRIBUTOS DE CALIDAD</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8" name="Google Shape;394;p24">
            <a:extLst>
              <a:ext uri="{FF2B5EF4-FFF2-40B4-BE49-F238E27FC236}">
                <a16:creationId xmlns:a16="http://schemas.microsoft.com/office/drawing/2014/main" id="{C9760FB5-272F-264C-8082-8F58E490FF6D}"/>
              </a:ext>
            </a:extLst>
          </p:cNvPr>
          <p:cNvSpPr/>
          <p:nvPr/>
        </p:nvSpPr>
        <p:spPr>
          <a:xfrm>
            <a:off x="3179349" y="1274296"/>
            <a:ext cx="5496339" cy="1554272"/>
          </a:xfrm>
          <a:prstGeom prst="rect">
            <a:avLst/>
          </a:prstGeom>
          <a:noFill/>
          <a:ln>
            <a:noFill/>
          </a:ln>
        </p:spPr>
        <p:txBody>
          <a:bodyPr spcFirstLastPara="1" wrap="square" lIns="0" tIns="0" rIns="0" bIns="0" anchor="t" anchorCtr="0">
            <a:spAutoFit/>
          </a:bodyPr>
          <a:lstStyle/>
          <a:p>
            <a:pPr lvl="0">
              <a:spcAft>
                <a:spcPts val="600"/>
              </a:spcAft>
            </a:pPr>
            <a:r>
              <a:rPr lang="es-ES" sz="2000" b="1" dirty="0">
                <a:solidFill>
                  <a:srgbClr val="92C14E"/>
                </a:solidFill>
                <a:latin typeface="Graphik Bold" panose="020B0503030202060203" pitchFamily="34" charset="77"/>
                <a:cs typeface="Calibri" charset="0"/>
              </a:rPr>
              <a:t>+ 02.</a:t>
            </a:r>
            <a:br>
              <a:rPr lang="es-ES" sz="1600" b="1" dirty="0">
                <a:solidFill>
                  <a:srgbClr val="92C14E"/>
                </a:solidFill>
                <a:latin typeface="Calibri" charset="0"/>
                <a:cs typeface="Calibri" charset="0"/>
              </a:rPr>
            </a:br>
            <a:r>
              <a:rPr lang="es-ES" sz="1600" b="1" dirty="0">
                <a:solidFill>
                  <a:srgbClr val="92C14E"/>
                </a:solidFill>
                <a:latin typeface="Calibri" charset="0"/>
                <a:cs typeface="Calibri" charset="0"/>
              </a:rPr>
              <a:t>RENDIMIENTO</a:t>
            </a:r>
            <a:endParaRPr lang="es-PE" sz="1600" b="1" dirty="0">
              <a:solidFill>
                <a:srgbClr val="92C14E"/>
              </a:solidFill>
              <a:latin typeface="Calibri" charset="0"/>
              <a:cs typeface="Calibri" charset="0"/>
            </a:endParaRPr>
          </a:p>
          <a:p>
            <a:pPr marL="179388" marR="0" lvl="0" indent="-179388" algn="l" rtl="0">
              <a:spcBef>
                <a:spcPts val="0"/>
              </a:spcBef>
              <a:spcAft>
                <a:spcPts val="0"/>
              </a:spcAft>
              <a:buClr>
                <a:schemeClr val="dk1"/>
              </a:buClr>
              <a:buSzPct val="100000"/>
              <a:buFont typeface="Arial"/>
              <a:buChar char="•"/>
            </a:pPr>
            <a:r>
              <a:rPr lang="es-PE" sz="1500" dirty="0">
                <a:solidFill>
                  <a:schemeClr val="dk1"/>
                </a:solidFill>
                <a:latin typeface="Calibri"/>
                <a:ea typeface="Calibri"/>
                <a:cs typeface="Calibri"/>
                <a:sym typeface="Calibri"/>
              </a:rPr>
              <a:t>Representa el desempeño del producto en lo referente a la calidad de recursos utilizados bajo determinadas condiciones.</a:t>
            </a:r>
            <a:endParaRPr lang="es-PE" sz="1500" dirty="0"/>
          </a:p>
          <a:p>
            <a:pPr marL="179388" marR="0" lvl="0" indent="-179388" algn="l" rtl="0">
              <a:spcBef>
                <a:spcPts val="0"/>
              </a:spcBef>
              <a:spcAft>
                <a:spcPts val="0"/>
              </a:spcAft>
              <a:buClr>
                <a:schemeClr val="dk1"/>
              </a:buClr>
              <a:buSzPct val="100000"/>
              <a:buFont typeface="Arial"/>
              <a:buNone/>
            </a:pPr>
            <a:endParaRPr lang="es-PE" sz="1500" dirty="0">
              <a:solidFill>
                <a:schemeClr val="dk1"/>
              </a:solidFill>
              <a:latin typeface="Calibri"/>
              <a:ea typeface="Calibri"/>
              <a:cs typeface="Calibri"/>
              <a:sym typeface="Calibri"/>
            </a:endParaRPr>
          </a:p>
          <a:p>
            <a:pPr marL="179388" marR="0" lvl="0" indent="-179388" algn="l" rtl="0">
              <a:spcBef>
                <a:spcPts val="0"/>
              </a:spcBef>
              <a:spcAft>
                <a:spcPts val="0"/>
              </a:spcAft>
              <a:buClr>
                <a:schemeClr val="dk1"/>
              </a:buClr>
              <a:buSzPct val="100000"/>
              <a:buFont typeface="Arial"/>
              <a:buChar char="•"/>
            </a:pPr>
            <a:r>
              <a:rPr lang="es-PE" sz="1500" dirty="0">
                <a:solidFill>
                  <a:schemeClr val="dk1"/>
                </a:solidFill>
                <a:latin typeface="Calibri"/>
                <a:ea typeface="Calibri"/>
                <a:cs typeface="Calibri"/>
                <a:sym typeface="Calibri"/>
              </a:rPr>
              <a:t>Se divide en dos subcaracterísticas:</a:t>
            </a:r>
            <a:endParaRPr lang="es-PE" sz="1500" dirty="0"/>
          </a:p>
        </p:txBody>
      </p:sp>
      <p:sp>
        <p:nvSpPr>
          <p:cNvPr id="9" name="Rectángulo redondeado 8">
            <a:extLst>
              <a:ext uri="{FF2B5EF4-FFF2-40B4-BE49-F238E27FC236}">
                <a16:creationId xmlns:a16="http://schemas.microsoft.com/office/drawing/2014/main" id="{8D7EEC57-B244-5C42-A429-93741EE3DFB1}"/>
              </a:ext>
            </a:extLst>
          </p:cNvPr>
          <p:cNvSpPr/>
          <p:nvPr/>
        </p:nvSpPr>
        <p:spPr>
          <a:xfrm>
            <a:off x="468313" y="1274296"/>
            <a:ext cx="1735449" cy="947330"/>
          </a:xfrm>
          <a:prstGeom prst="roundRect">
            <a:avLst>
              <a:gd name="adj" fmla="val 12027"/>
            </a:avLst>
          </a:prstGeom>
          <a:solidFill>
            <a:srgbClr val="92C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lnSpc>
                <a:spcPct val="90000"/>
              </a:lnSpc>
              <a:spcBef>
                <a:spcPts val="0"/>
              </a:spcBef>
              <a:spcAft>
                <a:spcPts val="0"/>
              </a:spcAft>
              <a:buNone/>
            </a:pPr>
            <a:r>
              <a:rPr lang="es-PE" sz="1400" b="1" dirty="0">
                <a:solidFill>
                  <a:schemeClr val="lt1"/>
                </a:solidFill>
                <a:latin typeface="Calibri"/>
                <a:ea typeface="Calibri"/>
                <a:cs typeface="Calibri"/>
                <a:sym typeface="Calibri"/>
              </a:rPr>
              <a:t>RENDIMIENTO</a:t>
            </a:r>
            <a:endParaRPr lang="es-PE" dirty="0"/>
          </a:p>
        </p:txBody>
      </p:sp>
      <p:grpSp>
        <p:nvGrpSpPr>
          <p:cNvPr id="10" name="Grupo 9">
            <a:extLst>
              <a:ext uri="{FF2B5EF4-FFF2-40B4-BE49-F238E27FC236}">
                <a16:creationId xmlns:a16="http://schemas.microsoft.com/office/drawing/2014/main" id="{8DA4B18F-81C9-1E46-9C9B-1ECBA2FEF25A}"/>
              </a:ext>
            </a:extLst>
          </p:cNvPr>
          <p:cNvGrpSpPr/>
          <p:nvPr/>
        </p:nvGrpSpPr>
        <p:grpSpPr>
          <a:xfrm>
            <a:off x="3179349" y="3004351"/>
            <a:ext cx="2770975" cy="394721"/>
            <a:chOff x="287221" y="917244"/>
            <a:chExt cx="3258150" cy="500394"/>
          </a:xfrm>
        </p:grpSpPr>
        <p:sp>
          <p:nvSpPr>
            <p:cNvPr id="11" name="Rectángulo redondeado 10">
              <a:extLst>
                <a:ext uri="{FF2B5EF4-FFF2-40B4-BE49-F238E27FC236}">
                  <a16:creationId xmlns:a16="http://schemas.microsoft.com/office/drawing/2014/main" id="{A73795A3-BD67-FB42-A0CA-AF81817A1EAD}"/>
                </a:ext>
              </a:extLst>
            </p:cNvPr>
            <p:cNvSpPr/>
            <p:nvPr/>
          </p:nvSpPr>
          <p:spPr>
            <a:xfrm>
              <a:off x="503238" y="917244"/>
              <a:ext cx="3042133" cy="500394"/>
            </a:xfrm>
            <a:prstGeom prst="roundRect">
              <a:avLst>
                <a:gd name="adj" fmla="val 24841"/>
              </a:avLst>
            </a:prstGeom>
            <a:solidFill>
              <a:srgbClr val="92C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ctr">
                <a:buSzPts val="1600"/>
                <a:tabLst>
                  <a:tab pos="569913" algn="l"/>
                </a:tabLst>
              </a:pPr>
              <a:r>
                <a:rPr lang="es-PE" b="1" dirty="0">
                  <a:solidFill>
                    <a:schemeClr val="lt1"/>
                  </a:solidFill>
                  <a:latin typeface="Calibri" charset="0"/>
                  <a:ea typeface="+mn-ea"/>
                  <a:cs typeface="Calibri" charset="0"/>
                  <a:sym typeface="Calibri"/>
                </a:rPr>
                <a:t>Comportamiento temporal</a:t>
              </a:r>
              <a:endParaRPr lang="es-PE" b="1" dirty="0">
                <a:solidFill>
                  <a:schemeClr val="lt1"/>
                </a:solidFill>
                <a:latin typeface="Calibri" charset="0"/>
                <a:ea typeface="+mn-ea"/>
                <a:cs typeface="Calibri" charset="0"/>
              </a:endParaRPr>
            </a:p>
          </p:txBody>
        </p:sp>
        <p:grpSp>
          <p:nvGrpSpPr>
            <p:cNvPr id="12" name="Agrupar 14">
              <a:extLst>
                <a:ext uri="{FF2B5EF4-FFF2-40B4-BE49-F238E27FC236}">
                  <a16:creationId xmlns:a16="http://schemas.microsoft.com/office/drawing/2014/main" id="{CCF1AC64-07F9-E44D-B798-E025A85B3C9B}"/>
                </a:ext>
              </a:extLst>
            </p:cNvPr>
            <p:cNvGrpSpPr/>
            <p:nvPr/>
          </p:nvGrpSpPr>
          <p:grpSpPr>
            <a:xfrm>
              <a:off x="287221" y="965530"/>
              <a:ext cx="459474" cy="403823"/>
              <a:chOff x="5892512" y="2805541"/>
              <a:chExt cx="459474" cy="403823"/>
            </a:xfrm>
          </p:grpSpPr>
          <p:sp>
            <p:nvSpPr>
              <p:cNvPr id="13" name="Elipse 12">
                <a:extLst>
                  <a:ext uri="{FF2B5EF4-FFF2-40B4-BE49-F238E27FC236}">
                    <a16:creationId xmlns:a16="http://schemas.microsoft.com/office/drawing/2014/main" id="{BA22154B-0D9F-AC42-AE2D-870892079A2D}"/>
                  </a:ext>
                </a:extLst>
              </p:cNvPr>
              <p:cNvSpPr/>
              <p:nvPr/>
            </p:nvSpPr>
            <p:spPr>
              <a:xfrm>
                <a:off x="5956277" y="2824919"/>
                <a:ext cx="395709" cy="376075"/>
              </a:xfrm>
              <a:prstGeom prst="ellipse">
                <a:avLst/>
              </a:prstGeom>
              <a:solidFill>
                <a:srgbClr val="6A8F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4" name="Elipse 13">
                <a:extLst>
                  <a:ext uri="{FF2B5EF4-FFF2-40B4-BE49-F238E27FC236}">
                    <a16:creationId xmlns:a16="http://schemas.microsoft.com/office/drawing/2014/main" id="{FB32B06C-999B-6D4C-ACA0-19827B9C4AEB}"/>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5" name="Triángulo 14">
                <a:extLst>
                  <a:ext uri="{FF2B5EF4-FFF2-40B4-BE49-F238E27FC236}">
                    <a16:creationId xmlns:a16="http://schemas.microsoft.com/office/drawing/2014/main" id="{8F51263E-10FE-604A-B899-B11FDAED7CAD}"/>
                  </a:ext>
                </a:extLst>
              </p:cNvPr>
              <p:cNvSpPr/>
              <p:nvPr/>
            </p:nvSpPr>
            <p:spPr>
              <a:xfrm rot="5400000">
                <a:off x="6076285" y="2946262"/>
                <a:ext cx="186870" cy="122381"/>
              </a:xfrm>
              <a:prstGeom prst="triangle">
                <a:avLst/>
              </a:prstGeom>
              <a:solidFill>
                <a:srgbClr val="92C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grpSp>
        <p:nvGrpSpPr>
          <p:cNvPr id="16" name="Grupo 15">
            <a:extLst>
              <a:ext uri="{FF2B5EF4-FFF2-40B4-BE49-F238E27FC236}">
                <a16:creationId xmlns:a16="http://schemas.microsoft.com/office/drawing/2014/main" id="{D5C1A9E3-E8B8-7B44-A516-55717D43D87A}"/>
              </a:ext>
            </a:extLst>
          </p:cNvPr>
          <p:cNvGrpSpPr/>
          <p:nvPr/>
        </p:nvGrpSpPr>
        <p:grpSpPr>
          <a:xfrm>
            <a:off x="3179349" y="3474998"/>
            <a:ext cx="2770974" cy="394721"/>
            <a:chOff x="287221" y="917244"/>
            <a:chExt cx="3258148" cy="500394"/>
          </a:xfrm>
        </p:grpSpPr>
        <p:sp>
          <p:nvSpPr>
            <p:cNvPr id="17" name="Rectángulo redondeado 16">
              <a:extLst>
                <a:ext uri="{FF2B5EF4-FFF2-40B4-BE49-F238E27FC236}">
                  <a16:creationId xmlns:a16="http://schemas.microsoft.com/office/drawing/2014/main" id="{1EEDA264-4E1F-6B4E-B051-B3E643BDEC80}"/>
                </a:ext>
              </a:extLst>
            </p:cNvPr>
            <p:cNvSpPr/>
            <p:nvPr/>
          </p:nvSpPr>
          <p:spPr>
            <a:xfrm>
              <a:off x="503237" y="917244"/>
              <a:ext cx="3042132" cy="500394"/>
            </a:xfrm>
            <a:prstGeom prst="roundRect">
              <a:avLst>
                <a:gd name="adj" fmla="val 24841"/>
              </a:avLst>
            </a:prstGeom>
            <a:solidFill>
              <a:srgbClr val="92C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ctr">
                <a:buSzPts val="1600"/>
                <a:tabLst>
                  <a:tab pos="569913" algn="l"/>
                </a:tabLst>
              </a:pPr>
              <a:r>
                <a:rPr lang="es-PE" b="1" dirty="0">
                  <a:solidFill>
                    <a:schemeClr val="lt1"/>
                  </a:solidFill>
                  <a:latin typeface="Calibri" charset="0"/>
                  <a:ea typeface="+mn-ea"/>
                  <a:cs typeface="Calibri" charset="0"/>
                  <a:sym typeface="Calibri"/>
                </a:rPr>
                <a:t>Utilización de Recursos</a:t>
              </a:r>
              <a:endParaRPr lang="es-PE" b="1" dirty="0">
                <a:solidFill>
                  <a:schemeClr val="lt1"/>
                </a:solidFill>
                <a:latin typeface="Calibri" charset="0"/>
                <a:ea typeface="+mn-ea"/>
                <a:cs typeface="Calibri" charset="0"/>
              </a:endParaRPr>
            </a:p>
          </p:txBody>
        </p:sp>
        <p:grpSp>
          <p:nvGrpSpPr>
            <p:cNvPr id="18" name="Agrupar 14">
              <a:extLst>
                <a:ext uri="{FF2B5EF4-FFF2-40B4-BE49-F238E27FC236}">
                  <a16:creationId xmlns:a16="http://schemas.microsoft.com/office/drawing/2014/main" id="{CC859A2D-80D2-B34D-82D0-A5F34A63142D}"/>
                </a:ext>
              </a:extLst>
            </p:cNvPr>
            <p:cNvGrpSpPr/>
            <p:nvPr/>
          </p:nvGrpSpPr>
          <p:grpSpPr>
            <a:xfrm>
              <a:off x="287221" y="965530"/>
              <a:ext cx="459474" cy="403823"/>
              <a:chOff x="5892512" y="2805541"/>
              <a:chExt cx="459474" cy="403823"/>
            </a:xfrm>
          </p:grpSpPr>
          <p:sp>
            <p:nvSpPr>
              <p:cNvPr id="19" name="Elipse 18">
                <a:extLst>
                  <a:ext uri="{FF2B5EF4-FFF2-40B4-BE49-F238E27FC236}">
                    <a16:creationId xmlns:a16="http://schemas.microsoft.com/office/drawing/2014/main" id="{63EE0A46-158C-F24A-9544-2A425049372E}"/>
                  </a:ext>
                </a:extLst>
              </p:cNvPr>
              <p:cNvSpPr/>
              <p:nvPr/>
            </p:nvSpPr>
            <p:spPr>
              <a:xfrm>
                <a:off x="5956277" y="2824919"/>
                <a:ext cx="395709" cy="376075"/>
              </a:xfrm>
              <a:prstGeom prst="ellipse">
                <a:avLst/>
              </a:prstGeom>
              <a:solidFill>
                <a:srgbClr val="6A8F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20" name="Elipse 19">
                <a:extLst>
                  <a:ext uri="{FF2B5EF4-FFF2-40B4-BE49-F238E27FC236}">
                    <a16:creationId xmlns:a16="http://schemas.microsoft.com/office/drawing/2014/main" id="{37CDCAC3-4842-F740-8586-92933C31BCC0}"/>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21" name="Triángulo 20">
                <a:extLst>
                  <a:ext uri="{FF2B5EF4-FFF2-40B4-BE49-F238E27FC236}">
                    <a16:creationId xmlns:a16="http://schemas.microsoft.com/office/drawing/2014/main" id="{2B9F351C-2D47-DF45-AF3A-FF78883D0133}"/>
                  </a:ext>
                </a:extLst>
              </p:cNvPr>
              <p:cNvSpPr/>
              <p:nvPr/>
            </p:nvSpPr>
            <p:spPr>
              <a:xfrm rot="5400000">
                <a:off x="6076285" y="2946262"/>
                <a:ext cx="186870" cy="122381"/>
              </a:xfrm>
              <a:prstGeom prst="triangle">
                <a:avLst/>
              </a:prstGeom>
              <a:solidFill>
                <a:srgbClr val="92C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7" name="Rectangle 5">
            <a:extLst>
              <a:ext uri="{FF2B5EF4-FFF2-40B4-BE49-F238E27FC236}">
                <a16:creationId xmlns:a16="http://schemas.microsoft.com/office/drawing/2014/main" id="{F49CE03D-D09E-DB47-A48A-51BD782C17B5}"/>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ATRIBUTOS DE CALIDAD</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8" name="Google Shape;394;p24">
            <a:extLst>
              <a:ext uri="{FF2B5EF4-FFF2-40B4-BE49-F238E27FC236}">
                <a16:creationId xmlns:a16="http://schemas.microsoft.com/office/drawing/2014/main" id="{19039C34-CB8A-DF49-8C3D-5CC69AE583BA}"/>
              </a:ext>
            </a:extLst>
          </p:cNvPr>
          <p:cNvSpPr/>
          <p:nvPr/>
        </p:nvSpPr>
        <p:spPr>
          <a:xfrm>
            <a:off x="3179349" y="1274296"/>
            <a:ext cx="5496339" cy="1785104"/>
          </a:xfrm>
          <a:prstGeom prst="rect">
            <a:avLst/>
          </a:prstGeom>
          <a:noFill/>
          <a:ln>
            <a:noFill/>
          </a:ln>
        </p:spPr>
        <p:txBody>
          <a:bodyPr spcFirstLastPara="1" wrap="square" lIns="0" tIns="0" rIns="0" bIns="0" anchor="t" anchorCtr="0">
            <a:spAutoFit/>
          </a:bodyPr>
          <a:lstStyle/>
          <a:p>
            <a:pPr lvl="0">
              <a:spcAft>
                <a:spcPts val="600"/>
              </a:spcAft>
            </a:pPr>
            <a:r>
              <a:rPr lang="es-ES" sz="2000" b="1" dirty="0">
                <a:solidFill>
                  <a:srgbClr val="7150A0"/>
                </a:solidFill>
                <a:latin typeface="Graphik Bold" panose="020B0503030202060203" pitchFamily="34" charset="77"/>
                <a:cs typeface="Calibri" charset="0"/>
              </a:rPr>
              <a:t>+ 03.</a:t>
            </a:r>
            <a:br>
              <a:rPr lang="es-ES" sz="1600" b="1" dirty="0">
                <a:solidFill>
                  <a:srgbClr val="7150A0"/>
                </a:solidFill>
                <a:latin typeface="Calibri" charset="0"/>
                <a:cs typeface="Calibri" charset="0"/>
              </a:rPr>
            </a:br>
            <a:r>
              <a:rPr lang="es-ES" sz="1600" b="1" dirty="0">
                <a:solidFill>
                  <a:srgbClr val="7150A0"/>
                </a:solidFill>
                <a:latin typeface="Calibri" charset="0"/>
                <a:cs typeface="Calibri" charset="0"/>
              </a:rPr>
              <a:t>COMPATIBILIDAD</a:t>
            </a:r>
            <a:endParaRPr lang="es-PE" sz="1600" b="1" dirty="0">
              <a:solidFill>
                <a:srgbClr val="7150A0"/>
              </a:solidFill>
              <a:latin typeface="Calibri" charset="0"/>
              <a:cs typeface="Calibri" charset="0"/>
            </a:endParaRPr>
          </a:p>
          <a:p>
            <a:pPr marL="227013" indent="-227013">
              <a:buClr>
                <a:schemeClr val="dk1"/>
              </a:buClr>
              <a:buSzPct val="100000"/>
              <a:buFont typeface="Arial"/>
              <a:buChar char="•"/>
            </a:pPr>
            <a:r>
              <a:rPr lang="es-PE" sz="1500" dirty="0">
                <a:solidFill>
                  <a:schemeClr val="dk1"/>
                </a:solidFill>
                <a:latin typeface="Calibri"/>
                <a:cs typeface="Calibri"/>
                <a:sym typeface="Calibri"/>
              </a:rPr>
              <a:t>Es la capacidad de dos o más sistemas o componentes de intercambiar información y/o llevar a cabo sus funciones cuando comparten el mismo entorno de hardware o software.</a:t>
            </a:r>
            <a:endParaRPr lang="es-PE" sz="1500" dirty="0">
              <a:solidFill>
                <a:schemeClr val="dk1"/>
              </a:solidFill>
              <a:latin typeface="Calibri"/>
              <a:cs typeface="Calibri"/>
            </a:endParaRPr>
          </a:p>
          <a:p>
            <a:pPr marL="227013" indent="-227013">
              <a:buClr>
                <a:schemeClr val="dk1"/>
              </a:buClr>
              <a:buSzPct val="100000"/>
              <a:buFont typeface="Arial"/>
              <a:buNone/>
            </a:pPr>
            <a:endParaRPr lang="es-PE" sz="1500" dirty="0">
              <a:solidFill>
                <a:schemeClr val="dk1"/>
              </a:solidFill>
              <a:latin typeface="Calibri"/>
              <a:cs typeface="Calibri"/>
              <a:sym typeface="Calibri"/>
            </a:endParaRPr>
          </a:p>
          <a:p>
            <a:pPr marL="227013" indent="-227013">
              <a:buClr>
                <a:schemeClr val="dk1"/>
              </a:buClr>
              <a:buSzPct val="100000"/>
              <a:buFont typeface="Arial"/>
              <a:buChar char="•"/>
            </a:pPr>
            <a:r>
              <a:rPr lang="es-PE" sz="1500" dirty="0">
                <a:solidFill>
                  <a:schemeClr val="dk1"/>
                </a:solidFill>
                <a:latin typeface="Calibri"/>
                <a:cs typeface="Calibri"/>
                <a:sym typeface="Calibri"/>
              </a:rPr>
              <a:t>Se divide en dos subcaracterísticas:</a:t>
            </a:r>
            <a:endParaRPr lang="es-PE" sz="1500" dirty="0">
              <a:solidFill>
                <a:schemeClr val="dk1"/>
              </a:solidFill>
              <a:latin typeface="Calibri"/>
              <a:cs typeface="Calibri"/>
            </a:endParaRPr>
          </a:p>
        </p:txBody>
      </p:sp>
      <p:sp>
        <p:nvSpPr>
          <p:cNvPr id="9" name="Rectángulo redondeado 8">
            <a:extLst>
              <a:ext uri="{FF2B5EF4-FFF2-40B4-BE49-F238E27FC236}">
                <a16:creationId xmlns:a16="http://schemas.microsoft.com/office/drawing/2014/main" id="{1F189E65-3088-304F-93A7-1FE678029728}"/>
              </a:ext>
            </a:extLst>
          </p:cNvPr>
          <p:cNvSpPr/>
          <p:nvPr/>
        </p:nvSpPr>
        <p:spPr>
          <a:xfrm>
            <a:off x="468313" y="1274296"/>
            <a:ext cx="1735449" cy="947330"/>
          </a:xfrm>
          <a:prstGeom prst="roundRect">
            <a:avLst>
              <a:gd name="adj" fmla="val 12027"/>
            </a:avLst>
          </a:prstGeom>
          <a:solidFill>
            <a:srgbClr val="715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lnSpc>
                <a:spcPct val="90000"/>
              </a:lnSpc>
              <a:spcBef>
                <a:spcPts val="0"/>
              </a:spcBef>
              <a:spcAft>
                <a:spcPts val="0"/>
              </a:spcAft>
              <a:buNone/>
            </a:pPr>
            <a:r>
              <a:rPr lang="es-PE" sz="1400" b="1" dirty="0">
                <a:solidFill>
                  <a:schemeClr val="lt1"/>
                </a:solidFill>
                <a:latin typeface="Calibri"/>
                <a:ea typeface="Calibri"/>
                <a:cs typeface="Calibri"/>
                <a:sym typeface="Calibri"/>
              </a:rPr>
              <a:t>COMPATIBILIDAD</a:t>
            </a:r>
            <a:endParaRPr lang="es-PE" dirty="0"/>
          </a:p>
        </p:txBody>
      </p:sp>
      <p:grpSp>
        <p:nvGrpSpPr>
          <p:cNvPr id="10" name="Grupo 9">
            <a:extLst>
              <a:ext uri="{FF2B5EF4-FFF2-40B4-BE49-F238E27FC236}">
                <a16:creationId xmlns:a16="http://schemas.microsoft.com/office/drawing/2014/main" id="{AD3EE06D-ED07-4946-B999-1E004BA2BBE2}"/>
              </a:ext>
            </a:extLst>
          </p:cNvPr>
          <p:cNvGrpSpPr/>
          <p:nvPr/>
        </p:nvGrpSpPr>
        <p:grpSpPr>
          <a:xfrm>
            <a:off x="3179349" y="3161520"/>
            <a:ext cx="2394533" cy="394721"/>
            <a:chOff x="287221" y="917244"/>
            <a:chExt cx="2815524" cy="500394"/>
          </a:xfrm>
        </p:grpSpPr>
        <p:sp>
          <p:nvSpPr>
            <p:cNvPr id="11" name="Rectángulo redondeado 10">
              <a:extLst>
                <a:ext uri="{FF2B5EF4-FFF2-40B4-BE49-F238E27FC236}">
                  <a16:creationId xmlns:a16="http://schemas.microsoft.com/office/drawing/2014/main" id="{41241CE4-0A11-CB44-A07A-94A2A237964F}"/>
                </a:ext>
              </a:extLst>
            </p:cNvPr>
            <p:cNvSpPr/>
            <p:nvPr/>
          </p:nvSpPr>
          <p:spPr>
            <a:xfrm>
              <a:off x="503238" y="917244"/>
              <a:ext cx="2599507" cy="500394"/>
            </a:xfrm>
            <a:prstGeom prst="roundRect">
              <a:avLst>
                <a:gd name="adj" fmla="val 24841"/>
              </a:avLst>
            </a:prstGeom>
            <a:solidFill>
              <a:srgbClr val="715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5738" lvl="1" algn="ctr">
                <a:buSzPts val="1600"/>
                <a:tabLst>
                  <a:tab pos="569913" algn="l"/>
                </a:tabLst>
              </a:pPr>
              <a:r>
                <a:rPr lang="es-PE" b="1" dirty="0">
                  <a:solidFill>
                    <a:schemeClr val="lt1"/>
                  </a:solidFill>
                  <a:latin typeface="Calibri" charset="0"/>
                  <a:ea typeface="+mn-ea"/>
                  <a:cs typeface="Calibri" charset="0"/>
                  <a:sym typeface="Calibri"/>
                </a:rPr>
                <a:t>Coexistencia</a:t>
              </a:r>
              <a:endParaRPr lang="es-PE" b="1" dirty="0">
                <a:solidFill>
                  <a:schemeClr val="lt1"/>
                </a:solidFill>
                <a:latin typeface="Calibri" charset="0"/>
                <a:ea typeface="+mn-ea"/>
                <a:cs typeface="Calibri" charset="0"/>
              </a:endParaRPr>
            </a:p>
          </p:txBody>
        </p:sp>
        <p:grpSp>
          <p:nvGrpSpPr>
            <p:cNvPr id="12" name="Agrupar 14">
              <a:extLst>
                <a:ext uri="{FF2B5EF4-FFF2-40B4-BE49-F238E27FC236}">
                  <a16:creationId xmlns:a16="http://schemas.microsoft.com/office/drawing/2014/main" id="{4847FFD8-6A4B-614C-8231-5D5F870E571E}"/>
                </a:ext>
              </a:extLst>
            </p:cNvPr>
            <p:cNvGrpSpPr/>
            <p:nvPr/>
          </p:nvGrpSpPr>
          <p:grpSpPr>
            <a:xfrm>
              <a:off x="287221" y="965530"/>
              <a:ext cx="459474" cy="403823"/>
              <a:chOff x="5892512" y="2805541"/>
              <a:chExt cx="459474" cy="403823"/>
            </a:xfrm>
          </p:grpSpPr>
          <p:sp>
            <p:nvSpPr>
              <p:cNvPr id="13" name="Elipse 12">
                <a:extLst>
                  <a:ext uri="{FF2B5EF4-FFF2-40B4-BE49-F238E27FC236}">
                    <a16:creationId xmlns:a16="http://schemas.microsoft.com/office/drawing/2014/main" id="{7B7961CE-2D4E-164B-9108-91DE66D8F869}"/>
                  </a:ext>
                </a:extLst>
              </p:cNvPr>
              <p:cNvSpPr/>
              <p:nvPr/>
            </p:nvSpPr>
            <p:spPr>
              <a:xfrm>
                <a:off x="5956277" y="2824919"/>
                <a:ext cx="395709" cy="376075"/>
              </a:xfrm>
              <a:prstGeom prst="ellipse">
                <a:avLst/>
              </a:prstGeom>
              <a:solidFill>
                <a:srgbClr val="593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4" name="Elipse 13">
                <a:extLst>
                  <a:ext uri="{FF2B5EF4-FFF2-40B4-BE49-F238E27FC236}">
                    <a16:creationId xmlns:a16="http://schemas.microsoft.com/office/drawing/2014/main" id="{C024F89D-5040-3E43-92C3-270C2F77F546}"/>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5" name="Triángulo 14">
                <a:extLst>
                  <a:ext uri="{FF2B5EF4-FFF2-40B4-BE49-F238E27FC236}">
                    <a16:creationId xmlns:a16="http://schemas.microsoft.com/office/drawing/2014/main" id="{0A308235-2933-8242-A9D8-B5E16DAF7D1F}"/>
                  </a:ext>
                </a:extLst>
              </p:cNvPr>
              <p:cNvSpPr/>
              <p:nvPr/>
            </p:nvSpPr>
            <p:spPr>
              <a:xfrm rot="5400000">
                <a:off x="6076285" y="2946262"/>
                <a:ext cx="186870" cy="122381"/>
              </a:xfrm>
              <a:prstGeom prst="triangle">
                <a:avLst/>
              </a:prstGeom>
              <a:solidFill>
                <a:srgbClr val="715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grpSp>
        <p:nvGrpSpPr>
          <p:cNvPr id="16" name="Grupo 15">
            <a:extLst>
              <a:ext uri="{FF2B5EF4-FFF2-40B4-BE49-F238E27FC236}">
                <a16:creationId xmlns:a16="http://schemas.microsoft.com/office/drawing/2014/main" id="{8AE03A59-34AE-B542-A254-A9C43EEFF8ED}"/>
              </a:ext>
            </a:extLst>
          </p:cNvPr>
          <p:cNvGrpSpPr/>
          <p:nvPr/>
        </p:nvGrpSpPr>
        <p:grpSpPr>
          <a:xfrm>
            <a:off x="3179349" y="3632167"/>
            <a:ext cx="2394533" cy="394721"/>
            <a:chOff x="287221" y="917244"/>
            <a:chExt cx="2815524" cy="500394"/>
          </a:xfrm>
        </p:grpSpPr>
        <p:sp>
          <p:nvSpPr>
            <p:cNvPr id="17" name="Rectángulo redondeado 16">
              <a:extLst>
                <a:ext uri="{FF2B5EF4-FFF2-40B4-BE49-F238E27FC236}">
                  <a16:creationId xmlns:a16="http://schemas.microsoft.com/office/drawing/2014/main" id="{44D695BC-1D78-EF45-B6B9-58AC1903C179}"/>
                </a:ext>
              </a:extLst>
            </p:cNvPr>
            <p:cNvSpPr/>
            <p:nvPr/>
          </p:nvSpPr>
          <p:spPr>
            <a:xfrm>
              <a:off x="503237" y="917244"/>
              <a:ext cx="2599508" cy="500394"/>
            </a:xfrm>
            <a:prstGeom prst="roundRect">
              <a:avLst>
                <a:gd name="adj" fmla="val 24841"/>
              </a:avLst>
            </a:prstGeom>
            <a:solidFill>
              <a:srgbClr val="715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5738" lvl="1" algn="ctr">
                <a:buSzPts val="1600"/>
                <a:tabLst>
                  <a:tab pos="569913" algn="l"/>
                </a:tabLst>
              </a:pPr>
              <a:r>
                <a:rPr lang="es-PE" b="1" dirty="0">
                  <a:solidFill>
                    <a:schemeClr val="lt1"/>
                  </a:solidFill>
                  <a:latin typeface="Calibri" charset="0"/>
                  <a:ea typeface="+mn-ea"/>
                  <a:cs typeface="Calibri" charset="0"/>
                  <a:sym typeface="Calibri"/>
                </a:rPr>
                <a:t>Interoperabilidad</a:t>
              </a:r>
              <a:endParaRPr lang="es-PE" b="1" dirty="0">
                <a:solidFill>
                  <a:schemeClr val="lt1"/>
                </a:solidFill>
                <a:latin typeface="Calibri" charset="0"/>
                <a:ea typeface="+mn-ea"/>
                <a:cs typeface="Calibri" charset="0"/>
              </a:endParaRPr>
            </a:p>
          </p:txBody>
        </p:sp>
        <p:grpSp>
          <p:nvGrpSpPr>
            <p:cNvPr id="18" name="Agrupar 14">
              <a:extLst>
                <a:ext uri="{FF2B5EF4-FFF2-40B4-BE49-F238E27FC236}">
                  <a16:creationId xmlns:a16="http://schemas.microsoft.com/office/drawing/2014/main" id="{8836C8B0-EC5A-9F4B-942C-9397D9066024}"/>
                </a:ext>
              </a:extLst>
            </p:cNvPr>
            <p:cNvGrpSpPr/>
            <p:nvPr/>
          </p:nvGrpSpPr>
          <p:grpSpPr>
            <a:xfrm>
              <a:off x="287221" y="965530"/>
              <a:ext cx="459474" cy="403823"/>
              <a:chOff x="5892512" y="2805541"/>
              <a:chExt cx="459474" cy="403823"/>
            </a:xfrm>
          </p:grpSpPr>
          <p:sp>
            <p:nvSpPr>
              <p:cNvPr id="19" name="Elipse 18">
                <a:extLst>
                  <a:ext uri="{FF2B5EF4-FFF2-40B4-BE49-F238E27FC236}">
                    <a16:creationId xmlns:a16="http://schemas.microsoft.com/office/drawing/2014/main" id="{04C3FDD4-3253-E648-9F10-CD2F34CB0602}"/>
                  </a:ext>
                </a:extLst>
              </p:cNvPr>
              <p:cNvSpPr/>
              <p:nvPr/>
            </p:nvSpPr>
            <p:spPr>
              <a:xfrm>
                <a:off x="5956277" y="2824919"/>
                <a:ext cx="395709" cy="376075"/>
              </a:xfrm>
              <a:prstGeom prst="ellipse">
                <a:avLst/>
              </a:prstGeom>
              <a:solidFill>
                <a:srgbClr val="593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20" name="Elipse 19">
                <a:extLst>
                  <a:ext uri="{FF2B5EF4-FFF2-40B4-BE49-F238E27FC236}">
                    <a16:creationId xmlns:a16="http://schemas.microsoft.com/office/drawing/2014/main" id="{13D49630-6698-4240-9704-4AE9917988E3}"/>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21" name="Triángulo 20">
                <a:extLst>
                  <a:ext uri="{FF2B5EF4-FFF2-40B4-BE49-F238E27FC236}">
                    <a16:creationId xmlns:a16="http://schemas.microsoft.com/office/drawing/2014/main" id="{9211AE8A-22EF-A34B-8721-D378275C10A9}"/>
                  </a:ext>
                </a:extLst>
              </p:cNvPr>
              <p:cNvSpPr/>
              <p:nvPr/>
            </p:nvSpPr>
            <p:spPr>
              <a:xfrm rot="5400000">
                <a:off x="6076285" y="2946262"/>
                <a:ext cx="186870" cy="122381"/>
              </a:xfrm>
              <a:prstGeom prst="triangle">
                <a:avLst/>
              </a:prstGeom>
              <a:solidFill>
                <a:srgbClr val="715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7" name="Rectangle 5">
            <a:extLst>
              <a:ext uri="{FF2B5EF4-FFF2-40B4-BE49-F238E27FC236}">
                <a16:creationId xmlns:a16="http://schemas.microsoft.com/office/drawing/2014/main" id="{F431C06F-3C5B-2942-A613-F86251B1A9BF}"/>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ATRIBUTOS DE CALIDAD</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8" name="Google Shape;394;p24">
            <a:extLst>
              <a:ext uri="{FF2B5EF4-FFF2-40B4-BE49-F238E27FC236}">
                <a16:creationId xmlns:a16="http://schemas.microsoft.com/office/drawing/2014/main" id="{1BFA12CA-3B1D-B246-818A-5F0FE201A54B}"/>
              </a:ext>
            </a:extLst>
          </p:cNvPr>
          <p:cNvSpPr/>
          <p:nvPr/>
        </p:nvSpPr>
        <p:spPr>
          <a:xfrm>
            <a:off x="3179349" y="1274296"/>
            <a:ext cx="5496339" cy="1554272"/>
          </a:xfrm>
          <a:prstGeom prst="rect">
            <a:avLst/>
          </a:prstGeom>
          <a:noFill/>
          <a:ln>
            <a:noFill/>
          </a:ln>
        </p:spPr>
        <p:txBody>
          <a:bodyPr spcFirstLastPara="1" wrap="square" lIns="0" tIns="0" rIns="0" bIns="0" anchor="t" anchorCtr="0">
            <a:spAutoFit/>
          </a:bodyPr>
          <a:lstStyle/>
          <a:p>
            <a:pPr lvl="0">
              <a:spcAft>
                <a:spcPts val="600"/>
              </a:spcAft>
            </a:pPr>
            <a:r>
              <a:rPr lang="es-ES" sz="2000" b="1" dirty="0">
                <a:solidFill>
                  <a:srgbClr val="00B1C2"/>
                </a:solidFill>
                <a:latin typeface="Graphik Bold" panose="020B0503030202060203" pitchFamily="34" charset="77"/>
                <a:cs typeface="Calibri" charset="0"/>
              </a:rPr>
              <a:t>+ 04.</a:t>
            </a:r>
            <a:br>
              <a:rPr lang="es-ES" sz="1600" b="1" dirty="0">
                <a:solidFill>
                  <a:srgbClr val="00B1C2"/>
                </a:solidFill>
                <a:latin typeface="Calibri" charset="0"/>
                <a:cs typeface="Calibri" charset="0"/>
              </a:rPr>
            </a:br>
            <a:r>
              <a:rPr lang="es-ES" sz="1600" b="1" dirty="0">
                <a:solidFill>
                  <a:srgbClr val="00B1C2"/>
                </a:solidFill>
                <a:latin typeface="Calibri" charset="0"/>
                <a:cs typeface="Calibri" charset="0"/>
              </a:rPr>
              <a:t>USABILIDAD</a:t>
            </a:r>
            <a:endParaRPr lang="es-PE" sz="1600" b="1" dirty="0">
              <a:solidFill>
                <a:srgbClr val="00B1C2"/>
              </a:solidFill>
              <a:latin typeface="Calibri" charset="0"/>
              <a:cs typeface="Calibri" charset="0"/>
            </a:endParaRPr>
          </a:p>
          <a:p>
            <a:pPr marL="227013" lvl="0" indent="-227013">
              <a:buClr>
                <a:schemeClr val="dk1"/>
              </a:buClr>
              <a:buSzPct val="100000"/>
              <a:buFont typeface="Arial"/>
              <a:buChar char="•"/>
            </a:pPr>
            <a:r>
              <a:rPr lang="es-PE" sz="1500" dirty="0">
                <a:solidFill>
                  <a:schemeClr val="dk1"/>
                </a:solidFill>
                <a:latin typeface="Calibri"/>
                <a:cs typeface="Calibri"/>
                <a:sym typeface="Calibri"/>
              </a:rPr>
              <a:t>Es la capacidad del producto de software para ser entendido, aprendido, usado y atractivo para con el usuario final.</a:t>
            </a:r>
            <a:endParaRPr lang="es-PE" sz="1500" dirty="0">
              <a:solidFill>
                <a:schemeClr val="dk1"/>
              </a:solidFill>
              <a:latin typeface="Calibri"/>
              <a:cs typeface="Calibri"/>
            </a:endParaRPr>
          </a:p>
          <a:p>
            <a:pPr marL="227013" lvl="0" indent="-227013">
              <a:buClr>
                <a:schemeClr val="dk1"/>
              </a:buClr>
              <a:buSzPct val="100000"/>
              <a:buFont typeface="Arial"/>
              <a:buNone/>
            </a:pPr>
            <a:endParaRPr lang="es-PE" sz="1500" dirty="0">
              <a:solidFill>
                <a:schemeClr val="dk1"/>
              </a:solidFill>
              <a:latin typeface="Calibri"/>
              <a:cs typeface="Calibri"/>
              <a:sym typeface="Calibri"/>
            </a:endParaRPr>
          </a:p>
          <a:p>
            <a:pPr marL="227013" lvl="0" indent="-227013">
              <a:buClr>
                <a:schemeClr val="dk1"/>
              </a:buClr>
              <a:buSzPct val="100000"/>
              <a:buFont typeface="Arial"/>
              <a:buChar char="•"/>
            </a:pPr>
            <a:r>
              <a:rPr lang="es-PE" sz="1500" dirty="0">
                <a:solidFill>
                  <a:schemeClr val="dk1"/>
                </a:solidFill>
                <a:latin typeface="Calibri"/>
                <a:cs typeface="Calibri"/>
                <a:sym typeface="Calibri"/>
              </a:rPr>
              <a:t>Se divide en seis subcaracterísticas:</a:t>
            </a:r>
            <a:endParaRPr lang="es-PE" sz="1500" dirty="0">
              <a:solidFill>
                <a:schemeClr val="dk1"/>
              </a:solidFill>
              <a:latin typeface="Calibri"/>
              <a:cs typeface="Calibri"/>
            </a:endParaRPr>
          </a:p>
        </p:txBody>
      </p:sp>
      <p:sp>
        <p:nvSpPr>
          <p:cNvPr id="9" name="Rectángulo redondeado 8">
            <a:extLst>
              <a:ext uri="{FF2B5EF4-FFF2-40B4-BE49-F238E27FC236}">
                <a16:creationId xmlns:a16="http://schemas.microsoft.com/office/drawing/2014/main" id="{47E89EE7-09A6-894B-9F43-965069C1A51C}"/>
              </a:ext>
            </a:extLst>
          </p:cNvPr>
          <p:cNvSpPr/>
          <p:nvPr/>
        </p:nvSpPr>
        <p:spPr>
          <a:xfrm>
            <a:off x="468313" y="1274296"/>
            <a:ext cx="1735449" cy="947330"/>
          </a:xfrm>
          <a:prstGeom prst="roundRect">
            <a:avLst>
              <a:gd name="adj" fmla="val 12027"/>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lnSpc>
                <a:spcPct val="90000"/>
              </a:lnSpc>
              <a:spcBef>
                <a:spcPts val="0"/>
              </a:spcBef>
              <a:spcAft>
                <a:spcPts val="0"/>
              </a:spcAft>
              <a:buNone/>
            </a:pPr>
            <a:r>
              <a:rPr lang="es-PE" sz="1400" b="1" dirty="0">
                <a:solidFill>
                  <a:schemeClr val="lt1"/>
                </a:solidFill>
                <a:latin typeface="Calibri"/>
                <a:ea typeface="Calibri"/>
                <a:cs typeface="Calibri"/>
                <a:sym typeface="Calibri"/>
              </a:rPr>
              <a:t>USABILIDAD</a:t>
            </a:r>
            <a:endParaRPr lang="es-PE" dirty="0"/>
          </a:p>
        </p:txBody>
      </p:sp>
      <p:grpSp>
        <p:nvGrpSpPr>
          <p:cNvPr id="10" name="Grupo 9">
            <a:extLst>
              <a:ext uri="{FF2B5EF4-FFF2-40B4-BE49-F238E27FC236}">
                <a16:creationId xmlns:a16="http://schemas.microsoft.com/office/drawing/2014/main" id="{CA3AAAEA-8DDA-AB46-8A1B-5BE3CF050EBD}"/>
              </a:ext>
            </a:extLst>
          </p:cNvPr>
          <p:cNvGrpSpPr/>
          <p:nvPr/>
        </p:nvGrpSpPr>
        <p:grpSpPr>
          <a:xfrm>
            <a:off x="3179349" y="3079333"/>
            <a:ext cx="2394533" cy="394721"/>
            <a:chOff x="287221" y="917244"/>
            <a:chExt cx="2815524" cy="500394"/>
          </a:xfrm>
        </p:grpSpPr>
        <p:sp>
          <p:nvSpPr>
            <p:cNvPr id="11" name="Rectángulo redondeado 10">
              <a:extLst>
                <a:ext uri="{FF2B5EF4-FFF2-40B4-BE49-F238E27FC236}">
                  <a16:creationId xmlns:a16="http://schemas.microsoft.com/office/drawing/2014/main" id="{2A1A021E-53FF-8C49-8D20-A250BF702EE7}"/>
                </a:ext>
              </a:extLst>
            </p:cNvPr>
            <p:cNvSpPr/>
            <p:nvPr/>
          </p:nvSpPr>
          <p:spPr>
            <a:xfrm>
              <a:off x="503238" y="917244"/>
              <a:ext cx="2599507" cy="500394"/>
            </a:xfrm>
            <a:prstGeom prst="roundRect">
              <a:avLst>
                <a:gd name="adj" fmla="val 24841"/>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5738" lvl="1" algn="ctr">
                <a:buSzPts val="1600"/>
                <a:tabLst>
                  <a:tab pos="569913" algn="l"/>
                </a:tabLst>
              </a:pPr>
              <a:r>
                <a:rPr lang="es-PE" sz="1300" b="1" dirty="0">
                  <a:solidFill>
                    <a:schemeClr val="lt1"/>
                  </a:solidFill>
                  <a:latin typeface="Calibri" charset="0"/>
                  <a:ea typeface="+mn-ea"/>
                  <a:cs typeface="Calibri" charset="0"/>
                  <a:sym typeface="Calibri"/>
                </a:rPr>
                <a:t>Adecuación</a:t>
              </a:r>
              <a:endParaRPr lang="es-PE" sz="1300" b="1" dirty="0">
                <a:solidFill>
                  <a:schemeClr val="lt1"/>
                </a:solidFill>
                <a:latin typeface="Calibri" charset="0"/>
                <a:ea typeface="+mn-ea"/>
                <a:cs typeface="Calibri" charset="0"/>
              </a:endParaRPr>
            </a:p>
          </p:txBody>
        </p:sp>
        <p:grpSp>
          <p:nvGrpSpPr>
            <p:cNvPr id="12" name="Agrupar 14">
              <a:extLst>
                <a:ext uri="{FF2B5EF4-FFF2-40B4-BE49-F238E27FC236}">
                  <a16:creationId xmlns:a16="http://schemas.microsoft.com/office/drawing/2014/main" id="{1C658450-07BC-D84D-8B29-C3FEB53F7FF0}"/>
                </a:ext>
              </a:extLst>
            </p:cNvPr>
            <p:cNvGrpSpPr/>
            <p:nvPr/>
          </p:nvGrpSpPr>
          <p:grpSpPr>
            <a:xfrm>
              <a:off x="287221" y="965530"/>
              <a:ext cx="459474" cy="403823"/>
              <a:chOff x="5892512" y="2805541"/>
              <a:chExt cx="459474" cy="403823"/>
            </a:xfrm>
          </p:grpSpPr>
          <p:sp>
            <p:nvSpPr>
              <p:cNvPr id="13" name="Elipse 12">
                <a:extLst>
                  <a:ext uri="{FF2B5EF4-FFF2-40B4-BE49-F238E27FC236}">
                    <a16:creationId xmlns:a16="http://schemas.microsoft.com/office/drawing/2014/main" id="{BC2E5363-8B40-1F43-9123-468113BA9690}"/>
                  </a:ext>
                </a:extLst>
              </p:cNvPr>
              <p:cNvSpPr/>
              <p:nvPr/>
            </p:nvSpPr>
            <p:spPr>
              <a:xfrm>
                <a:off x="5956277" y="2824919"/>
                <a:ext cx="395709" cy="376075"/>
              </a:xfrm>
              <a:prstGeom prst="ellipse">
                <a:avLst/>
              </a:prstGeom>
              <a:solidFill>
                <a:srgbClr val="079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4" name="Elipse 13">
                <a:extLst>
                  <a:ext uri="{FF2B5EF4-FFF2-40B4-BE49-F238E27FC236}">
                    <a16:creationId xmlns:a16="http://schemas.microsoft.com/office/drawing/2014/main" id="{DEC5BC5B-7913-5141-BD05-1DD91EA8F7DD}"/>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5" name="Triángulo 14">
                <a:extLst>
                  <a:ext uri="{FF2B5EF4-FFF2-40B4-BE49-F238E27FC236}">
                    <a16:creationId xmlns:a16="http://schemas.microsoft.com/office/drawing/2014/main" id="{7D9D6472-0922-E74E-9F3B-C930D6E5B074}"/>
                  </a:ext>
                </a:extLst>
              </p:cNvPr>
              <p:cNvSpPr/>
              <p:nvPr/>
            </p:nvSpPr>
            <p:spPr>
              <a:xfrm rot="5400000">
                <a:off x="6076285" y="2946262"/>
                <a:ext cx="186870" cy="122381"/>
              </a:xfrm>
              <a:prstGeom prst="triangle">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grpSp>
        <p:nvGrpSpPr>
          <p:cNvPr id="16" name="Grupo 15">
            <a:extLst>
              <a:ext uri="{FF2B5EF4-FFF2-40B4-BE49-F238E27FC236}">
                <a16:creationId xmlns:a16="http://schemas.microsoft.com/office/drawing/2014/main" id="{B9ECE438-EE22-0646-BBA4-8C03F6D98EF8}"/>
              </a:ext>
            </a:extLst>
          </p:cNvPr>
          <p:cNvGrpSpPr/>
          <p:nvPr/>
        </p:nvGrpSpPr>
        <p:grpSpPr>
          <a:xfrm>
            <a:off x="3179349" y="3588133"/>
            <a:ext cx="2394533" cy="394721"/>
            <a:chOff x="287221" y="917244"/>
            <a:chExt cx="2815524" cy="500394"/>
          </a:xfrm>
        </p:grpSpPr>
        <p:sp>
          <p:nvSpPr>
            <p:cNvPr id="17" name="Rectángulo redondeado 16">
              <a:extLst>
                <a:ext uri="{FF2B5EF4-FFF2-40B4-BE49-F238E27FC236}">
                  <a16:creationId xmlns:a16="http://schemas.microsoft.com/office/drawing/2014/main" id="{9B5CA4A3-D24A-8E4A-A767-7F0BE9A2DFF2}"/>
                </a:ext>
              </a:extLst>
            </p:cNvPr>
            <p:cNvSpPr/>
            <p:nvPr/>
          </p:nvSpPr>
          <p:spPr>
            <a:xfrm>
              <a:off x="503237" y="917244"/>
              <a:ext cx="2599508" cy="500394"/>
            </a:xfrm>
            <a:prstGeom prst="roundRect">
              <a:avLst>
                <a:gd name="adj" fmla="val 24841"/>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938" lvl="1" algn="ctr">
                <a:buSzPts val="1600"/>
                <a:tabLst>
                  <a:tab pos="569913" algn="l"/>
                </a:tabLst>
              </a:pPr>
              <a:r>
                <a:rPr lang="es-PE" sz="1300" b="1" dirty="0">
                  <a:solidFill>
                    <a:schemeClr val="lt1"/>
                  </a:solidFill>
                  <a:latin typeface="Calibri" charset="0"/>
                  <a:ea typeface="+mn-ea"/>
                  <a:cs typeface="Calibri" charset="0"/>
                  <a:sym typeface="Calibri"/>
                </a:rPr>
                <a:t>Aprendizaje</a:t>
              </a:r>
              <a:endParaRPr lang="es-PE" sz="1300" b="1" dirty="0">
                <a:solidFill>
                  <a:schemeClr val="lt1"/>
                </a:solidFill>
                <a:latin typeface="Calibri" charset="0"/>
                <a:ea typeface="+mn-ea"/>
                <a:cs typeface="Calibri" charset="0"/>
              </a:endParaRPr>
            </a:p>
          </p:txBody>
        </p:sp>
        <p:grpSp>
          <p:nvGrpSpPr>
            <p:cNvPr id="18" name="Agrupar 14">
              <a:extLst>
                <a:ext uri="{FF2B5EF4-FFF2-40B4-BE49-F238E27FC236}">
                  <a16:creationId xmlns:a16="http://schemas.microsoft.com/office/drawing/2014/main" id="{2E36C72C-0DC2-0B49-9D98-C6F247E1AAE3}"/>
                </a:ext>
              </a:extLst>
            </p:cNvPr>
            <p:cNvGrpSpPr/>
            <p:nvPr/>
          </p:nvGrpSpPr>
          <p:grpSpPr>
            <a:xfrm>
              <a:off x="287221" y="965530"/>
              <a:ext cx="459474" cy="403823"/>
              <a:chOff x="5892512" y="2805541"/>
              <a:chExt cx="459474" cy="403823"/>
            </a:xfrm>
          </p:grpSpPr>
          <p:sp>
            <p:nvSpPr>
              <p:cNvPr id="19" name="Elipse 18">
                <a:extLst>
                  <a:ext uri="{FF2B5EF4-FFF2-40B4-BE49-F238E27FC236}">
                    <a16:creationId xmlns:a16="http://schemas.microsoft.com/office/drawing/2014/main" id="{0C8E6893-F6CC-874F-BF71-A32B95ED3414}"/>
                  </a:ext>
                </a:extLst>
              </p:cNvPr>
              <p:cNvSpPr/>
              <p:nvPr/>
            </p:nvSpPr>
            <p:spPr>
              <a:xfrm>
                <a:off x="5956277" y="2824919"/>
                <a:ext cx="395709" cy="376075"/>
              </a:xfrm>
              <a:prstGeom prst="ellipse">
                <a:avLst/>
              </a:prstGeom>
              <a:solidFill>
                <a:srgbClr val="079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20" name="Elipse 19">
                <a:extLst>
                  <a:ext uri="{FF2B5EF4-FFF2-40B4-BE49-F238E27FC236}">
                    <a16:creationId xmlns:a16="http://schemas.microsoft.com/office/drawing/2014/main" id="{97F8F0E5-C435-634E-AF62-18B16023A9E4}"/>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21" name="Triángulo 20">
                <a:extLst>
                  <a:ext uri="{FF2B5EF4-FFF2-40B4-BE49-F238E27FC236}">
                    <a16:creationId xmlns:a16="http://schemas.microsoft.com/office/drawing/2014/main" id="{CCBADDA2-1248-5444-B4E4-3037743A9F57}"/>
                  </a:ext>
                </a:extLst>
              </p:cNvPr>
              <p:cNvSpPr/>
              <p:nvPr/>
            </p:nvSpPr>
            <p:spPr>
              <a:xfrm rot="5400000">
                <a:off x="6076285" y="2946262"/>
                <a:ext cx="186870" cy="122381"/>
              </a:xfrm>
              <a:prstGeom prst="triangle">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grpSp>
        <p:nvGrpSpPr>
          <p:cNvPr id="22" name="Grupo 21">
            <a:extLst>
              <a:ext uri="{FF2B5EF4-FFF2-40B4-BE49-F238E27FC236}">
                <a16:creationId xmlns:a16="http://schemas.microsoft.com/office/drawing/2014/main" id="{3D20D396-9ED9-9848-9D74-F01FA5FB2AC2}"/>
              </a:ext>
            </a:extLst>
          </p:cNvPr>
          <p:cNvGrpSpPr/>
          <p:nvPr/>
        </p:nvGrpSpPr>
        <p:grpSpPr>
          <a:xfrm>
            <a:off x="3179349" y="4099121"/>
            <a:ext cx="2394533" cy="394721"/>
            <a:chOff x="287221" y="917244"/>
            <a:chExt cx="2815524" cy="500394"/>
          </a:xfrm>
        </p:grpSpPr>
        <p:sp>
          <p:nvSpPr>
            <p:cNvPr id="23" name="Rectángulo redondeado 22">
              <a:extLst>
                <a:ext uri="{FF2B5EF4-FFF2-40B4-BE49-F238E27FC236}">
                  <a16:creationId xmlns:a16="http://schemas.microsoft.com/office/drawing/2014/main" id="{207381BA-5B20-0444-A841-29F2EE40811D}"/>
                </a:ext>
              </a:extLst>
            </p:cNvPr>
            <p:cNvSpPr/>
            <p:nvPr/>
          </p:nvSpPr>
          <p:spPr>
            <a:xfrm>
              <a:off x="503237" y="917244"/>
              <a:ext cx="2599508" cy="500394"/>
            </a:xfrm>
            <a:prstGeom prst="roundRect">
              <a:avLst>
                <a:gd name="adj" fmla="val 24841"/>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938" lvl="1" algn="ctr">
                <a:buSzPts val="1600"/>
                <a:tabLst>
                  <a:tab pos="569913" algn="l"/>
                </a:tabLst>
              </a:pPr>
              <a:r>
                <a:rPr lang="es-PE" sz="1300" b="1" dirty="0">
                  <a:solidFill>
                    <a:schemeClr val="lt1"/>
                  </a:solidFill>
                  <a:latin typeface="Calibri" charset="0"/>
                  <a:ea typeface="+mn-ea"/>
                  <a:cs typeface="Calibri" charset="0"/>
                  <a:sym typeface="Calibri"/>
                </a:rPr>
                <a:t>Operabilidad</a:t>
              </a:r>
              <a:endParaRPr lang="es-PE" sz="1300" b="1" dirty="0">
                <a:solidFill>
                  <a:schemeClr val="lt1"/>
                </a:solidFill>
                <a:latin typeface="Calibri" charset="0"/>
                <a:ea typeface="+mn-ea"/>
                <a:cs typeface="Calibri" charset="0"/>
              </a:endParaRPr>
            </a:p>
          </p:txBody>
        </p:sp>
        <p:grpSp>
          <p:nvGrpSpPr>
            <p:cNvPr id="24" name="Agrupar 14">
              <a:extLst>
                <a:ext uri="{FF2B5EF4-FFF2-40B4-BE49-F238E27FC236}">
                  <a16:creationId xmlns:a16="http://schemas.microsoft.com/office/drawing/2014/main" id="{61A382EE-30A0-2049-B2FB-8B93D34E631A}"/>
                </a:ext>
              </a:extLst>
            </p:cNvPr>
            <p:cNvGrpSpPr/>
            <p:nvPr/>
          </p:nvGrpSpPr>
          <p:grpSpPr>
            <a:xfrm>
              <a:off x="287221" y="965530"/>
              <a:ext cx="459474" cy="403823"/>
              <a:chOff x="5892512" y="2805541"/>
              <a:chExt cx="459474" cy="403823"/>
            </a:xfrm>
          </p:grpSpPr>
          <p:sp>
            <p:nvSpPr>
              <p:cNvPr id="25" name="Elipse 24">
                <a:extLst>
                  <a:ext uri="{FF2B5EF4-FFF2-40B4-BE49-F238E27FC236}">
                    <a16:creationId xmlns:a16="http://schemas.microsoft.com/office/drawing/2014/main" id="{524DA3A8-244B-0C45-8991-B601D97A6270}"/>
                  </a:ext>
                </a:extLst>
              </p:cNvPr>
              <p:cNvSpPr/>
              <p:nvPr/>
            </p:nvSpPr>
            <p:spPr>
              <a:xfrm>
                <a:off x="5956277" y="2824919"/>
                <a:ext cx="395709" cy="376075"/>
              </a:xfrm>
              <a:prstGeom prst="ellipse">
                <a:avLst/>
              </a:prstGeom>
              <a:solidFill>
                <a:srgbClr val="079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26" name="Elipse 25">
                <a:extLst>
                  <a:ext uri="{FF2B5EF4-FFF2-40B4-BE49-F238E27FC236}">
                    <a16:creationId xmlns:a16="http://schemas.microsoft.com/office/drawing/2014/main" id="{49B8FCBD-BDAB-794B-AF62-A6289E8760B5}"/>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27" name="Triángulo 26">
                <a:extLst>
                  <a:ext uri="{FF2B5EF4-FFF2-40B4-BE49-F238E27FC236}">
                    <a16:creationId xmlns:a16="http://schemas.microsoft.com/office/drawing/2014/main" id="{4A4A8BC7-0F4A-804F-A037-FAF8AD4C0700}"/>
                  </a:ext>
                </a:extLst>
              </p:cNvPr>
              <p:cNvSpPr/>
              <p:nvPr/>
            </p:nvSpPr>
            <p:spPr>
              <a:xfrm rot="5400000">
                <a:off x="6076285" y="2946262"/>
                <a:ext cx="186870" cy="122381"/>
              </a:xfrm>
              <a:prstGeom prst="triangle">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grpSp>
        <p:nvGrpSpPr>
          <p:cNvPr id="28" name="Grupo 27">
            <a:extLst>
              <a:ext uri="{FF2B5EF4-FFF2-40B4-BE49-F238E27FC236}">
                <a16:creationId xmlns:a16="http://schemas.microsoft.com/office/drawing/2014/main" id="{C4073E1C-D309-9F4C-92E6-4082E910F5D9}"/>
              </a:ext>
            </a:extLst>
          </p:cNvPr>
          <p:cNvGrpSpPr/>
          <p:nvPr/>
        </p:nvGrpSpPr>
        <p:grpSpPr>
          <a:xfrm>
            <a:off x="5667055" y="3079333"/>
            <a:ext cx="2394533" cy="394721"/>
            <a:chOff x="287221" y="917244"/>
            <a:chExt cx="2815524" cy="500394"/>
          </a:xfrm>
        </p:grpSpPr>
        <p:sp>
          <p:nvSpPr>
            <p:cNvPr id="29" name="Rectángulo redondeado 28">
              <a:extLst>
                <a:ext uri="{FF2B5EF4-FFF2-40B4-BE49-F238E27FC236}">
                  <a16:creationId xmlns:a16="http://schemas.microsoft.com/office/drawing/2014/main" id="{EB6D9719-0D45-1447-AA54-F1BA3E9D86B4}"/>
                </a:ext>
              </a:extLst>
            </p:cNvPr>
            <p:cNvSpPr/>
            <p:nvPr/>
          </p:nvSpPr>
          <p:spPr>
            <a:xfrm>
              <a:off x="503238" y="917244"/>
              <a:ext cx="2599507" cy="500394"/>
            </a:xfrm>
            <a:prstGeom prst="roundRect">
              <a:avLst>
                <a:gd name="adj" fmla="val 24841"/>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938" lvl="1" algn="ctr">
                <a:buSzPts val="1600"/>
                <a:tabLst>
                  <a:tab pos="569913" algn="l"/>
                </a:tabLst>
              </a:pPr>
              <a:r>
                <a:rPr lang="es-PE" sz="1300" b="1" dirty="0">
                  <a:solidFill>
                    <a:schemeClr val="lt1"/>
                  </a:solidFill>
                  <a:latin typeface="Calibri" charset="0"/>
                  <a:ea typeface="+mn-ea"/>
                  <a:cs typeface="Calibri" charset="0"/>
                  <a:sym typeface="Calibri"/>
                </a:rPr>
                <a:t>Protección </a:t>
              </a:r>
              <a:br>
                <a:rPr lang="es-PE" sz="1300" b="1" dirty="0">
                  <a:solidFill>
                    <a:schemeClr val="lt1"/>
                  </a:solidFill>
                  <a:latin typeface="Calibri" charset="0"/>
                  <a:ea typeface="+mn-ea"/>
                  <a:cs typeface="Calibri" charset="0"/>
                  <a:sym typeface="Calibri"/>
                </a:rPr>
              </a:br>
              <a:r>
                <a:rPr lang="es-PE" sz="1300" b="1" dirty="0">
                  <a:solidFill>
                    <a:schemeClr val="lt1"/>
                  </a:solidFill>
                  <a:latin typeface="Calibri" charset="0"/>
                  <a:ea typeface="+mn-ea"/>
                  <a:cs typeface="Calibri" charset="0"/>
                  <a:sym typeface="Calibri"/>
                </a:rPr>
                <a:t>contra errores</a:t>
              </a:r>
              <a:endParaRPr lang="es-PE" sz="1300" b="1" dirty="0">
                <a:solidFill>
                  <a:schemeClr val="lt1"/>
                </a:solidFill>
                <a:latin typeface="Calibri" charset="0"/>
                <a:ea typeface="+mn-ea"/>
                <a:cs typeface="Calibri" charset="0"/>
              </a:endParaRPr>
            </a:p>
          </p:txBody>
        </p:sp>
        <p:grpSp>
          <p:nvGrpSpPr>
            <p:cNvPr id="30" name="Agrupar 14">
              <a:extLst>
                <a:ext uri="{FF2B5EF4-FFF2-40B4-BE49-F238E27FC236}">
                  <a16:creationId xmlns:a16="http://schemas.microsoft.com/office/drawing/2014/main" id="{496F59A0-39AA-2248-8488-2BEBF3F627B4}"/>
                </a:ext>
              </a:extLst>
            </p:cNvPr>
            <p:cNvGrpSpPr/>
            <p:nvPr/>
          </p:nvGrpSpPr>
          <p:grpSpPr>
            <a:xfrm>
              <a:off x="287221" y="965530"/>
              <a:ext cx="459474" cy="403823"/>
              <a:chOff x="5892512" y="2805541"/>
              <a:chExt cx="459474" cy="403823"/>
            </a:xfrm>
          </p:grpSpPr>
          <p:sp>
            <p:nvSpPr>
              <p:cNvPr id="31" name="Elipse 30">
                <a:extLst>
                  <a:ext uri="{FF2B5EF4-FFF2-40B4-BE49-F238E27FC236}">
                    <a16:creationId xmlns:a16="http://schemas.microsoft.com/office/drawing/2014/main" id="{304CD502-6095-5540-AEEB-64560CA08AA2}"/>
                  </a:ext>
                </a:extLst>
              </p:cNvPr>
              <p:cNvSpPr/>
              <p:nvPr/>
            </p:nvSpPr>
            <p:spPr>
              <a:xfrm>
                <a:off x="5956277" y="2824919"/>
                <a:ext cx="395709" cy="376075"/>
              </a:xfrm>
              <a:prstGeom prst="ellipse">
                <a:avLst/>
              </a:prstGeom>
              <a:solidFill>
                <a:srgbClr val="079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32" name="Elipse 31">
                <a:extLst>
                  <a:ext uri="{FF2B5EF4-FFF2-40B4-BE49-F238E27FC236}">
                    <a16:creationId xmlns:a16="http://schemas.microsoft.com/office/drawing/2014/main" id="{5079AEDB-49E0-0442-8CF5-29060DA34BBB}"/>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33" name="Triángulo 32">
                <a:extLst>
                  <a:ext uri="{FF2B5EF4-FFF2-40B4-BE49-F238E27FC236}">
                    <a16:creationId xmlns:a16="http://schemas.microsoft.com/office/drawing/2014/main" id="{28497A46-B713-3246-BDCC-905CB1306EB9}"/>
                  </a:ext>
                </a:extLst>
              </p:cNvPr>
              <p:cNvSpPr/>
              <p:nvPr/>
            </p:nvSpPr>
            <p:spPr>
              <a:xfrm rot="5400000">
                <a:off x="6076285" y="2946262"/>
                <a:ext cx="186870" cy="122381"/>
              </a:xfrm>
              <a:prstGeom prst="triangle">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grpSp>
        <p:nvGrpSpPr>
          <p:cNvPr id="34" name="Grupo 33">
            <a:extLst>
              <a:ext uri="{FF2B5EF4-FFF2-40B4-BE49-F238E27FC236}">
                <a16:creationId xmlns:a16="http://schemas.microsoft.com/office/drawing/2014/main" id="{3A756170-44FC-FF4B-AE64-CC5DDEB71132}"/>
              </a:ext>
            </a:extLst>
          </p:cNvPr>
          <p:cNvGrpSpPr/>
          <p:nvPr/>
        </p:nvGrpSpPr>
        <p:grpSpPr>
          <a:xfrm>
            <a:off x="5667055" y="3588133"/>
            <a:ext cx="2394533" cy="394721"/>
            <a:chOff x="287221" y="917244"/>
            <a:chExt cx="2815524" cy="500394"/>
          </a:xfrm>
        </p:grpSpPr>
        <p:sp>
          <p:nvSpPr>
            <p:cNvPr id="35" name="Rectángulo redondeado 34">
              <a:extLst>
                <a:ext uri="{FF2B5EF4-FFF2-40B4-BE49-F238E27FC236}">
                  <a16:creationId xmlns:a16="http://schemas.microsoft.com/office/drawing/2014/main" id="{55A7C2E9-68F8-0148-A915-223A96282E1A}"/>
                </a:ext>
              </a:extLst>
            </p:cNvPr>
            <p:cNvSpPr/>
            <p:nvPr/>
          </p:nvSpPr>
          <p:spPr>
            <a:xfrm>
              <a:off x="503237" y="917244"/>
              <a:ext cx="2599508" cy="500394"/>
            </a:xfrm>
            <a:prstGeom prst="roundRect">
              <a:avLst>
                <a:gd name="adj" fmla="val 24841"/>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938" lvl="1" algn="ctr">
                <a:buSzPts val="1600"/>
                <a:tabLst>
                  <a:tab pos="569913" algn="l"/>
                </a:tabLst>
              </a:pPr>
              <a:r>
                <a:rPr lang="es-PE" sz="1300" b="1" dirty="0">
                  <a:solidFill>
                    <a:schemeClr val="lt1"/>
                  </a:solidFill>
                  <a:latin typeface="Calibri" charset="0"/>
                  <a:ea typeface="+mn-ea"/>
                  <a:cs typeface="Calibri" charset="0"/>
                  <a:sym typeface="Calibri"/>
                </a:rPr>
                <a:t>Estética de interfaz </a:t>
              </a:r>
              <a:br>
                <a:rPr lang="es-PE" sz="1300" b="1" dirty="0">
                  <a:solidFill>
                    <a:schemeClr val="lt1"/>
                  </a:solidFill>
                  <a:latin typeface="Calibri" charset="0"/>
                  <a:ea typeface="+mn-ea"/>
                  <a:cs typeface="Calibri" charset="0"/>
                  <a:sym typeface="Calibri"/>
                </a:rPr>
              </a:br>
              <a:r>
                <a:rPr lang="es-PE" sz="1300" b="1" dirty="0">
                  <a:solidFill>
                    <a:schemeClr val="lt1"/>
                  </a:solidFill>
                  <a:latin typeface="Calibri" charset="0"/>
                  <a:ea typeface="+mn-ea"/>
                  <a:cs typeface="Calibri" charset="0"/>
                  <a:sym typeface="Calibri"/>
                </a:rPr>
                <a:t>de usuario </a:t>
              </a:r>
              <a:endParaRPr lang="es-PE" sz="1300" b="1" dirty="0">
                <a:solidFill>
                  <a:schemeClr val="lt1"/>
                </a:solidFill>
                <a:latin typeface="Calibri" charset="0"/>
                <a:ea typeface="+mn-ea"/>
                <a:cs typeface="Calibri" charset="0"/>
              </a:endParaRPr>
            </a:p>
          </p:txBody>
        </p:sp>
        <p:grpSp>
          <p:nvGrpSpPr>
            <p:cNvPr id="36" name="Agrupar 14">
              <a:extLst>
                <a:ext uri="{FF2B5EF4-FFF2-40B4-BE49-F238E27FC236}">
                  <a16:creationId xmlns:a16="http://schemas.microsoft.com/office/drawing/2014/main" id="{2D4415A7-7E8D-D049-88F0-F3ECC561DD8D}"/>
                </a:ext>
              </a:extLst>
            </p:cNvPr>
            <p:cNvGrpSpPr/>
            <p:nvPr/>
          </p:nvGrpSpPr>
          <p:grpSpPr>
            <a:xfrm>
              <a:off x="287221" y="965530"/>
              <a:ext cx="459474" cy="403823"/>
              <a:chOff x="5892512" y="2805541"/>
              <a:chExt cx="459474" cy="403823"/>
            </a:xfrm>
          </p:grpSpPr>
          <p:sp>
            <p:nvSpPr>
              <p:cNvPr id="37" name="Elipse 36">
                <a:extLst>
                  <a:ext uri="{FF2B5EF4-FFF2-40B4-BE49-F238E27FC236}">
                    <a16:creationId xmlns:a16="http://schemas.microsoft.com/office/drawing/2014/main" id="{3A72E59C-2A96-E947-A208-523E7BA2C404}"/>
                  </a:ext>
                </a:extLst>
              </p:cNvPr>
              <p:cNvSpPr/>
              <p:nvPr/>
            </p:nvSpPr>
            <p:spPr>
              <a:xfrm>
                <a:off x="5956277" y="2824919"/>
                <a:ext cx="395709" cy="376075"/>
              </a:xfrm>
              <a:prstGeom prst="ellipse">
                <a:avLst/>
              </a:prstGeom>
              <a:solidFill>
                <a:srgbClr val="079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38" name="Elipse 37">
                <a:extLst>
                  <a:ext uri="{FF2B5EF4-FFF2-40B4-BE49-F238E27FC236}">
                    <a16:creationId xmlns:a16="http://schemas.microsoft.com/office/drawing/2014/main" id="{1457DFA0-1F01-F844-A0BA-9D3B24BF91B3}"/>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39" name="Triángulo 38">
                <a:extLst>
                  <a:ext uri="{FF2B5EF4-FFF2-40B4-BE49-F238E27FC236}">
                    <a16:creationId xmlns:a16="http://schemas.microsoft.com/office/drawing/2014/main" id="{E4E84D30-63D7-554B-B2D4-06FFDF32A151}"/>
                  </a:ext>
                </a:extLst>
              </p:cNvPr>
              <p:cNvSpPr/>
              <p:nvPr/>
            </p:nvSpPr>
            <p:spPr>
              <a:xfrm rot="5400000">
                <a:off x="6076285" y="2946262"/>
                <a:ext cx="186870" cy="122381"/>
              </a:xfrm>
              <a:prstGeom prst="triangle">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grpSp>
        <p:nvGrpSpPr>
          <p:cNvPr id="40" name="Grupo 39">
            <a:extLst>
              <a:ext uri="{FF2B5EF4-FFF2-40B4-BE49-F238E27FC236}">
                <a16:creationId xmlns:a16="http://schemas.microsoft.com/office/drawing/2014/main" id="{C7E49DCB-271E-1D41-B7F5-8255C7CCFAC9}"/>
              </a:ext>
            </a:extLst>
          </p:cNvPr>
          <p:cNvGrpSpPr/>
          <p:nvPr/>
        </p:nvGrpSpPr>
        <p:grpSpPr>
          <a:xfrm>
            <a:off x="5667055" y="4099121"/>
            <a:ext cx="2394533" cy="394721"/>
            <a:chOff x="287221" y="917244"/>
            <a:chExt cx="2815524" cy="500394"/>
          </a:xfrm>
        </p:grpSpPr>
        <p:sp>
          <p:nvSpPr>
            <p:cNvPr id="41" name="Rectángulo redondeado 40">
              <a:extLst>
                <a:ext uri="{FF2B5EF4-FFF2-40B4-BE49-F238E27FC236}">
                  <a16:creationId xmlns:a16="http://schemas.microsoft.com/office/drawing/2014/main" id="{F85BB714-8FE6-EF4D-BE67-CE26D42CCC6C}"/>
                </a:ext>
              </a:extLst>
            </p:cNvPr>
            <p:cNvSpPr/>
            <p:nvPr/>
          </p:nvSpPr>
          <p:spPr>
            <a:xfrm>
              <a:off x="503237" y="917244"/>
              <a:ext cx="2599508" cy="500394"/>
            </a:xfrm>
            <a:prstGeom prst="roundRect">
              <a:avLst>
                <a:gd name="adj" fmla="val 24841"/>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938" lvl="1" algn="ctr">
                <a:buSzPts val="1600"/>
                <a:tabLst>
                  <a:tab pos="569913" algn="l"/>
                </a:tabLst>
              </a:pPr>
              <a:r>
                <a:rPr lang="es-PE" sz="1300" b="1" dirty="0">
                  <a:solidFill>
                    <a:schemeClr val="lt1"/>
                  </a:solidFill>
                  <a:latin typeface="Calibri" charset="0"/>
                  <a:ea typeface="+mn-ea"/>
                  <a:cs typeface="Calibri" charset="0"/>
                  <a:sym typeface="Calibri"/>
                </a:rPr>
                <a:t>Accesibilidad</a:t>
              </a:r>
              <a:endParaRPr lang="es-PE" sz="1300" b="1" dirty="0">
                <a:solidFill>
                  <a:schemeClr val="lt1"/>
                </a:solidFill>
                <a:latin typeface="Calibri" charset="0"/>
                <a:ea typeface="+mn-ea"/>
                <a:cs typeface="Calibri" charset="0"/>
              </a:endParaRPr>
            </a:p>
          </p:txBody>
        </p:sp>
        <p:grpSp>
          <p:nvGrpSpPr>
            <p:cNvPr id="42" name="Agrupar 14">
              <a:extLst>
                <a:ext uri="{FF2B5EF4-FFF2-40B4-BE49-F238E27FC236}">
                  <a16:creationId xmlns:a16="http://schemas.microsoft.com/office/drawing/2014/main" id="{474078DC-97A7-164D-B0C0-56F50183DAEA}"/>
                </a:ext>
              </a:extLst>
            </p:cNvPr>
            <p:cNvGrpSpPr/>
            <p:nvPr/>
          </p:nvGrpSpPr>
          <p:grpSpPr>
            <a:xfrm>
              <a:off x="287221" y="965530"/>
              <a:ext cx="459474" cy="403823"/>
              <a:chOff x="5892512" y="2805541"/>
              <a:chExt cx="459474" cy="403823"/>
            </a:xfrm>
          </p:grpSpPr>
          <p:sp>
            <p:nvSpPr>
              <p:cNvPr id="43" name="Elipse 42">
                <a:extLst>
                  <a:ext uri="{FF2B5EF4-FFF2-40B4-BE49-F238E27FC236}">
                    <a16:creationId xmlns:a16="http://schemas.microsoft.com/office/drawing/2014/main" id="{3D2E8436-9D3F-0649-B5CE-FB6713DEF787}"/>
                  </a:ext>
                </a:extLst>
              </p:cNvPr>
              <p:cNvSpPr/>
              <p:nvPr/>
            </p:nvSpPr>
            <p:spPr>
              <a:xfrm>
                <a:off x="5956277" y="2824919"/>
                <a:ext cx="395709" cy="376075"/>
              </a:xfrm>
              <a:prstGeom prst="ellipse">
                <a:avLst/>
              </a:prstGeom>
              <a:solidFill>
                <a:srgbClr val="0794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44" name="Elipse 43">
                <a:extLst>
                  <a:ext uri="{FF2B5EF4-FFF2-40B4-BE49-F238E27FC236}">
                    <a16:creationId xmlns:a16="http://schemas.microsoft.com/office/drawing/2014/main" id="{725E808F-1B22-A146-BA2C-7C98108D581E}"/>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45" name="Triángulo 44">
                <a:extLst>
                  <a:ext uri="{FF2B5EF4-FFF2-40B4-BE49-F238E27FC236}">
                    <a16:creationId xmlns:a16="http://schemas.microsoft.com/office/drawing/2014/main" id="{0015D23C-69EB-2B45-82DC-9012CB8F2046}"/>
                  </a:ext>
                </a:extLst>
              </p:cNvPr>
              <p:cNvSpPr/>
              <p:nvPr/>
            </p:nvSpPr>
            <p:spPr>
              <a:xfrm rot="5400000">
                <a:off x="6076285" y="2946262"/>
                <a:ext cx="186870" cy="122381"/>
              </a:xfrm>
              <a:prstGeom prst="triangle">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5" name="Google Shape;435;p28"/>
          <p:cNvSpPr txBox="1"/>
          <p:nvPr/>
        </p:nvSpPr>
        <p:spPr>
          <a:xfrm>
            <a:off x="503238" y="5048280"/>
            <a:ext cx="4572000"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000" dirty="0">
                <a:solidFill>
                  <a:schemeClr val="bg1">
                    <a:lumMod val="50000"/>
                  </a:schemeClr>
                </a:solidFill>
                <a:latin typeface="Calibri"/>
                <a:ea typeface="Calibri"/>
                <a:cs typeface="Calibri"/>
                <a:sym typeface="Calibri"/>
              </a:rPr>
              <a:t>www.researchgate.net</a:t>
            </a:r>
            <a:endParaRPr dirty="0">
              <a:solidFill>
                <a:schemeClr val="bg1">
                  <a:lumMod val="50000"/>
                </a:schemeClr>
              </a:solidFill>
            </a:endParaRPr>
          </a:p>
        </p:txBody>
      </p:sp>
      <p:sp>
        <p:nvSpPr>
          <p:cNvPr id="8" name="Rectangle 5">
            <a:extLst>
              <a:ext uri="{FF2B5EF4-FFF2-40B4-BE49-F238E27FC236}">
                <a16:creationId xmlns:a16="http://schemas.microsoft.com/office/drawing/2014/main" id="{EBF603C3-F2C3-DE4B-9568-111ADD4EC44B}"/>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ATRIBUTOS DE CALIDAD</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9" name="Google Shape;394;p24">
            <a:extLst>
              <a:ext uri="{FF2B5EF4-FFF2-40B4-BE49-F238E27FC236}">
                <a16:creationId xmlns:a16="http://schemas.microsoft.com/office/drawing/2014/main" id="{14A6D233-E425-564E-ACE2-89F3B2337CB6}"/>
              </a:ext>
            </a:extLst>
          </p:cNvPr>
          <p:cNvSpPr/>
          <p:nvPr/>
        </p:nvSpPr>
        <p:spPr>
          <a:xfrm>
            <a:off x="3179349" y="1274296"/>
            <a:ext cx="5496339" cy="1785104"/>
          </a:xfrm>
          <a:prstGeom prst="rect">
            <a:avLst/>
          </a:prstGeom>
          <a:noFill/>
          <a:ln>
            <a:noFill/>
          </a:ln>
        </p:spPr>
        <p:txBody>
          <a:bodyPr spcFirstLastPara="1" wrap="square" lIns="0" tIns="0" rIns="0" bIns="0" anchor="t" anchorCtr="0">
            <a:spAutoFit/>
          </a:bodyPr>
          <a:lstStyle/>
          <a:p>
            <a:pPr lvl="0">
              <a:spcAft>
                <a:spcPts val="600"/>
              </a:spcAft>
            </a:pPr>
            <a:r>
              <a:rPr lang="es-ES" sz="2000" b="1" dirty="0">
                <a:solidFill>
                  <a:srgbClr val="808799"/>
                </a:solidFill>
                <a:latin typeface="Graphik Bold" panose="020B0503030202060203" pitchFamily="34" charset="77"/>
                <a:cs typeface="Calibri" charset="0"/>
              </a:rPr>
              <a:t>+ 05.</a:t>
            </a:r>
            <a:br>
              <a:rPr lang="es-ES" sz="1600" b="1" dirty="0">
                <a:solidFill>
                  <a:srgbClr val="808799"/>
                </a:solidFill>
                <a:latin typeface="Calibri" charset="0"/>
                <a:cs typeface="Calibri" charset="0"/>
              </a:rPr>
            </a:br>
            <a:r>
              <a:rPr lang="es-ES" sz="1600" b="1" dirty="0">
                <a:solidFill>
                  <a:srgbClr val="808799"/>
                </a:solidFill>
                <a:latin typeface="Calibri" charset="0"/>
                <a:cs typeface="Calibri" charset="0"/>
              </a:rPr>
              <a:t>CONFIABILIDAD</a:t>
            </a:r>
            <a:endParaRPr lang="es-PE" sz="1600" b="1" dirty="0">
              <a:solidFill>
                <a:srgbClr val="808799"/>
              </a:solidFill>
              <a:latin typeface="Calibri" charset="0"/>
              <a:cs typeface="Calibri" charset="0"/>
            </a:endParaRPr>
          </a:p>
          <a:p>
            <a:pPr marL="179388" indent="-179388">
              <a:buClr>
                <a:schemeClr val="dk1"/>
              </a:buClr>
              <a:buSzPct val="100000"/>
              <a:buFont typeface="Arial"/>
              <a:buChar char="•"/>
            </a:pPr>
            <a:r>
              <a:rPr lang="es-PE" sz="1500" dirty="0">
                <a:solidFill>
                  <a:schemeClr val="dk1"/>
                </a:solidFill>
                <a:latin typeface="Calibri"/>
                <a:cs typeface="Calibri"/>
                <a:sym typeface="Calibri"/>
              </a:rPr>
              <a:t>“Es la capacidad de un sistema o componente de software de llevar a cabo sus funciones cuando se lo utiliza bajo condiciones y periodos de tiempo determinados”.</a:t>
            </a:r>
            <a:endParaRPr lang="es-PE" sz="1500" dirty="0">
              <a:solidFill>
                <a:schemeClr val="dk1"/>
              </a:solidFill>
              <a:latin typeface="Calibri"/>
              <a:cs typeface="Calibri"/>
            </a:endParaRPr>
          </a:p>
          <a:p>
            <a:pPr marL="179388" indent="-179388">
              <a:buClr>
                <a:schemeClr val="dk1"/>
              </a:buClr>
              <a:buSzPct val="100000"/>
              <a:buFont typeface="Arial"/>
              <a:buNone/>
            </a:pPr>
            <a:endParaRPr lang="es-PE" sz="1500" dirty="0">
              <a:solidFill>
                <a:schemeClr val="dk1"/>
              </a:solidFill>
              <a:latin typeface="Calibri"/>
              <a:cs typeface="Calibri"/>
              <a:sym typeface="Calibri"/>
            </a:endParaRPr>
          </a:p>
          <a:p>
            <a:pPr marL="179388" indent="-179388">
              <a:buClr>
                <a:schemeClr val="dk1"/>
              </a:buClr>
              <a:buSzPct val="100000"/>
              <a:buFont typeface="Arial"/>
              <a:buChar char="•"/>
            </a:pPr>
            <a:r>
              <a:rPr lang="es-PE" sz="1500" dirty="0">
                <a:solidFill>
                  <a:schemeClr val="dk1"/>
                </a:solidFill>
                <a:latin typeface="Calibri"/>
                <a:cs typeface="Calibri"/>
                <a:sym typeface="Calibri"/>
              </a:rPr>
              <a:t>Se divide en cuatro subcaracterísticas:</a:t>
            </a:r>
            <a:endParaRPr lang="es-PE" sz="1500" dirty="0">
              <a:solidFill>
                <a:schemeClr val="dk1"/>
              </a:solidFill>
              <a:latin typeface="Calibri"/>
              <a:cs typeface="Calibri"/>
            </a:endParaRPr>
          </a:p>
        </p:txBody>
      </p:sp>
      <p:sp>
        <p:nvSpPr>
          <p:cNvPr id="10" name="Rectángulo redondeado 9">
            <a:extLst>
              <a:ext uri="{FF2B5EF4-FFF2-40B4-BE49-F238E27FC236}">
                <a16:creationId xmlns:a16="http://schemas.microsoft.com/office/drawing/2014/main" id="{DAE90A4F-0DD0-8A44-A72E-53AA71C1C59E}"/>
              </a:ext>
            </a:extLst>
          </p:cNvPr>
          <p:cNvSpPr/>
          <p:nvPr/>
        </p:nvSpPr>
        <p:spPr>
          <a:xfrm>
            <a:off x="468313" y="1274296"/>
            <a:ext cx="1735449" cy="947330"/>
          </a:xfrm>
          <a:prstGeom prst="roundRect">
            <a:avLst>
              <a:gd name="adj" fmla="val 12027"/>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lnSpc>
                <a:spcPct val="90000"/>
              </a:lnSpc>
              <a:spcBef>
                <a:spcPts val="0"/>
              </a:spcBef>
              <a:spcAft>
                <a:spcPts val="0"/>
              </a:spcAft>
              <a:buNone/>
            </a:pPr>
            <a:r>
              <a:rPr lang="es-PE" sz="1400" b="1" dirty="0">
                <a:solidFill>
                  <a:schemeClr val="lt1"/>
                </a:solidFill>
                <a:latin typeface="Calibri"/>
                <a:ea typeface="Calibri"/>
                <a:cs typeface="Calibri"/>
                <a:sym typeface="Calibri"/>
              </a:rPr>
              <a:t>CONFIABILIDAD</a:t>
            </a:r>
            <a:endParaRPr lang="es-PE" dirty="0"/>
          </a:p>
        </p:txBody>
      </p:sp>
      <p:grpSp>
        <p:nvGrpSpPr>
          <p:cNvPr id="11" name="Grupo 10">
            <a:extLst>
              <a:ext uri="{FF2B5EF4-FFF2-40B4-BE49-F238E27FC236}">
                <a16:creationId xmlns:a16="http://schemas.microsoft.com/office/drawing/2014/main" id="{9DD775B6-B2BF-2D4F-9714-C048B62F4D2E}"/>
              </a:ext>
            </a:extLst>
          </p:cNvPr>
          <p:cNvGrpSpPr/>
          <p:nvPr/>
        </p:nvGrpSpPr>
        <p:grpSpPr>
          <a:xfrm>
            <a:off x="3179349" y="3246855"/>
            <a:ext cx="2394533" cy="394721"/>
            <a:chOff x="287221" y="917244"/>
            <a:chExt cx="2815524" cy="500394"/>
          </a:xfrm>
        </p:grpSpPr>
        <p:sp>
          <p:nvSpPr>
            <p:cNvPr id="12" name="Rectángulo redondeado 11">
              <a:extLst>
                <a:ext uri="{FF2B5EF4-FFF2-40B4-BE49-F238E27FC236}">
                  <a16:creationId xmlns:a16="http://schemas.microsoft.com/office/drawing/2014/main" id="{8FB31F6C-56AE-BC4D-BBB6-BB51A5342833}"/>
                </a:ext>
              </a:extLst>
            </p:cNvPr>
            <p:cNvSpPr/>
            <p:nvPr/>
          </p:nvSpPr>
          <p:spPr>
            <a:xfrm>
              <a:off x="503238" y="917244"/>
              <a:ext cx="2599507" cy="500394"/>
            </a:xfrm>
            <a:prstGeom prst="roundRect">
              <a:avLst>
                <a:gd name="adj" fmla="val 24841"/>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7625" lvl="1" algn="ctr">
                <a:buSzPts val="1600"/>
                <a:tabLst>
                  <a:tab pos="569913" algn="l"/>
                </a:tabLst>
              </a:pPr>
              <a:r>
                <a:rPr lang="es-PE" sz="1300" b="1" dirty="0">
                  <a:solidFill>
                    <a:schemeClr val="lt1"/>
                  </a:solidFill>
                  <a:latin typeface="Calibri" charset="0"/>
                  <a:ea typeface="+mn-ea"/>
                  <a:cs typeface="Calibri" charset="0"/>
                  <a:sym typeface="Calibri"/>
                </a:rPr>
                <a:t>Madurez</a:t>
              </a:r>
              <a:endParaRPr lang="es-PE" sz="1300" b="1" dirty="0">
                <a:solidFill>
                  <a:schemeClr val="lt1"/>
                </a:solidFill>
                <a:latin typeface="Calibri" charset="0"/>
                <a:ea typeface="+mn-ea"/>
                <a:cs typeface="Calibri" charset="0"/>
              </a:endParaRPr>
            </a:p>
          </p:txBody>
        </p:sp>
        <p:grpSp>
          <p:nvGrpSpPr>
            <p:cNvPr id="13" name="Agrupar 14">
              <a:extLst>
                <a:ext uri="{FF2B5EF4-FFF2-40B4-BE49-F238E27FC236}">
                  <a16:creationId xmlns:a16="http://schemas.microsoft.com/office/drawing/2014/main" id="{45386549-B665-BA44-8E9F-D1D80FA4A839}"/>
                </a:ext>
              </a:extLst>
            </p:cNvPr>
            <p:cNvGrpSpPr/>
            <p:nvPr/>
          </p:nvGrpSpPr>
          <p:grpSpPr>
            <a:xfrm>
              <a:off x="287221" y="965530"/>
              <a:ext cx="459474" cy="403823"/>
              <a:chOff x="5892512" y="2805541"/>
              <a:chExt cx="459474" cy="403823"/>
            </a:xfrm>
          </p:grpSpPr>
          <p:sp>
            <p:nvSpPr>
              <p:cNvPr id="14" name="Elipse 13">
                <a:extLst>
                  <a:ext uri="{FF2B5EF4-FFF2-40B4-BE49-F238E27FC236}">
                    <a16:creationId xmlns:a16="http://schemas.microsoft.com/office/drawing/2014/main" id="{7F7261E1-9C9D-5F44-A307-78722341A322}"/>
                  </a:ext>
                </a:extLst>
              </p:cNvPr>
              <p:cNvSpPr/>
              <p:nvPr/>
            </p:nvSpPr>
            <p:spPr>
              <a:xfrm>
                <a:off x="5956277" y="2824919"/>
                <a:ext cx="395709" cy="376075"/>
              </a:xfrm>
              <a:prstGeom prst="ellipse">
                <a:avLst/>
              </a:prstGeom>
              <a:solidFill>
                <a:srgbClr val="6C72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5" name="Elipse 14">
                <a:extLst>
                  <a:ext uri="{FF2B5EF4-FFF2-40B4-BE49-F238E27FC236}">
                    <a16:creationId xmlns:a16="http://schemas.microsoft.com/office/drawing/2014/main" id="{E95287B2-55E1-AC4D-86BD-F1FC9550B254}"/>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6" name="Triángulo 15">
                <a:extLst>
                  <a:ext uri="{FF2B5EF4-FFF2-40B4-BE49-F238E27FC236}">
                    <a16:creationId xmlns:a16="http://schemas.microsoft.com/office/drawing/2014/main" id="{85F2E53C-9541-D64E-95DE-7FF45C880B0A}"/>
                  </a:ext>
                </a:extLst>
              </p:cNvPr>
              <p:cNvSpPr/>
              <p:nvPr/>
            </p:nvSpPr>
            <p:spPr>
              <a:xfrm rot="5400000">
                <a:off x="6076285" y="2946262"/>
                <a:ext cx="186870" cy="122381"/>
              </a:xfrm>
              <a:prstGeom prst="triangle">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grpSp>
        <p:nvGrpSpPr>
          <p:cNvPr id="17" name="Grupo 16">
            <a:extLst>
              <a:ext uri="{FF2B5EF4-FFF2-40B4-BE49-F238E27FC236}">
                <a16:creationId xmlns:a16="http://schemas.microsoft.com/office/drawing/2014/main" id="{8C4F8A4C-BBCC-164F-963B-B313DF42DE29}"/>
              </a:ext>
            </a:extLst>
          </p:cNvPr>
          <p:cNvGrpSpPr/>
          <p:nvPr/>
        </p:nvGrpSpPr>
        <p:grpSpPr>
          <a:xfrm>
            <a:off x="3179349" y="3755655"/>
            <a:ext cx="2394533" cy="394721"/>
            <a:chOff x="287221" y="917244"/>
            <a:chExt cx="2815524" cy="500394"/>
          </a:xfrm>
        </p:grpSpPr>
        <p:sp>
          <p:nvSpPr>
            <p:cNvPr id="18" name="Rectángulo redondeado 17">
              <a:extLst>
                <a:ext uri="{FF2B5EF4-FFF2-40B4-BE49-F238E27FC236}">
                  <a16:creationId xmlns:a16="http://schemas.microsoft.com/office/drawing/2014/main" id="{D9AAB583-9889-D34C-AE4F-353474A32A05}"/>
                </a:ext>
              </a:extLst>
            </p:cNvPr>
            <p:cNvSpPr/>
            <p:nvPr/>
          </p:nvSpPr>
          <p:spPr>
            <a:xfrm>
              <a:off x="503237" y="917244"/>
              <a:ext cx="2599508" cy="500394"/>
            </a:xfrm>
            <a:prstGeom prst="roundRect">
              <a:avLst>
                <a:gd name="adj" fmla="val 24841"/>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7625" lvl="1" algn="ctr">
                <a:buSzPts val="1600"/>
                <a:tabLst>
                  <a:tab pos="569913" algn="l"/>
                </a:tabLst>
              </a:pPr>
              <a:r>
                <a:rPr lang="es-PE" sz="1300" b="1" dirty="0">
                  <a:solidFill>
                    <a:schemeClr val="lt1"/>
                  </a:solidFill>
                  <a:latin typeface="Calibri" charset="0"/>
                  <a:ea typeface="+mn-ea"/>
                  <a:cs typeface="Calibri" charset="0"/>
                  <a:sym typeface="Calibri"/>
                </a:rPr>
                <a:t>Disponibilidad</a:t>
              </a:r>
              <a:endParaRPr lang="es-PE" sz="1300" b="1" dirty="0">
                <a:solidFill>
                  <a:schemeClr val="lt1"/>
                </a:solidFill>
                <a:latin typeface="Calibri" charset="0"/>
                <a:ea typeface="+mn-ea"/>
                <a:cs typeface="Calibri" charset="0"/>
              </a:endParaRPr>
            </a:p>
          </p:txBody>
        </p:sp>
        <p:grpSp>
          <p:nvGrpSpPr>
            <p:cNvPr id="19" name="Agrupar 14">
              <a:extLst>
                <a:ext uri="{FF2B5EF4-FFF2-40B4-BE49-F238E27FC236}">
                  <a16:creationId xmlns:a16="http://schemas.microsoft.com/office/drawing/2014/main" id="{BED569F7-05C3-D84A-A34A-FA25A43AA7CE}"/>
                </a:ext>
              </a:extLst>
            </p:cNvPr>
            <p:cNvGrpSpPr/>
            <p:nvPr/>
          </p:nvGrpSpPr>
          <p:grpSpPr>
            <a:xfrm>
              <a:off x="287221" y="965530"/>
              <a:ext cx="459474" cy="403823"/>
              <a:chOff x="5892512" y="2805541"/>
              <a:chExt cx="459474" cy="403823"/>
            </a:xfrm>
          </p:grpSpPr>
          <p:sp>
            <p:nvSpPr>
              <p:cNvPr id="20" name="Elipse 19">
                <a:extLst>
                  <a:ext uri="{FF2B5EF4-FFF2-40B4-BE49-F238E27FC236}">
                    <a16:creationId xmlns:a16="http://schemas.microsoft.com/office/drawing/2014/main" id="{37BB4ED7-EAB3-D44E-92D8-135530F08877}"/>
                  </a:ext>
                </a:extLst>
              </p:cNvPr>
              <p:cNvSpPr/>
              <p:nvPr/>
            </p:nvSpPr>
            <p:spPr>
              <a:xfrm>
                <a:off x="5956277" y="2824919"/>
                <a:ext cx="395709" cy="376075"/>
              </a:xfrm>
              <a:prstGeom prst="ellipse">
                <a:avLst/>
              </a:prstGeom>
              <a:solidFill>
                <a:srgbClr val="6C72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21" name="Elipse 20">
                <a:extLst>
                  <a:ext uri="{FF2B5EF4-FFF2-40B4-BE49-F238E27FC236}">
                    <a16:creationId xmlns:a16="http://schemas.microsoft.com/office/drawing/2014/main" id="{96089046-A12F-F741-9527-CA5022189B6C}"/>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22" name="Triángulo 21">
                <a:extLst>
                  <a:ext uri="{FF2B5EF4-FFF2-40B4-BE49-F238E27FC236}">
                    <a16:creationId xmlns:a16="http://schemas.microsoft.com/office/drawing/2014/main" id="{93FCD86A-584A-9B4C-8455-B01170D945FC}"/>
                  </a:ext>
                </a:extLst>
              </p:cNvPr>
              <p:cNvSpPr/>
              <p:nvPr/>
            </p:nvSpPr>
            <p:spPr>
              <a:xfrm rot="5400000">
                <a:off x="6076285" y="2946262"/>
                <a:ext cx="186870" cy="122381"/>
              </a:xfrm>
              <a:prstGeom prst="triangle">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grpSp>
        <p:nvGrpSpPr>
          <p:cNvPr id="29" name="Grupo 28">
            <a:extLst>
              <a:ext uri="{FF2B5EF4-FFF2-40B4-BE49-F238E27FC236}">
                <a16:creationId xmlns:a16="http://schemas.microsoft.com/office/drawing/2014/main" id="{9D8E7D5A-032B-8144-AF47-EEADFD9891D7}"/>
              </a:ext>
            </a:extLst>
          </p:cNvPr>
          <p:cNvGrpSpPr/>
          <p:nvPr/>
        </p:nvGrpSpPr>
        <p:grpSpPr>
          <a:xfrm>
            <a:off x="5667055" y="3246855"/>
            <a:ext cx="2394533" cy="394721"/>
            <a:chOff x="287221" y="917244"/>
            <a:chExt cx="2815524" cy="500394"/>
          </a:xfrm>
        </p:grpSpPr>
        <p:sp>
          <p:nvSpPr>
            <p:cNvPr id="30" name="Rectángulo redondeado 29">
              <a:extLst>
                <a:ext uri="{FF2B5EF4-FFF2-40B4-BE49-F238E27FC236}">
                  <a16:creationId xmlns:a16="http://schemas.microsoft.com/office/drawing/2014/main" id="{824C03A7-5001-3D4B-AF74-7D46E8D3A0DC}"/>
                </a:ext>
              </a:extLst>
            </p:cNvPr>
            <p:cNvSpPr/>
            <p:nvPr/>
          </p:nvSpPr>
          <p:spPr>
            <a:xfrm>
              <a:off x="503238" y="917244"/>
              <a:ext cx="2599507" cy="500394"/>
            </a:xfrm>
            <a:prstGeom prst="roundRect">
              <a:avLst>
                <a:gd name="adj" fmla="val 24841"/>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7625" lvl="1" algn="ctr">
                <a:buSzPts val="1600"/>
                <a:tabLst>
                  <a:tab pos="569913" algn="l"/>
                </a:tabLst>
              </a:pPr>
              <a:r>
                <a:rPr lang="es-PE" sz="1300" b="1" dirty="0">
                  <a:solidFill>
                    <a:schemeClr val="lt1"/>
                  </a:solidFill>
                  <a:latin typeface="Calibri" charset="0"/>
                  <a:ea typeface="+mn-ea"/>
                  <a:cs typeface="Calibri" charset="0"/>
                  <a:sym typeface="Calibri"/>
                </a:rPr>
                <a:t>Tolerancia a fallos</a:t>
              </a:r>
              <a:endParaRPr lang="es-PE" sz="1300" b="1" dirty="0">
                <a:solidFill>
                  <a:schemeClr val="lt1"/>
                </a:solidFill>
                <a:latin typeface="Calibri" charset="0"/>
                <a:ea typeface="+mn-ea"/>
                <a:cs typeface="Calibri" charset="0"/>
              </a:endParaRPr>
            </a:p>
          </p:txBody>
        </p:sp>
        <p:grpSp>
          <p:nvGrpSpPr>
            <p:cNvPr id="31" name="Agrupar 14">
              <a:extLst>
                <a:ext uri="{FF2B5EF4-FFF2-40B4-BE49-F238E27FC236}">
                  <a16:creationId xmlns:a16="http://schemas.microsoft.com/office/drawing/2014/main" id="{C5C14209-FC63-AE41-82A7-14B38D9B04B0}"/>
                </a:ext>
              </a:extLst>
            </p:cNvPr>
            <p:cNvGrpSpPr/>
            <p:nvPr/>
          </p:nvGrpSpPr>
          <p:grpSpPr>
            <a:xfrm>
              <a:off x="287221" y="965530"/>
              <a:ext cx="459474" cy="403823"/>
              <a:chOff x="5892512" y="2805541"/>
              <a:chExt cx="459474" cy="403823"/>
            </a:xfrm>
          </p:grpSpPr>
          <p:sp>
            <p:nvSpPr>
              <p:cNvPr id="32" name="Elipse 31">
                <a:extLst>
                  <a:ext uri="{FF2B5EF4-FFF2-40B4-BE49-F238E27FC236}">
                    <a16:creationId xmlns:a16="http://schemas.microsoft.com/office/drawing/2014/main" id="{B2599FB4-3E75-AE47-9FE4-021FDDC2AB0F}"/>
                  </a:ext>
                </a:extLst>
              </p:cNvPr>
              <p:cNvSpPr/>
              <p:nvPr/>
            </p:nvSpPr>
            <p:spPr>
              <a:xfrm>
                <a:off x="5956277" y="2824919"/>
                <a:ext cx="395709" cy="376075"/>
              </a:xfrm>
              <a:prstGeom prst="ellipse">
                <a:avLst/>
              </a:prstGeom>
              <a:solidFill>
                <a:srgbClr val="6C72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33" name="Elipse 32">
                <a:extLst>
                  <a:ext uri="{FF2B5EF4-FFF2-40B4-BE49-F238E27FC236}">
                    <a16:creationId xmlns:a16="http://schemas.microsoft.com/office/drawing/2014/main" id="{DC55118A-34C4-C148-8534-4699DA509D34}"/>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34" name="Triángulo 33">
                <a:extLst>
                  <a:ext uri="{FF2B5EF4-FFF2-40B4-BE49-F238E27FC236}">
                    <a16:creationId xmlns:a16="http://schemas.microsoft.com/office/drawing/2014/main" id="{1B98FD35-5D05-8148-846D-AC42A14DE59A}"/>
                  </a:ext>
                </a:extLst>
              </p:cNvPr>
              <p:cNvSpPr/>
              <p:nvPr/>
            </p:nvSpPr>
            <p:spPr>
              <a:xfrm rot="5400000">
                <a:off x="6076285" y="2946262"/>
                <a:ext cx="186870" cy="122381"/>
              </a:xfrm>
              <a:prstGeom prst="triangle">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grpSp>
        <p:nvGrpSpPr>
          <p:cNvPr id="35" name="Grupo 34">
            <a:extLst>
              <a:ext uri="{FF2B5EF4-FFF2-40B4-BE49-F238E27FC236}">
                <a16:creationId xmlns:a16="http://schemas.microsoft.com/office/drawing/2014/main" id="{1E9BA2B2-95C3-4248-B7D4-216C54AD96AE}"/>
              </a:ext>
            </a:extLst>
          </p:cNvPr>
          <p:cNvGrpSpPr/>
          <p:nvPr/>
        </p:nvGrpSpPr>
        <p:grpSpPr>
          <a:xfrm>
            <a:off x="5667055" y="3755655"/>
            <a:ext cx="2394533" cy="394721"/>
            <a:chOff x="287221" y="917244"/>
            <a:chExt cx="2815524" cy="500394"/>
          </a:xfrm>
        </p:grpSpPr>
        <p:sp>
          <p:nvSpPr>
            <p:cNvPr id="36" name="Rectángulo redondeado 35">
              <a:extLst>
                <a:ext uri="{FF2B5EF4-FFF2-40B4-BE49-F238E27FC236}">
                  <a16:creationId xmlns:a16="http://schemas.microsoft.com/office/drawing/2014/main" id="{452F3C9A-A3B1-194D-93ED-A5F15DB33CF2}"/>
                </a:ext>
              </a:extLst>
            </p:cNvPr>
            <p:cNvSpPr/>
            <p:nvPr/>
          </p:nvSpPr>
          <p:spPr>
            <a:xfrm>
              <a:off x="503237" y="917244"/>
              <a:ext cx="2599508" cy="500394"/>
            </a:xfrm>
            <a:prstGeom prst="roundRect">
              <a:avLst>
                <a:gd name="adj" fmla="val 24841"/>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7625" lvl="1" algn="ctr">
                <a:buSzPts val="1600"/>
                <a:tabLst>
                  <a:tab pos="569913" algn="l"/>
                </a:tabLst>
              </a:pPr>
              <a:r>
                <a:rPr lang="es-PE" sz="1300" b="1" dirty="0">
                  <a:solidFill>
                    <a:schemeClr val="lt1"/>
                  </a:solidFill>
                  <a:latin typeface="Calibri" charset="0"/>
                  <a:ea typeface="+mn-ea"/>
                  <a:cs typeface="Calibri" charset="0"/>
                  <a:sym typeface="Calibri"/>
                </a:rPr>
                <a:t>Capacidad de recuperación</a:t>
              </a:r>
              <a:endParaRPr lang="es-PE" sz="1300" b="1" dirty="0">
                <a:solidFill>
                  <a:schemeClr val="lt1"/>
                </a:solidFill>
                <a:latin typeface="Calibri" charset="0"/>
                <a:ea typeface="+mn-ea"/>
                <a:cs typeface="Calibri" charset="0"/>
              </a:endParaRPr>
            </a:p>
          </p:txBody>
        </p:sp>
        <p:grpSp>
          <p:nvGrpSpPr>
            <p:cNvPr id="37" name="Agrupar 14">
              <a:extLst>
                <a:ext uri="{FF2B5EF4-FFF2-40B4-BE49-F238E27FC236}">
                  <a16:creationId xmlns:a16="http://schemas.microsoft.com/office/drawing/2014/main" id="{1EA2480F-DB94-5A40-BE12-BB355A373748}"/>
                </a:ext>
              </a:extLst>
            </p:cNvPr>
            <p:cNvGrpSpPr/>
            <p:nvPr/>
          </p:nvGrpSpPr>
          <p:grpSpPr>
            <a:xfrm>
              <a:off x="287221" y="965530"/>
              <a:ext cx="459474" cy="403823"/>
              <a:chOff x="5892512" y="2805541"/>
              <a:chExt cx="459474" cy="403823"/>
            </a:xfrm>
          </p:grpSpPr>
          <p:sp>
            <p:nvSpPr>
              <p:cNvPr id="38" name="Elipse 37">
                <a:extLst>
                  <a:ext uri="{FF2B5EF4-FFF2-40B4-BE49-F238E27FC236}">
                    <a16:creationId xmlns:a16="http://schemas.microsoft.com/office/drawing/2014/main" id="{2F278AC1-A962-7F4A-AEF1-AC616B175079}"/>
                  </a:ext>
                </a:extLst>
              </p:cNvPr>
              <p:cNvSpPr/>
              <p:nvPr/>
            </p:nvSpPr>
            <p:spPr>
              <a:xfrm>
                <a:off x="5956277" y="2824919"/>
                <a:ext cx="395709" cy="376075"/>
              </a:xfrm>
              <a:prstGeom prst="ellipse">
                <a:avLst/>
              </a:prstGeom>
              <a:solidFill>
                <a:srgbClr val="6C72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39" name="Elipse 38">
                <a:extLst>
                  <a:ext uri="{FF2B5EF4-FFF2-40B4-BE49-F238E27FC236}">
                    <a16:creationId xmlns:a16="http://schemas.microsoft.com/office/drawing/2014/main" id="{025203D1-F8C9-194E-BF3A-73506176B94C}"/>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40" name="Triángulo 39">
                <a:extLst>
                  <a:ext uri="{FF2B5EF4-FFF2-40B4-BE49-F238E27FC236}">
                    <a16:creationId xmlns:a16="http://schemas.microsoft.com/office/drawing/2014/main" id="{232CC27E-B8A7-A649-A19D-C0077C80410D}"/>
                  </a:ext>
                </a:extLst>
              </p:cNvPr>
              <p:cNvSpPr/>
              <p:nvPr/>
            </p:nvSpPr>
            <p:spPr>
              <a:xfrm rot="5400000">
                <a:off x="6076285" y="2946262"/>
                <a:ext cx="186870" cy="122381"/>
              </a:xfrm>
              <a:prstGeom prst="triangle">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7" name="Rectangle 5">
            <a:extLst>
              <a:ext uri="{FF2B5EF4-FFF2-40B4-BE49-F238E27FC236}">
                <a16:creationId xmlns:a16="http://schemas.microsoft.com/office/drawing/2014/main" id="{B0EF6F9A-38A7-FD4F-975F-BC1B413925A9}"/>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ATRIBUTOS DE CALIDAD</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8" name="Google Shape;394;p24">
            <a:extLst>
              <a:ext uri="{FF2B5EF4-FFF2-40B4-BE49-F238E27FC236}">
                <a16:creationId xmlns:a16="http://schemas.microsoft.com/office/drawing/2014/main" id="{AD5257D0-B2B0-1343-AEC7-350CE80BC72C}"/>
              </a:ext>
            </a:extLst>
          </p:cNvPr>
          <p:cNvSpPr/>
          <p:nvPr/>
        </p:nvSpPr>
        <p:spPr>
          <a:xfrm>
            <a:off x="3179349" y="1274296"/>
            <a:ext cx="5496339" cy="1785104"/>
          </a:xfrm>
          <a:prstGeom prst="rect">
            <a:avLst/>
          </a:prstGeom>
          <a:noFill/>
          <a:ln>
            <a:noFill/>
          </a:ln>
        </p:spPr>
        <p:txBody>
          <a:bodyPr spcFirstLastPara="1" wrap="square" lIns="0" tIns="0" rIns="0" bIns="0" anchor="t" anchorCtr="0">
            <a:spAutoFit/>
          </a:bodyPr>
          <a:lstStyle/>
          <a:p>
            <a:pPr lvl="0">
              <a:spcAft>
                <a:spcPts val="600"/>
              </a:spcAft>
            </a:pPr>
            <a:r>
              <a:rPr lang="es-ES" sz="2000" b="1" dirty="0">
                <a:solidFill>
                  <a:srgbClr val="EE4639"/>
                </a:solidFill>
                <a:latin typeface="Graphik Bold" panose="020B0503030202060203" pitchFamily="34" charset="77"/>
                <a:cs typeface="Calibri" charset="0"/>
              </a:rPr>
              <a:t>+ 06.</a:t>
            </a:r>
            <a:br>
              <a:rPr lang="es-ES" sz="1600" b="1" dirty="0">
                <a:solidFill>
                  <a:srgbClr val="EE4639"/>
                </a:solidFill>
                <a:latin typeface="Calibri" charset="0"/>
                <a:cs typeface="Calibri" charset="0"/>
              </a:rPr>
            </a:br>
            <a:r>
              <a:rPr lang="es-ES" sz="1600" b="1" dirty="0">
                <a:solidFill>
                  <a:srgbClr val="EE4639"/>
                </a:solidFill>
                <a:latin typeface="Calibri" charset="0"/>
                <a:cs typeface="Calibri" charset="0"/>
              </a:rPr>
              <a:t>SEGURIDAD</a:t>
            </a:r>
            <a:endParaRPr lang="es-PE" sz="1600" b="1" dirty="0">
              <a:solidFill>
                <a:srgbClr val="EE4639"/>
              </a:solidFill>
              <a:latin typeface="Calibri" charset="0"/>
              <a:cs typeface="Calibri" charset="0"/>
            </a:endParaRPr>
          </a:p>
          <a:p>
            <a:pPr marL="185738" indent="-177800">
              <a:buClr>
                <a:schemeClr val="dk1"/>
              </a:buClr>
              <a:buSzPct val="100000"/>
              <a:buFont typeface="Arial"/>
              <a:buChar char="•"/>
            </a:pPr>
            <a:r>
              <a:rPr lang="es-PE" sz="1500" dirty="0">
                <a:solidFill>
                  <a:schemeClr val="dk1"/>
                </a:solidFill>
                <a:latin typeface="Calibri"/>
                <a:cs typeface="Calibri"/>
                <a:sym typeface="Calibri"/>
              </a:rPr>
              <a:t>Representa la capacidad del producto de mantener protegida su información y datos de forma tal que tanto personas como sistemas no autorizados no puedan leerlos y/o modificarlos.</a:t>
            </a:r>
            <a:endParaRPr lang="es-PE" sz="1500" dirty="0">
              <a:solidFill>
                <a:schemeClr val="dk1"/>
              </a:solidFill>
              <a:latin typeface="Calibri"/>
              <a:cs typeface="Calibri"/>
            </a:endParaRPr>
          </a:p>
          <a:p>
            <a:pPr marL="185738" indent="-177800">
              <a:buClr>
                <a:schemeClr val="dk1"/>
              </a:buClr>
              <a:buSzPct val="100000"/>
              <a:buFont typeface="Arial"/>
              <a:buNone/>
            </a:pPr>
            <a:endParaRPr lang="es-PE" sz="1500" dirty="0">
              <a:solidFill>
                <a:schemeClr val="dk1"/>
              </a:solidFill>
              <a:latin typeface="Calibri"/>
              <a:cs typeface="Calibri"/>
              <a:sym typeface="Calibri"/>
            </a:endParaRPr>
          </a:p>
          <a:p>
            <a:pPr marL="185738" indent="-177800">
              <a:buClr>
                <a:schemeClr val="dk1"/>
              </a:buClr>
              <a:buSzPct val="100000"/>
              <a:buFont typeface="Arial"/>
              <a:buChar char="•"/>
            </a:pPr>
            <a:r>
              <a:rPr lang="es-PE" sz="1500" dirty="0">
                <a:solidFill>
                  <a:schemeClr val="dk1"/>
                </a:solidFill>
                <a:latin typeface="Calibri"/>
                <a:cs typeface="Calibri"/>
                <a:sym typeface="Calibri"/>
              </a:rPr>
              <a:t>Se divide en cinco subcaracterísticas:</a:t>
            </a:r>
            <a:endParaRPr lang="es-PE" sz="1500" dirty="0">
              <a:solidFill>
                <a:schemeClr val="dk1"/>
              </a:solidFill>
              <a:latin typeface="Calibri"/>
              <a:cs typeface="Calibri"/>
            </a:endParaRPr>
          </a:p>
        </p:txBody>
      </p:sp>
      <p:sp>
        <p:nvSpPr>
          <p:cNvPr id="9" name="Rectángulo redondeado 8">
            <a:extLst>
              <a:ext uri="{FF2B5EF4-FFF2-40B4-BE49-F238E27FC236}">
                <a16:creationId xmlns:a16="http://schemas.microsoft.com/office/drawing/2014/main" id="{7141B7D1-CF08-5E43-B250-F306D578EE84}"/>
              </a:ext>
            </a:extLst>
          </p:cNvPr>
          <p:cNvSpPr/>
          <p:nvPr/>
        </p:nvSpPr>
        <p:spPr>
          <a:xfrm>
            <a:off x="468313" y="1274296"/>
            <a:ext cx="1735449" cy="947330"/>
          </a:xfrm>
          <a:prstGeom prst="roundRect">
            <a:avLst>
              <a:gd name="adj" fmla="val 12027"/>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lnSpc>
                <a:spcPct val="90000"/>
              </a:lnSpc>
              <a:spcBef>
                <a:spcPts val="0"/>
              </a:spcBef>
              <a:spcAft>
                <a:spcPts val="0"/>
              </a:spcAft>
              <a:buClr>
                <a:schemeClr val="lt1"/>
              </a:buClr>
              <a:buSzPts val="1800"/>
              <a:buFont typeface="Calibri"/>
              <a:buNone/>
            </a:pPr>
            <a:r>
              <a:rPr lang="es-PE" sz="1400" b="1" dirty="0">
                <a:solidFill>
                  <a:schemeClr val="lt1"/>
                </a:solidFill>
                <a:latin typeface="Calibri"/>
                <a:ea typeface="Calibri"/>
                <a:cs typeface="Calibri"/>
                <a:sym typeface="Calibri"/>
              </a:rPr>
              <a:t>SEGURIDAD</a:t>
            </a:r>
            <a:endParaRPr lang="es-PE" dirty="0"/>
          </a:p>
        </p:txBody>
      </p:sp>
      <p:grpSp>
        <p:nvGrpSpPr>
          <p:cNvPr id="10" name="Grupo 9">
            <a:extLst>
              <a:ext uri="{FF2B5EF4-FFF2-40B4-BE49-F238E27FC236}">
                <a16:creationId xmlns:a16="http://schemas.microsoft.com/office/drawing/2014/main" id="{71D7D119-2466-214E-B443-716AB30B1010}"/>
              </a:ext>
            </a:extLst>
          </p:cNvPr>
          <p:cNvGrpSpPr/>
          <p:nvPr/>
        </p:nvGrpSpPr>
        <p:grpSpPr>
          <a:xfrm>
            <a:off x="3179349" y="3152268"/>
            <a:ext cx="1879509" cy="394721"/>
            <a:chOff x="287221" y="917244"/>
            <a:chExt cx="2209952" cy="500394"/>
          </a:xfrm>
        </p:grpSpPr>
        <p:sp>
          <p:nvSpPr>
            <p:cNvPr id="11" name="Rectángulo redondeado 10">
              <a:extLst>
                <a:ext uri="{FF2B5EF4-FFF2-40B4-BE49-F238E27FC236}">
                  <a16:creationId xmlns:a16="http://schemas.microsoft.com/office/drawing/2014/main" id="{99326CE4-3179-534C-BD3B-2AD91131C4A1}"/>
                </a:ext>
              </a:extLst>
            </p:cNvPr>
            <p:cNvSpPr/>
            <p:nvPr/>
          </p:nvSpPr>
          <p:spPr>
            <a:xfrm>
              <a:off x="503238" y="917244"/>
              <a:ext cx="1993935" cy="500394"/>
            </a:xfrm>
            <a:prstGeom prst="roundRect">
              <a:avLst>
                <a:gd name="adj" fmla="val 24841"/>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ctr">
                <a:buSzPts val="1600"/>
                <a:tabLst>
                  <a:tab pos="569913" algn="l"/>
                </a:tabLst>
              </a:pPr>
              <a:r>
                <a:rPr lang="es-PE" b="1" dirty="0">
                  <a:solidFill>
                    <a:schemeClr val="lt1"/>
                  </a:solidFill>
                  <a:latin typeface="Calibri" charset="0"/>
                  <a:ea typeface="+mn-ea"/>
                  <a:cs typeface="Calibri" charset="0"/>
                  <a:sym typeface="Calibri"/>
                </a:rPr>
                <a:t>Confidencialidad</a:t>
              </a:r>
              <a:endParaRPr lang="es-PE" b="1" dirty="0">
                <a:solidFill>
                  <a:schemeClr val="lt1"/>
                </a:solidFill>
                <a:latin typeface="Calibri" charset="0"/>
                <a:ea typeface="+mn-ea"/>
                <a:cs typeface="Calibri" charset="0"/>
              </a:endParaRPr>
            </a:p>
          </p:txBody>
        </p:sp>
        <p:grpSp>
          <p:nvGrpSpPr>
            <p:cNvPr id="12" name="Agrupar 14">
              <a:extLst>
                <a:ext uri="{FF2B5EF4-FFF2-40B4-BE49-F238E27FC236}">
                  <a16:creationId xmlns:a16="http://schemas.microsoft.com/office/drawing/2014/main" id="{C26954CA-A428-0C4D-BC46-E3CE6E203F35}"/>
                </a:ext>
              </a:extLst>
            </p:cNvPr>
            <p:cNvGrpSpPr/>
            <p:nvPr/>
          </p:nvGrpSpPr>
          <p:grpSpPr>
            <a:xfrm>
              <a:off x="287221" y="965530"/>
              <a:ext cx="459474" cy="403823"/>
              <a:chOff x="5892512" y="2805541"/>
              <a:chExt cx="459474" cy="403823"/>
            </a:xfrm>
          </p:grpSpPr>
          <p:sp>
            <p:nvSpPr>
              <p:cNvPr id="13" name="Elipse 12">
                <a:extLst>
                  <a:ext uri="{FF2B5EF4-FFF2-40B4-BE49-F238E27FC236}">
                    <a16:creationId xmlns:a16="http://schemas.microsoft.com/office/drawing/2014/main" id="{6B3147A9-DE60-1E4B-B724-5AD97331BEFC}"/>
                  </a:ext>
                </a:extLst>
              </p:cNvPr>
              <p:cNvSpPr/>
              <p:nvPr/>
            </p:nvSpPr>
            <p:spPr>
              <a:xfrm>
                <a:off x="5956277" y="2824919"/>
                <a:ext cx="395709" cy="376075"/>
              </a:xfrm>
              <a:prstGeom prst="ellipse">
                <a:avLst/>
              </a:prstGeom>
              <a:solidFill>
                <a:srgbClr val="C73A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4" name="Elipse 13">
                <a:extLst>
                  <a:ext uri="{FF2B5EF4-FFF2-40B4-BE49-F238E27FC236}">
                    <a16:creationId xmlns:a16="http://schemas.microsoft.com/office/drawing/2014/main" id="{65A9A81D-07F5-A947-8C04-BD7858A68C1F}"/>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5" name="Triángulo 14">
                <a:extLst>
                  <a:ext uri="{FF2B5EF4-FFF2-40B4-BE49-F238E27FC236}">
                    <a16:creationId xmlns:a16="http://schemas.microsoft.com/office/drawing/2014/main" id="{C17CBA24-670B-6642-AA6C-8F118A3BDB24}"/>
                  </a:ext>
                </a:extLst>
              </p:cNvPr>
              <p:cNvSpPr/>
              <p:nvPr/>
            </p:nvSpPr>
            <p:spPr>
              <a:xfrm rot="5400000">
                <a:off x="6076285" y="2946262"/>
                <a:ext cx="186870" cy="122381"/>
              </a:xfrm>
              <a:prstGeom prst="triangle">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grpSp>
        <p:nvGrpSpPr>
          <p:cNvPr id="16" name="Grupo 15">
            <a:extLst>
              <a:ext uri="{FF2B5EF4-FFF2-40B4-BE49-F238E27FC236}">
                <a16:creationId xmlns:a16="http://schemas.microsoft.com/office/drawing/2014/main" id="{7EC0A9E4-93B4-7942-94BD-9F590291226A}"/>
              </a:ext>
            </a:extLst>
          </p:cNvPr>
          <p:cNvGrpSpPr/>
          <p:nvPr/>
        </p:nvGrpSpPr>
        <p:grpSpPr>
          <a:xfrm>
            <a:off x="3179349" y="3622915"/>
            <a:ext cx="1879509" cy="394721"/>
            <a:chOff x="287221" y="917244"/>
            <a:chExt cx="2209952" cy="500394"/>
          </a:xfrm>
        </p:grpSpPr>
        <p:sp>
          <p:nvSpPr>
            <p:cNvPr id="17" name="Rectángulo redondeado 16">
              <a:extLst>
                <a:ext uri="{FF2B5EF4-FFF2-40B4-BE49-F238E27FC236}">
                  <a16:creationId xmlns:a16="http://schemas.microsoft.com/office/drawing/2014/main" id="{09C6022B-DC72-B044-9295-0DADEE696C34}"/>
                </a:ext>
              </a:extLst>
            </p:cNvPr>
            <p:cNvSpPr/>
            <p:nvPr/>
          </p:nvSpPr>
          <p:spPr>
            <a:xfrm>
              <a:off x="503238" y="917244"/>
              <a:ext cx="1993935" cy="500394"/>
            </a:xfrm>
            <a:prstGeom prst="roundRect">
              <a:avLst>
                <a:gd name="adj" fmla="val 24841"/>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ctr">
                <a:buSzPts val="1600"/>
                <a:tabLst>
                  <a:tab pos="569913" algn="l"/>
                </a:tabLst>
              </a:pPr>
              <a:r>
                <a:rPr lang="es-PE" b="1" dirty="0">
                  <a:solidFill>
                    <a:schemeClr val="lt1"/>
                  </a:solidFill>
                  <a:latin typeface="Calibri" charset="0"/>
                  <a:ea typeface="+mn-ea"/>
                  <a:cs typeface="Calibri" charset="0"/>
                  <a:sym typeface="Calibri"/>
                </a:rPr>
                <a:t>Integridad</a:t>
              </a:r>
            </a:p>
          </p:txBody>
        </p:sp>
        <p:grpSp>
          <p:nvGrpSpPr>
            <p:cNvPr id="18" name="Agrupar 14">
              <a:extLst>
                <a:ext uri="{FF2B5EF4-FFF2-40B4-BE49-F238E27FC236}">
                  <a16:creationId xmlns:a16="http://schemas.microsoft.com/office/drawing/2014/main" id="{8AE0A4D9-DB3B-3A47-9011-45B694CECC5F}"/>
                </a:ext>
              </a:extLst>
            </p:cNvPr>
            <p:cNvGrpSpPr/>
            <p:nvPr/>
          </p:nvGrpSpPr>
          <p:grpSpPr>
            <a:xfrm>
              <a:off x="287221" y="965530"/>
              <a:ext cx="459474" cy="403823"/>
              <a:chOff x="5892512" y="2805541"/>
              <a:chExt cx="459474" cy="403823"/>
            </a:xfrm>
          </p:grpSpPr>
          <p:sp>
            <p:nvSpPr>
              <p:cNvPr id="19" name="Elipse 18">
                <a:extLst>
                  <a:ext uri="{FF2B5EF4-FFF2-40B4-BE49-F238E27FC236}">
                    <a16:creationId xmlns:a16="http://schemas.microsoft.com/office/drawing/2014/main" id="{DC9F648B-B849-4242-8C54-44F3AD0A7932}"/>
                  </a:ext>
                </a:extLst>
              </p:cNvPr>
              <p:cNvSpPr/>
              <p:nvPr/>
            </p:nvSpPr>
            <p:spPr>
              <a:xfrm>
                <a:off x="5956277" y="2824919"/>
                <a:ext cx="395709" cy="376075"/>
              </a:xfrm>
              <a:prstGeom prst="ellipse">
                <a:avLst/>
              </a:prstGeom>
              <a:solidFill>
                <a:srgbClr val="C73A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20" name="Elipse 19">
                <a:extLst>
                  <a:ext uri="{FF2B5EF4-FFF2-40B4-BE49-F238E27FC236}">
                    <a16:creationId xmlns:a16="http://schemas.microsoft.com/office/drawing/2014/main" id="{C18E673C-2B1B-2342-A67C-BD4998158EE6}"/>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21" name="Triángulo 20">
                <a:extLst>
                  <a:ext uri="{FF2B5EF4-FFF2-40B4-BE49-F238E27FC236}">
                    <a16:creationId xmlns:a16="http://schemas.microsoft.com/office/drawing/2014/main" id="{D84C08F8-9268-474E-94BA-113D19C78296}"/>
                  </a:ext>
                </a:extLst>
              </p:cNvPr>
              <p:cNvSpPr/>
              <p:nvPr/>
            </p:nvSpPr>
            <p:spPr>
              <a:xfrm rot="5400000">
                <a:off x="6076285" y="2946262"/>
                <a:ext cx="186870" cy="122381"/>
              </a:xfrm>
              <a:prstGeom prst="triangle">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grpSp>
        <p:nvGrpSpPr>
          <p:cNvPr id="22" name="Grupo 21">
            <a:extLst>
              <a:ext uri="{FF2B5EF4-FFF2-40B4-BE49-F238E27FC236}">
                <a16:creationId xmlns:a16="http://schemas.microsoft.com/office/drawing/2014/main" id="{592F48A8-B1E7-A74C-8EBA-B9CA36C60281}"/>
              </a:ext>
            </a:extLst>
          </p:cNvPr>
          <p:cNvGrpSpPr/>
          <p:nvPr/>
        </p:nvGrpSpPr>
        <p:grpSpPr>
          <a:xfrm>
            <a:off x="4170332" y="4160509"/>
            <a:ext cx="1879509" cy="394721"/>
            <a:chOff x="287221" y="917244"/>
            <a:chExt cx="2209952" cy="500394"/>
          </a:xfrm>
        </p:grpSpPr>
        <p:sp>
          <p:nvSpPr>
            <p:cNvPr id="23" name="Rectángulo redondeado 22">
              <a:extLst>
                <a:ext uri="{FF2B5EF4-FFF2-40B4-BE49-F238E27FC236}">
                  <a16:creationId xmlns:a16="http://schemas.microsoft.com/office/drawing/2014/main" id="{2412E978-20AB-1048-B559-68FF2EAB8E31}"/>
                </a:ext>
              </a:extLst>
            </p:cNvPr>
            <p:cNvSpPr/>
            <p:nvPr/>
          </p:nvSpPr>
          <p:spPr>
            <a:xfrm>
              <a:off x="503238" y="917244"/>
              <a:ext cx="1993935" cy="500394"/>
            </a:xfrm>
            <a:prstGeom prst="roundRect">
              <a:avLst>
                <a:gd name="adj" fmla="val 24841"/>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ctr">
                <a:buSzPts val="1600"/>
                <a:tabLst>
                  <a:tab pos="569913" algn="l"/>
                </a:tabLst>
              </a:pPr>
              <a:r>
                <a:rPr lang="es-PE" b="1" dirty="0">
                  <a:solidFill>
                    <a:schemeClr val="lt1"/>
                  </a:solidFill>
                  <a:latin typeface="Calibri" charset="0"/>
                  <a:ea typeface="+mn-ea"/>
                  <a:cs typeface="Calibri" charset="0"/>
                  <a:sym typeface="Calibri"/>
                </a:rPr>
                <a:t>Responsabilidad</a:t>
              </a:r>
              <a:endParaRPr lang="es-PE" b="1" dirty="0">
                <a:solidFill>
                  <a:schemeClr val="lt1"/>
                </a:solidFill>
                <a:latin typeface="Calibri" charset="0"/>
                <a:ea typeface="+mn-ea"/>
                <a:cs typeface="Calibri" charset="0"/>
              </a:endParaRPr>
            </a:p>
          </p:txBody>
        </p:sp>
        <p:grpSp>
          <p:nvGrpSpPr>
            <p:cNvPr id="24" name="Agrupar 14">
              <a:extLst>
                <a:ext uri="{FF2B5EF4-FFF2-40B4-BE49-F238E27FC236}">
                  <a16:creationId xmlns:a16="http://schemas.microsoft.com/office/drawing/2014/main" id="{FFA2483B-A988-194C-9375-83629139A6D8}"/>
                </a:ext>
              </a:extLst>
            </p:cNvPr>
            <p:cNvGrpSpPr/>
            <p:nvPr/>
          </p:nvGrpSpPr>
          <p:grpSpPr>
            <a:xfrm>
              <a:off x="287221" y="965530"/>
              <a:ext cx="459474" cy="403823"/>
              <a:chOff x="5892512" y="2805541"/>
              <a:chExt cx="459474" cy="403823"/>
            </a:xfrm>
          </p:grpSpPr>
          <p:sp>
            <p:nvSpPr>
              <p:cNvPr id="25" name="Elipse 24">
                <a:extLst>
                  <a:ext uri="{FF2B5EF4-FFF2-40B4-BE49-F238E27FC236}">
                    <a16:creationId xmlns:a16="http://schemas.microsoft.com/office/drawing/2014/main" id="{FF2A4D7F-796D-AC44-BBD3-422C0D843B80}"/>
                  </a:ext>
                </a:extLst>
              </p:cNvPr>
              <p:cNvSpPr/>
              <p:nvPr/>
            </p:nvSpPr>
            <p:spPr>
              <a:xfrm>
                <a:off x="5956277" y="2824919"/>
                <a:ext cx="395709" cy="376075"/>
              </a:xfrm>
              <a:prstGeom prst="ellipse">
                <a:avLst/>
              </a:prstGeom>
              <a:solidFill>
                <a:srgbClr val="C73A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26" name="Elipse 25">
                <a:extLst>
                  <a:ext uri="{FF2B5EF4-FFF2-40B4-BE49-F238E27FC236}">
                    <a16:creationId xmlns:a16="http://schemas.microsoft.com/office/drawing/2014/main" id="{5F2F223F-588D-424F-AAD4-50DA2449695D}"/>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27" name="Triángulo 26">
                <a:extLst>
                  <a:ext uri="{FF2B5EF4-FFF2-40B4-BE49-F238E27FC236}">
                    <a16:creationId xmlns:a16="http://schemas.microsoft.com/office/drawing/2014/main" id="{A27CC250-5BEF-4F4A-A648-63D9A4D31295}"/>
                  </a:ext>
                </a:extLst>
              </p:cNvPr>
              <p:cNvSpPr/>
              <p:nvPr/>
            </p:nvSpPr>
            <p:spPr>
              <a:xfrm rot="5400000">
                <a:off x="6076285" y="2946262"/>
                <a:ext cx="186870" cy="122381"/>
              </a:xfrm>
              <a:prstGeom prst="triangle">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grpSp>
        <p:nvGrpSpPr>
          <p:cNvPr id="28" name="Grupo 27">
            <a:extLst>
              <a:ext uri="{FF2B5EF4-FFF2-40B4-BE49-F238E27FC236}">
                <a16:creationId xmlns:a16="http://schemas.microsoft.com/office/drawing/2014/main" id="{E26B29F4-C1AF-F04D-8ECD-E881884A7B52}"/>
              </a:ext>
            </a:extLst>
          </p:cNvPr>
          <p:cNvGrpSpPr/>
          <p:nvPr/>
        </p:nvGrpSpPr>
        <p:grpSpPr>
          <a:xfrm>
            <a:off x="5055856" y="3152268"/>
            <a:ext cx="1879509" cy="394721"/>
            <a:chOff x="287221" y="917244"/>
            <a:chExt cx="2209952" cy="500394"/>
          </a:xfrm>
        </p:grpSpPr>
        <p:sp>
          <p:nvSpPr>
            <p:cNvPr id="29" name="Rectángulo redondeado 28">
              <a:extLst>
                <a:ext uri="{FF2B5EF4-FFF2-40B4-BE49-F238E27FC236}">
                  <a16:creationId xmlns:a16="http://schemas.microsoft.com/office/drawing/2014/main" id="{86AF91DD-8141-094D-B8AC-ED48A6A62FC0}"/>
                </a:ext>
              </a:extLst>
            </p:cNvPr>
            <p:cNvSpPr/>
            <p:nvPr/>
          </p:nvSpPr>
          <p:spPr>
            <a:xfrm>
              <a:off x="503238" y="917244"/>
              <a:ext cx="1993935" cy="500394"/>
            </a:xfrm>
            <a:prstGeom prst="roundRect">
              <a:avLst>
                <a:gd name="adj" fmla="val 24841"/>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ctr">
                <a:buSzPts val="1600"/>
                <a:tabLst>
                  <a:tab pos="569913" algn="l"/>
                </a:tabLst>
              </a:pPr>
              <a:r>
                <a:rPr lang="es-PE" b="1" dirty="0">
                  <a:solidFill>
                    <a:schemeClr val="lt1"/>
                  </a:solidFill>
                  <a:latin typeface="Calibri" charset="0"/>
                  <a:ea typeface="+mn-ea"/>
                  <a:cs typeface="Calibri" charset="0"/>
                  <a:sym typeface="Calibri"/>
                </a:rPr>
                <a:t>No repudio</a:t>
              </a:r>
              <a:endParaRPr lang="es-PE" b="1" dirty="0">
                <a:solidFill>
                  <a:schemeClr val="lt1"/>
                </a:solidFill>
                <a:latin typeface="Calibri" charset="0"/>
                <a:ea typeface="+mn-ea"/>
                <a:cs typeface="Calibri" charset="0"/>
              </a:endParaRPr>
            </a:p>
          </p:txBody>
        </p:sp>
        <p:grpSp>
          <p:nvGrpSpPr>
            <p:cNvPr id="30" name="Agrupar 14">
              <a:extLst>
                <a:ext uri="{FF2B5EF4-FFF2-40B4-BE49-F238E27FC236}">
                  <a16:creationId xmlns:a16="http://schemas.microsoft.com/office/drawing/2014/main" id="{03275324-AFBF-EC43-A0E0-EE76B46168D5}"/>
                </a:ext>
              </a:extLst>
            </p:cNvPr>
            <p:cNvGrpSpPr/>
            <p:nvPr/>
          </p:nvGrpSpPr>
          <p:grpSpPr>
            <a:xfrm>
              <a:off x="287221" y="965530"/>
              <a:ext cx="459474" cy="403823"/>
              <a:chOff x="5892512" y="2805541"/>
              <a:chExt cx="459474" cy="403823"/>
            </a:xfrm>
          </p:grpSpPr>
          <p:sp>
            <p:nvSpPr>
              <p:cNvPr id="31" name="Elipse 30">
                <a:extLst>
                  <a:ext uri="{FF2B5EF4-FFF2-40B4-BE49-F238E27FC236}">
                    <a16:creationId xmlns:a16="http://schemas.microsoft.com/office/drawing/2014/main" id="{30813CE1-D2C1-8F4B-8841-17177756DAD1}"/>
                  </a:ext>
                </a:extLst>
              </p:cNvPr>
              <p:cNvSpPr/>
              <p:nvPr/>
            </p:nvSpPr>
            <p:spPr>
              <a:xfrm>
                <a:off x="5956277" y="2824919"/>
                <a:ext cx="395709" cy="376075"/>
              </a:xfrm>
              <a:prstGeom prst="ellipse">
                <a:avLst/>
              </a:prstGeom>
              <a:solidFill>
                <a:srgbClr val="C73A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32" name="Elipse 31">
                <a:extLst>
                  <a:ext uri="{FF2B5EF4-FFF2-40B4-BE49-F238E27FC236}">
                    <a16:creationId xmlns:a16="http://schemas.microsoft.com/office/drawing/2014/main" id="{CC9358DF-D386-4941-AF2B-00711D7BB739}"/>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33" name="Triángulo 32">
                <a:extLst>
                  <a:ext uri="{FF2B5EF4-FFF2-40B4-BE49-F238E27FC236}">
                    <a16:creationId xmlns:a16="http://schemas.microsoft.com/office/drawing/2014/main" id="{457C797C-FA55-2944-AD7E-51BE020F8612}"/>
                  </a:ext>
                </a:extLst>
              </p:cNvPr>
              <p:cNvSpPr/>
              <p:nvPr/>
            </p:nvSpPr>
            <p:spPr>
              <a:xfrm rot="5400000">
                <a:off x="6076285" y="2946262"/>
                <a:ext cx="186870" cy="122381"/>
              </a:xfrm>
              <a:prstGeom prst="triangle">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grpSp>
        <p:nvGrpSpPr>
          <p:cNvPr id="34" name="Grupo 33">
            <a:extLst>
              <a:ext uri="{FF2B5EF4-FFF2-40B4-BE49-F238E27FC236}">
                <a16:creationId xmlns:a16="http://schemas.microsoft.com/office/drawing/2014/main" id="{30D6E63D-C0E7-7C40-84CF-B5F6F8D51317}"/>
              </a:ext>
            </a:extLst>
          </p:cNvPr>
          <p:cNvGrpSpPr/>
          <p:nvPr/>
        </p:nvGrpSpPr>
        <p:grpSpPr>
          <a:xfrm>
            <a:off x="5055856" y="3622915"/>
            <a:ext cx="1879509" cy="394721"/>
            <a:chOff x="287221" y="917244"/>
            <a:chExt cx="2209952" cy="500394"/>
          </a:xfrm>
        </p:grpSpPr>
        <p:sp>
          <p:nvSpPr>
            <p:cNvPr id="35" name="Rectángulo redondeado 34">
              <a:extLst>
                <a:ext uri="{FF2B5EF4-FFF2-40B4-BE49-F238E27FC236}">
                  <a16:creationId xmlns:a16="http://schemas.microsoft.com/office/drawing/2014/main" id="{AFFE3CB2-F353-0D49-BCE3-588F9F28C036}"/>
                </a:ext>
              </a:extLst>
            </p:cNvPr>
            <p:cNvSpPr/>
            <p:nvPr/>
          </p:nvSpPr>
          <p:spPr>
            <a:xfrm>
              <a:off x="503238" y="917244"/>
              <a:ext cx="1993935" cy="500394"/>
            </a:xfrm>
            <a:prstGeom prst="roundRect">
              <a:avLst>
                <a:gd name="adj" fmla="val 24841"/>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ctr">
                <a:buSzPts val="1600"/>
                <a:tabLst>
                  <a:tab pos="569913" algn="l"/>
                </a:tabLst>
              </a:pPr>
              <a:r>
                <a:rPr lang="es-PE" b="1" dirty="0">
                  <a:solidFill>
                    <a:schemeClr val="lt1"/>
                  </a:solidFill>
                  <a:latin typeface="Calibri" charset="0"/>
                  <a:ea typeface="+mn-ea"/>
                  <a:cs typeface="Calibri" charset="0"/>
                  <a:sym typeface="Calibri"/>
                </a:rPr>
                <a:t>Autenticidad</a:t>
              </a:r>
              <a:endParaRPr lang="es-PE" b="1" dirty="0">
                <a:solidFill>
                  <a:schemeClr val="lt1"/>
                </a:solidFill>
                <a:latin typeface="Calibri" charset="0"/>
                <a:ea typeface="+mn-ea"/>
                <a:cs typeface="Calibri" charset="0"/>
              </a:endParaRPr>
            </a:p>
          </p:txBody>
        </p:sp>
        <p:grpSp>
          <p:nvGrpSpPr>
            <p:cNvPr id="36" name="Agrupar 14">
              <a:extLst>
                <a:ext uri="{FF2B5EF4-FFF2-40B4-BE49-F238E27FC236}">
                  <a16:creationId xmlns:a16="http://schemas.microsoft.com/office/drawing/2014/main" id="{AC0665A5-2E44-0E43-8634-818F595CAC24}"/>
                </a:ext>
              </a:extLst>
            </p:cNvPr>
            <p:cNvGrpSpPr/>
            <p:nvPr/>
          </p:nvGrpSpPr>
          <p:grpSpPr>
            <a:xfrm>
              <a:off x="287221" y="965530"/>
              <a:ext cx="459474" cy="403823"/>
              <a:chOff x="5892512" y="2805541"/>
              <a:chExt cx="459474" cy="403823"/>
            </a:xfrm>
          </p:grpSpPr>
          <p:sp>
            <p:nvSpPr>
              <p:cNvPr id="37" name="Elipse 36">
                <a:extLst>
                  <a:ext uri="{FF2B5EF4-FFF2-40B4-BE49-F238E27FC236}">
                    <a16:creationId xmlns:a16="http://schemas.microsoft.com/office/drawing/2014/main" id="{7F6FBF34-94F8-C347-BA63-65FB41B22F3E}"/>
                  </a:ext>
                </a:extLst>
              </p:cNvPr>
              <p:cNvSpPr/>
              <p:nvPr/>
            </p:nvSpPr>
            <p:spPr>
              <a:xfrm>
                <a:off x="5956277" y="2824919"/>
                <a:ext cx="395709" cy="376075"/>
              </a:xfrm>
              <a:prstGeom prst="ellipse">
                <a:avLst/>
              </a:prstGeom>
              <a:solidFill>
                <a:srgbClr val="C73A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38" name="Elipse 37">
                <a:extLst>
                  <a:ext uri="{FF2B5EF4-FFF2-40B4-BE49-F238E27FC236}">
                    <a16:creationId xmlns:a16="http://schemas.microsoft.com/office/drawing/2014/main" id="{86D798F4-289E-C440-A912-18CB96C58456}"/>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39" name="Triángulo 38">
                <a:extLst>
                  <a:ext uri="{FF2B5EF4-FFF2-40B4-BE49-F238E27FC236}">
                    <a16:creationId xmlns:a16="http://schemas.microsoft.com/office/drawing/2014/main" id="{2B32B13D-BC95-C745-A6D0-AA11203810D2}"/>
                  </a:ext>
                </a:extLst>
              </p:cNvPr>
              <p:cNvSpPr/>
              <p:nvPr/>
            </p:nvSpPr>
            <p:spPr>
              <a:xfrm rot="5400000">
                <a:off x="6076285" y="2946262"/>
                <a:ext cx="186870" cy="122381"/>
              </a:xfrm>
              <a:prstGeom prst="triangle">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7" name="Rectangle 5">
            <a:extLst>
              <a:ext uri="{FF2B5EF4-FFF2-40B4-BE49-F238E27FC236}">
                <a16:creationId xmlns:a16="http://schemas.microsoft.com/office/drawing/2014/main" id="{79CEA0AC-CE2A-2649-8195-6C2A294680C5}"/>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ATRIBUTOS DE CALIDAD</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8" name="Google Shape;394;p24">
            <a:extLst>
              <a:ext uri="{FF2B5EF4-FFF2-40B4-BE49-F238E27FC236}">
                <a16:creationId xmlns:a16="http://schemas.microsoft.com/office/drawing/2014/main" id="{CDDCC28D-B51E-5440-9529-5A7685626730}"/>
              </a:ext>
            </a:extLst>
          </p:cNvPr>
          <p:cNvSpPr/>
          <p:nvPr/>
        </p:nvSpPr>
        <p:spPr>
          <a:xfrm>
            <a:off x="3179349" y="1274296"/>
            <a:ext cx="5496339" cy="1785104"/>
          </a:xfrm>
          <a:prstGeom prst="rect">
            <a:avLst/>
          </a:prstGeom>
          <a:noFill/>
          <a:ln>
            <a:noFill/>
          </a:ln>
        </p:spPr>
        <p:txBody>
          <a:bodyPr spcFirstLastPara="1" wrap="square" lIns="0" tIns="0" rIns="0" bIns="0" anchor="t" anchorCtr="0">
            <a:spAutoFit/>
          </a:bodyPr>
          <a:lstStyle/>
          <a:p>
            <a:pPr>
              <a:spcAft>
                <a:spcPts val="600"/>
              </a:spcAft>
            </a:pPr>
            <a:r>
              <a:rPr lang="es-ES" sz="2000" b="1" dirty="0">
                <a:solidFill>
                  <a:srgbClr val="92C14E"/>
                </a:solidFill>
                <a:latin typeface="Graphik Bold" panose="020B0503030202060203" pitchFamily="34" charset="77"/>
                <a:cs typeface="Calibri" charset="0"/>
              </a:rPr>
              <a:t>+ 07.</a:t>
            </a:r>
            <a:br>
              <a:rPr lang="es-ES" sz="1600" b="1" dirty="0">
                <a:solidFill>
                  <a:srgbClr val="92C14E"/>
                </a:solidFill>
                <a:latin typeface="Calibri" charset="0"/>
                <a:cs typeface="Calibri" charset="0"/>
              </a:rPr>
            </a:br>
            <a:r>
              <a:rPr lang="es-PE" sz="1600" b="1" dirty="0">
                <a:solidFill>
                  <a:srgbClr val="92C14E"/>
                </a:solidFill>
                <a:latin typeface="Calibri" charset="0"/>
                <a:cs typeface="Calibri" charset="0"/>
                <a:sym typeface="Calibri"/>
              </a:rPr>
              <a:t>MANTENIBILIDAD</a:t>
            </a:r>
            <a:endParaRPr lang="es-PE" sz="1600" b="1" dirty="0">
              <a:solidFill>
                <a:srgbClr val="92C14E"/>
              </a:solidFill>
              <a:latin typeface="Calibri" charset="0"/>
              <a:cs typeface="Calibri" charset="0"/>
            </a:endParaRPr>
          </a:p>
          <a:p>
            <a:pPr marL="185738" indent="-185738">
              <a:buClr>
                <a:schemeClr val="dk1"/>
              </a:buClr>
              <a:buSzPct val="100000"/>
              <a:buFont typeface="Arial"/>
              <a:buChar char="•"/>
            </a:pPr>
            <a:r>
              <a:rPr lang="es-PE" sz="1500" dirty="0">
                <a:solidFill>
                  <a:schemeClr val="dk1"/>
                </a:solidFill>
                <a:latin typeface="Calibri"/>
                <a:cs typeface="Calibri"/>
                <a:sym typeface="Calibri"/>
              </a:rPr>
              <a:t>Representa la capacidad del producto para ser modificado de forma efectiva y eficiente debido a necesidades evolutivas, correctivas o perfectivas. </a:t>
            </a:r>
            <a:endParaRPr lang="es-PE" sz="1500" dirty="0">
              <a:solidFill>
                <a:schemeClr val="dk1"/>
              </a:solidFill>
              <a:latin typeface="Calibri"/>
              <a:cs typeface="Calibri"/>
            </a:endParaRPr>
          </a:p>
          <a:p>
            <a:pPr marL="185738" indent="-185738">
              <a:buClr>
                <a:schemeClr val="dk1"/>
              </a:buClr>
              <a:buSzPct val="100000"/>
              <a:buFont typeface="Arial"/>
              <a:buNone/>
            </a:pPr>
            <a:endParaRPr lang="es-PE" sz="1500" dirty="0">
              <a:solidFill>
                <a:schemeClr val="dk1"/>
              </a:solidFill>
              <a:latin typeface="Calibri"/>
              <a:cs typeface="Calibri"/>
              <a:sym typeface="Calibri"/>
            </a:endParaRPr>
          </a:p>
          <a:p>
            <a:pPr marL="185738" indent="-185738">
              <a:buClr>
                <a:schemeClr val="dk1"/>
              </a:buClr>
              <a:buSzPct val="100000"/>
              <a:buFont typeface="Arial"/>
              <a:buChar char="•"/>
            </a:pPr>
            <a:r>
              <a:rPr lang="es-PE" sz="1500" dirty="0">
                <a:solidFill>
                  <a:schemeClr val="dk1"/>
                </a:solidFill>
                <a:latin typeface="Calibri"/>
                <a:cs typeface="Calibri"/>
                <a:sym typeface="Calibri"/>
              </a:rPr>
              <a:t>Se divide en cinco subcaracterísticas:</a:t>
            </a:r>
            <a:endParaRPr lang="es-PE" sz="1500" dirty="0">
              <a:solidFill>
                <a:schemeClr val="dk1"/>
              </a:solidFill>
              <a:latin typeface="Calibri"/>
              <a:cs typeface="Calibri"/>
            </a:endParaRPr>
          </a:p>
        </p:txBody>
      </p:sp>
      <p:sp>
        <p:nvSpPr>
          <p:cNvPr id="9" name="Rectángulo redondeado 8">
            <a:extLst>
              <a:ext uri="{FF2B5EF4-FFF2-40B4-BE49-F238E27FC236}">
                <a16:creationId xmlns:a16="http://schemas.microsoft.com/office/drawing/2014/main" id="{AA0277F4-ABED-AA43-9DE9-31D5E2569F03}"/>
              </a:ext>
            </a:extLst>
          </p:cNvPr>
          <p:cNvSpPr/>
          <p:nvPr/>
        </p:nvSpPr>
        <p:spPr>
          <a:xfrm>
            <a:off x="468313" y="1274296"/>
            <a:ext cx="1735449" cy="947330"/>
          </a:xfrm>
          <a:prstGeom prst="roundRect">
            <a:avLst>
              <a:gd name="adj" fmla="val 12027"/>
            </a:avLst>
          </a:prstGeom>
          <a:solidFill>
            <a:srgbClr val="92C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lnSpc>
                <a:spcPct val="90000"/>
              </a:lnSpc>
              <a:spcBef>
                <a:spcPts val="0"/>
              </a:spcBef>
              <a:spcAft>
                <a:spcPts val="0"/>
              </a:spcAft>
              <a:buNone/>
            </a:pPr>
            <a:r>
              <a:rPr lang="es-PE" sz="1400" b="1" dirty="0">
                <a:solidFill>
                  <a:schemeClr val="lt1"/>
                </a:solidFill>
                <a:latin typeface="Calibri"/>
                <a:ea typeface="Calibri"/>
                <a:cs typeface="Calibri"/>
                <a:sym typeface="Calibri"/>
              </a:rPr>
              <a:t>MANTENIBILIDAD</a:t>
            </a:r>
            <a:endParaRPr lang="es-PE" dirty="0"/>
          </a:p>
        </p:txBody>
      </p:sp>
      <p:grpSp>
        <p:nvGrpSpPr>
          <p:cNvPr id="10" name="Grupo 9">
            <a:extLst>
              <a:ext uri="{FF2B5EF4-FFF2-40B4-BE49-F238E27FC236}">
                <a16:creationId xmlns:a16="http://schemas.microsoft.com/office/drawing/2014/main" id="{D9802077-95DB-BB40-8948-5363962B69B8}"/>
              </a:ext>
            </a:extLst>
          </p:cNvPr>
          <p:cNvGrpSpPr/>
          <p:nvPr/>
        </p:nvGrpSpPr>
        <p:grpSpPr>
          <a:xfrm>
            <a:off x="3203202" y="3288462"/>
            <a:ext cx="2203684" cy="394721"/>
            <a:chOff x="287221" y="917244"/>
            <a:chExt cx="2591122" cy="500394"/>
          </a:xfrm>
        </p:grpSpPr>
        <p:sp>
          <p:nvSpPr>
            <p:cNvPr id="11" name="Rectángulo redondeado 10">
              <a:extLst>
                <a:ext uri="{FF2B5EF4-FFF2-40B4-BE49-F238E27FC236}">
                  <a16:creationId xmlns:a16="http://schemas.microsoft.com/office/drawing/2014/main" id="{BEA7ECE5-3DDF-504D-813C-1C877F31BBE6}"/>
                </a:ext>
              </a:extLst>
            </p:cNvPr>
            <p:cNvSpPr/>
            <p:nvPr/>
          </p:nvSpPr>
          <p:spPr>
            <a:xfrm>
              <a:off x="503238" y="917244"/>
              <a:ext cx="2375105" cy="500394"/>
            </a:xfrm>
            <a:prstGeom prst="roundRect">
              <a:avLst>
                <a:gd name="adj" fmla="val 24841"/>
              </a:avLst>
            </a:prstGeom>
            <a:solidFill>
              <a:srgbClr val="92C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5738" lvl="1" algn="ctr">
                <a:buSzPts val="1600"/>
                <a:tabLst>
                  <a:tab pos="569913" algn="l"/>
                </a:tabLst>
              </a:pPr>
              <a:r>
                <a:rPr lang="es-PE" b="1" dirty="0">
                  <a:solidFill>
                    <a:schemeClr val="lt1"/>
                  </a:solidFill>
                  <a:latin typeface="Calibri" charset="0"/>
                  <a:ea typeface="+mn-ea"/>
                  <a:cs typeface="Calibri" charset="0"/>
                  <a:sym typeface="Calibri"/>
                </a:rPr>
                <a:t>Modularidad</a:t>
              </a:r>
              <a:endParaRPr lang="es-PE" b="1" dirty="0">
                <a:solidFill>
                  <a:schemeClr val="lt1"/>
                </a:solidFill>
                <a:latin typeface="Calibri" charset="0"/>
                <a:ea typeface="+mn-ea"/>
                <a:cs typeface="Calibri" charset="0"/>
              </a:endParaRPr>
            </a:p>
          </p:txBody>
        </p:sp>
        <p:grpSp>
          <p:nvGrpSpPr>
            <p:cNvPr id="12" name="Agrupar 14">
              <a:extLst>
                <a:ext uri="{FF2B5EF4-FFF2-40B4-BE49-F238E27FC236}">
                  <a16:creationId xmlns:a16="http://schemas.microsoft.com/office/drawing/2014/main" id="{B8FA8D33-8ED0-9146-8662-47F013A74035}"/>
                </a:ext>
              </a:extLst>
            </p:cNvPr>
            <p:cNvGrpSpPr/>
            <p:nvPr/>
          </p:nvGrpSpPr>
          <p:grpSpPr>
            <a:xfrm>
              <a:off x="287221" y="965530"/>
              <a:ext cx="459474" cy="403823"/>
              <a:chOff x="5892512" y="2805541"/>
              <a:chExt cx="459474" cy="403823"/>
            </a:xfrm>
          </p:grpSpPr>
          <p:sp>
            <p:nvSpPr>
              <p:cNvPr id="13" name="Elipse 12">
                <a:extLst>
                  <a:ext uri="{FF2B5EF4-FFF2-40B4-BE49-F238E27FC236}">
                    <a16:creationId xmlns:a16="http://schemas.microsoft.com/office/drawing/2014/main" id="{94A592DC-F8E6-8740-AB59-3EA4C2D79A39}"/>
                  </a:ext>
                </a:extLst>
              </p:cNvPr>
              <p:cNvSpPr/>
              <p:nvPr/>
            </p:nvSpPr>
            <p:spPr>
              <a:xfrm>
                <a:off x="5956277" y="2824919"/>
                <a:ext cx="395709" cy="376075"/>
              </a:xfrm>
              <a:prstGeom prst="ellipse">
                <a:avLst/>
              </a:prstGeom>
              <a:solidFill>
                <a:srgbClr val="6A8F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4" name="Elipse 13">
                <a:extLst>
                  <a:ext uri="{FF2B5EF4-FFF2-40B4-BE49-F238E27FC236}">
                    <a16:creationId xmlns:a16="http://schemas.microsoft.com/office/drawing/2014/main" id="{55C93AF1-3EE1-834F-9054-DC4321174538}"/>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5" name="Triángulo 14">
                <a:extLst>
                  <a:ext uri="{FF2B5EF4-FFF2-40B4-BE49-F238E27FC236}">
                    <a16:creationId xmlns:a16="http://schemas.microsoft.com/office/drawing/2014/main" id="{9CC29443-E719-BA4C-A53E-C93986F820AA}"/>
                  </a:ext>
                </a:extLst>
              </p:cNvPr>
              <p:cNvSpPr/>
              <p:nvPr/>
            </p:nvSpPr>
            <p:spPr>
              <a:xfrm rot="5400000">
                <a:off x="6076285" y="2946262"/>
                <a:ext cx="186870" cy="122381"/>
              </a:xfrm>
              <a:prstGeom prst="triangle">
                <a:avLst/>
              </a:prstGeom>
              <a:solidFill>
                <a:srgbClr val="92C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grpSp>
        <p:nvGrpSpPr>
          <p:cNvPr id="16" name="Grupo 15">
            <a:extLst>
              <a:ext uri="{FF2B5EF4-FFF2-40B4-BE49-F238E27FC236}">
                <a16:creationId xmlns:a16="http://schemas.microsoft.com/office/drawing/2014/main" id="{945DC4D7-09C0-6E41-840B-CEDF0A808F51}"/>
              </a:ext>
            </a:extLst>
          </p:cNvPr>
          <p:cNvGrpSpPr/>
          <p:nvPr/>
        </p:nvGrpSpPr>
        <p:grpSpPr>
          <a:xfrm>
            <a:off x="3203202" y="3759109"/>
            <a:ext cx="2203683" cy="394721"/>
            <a:chOff x="287221" y="917244"/>
            <a:chExt cx="2591120" cy="500394"/>
          </a:xfrm>
        </p:grpSpPr>
        <p:sp>
          <p:nvSpPr>
            <p:cNvPr id="17" name="Rectángulo redondeado 16">
              <a:extLst>
                <a:ext uri="{FF2B5EF4-FFF2-40B4-BE49-F238E27FC236}">
                  <a16:creationId xmlns:a16="http://schemas.microsoft.com/office/drawing/2014/main" id="{157EB149-2FC3-8C45-858B-50D7D2F474F0}"/>
                </a:ext>
              </a:extLst>
            </p:cNvPr>
            <p:cNvSpPr/>
            <p:nvPr/>
          </p:nvSpPr>
          <p:spPr>
            <a:xfrm>
              <a:off x="503237" y="917244"/>
              <a:ext cx="2375104" cy="500394"/>
            </a:xfrm>
            <a:prstGeom prst="roundRect">
              <a:avLst>
                <a:gd name="adj" fmla="val 24841"/>
              </a:avLst>
            </a:prstGeom>
            <a:solidFill>
              <a:srgbClr val="92C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5738" lvl="1" algn="ctr">
                <a:buSzPts val="1600"/>
                <a:tabLst>
                  <a:tab pos="569913" algn="l"/>
                </a:tabLst>
              </a:pPr>
              <a:r>
                <a:rPr lang="es-PE" b="1" dirty="0">
                  <a:solidFill>
                    <a:schemeClr val="lt1"/>
                  </a:solidFill>
                  <a:latin typeface="Calibri" charset="0"/>
                  <a:ea typeface="+mn-ea"/>
                  <a:cs typeface="Calibri" charset="0"/>
                  <a:sym typeface="Calibri"/>
                </a:rPr>
                <a:t>Reusabilidad</a:t>
              </a:r>
              <a:endParaRPr lang="es-PE" b="1" dirty="0">
                <a:solidFill>
                  <a:schemeClr val="lt1"/>
                </a:solidFill>
                <a:latin typeface="Calibri" charset="0"/>
                <a:ea typeface="+mn-ea"/>
                <a:cs typeface="Calibri" charset="0"/>
              </a:endParaRPr>
            </a:p>
          </p:txBody>
        </p:sp>
        <p:grpSp>
          <p:nvGrpSpPr>
            <p:cNvPr id="18" name="Agrupar 14">
              <a:extLst>
                <a:ext uri="{FF2B5EF4-FFF2-40B4-BE49-F238E27FC236}">
                  <a16:creationId xmlns:a16="http://schemas.microsoft.com/office/drawing/2014/main" id="{11200BEE-3B00-6A4E-B7A3-79C352C58B1F}"/>
                </a:ext>
              </a:extLst>
            </p:cNvPr>
            <p:cNvGrpSpPr/>
            <p:nvPr/>
          </p:nvGrpSpPr>
          <p:grpSpPr>
            <a:xfrm>
              <a:off x="287221" y="965530"/>
              <a:ext cx="459474" cy="403823"/>
              <a:chOff x="5892512" y="2805541"/>
              <a:chExt cx="459474" cy="403823"/>
            </a:xfrm>
          </p:grpSpPr>
          <p:sp>
            <p:nvSpPr>
              <p:cNvPr id="19" name="Elipse 18">
                <a:extLst>
                  <a:ext uri="{FF2B5EF4-FFF2-40B4-BE49-F238E27FC236}">
                    <a16:creationId xmlns:a16="http://schemas.microsoft.com/office/drawing/2014/main" id="{A7DBD4C4-AEC3-7849-AA25-AD85FFECFEE6}"/>
                  </a:ext>
                </a:extLst>
              </p:cNvPr>
              <p:cNvSpPr/>
              <p:nvPr/>
            </p:nvSpPr>
            <p:spPr>
              <a:xfrm>
                <a:off x="5956277" y="2824919"/>
                <a:ext cx="395709" cy="376075"/>
              </a:xfrm>
              <a:prstGeom prst="ellipse">
                <a:avLst/>
              </a:prstGeom>
              <a:solidFill>
                <a:srgbClr val="6A8F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20" name="Elipse 19">
                <a:extLst>
                  <a:ext uri="{FF2B5EF4-FFF2-40B4-BE49-F238E27FC236}">
                    <a16:creationId xmlns:a16="http://schemas.microsoft.com/office/drawing/2014/main" id="{BC34F706-5EDC-9C48-9E2F-78A1D4C9650E}"/>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21" name="Triángulo 20">
                <a:extLst>
                  <a:ext uri="{FF2B5EF4-FFF2-40B4-BE49-F238E27FC236}">
                    <a16:creationId xmlns:a16="http://schemas.microsoft.com/office/drawing/2014/main" id="{27FD4841-8A20-E64A-91ED-E23D07BE4B4C}"/>
                  </a:ext>
                </a:extLst>
              </p:cNvPr>
              <p:cNvSpPr/>
              <p:nvPr/>
            </p:nvSpPr>
            <p:spPr>
              <a:xfrm rot="5400000">
                <a:off x="6076285" y="2946262"/>
                <a:ext cx="186870" cy="122381"/>
              </a:xfrm>
              <a:prstGeom prst="triangle">
                <a:avLst/>
              </a:prstGeom>
              <a:solidFill>
                <a:srgbClr val="92C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grpSp>
        <p:nvGrpSpPr>
          <p:cNvPr id="22" name="Grupo 21">
            <a:extLst>
              <a:ext uri="{FF2B5EF4-FFF2-40B4-BE49-F238E27FC236}">
                <a16:creationId xmlns:a16="http://schemas.microsoft.com/office/drawing/2014/main" id="{4A74C975-0847-F641-9746-26E68CEDB6CF}"/>
              </a:ext>
            </a:extLst>
          </p:cNvPr>
          <p:cNvGrpSpPr/>
          <p:nvPr/>
        </p:nvGrpSpPr>
        <p:grpSpPr>
          <a:xfrm>
            <a:off x="5413665" y="3288462"/>
            <a:ext cx="2203684" cy="394721"/>
            <a:chOff x="287221" y="917244"/>
            <a:chExt cx="2591122" cy="500394"/>
          </a:xfrm>
        </p:grpSpPr>
        <p:sp>
          <p:nvSpPr>
            <p:cNvPr id="23" name="Rectángulo redondeado 22">
              <a:extLst>
                <a:ext uri="{FF2B5EF4-FFF2-40B4-BE49-F238E27FC236}">
                  <a16:creationId xmlns:a16="http://schemas.microsoft.com/office/drawing/2014/main" id="{81C35307-E931-4441-AF5A-3B7903521282}"/>
                </a:ext>
              </a:extLst>
            </p:cNvPr>
            <p:cNvSpPr/>
            <p:nvPr/>
          </p:nvSpPr>
          <p:spPr>
            <a:xfrm>
              <a:off x="503238" y="917244"/>
              <a:ext cx="2375105" cy="500394"/>
            </a:xfrm>
            <a:prstGeom prst="roundRect">
              <a:avLst>
                <a:gd name="adj" fmla="val 24841"/>
              </a:avLst>
            </a:prstGeom>
            <a:solidFill>
              <a:srgbClr val="92C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5738" lvl="1" algn="ctr">
                <a:buSzPts val="1600"/>
                <a:tabLst>
                  <a:tab pos="569913" algn="l"/>
                </a:tabLst>
              </a:pPr>
              <a:r>
                <a:rPr lang="es-PE" b="1" dirty="0">
                  <a:solidFill>
                    <a:schemeClr val="lt1"/>
                  </a:solidFill>
                  <a:latin typeface="Calibri" charset="0"/>
                  <a:ea typeface="+mn-ea"/>
                  <a:cs typeface="Calibri" charset="0"/>
                  <a:sym typeface="Calibri"/>
                </a:rPr>
                <a:t>Analizabilidad</a:t>
              </a:r>
              <a:endParaRPr lang="es-PE" b="1" dirty="0">
                <a:solidFill>
                  <a:schemeClr val="lt1"/>
                </a:solidFill>
                <a:latin typeface="Calibri" charset="0"/>
                <a:ea typeface="+mn-ea"/>
                <a:cs typeface="Calibri" charset="0"/>
              </a:endParaRPr>
            </a:p>
          </p:txBody>
        </p:sp>
        <p:grpSp>
          <p:nvGrpSpPr>
            <p:cNvPr id="24" name="Agrupar 14">
              <a:extLst>
                <a:ext uri="{FF2B5EF4-FFF2-40B4-BE49-F238E27FC236}">
                  <a16:creationId xmlns:a16="http://schemas.microsoft.com/office/drawing/2014/main" id="{C10D3DBD-E481-614F-9F07-B6D4F4B079F9}"/>
                </a:ext>
              </a:extLst>
            </p:cNvPr>
            <p:cNvGrpSpPr/>
            <p:nvPr/>
          </p:nvGrpSpPr>
          <p:grpSpPr>
            <a:xfrm>
              <a:off x="287221" y="965530"/>
              <a:ext cx="459474" cy="403823"/>
              <a:chOff x="5892512" y="2805541"/>
              <a:chExt cx="459474" cy="403823"/>
            </a:xfrm>
          </p:grpSpPr>
          <p:sp>
            <p:nvSpPr>
              <p:cNvPr id="25" name="Elipse 24">
                <a:extLst>
                  <a:ext uri="{FF2B5EF4-FFF2-40B4-BE49-F238E27FC236}">
                    <a16:creationId xmlns:a16="http://schemas.microsoft.com/office/drawing/2014/main" id="{39D7DB48-20EB-DF42-949B-EB2A7D0024FD}"/>
                  </a:ext>
                </a:extLst>
              </p:cNvPr>
              <p:cNvSpPr/>
              <p:nvPr/>
            </p:nvSpPr>
            <p:spPr>
              <a:xfrm>
                <a:off x="5956277" y="2824919"/>
                <a:ext cx="395709" cy="376075"/>
              </a:xfrm>
              <a:prstGeom prst="ellipse">
                <a:avLst/>
              </a:prstGeom>
              <a:solidFill>
                <a:srgbClr val="6A8F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26" name="Elipse 25">
                <a:extLst>
                  <a:ext uri="{FF2B5EF4-FFF2-40B4-BE49-F238E27FC236}">
                    <a16:creationId xmlns:a16="http://schemas.microsoft.com/office/drawing/2014/main" id="{1E579EBA-B010-F04B-8CCE-B449B55EBFE6}"/>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27" name="Triángulo 26">
                <a:extLst>
                  <a:ext uri="{FF2B5EF4-FFF2-40B4-BE49-F238E27FC236}">
                    <a16:creationId xmlns:a16="http://schemas.microsoft.com/office/drawing/2014/main" id="{38321EB2-94A3-9644-995B-42FBD539D2D2}"/>
                  </a:ext>
                </a:extLst>
              </p:cNvPr>
              <p:cNvSpPr/>
              <p:nvPr/>
            </p:nvSpPr>
            <p:spPr>
              <a:xfrm rot="5400000">
                <a:off x="6076285" y="2946262"/>
                <a:ext cx="186870" cy="122381"/>
              </a:xfrm>
              <a:prstGeom prst="triangle">
                <a:avLst/>
              </a:prstGeom>
              <a:solidFill>
                <a:srgbClr val="92C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grpSp>
        <p:nvGrpSpPr>
          <p:cNvPr id="28" name="Grupo 27">
            <a:extLst>
              <a:ext uri="{FF2B5EF4-FFF2-40B4-BE49-F238E27FC236}">
                <a16:creationId xmlns:a16="http://schemas.microsoft.com/office/drawing/2014/main" id="{6287A0C6-0556-5542-B186-4CCCE98AE2A2}"/>
              </a:ext>
            </a:extLst>
          </p:cNvPr>
          <p:cNvGrpSpPr/>
          <p:nvPr/>
        </p:nvGrpSpPr>
        <p:grpSpPr>
          <a:xfrm>
            <a:off x="5413665" y="3759109"/>
            <a:ext cx="2203683" cy="394721"/>
            <a:chOff x="287221" y="917244"/>
            <a:chExt cx="2591120" cy="500394"/>
          </a:xfrm>
        </p:grpSpPr>
        <p:sp>
          <p:nvSpPr>
            <p:cNvPr id="29" name="Rectángulo redondeado 28">
              <a:extLst>
                <a:ext uri="{FF2B5EF4-FFF2-40B4-BE49-F238E27FC236}">
                  <a16:creationId xmlns:a16="http://schemas.microsoft.com/office/drawing/2014/main" id="{6FBEC38A-D8DE-1140-AC87-8D1497CA225B}"/>
                </a:ext>
              </a:extLst>
            </p:cNvPr>
            <p:cNvSpPr/>
            <p:nvPr/>
          </p:nvSpPr>
          <p:spPr>
            <a:xfrm>
              <a:off x="503237" y="917244"/>
              <a:ext cx="2375104" cy="500394"/>
            </a:xfrm>
            <a:prstGeom prst="roundRect">
              <a:avLst>
                <a:gd name="adj" fmla="val 24841"/>
              </a:avLst>
            </a:prstGeom>
            <a:solidFill>
              <a:srgbClr val="92C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5738" lvl="1" algn="ctr">
                <a:buSzPts val="1600"/>
                <a:tabLst>
                  <a:tab pos="569913" algn="l"/>
                </a:tabLst>
              </a:pPr>
              <a:r>
                <a:rPr lang="es-PE" b="1" dirty="0">
                  <a:solidFill>
                    <a:schemeClr val="lt1"/>
                  </a:solidFill>
                  <a:latin typeface="Calibri" charset="0"/>
                  <a:ea typeface="+mn-ea"/>
                  <a:cs typeface="Calibri" charset="0"/>
                  <a:sym typeface="Calibri"/>
                </a:rPr>
                <a:t>Modificabilidad</a:t>
              </a:r>
              <a:endParaRPr lang="es-PE" b="1" dirty="0">
                <a:solidFill>
                  <a:schemeClr val="lt1"/>
                </a:solidFill>
                <a:latin typeface="Calibri" charset="0"/>
                <a:ea typeface="+mn-ea"/>
                <a:cs typeface="Calibri" charset="0"/>
              </a:endParaRPr>
            </a:p>
          </p:txBody>
        </p:sp>
        <p:grpSp>
          <p:nvGrpSpPr>
            <p:cNvPr id="30" name="Agrupar 14">
              <a:extLst>
                <a:ext uri="{FF2B5EF4-FFF2-40B4-BE49-F238E27FC236}">
                  <a16:creationId xmlns:a16="http://schemas.microsoft.com/office/drawing/2014/main" id="{F4E31641-5CE3-8E4F-93CD-4F22D422BAF7}"/>
                </a:ext>
              </a:extLst>
            </p:cNvPr>
            <p:cNvGrpSpPr/>
            <p:nvPr/>
          </p:nvGrpSpPr>
          <p:grpSpPr>
            <a:xfrm>
              <a:off x="287221" y="965530"/>
              <a:ext cx="459474" cy="403823"/>
              <a:chOff x="5892512" y="2805541"/>
              <a:chExt cx="459474" cy="403823"/>
            </a:xfrm>
          </p:grpSpPr>
          <p:sp>
            <p:nvSpPr>
              <p:cNvPr id="31" name="Elipse 30">
                <a:extLst>
                  <a:ext uri="{FF2B5EF4-FFF2-40B4-BE49-F238E27FC236}">
                    <a16:creationId xmlns:a16="http://schemas.microsoft.com/office/drawing/2014/main" id="{D3E33311-DA14-0444-82EF-E4DAA0A0DFBF}"/>
                  </a:ext>
                </a:extLst>
              </p:cNvPr>
              <p:cNvSpPr/>
              <p:nvPr/>
            </p:nvSpPr>
            <p:spPr>
              <a:xfrm>
                <a:off x="5956277" y="2824919"/>
                <a:ext cx="395709" cy="376075"/>
              </a:xfrm>
              <a:prstGeom prst="ellipse">
                <a:avLst/>
              </a:prstGeom>
              <a:solidFill>
                <a:srgbClr val="6A8F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32" name="Elipse 31">
                <a:extLst>
                  <a:ext uri="{FF2B5EF4-FFF2-40B4-BE49-F238E27FC236}">
                    <a16:creationId xmlns:a16="http://schemas.microsoft.com/office/drawing/2014/main" id="{A8A476FC-53ED-CE4D-969A-B362C909529A}"/>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33" name="Triángulo 32">
                <a:extLst>
                  <a:ext uri="{FF2B5EF4-FFF2-40B4-BE49-F238E27FC236}">
                    <a16:creationId xmlns:a16="http://schemas.microsoft.com/office/drawing/2014/main" id="{2E8B5DF5-F5D2-3749-9235-E78F81F7B896}"/>
                  </a:ext>
                </a:extLst>
              </p:cNvPr>
              <p:cNvSpPr/>
              <p:nvPr/>
            </p:nvSpPr>
            <p:spPr>
              <a:xfrm rot="5400000">
                <a:off x="6076285" y="2946262"/>
                <a:ext cx="186870" cy="122381"/>
              </a:xfrm>
              <a:prstGeom prst="triangle">
                <a:avLst/>
              </a:prstGeom>
              <a:solidFill>
                <a:srgbClr val="92C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grpSp>
        <p:nvGrpSpPr>
          <p:cNvPr id="34" name="Grupo 33">
            <a:extLst>
              <a:ext uri="{FF2B5EF4-FFF2-40B4-BE49-F238E27FC236}">
                <a16:creationId xmlns:a16="http://schemas.microsoft.com/office/drawing/2014/main" id="{937E64FB-EEFE-9042-9A43-1F24EAFF978E}"/>
              </a:ext>
            </a:extLst>
          </p:cNvPr>
          <p:cNvGrpSpPr/>
          <p:nvPr/>
        </p:nvGrpSpPr>
        <p:grpSpPr>
          <a:xfrm>
            <a:off x="4305043" y="4283895"/>
            <a:ext cx="2203683" cy="394721"/>
            <a:chOff x="287221" y="917244"/>
            <a:chExt cx="2591120" cy="500394"/>
          </a:xfrm>
        </p:grpSpPr>
        <p:sp>
          <p:nvSpPr>
            <p:cNvPr id="35" name="Rectángulo redondeado 34">
              <a:extLst>
                <a:ext uri="{FF2B5EF4-FFF2-40B4-BE49-F238E27FC236}">
                  <a16:creationId xmlns:a16="http://schemas.microsoft.com/office/drawing/2014/main" id="{DCA541BA-443D-194A-A0B9-E368EB2353EA}"/>
                </a:ext>
              </a:extLst>
            </p:cNvPr>
            <p:cNvSpPr/>
            <p:nvPr/>
          </p:nvSpPr>
          <p:spPr>
            <a:xfrm>
              <a:off x="503237" y="917244"/>
              <a:ext cx="2375104" cy="500394"/>
            </a:xfrm>
            <a:prstGeom prst="roundRect">
              <a:avLst>
                <a:gd name="adj" fmla="val 24841"/>
              </a:avLst>
            </a:prstGeom>
            <a:solidFill>
              <a:srgbClr val="92C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5738" lvl="1" algn="ctr">
                <a:buSzPts val="1600"/>
                <a:tabLst>
                  <a:tab pos="569913" algn="l"/>
                </a:tabLst>
              </a:pPr>
              <a:r>
                <a:rPr lang="es-PE" b="1" dirty="0">
                  <a:solidFill>
                    <a:schemeClr val="lt1"/>
                  </a:solidFill>
                  <a:latin typeface="Calibri" charset="0"/>
                  <a:ea typeface="+mn-ea"/>
                  <a:cs typeface="Calibri" charset="0"/>
                  <a:sym typeface="Calibri"/>
                </a:rPr>
                <a:t>Capacidad de testeo</a:t>
              </a:r>
              <a:endParaRPr lang="es-PE" b="1" dirty="0">
                <a:solidFill>
                  <a:schemeClr val="lt1"/>
                </a:solidFill>
                <a:latin typeface="Calibri" charset="0"/>
                <a:ea typeface="+mn-ea"/>
                <a:cs typeface="Calibri" charset="0"/>
              </a:endParaRPr>
            </a:p>
          </p:txBody>
        </p:sp>
        <p:grpSp>
          <p:nvGrpSpPr>
            <p:cNvPr id="36" name="Agrupar 14">
              <a:extLst>
                <a:ext uri="{FF2B5EF4-FFF2-40B4-BE49-F238E27FC236}">
                  <a16:creationId xmlns:a16="http://schemas.microsoft.com/office/drawing/2014/main" id="{7DD40DAE-3EE2-A442-8A6D-F50513E9F8AB}"/>
                </a:ext>
              </a:extLst>
            </p:cNvPr>
            <p:cNvGrpSpPr/>
            <p:nvPr/>
          </p:nvGrpSpPr>
          <p:grpSpPr>
            <a:xfrm>
              <a:off x="287221" y="965530"/>
              <a:ext cx="459474" cy="403823"/>
              <a:chOff x="5892512" y="2805541"/>
              <a:chExt cx="459474" cy="403823"/>
            </a:xfrm>
          </p:grpSpPr>
          <p:sp>
            <p:nvSpPr>
              <p:cNvPr id="37" name="Elipse 36">
                <a:extLst>
                  <a:ext uri="{FF2B5EF4-FFF2-40B4-BE49-F238E27FC236}">
                    <a16:creationId xmlns:a16="http://schemas.microsoft.com/office/drawing/2014/main" id="{89F4C407-0F8B-CE4C-8AC6-AC94B5822DBE}"/>
                  </a:ext>
                </a:extLst>
              </p:cNvPr>
              <p:cNvSpPr/>
              <p:nvPr/>
            </p:nvSpPr>
            <p:spPr>
              <a:xfrm>
                <a:off x="5956277" y="2824919"/>
                <a:ext cx="395709" cy="376075"/>
              </a:xfrm>
              <a:prstGeom prst="ellipse">
                <a:avLst/>
              </a:prstGeom>
              <a:solidFill>
                <a:srgbClr val="6A8F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38" name="Elipse 37">
                <a:extLst>
                  <a:ext uri="{FF2B5EF4-FFF2-40B4-BE49-F238E27FC236}">
                    <a16:creationId xmlns:a16="http://schemas.microsoft.com/office/drawing/2014/main" id="{BFC82621-62E8-3C4B-91F1-95AEEEAC0662}"/>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39" name="Triángulo 38">
                <a:extLst>
                  <a:ext uri="{FF2B5EF4-FFF2-40B4-BE49-F238E27FC236}">
                    <a16:creationId xmlns:a16="http://schemas.microsoft.com/office/drawing/2014/main" id="{54936330-FD53-1F48-8A26-8466DC180DF9}"/>
                  </a:ext>
                </a:extLst>
              </p:cNvPr>
              <p:cNvSpPr/>
              <p:nvPr/>
            </p:nvSpPr>
            <p:spPr>
              <a:xfrm rot="5400000">
                <a:off x="6076285" y="2946262"/>
                <a:ext cx="186870" cy="122381"/>
              </a:xfrm>
              <a:prstGeom prst="triangle">
                <a:avLst/>
              </a:prstGeom>
              <a:solidFill>
                <a:srgbClr val="92C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6" name="Google Shape;466;p31"/>
          <p:cNvSpPr txBox="1"/>
          <p:nvPr/>
        </p:nvSpPr>
        <p:spPr>
          <a:xfrm>
            <a:off x="478916" y="5030101"/>
            <a:ext cx="2977188"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000" dirty="0">
                <a:solidFill>
                  <a:schemeClr val="bg1">
                    <a:lumMod val="50000"/>
                  </a:schemeClr>
                </a:solidFill>
                <a:latin typeface="Calibri"/>
                <a:ea typeface="Calibri"/>
                <a:cs typeface="Calibri"/>
                <a:sym typeface="Calibri"/>
              </a:rPr>
              <a:t>www.researchgate.net</a:t>
            </a:r>
            <a:endParaRPr dirty="0">
              <a:solidFill>
                <a:schemeClr val="bg1">
                  <a:lumMod val="50000"/>
                </a:schemeClr>
              </a:solidFill>
            </a:endParaRPr>
          </a:p>
        </p:txBody>
      </p:sp>
      <p:sp>
        <p:nvSpPr>
          <p:cNvPr id="8" name="Rectangle 5">
            <a:extLst>
              <a:ext uri="{FF2B5EF4-FFF2-40B4-BE49-F238E27FC236}">
                <a16:creationId xmlns:a16="http://schemas.microsoft.com/office/drawing/2014/main" id="{6141BD88-3A67-EE41-B3B7-443A1BF62B14}"/>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ATRIBUTOS DE CALIDAD</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9" name="Google Shape;394;p24">
            <a:extLst>
              <a:ext uri="{FF2B5EF4-FFF2-40B4-BE49-F238E27FC236}">
                <a16:creationId xmlns:a16="http://schemas.microsoft.com/office/drawing/2014/main" id="{05FDD5B5-C0D2-4B41-A338-7D1D768D4383}"/>
              </a:ext>
            </a:extLst>
          </p:cNvPr>
          <p:cNvSpPr/>
          <p:nvPr/>
        </p:nvSpPr>
        <p:spPr>
          <a:xfrm>
            <a:off x="3179349" y="1274296"/>
            <a:ext cx="5496339" cy="2015936"/>
          </a:xfrm>
          <a:prstGeom prst="rect">
            <a:avLst/>
          </a:prstGeom>
          <a:noFill/>
          <a:ln>
            <a:noFill/>
          </a:ln>
        </p:spPr>
        <p:txBody>
          <a:bodyPr spcFirstLastPara="1" wrap="square" lIns="0" tIns="0" rIns="0" bIns="0" anchor="t" anchorCtr="0">
            <a:spAutoFit/>
          </a:bodyPr>
          <a:lstStyle/>
          <a:p>
            <a:pPr>
              <a:spcAft>
                <a:spcPts val="600"/>
              </a:spcAft>
            </a:pPr>
            <a:r>
              <a:rPr lang="es-ES" sz="2000" b="1" dirty="0">
                <a:solidFill>
                  <a:srgbClr val="7150A0"/>
                </a:solidFill>
                <a:latin typeface="Graphik Bold" panose="020B0503030202060203" pitchFamily="34" charset="77"/>
                <a:cs typeface="Calibri" charset="0"/>
              </a:rPr>
              <a:t>+ 08.</a:t>
            </a:r>
            <a:br>
              <a:rPr lang="es-ES" sz="1600" b="1" dirty="0">
                <a:solidFill>
                  <a:srgbClr val="7150A0"/>
                </a:solidFill>
                <a:latin typeface="Calibri" charset="0"/>
                <a:cs typeface="Calibri" charset="0"/>
              </a:rPr>
            </a:br>
            <a:r>
              <a:rPr lang="es-PE" sz="1600" b="1" dirty="0">
                <a:solidFill>
                  <a:srgbClr val="7150A0"/>
                </a:solidFill>
                <a:latin typeface="Calibri" charset="0"/>
                <a:cs typeface="Calibri" charset="0"/>
                <a:sym typeface="Calibri"/>
              </a:rPr>
              <a:t>PORTABILIDAD</a:t>
            </a:r>
            <a:endParaRPr lang="es-PE" sz="1600" b="1" dirty="0">
              <a:solidFill>
                <a:srgbClr val="7150A0"/>
              </a:solidFill>
              <a:latin typeface="Calibri" charset="0"/>
              <a:cs typeface="Calibri" charset="0"/>
            </a:endParaRPr>
          </a:p>
          <a:p>
            <a:pPr marL="227013" lvl="0" indent="-227013">
              <a:buClr>
                <a:schemeClr val="dk1"/>
              </a:buClr>
              <a:buSzPct val="100000"/>
              <a:buFont typeface="Arial"/>
              <a:buChar char="•"/>
            </a:pPr>
            <a:r>
              <a:rPr lang="es-PE" sz="1500" dirty="0">
                <a:solidFill>
                  <a:schemeClr val="dk1"/>
                </a:solidFill>
                <a:latin typeface="Calibri"/>
                <a:cs typeface="Calibri"/>
                <a:sym typeface="Calibri"/>
              </a:rPr>
              <a:t>“Es la capacidad del producto o componente de software de ser transferido, de forma efectiva y eficiente, de un entorno de ejecución a otro entorno diferente (ya sea en relación con el hardware y/o al software)”. </a:t>
            </a:r>
            <a:endParaRPr lang="es-PE" sz="1500" dirty="0">
              <a:solidFill>
                <a:schemeClr val="dk1"/>
              </a:solidFill>
              <a:latin typeface="Calibri"/>
              <a:cs typeface="Calibri"/>
            </a:endParaRPr>
          </a:p>
          <a:p>
            <a:pPr marL="227013" lvl="0" indent="-227013">
              <a:buClr>
                <a:schemeClr val="dk1"/>
              </a:buClr>
              <a:buSzPct val="100000"/>
              <a:buFont typeface="Arial"/>
              <a:buNone/>
            </a:pPr>
            <a:endParaRPr lang="es-PE" sz="1500" dirty="0">
              <a:solidFill>
                <a:schemeClr val="dk1"/>
              </a:solidFill>
              <a:latin typeface="Calibri"/>
              <a:cs typeface="Calibri"/>
              <a:sym typeface="Calibri"/>
            </a:endParaRPr>
          </a:p>
          <a:p>
            <a:pPr marL="227013" lvl="0" indent="-227013">
              <a:buClr>
                <a:schemeClr val="dk1"/>
              </a:buClr>
              <a:buSzPct val="100000"/>
              <a:buFont typeface="Arial"/>
              <a:buChar char="•"/>
            </a:pPr>
            <a:r>
              <a:rPr lang="es-PE" sz="1500" dirty="0">
                <a:solidFill>
                  <a:schemeClr val="dk1"/>
                </a:solidFill>
                <a:latin typeface="Calibri"/>
                <a:cs typeface="Calibri"/>
                <a:sym typeface="Calibri"/>
              </a:rPr>
              <a:t>Se divide en tres subcaracterísticas:</a:t>
            </a:r>
            <a:endParaRPr lang="es-PE" sz="1500" dirty="0">
              <a:solidFill>
                <a:schemeClr val="dk1"/>
              </a:solidFill>
              <a:latin typeface="Calibri"/>
              <a:cs typeface="Calibri"/>
            </a:endParaRPr>
          </a:p>
        </p:txBody>
      </p:sp>
      <p:sp>
        <p:nvSpPr>
          <p:cNvPr id="10" name="Rectángulo redondeado 9">
            <a:extLst>
              <a:ext uri="{FF2B5EF4-FFF2-40B4-BE49-F238E27FC236}">
                <a16:creationId xmlns:a16="http://schemas.microsoft.com/office/drawing/2014/main" id="{038DA33C-58B0-0745-910A-3632E1715245}"/>
              </a:ext>
            </a:extLst>
          </p:cNvPr>
          <p:cNvSpPr/>
          <p:nvPr/>
        </p:nvSpPr>
        <p:spPr>
          <a:xfrm>
            <a:off x="468313" y="1274296"/>
            <a:ext cx="1735449" cy="947330"/>
          </a:xfrm>
          <a:prstGeom prst="roundRect">
            <a:avLst>
              <a:gd name="adj" fmla="val 12027"/>
            </a:avLst>
          </a:prstGeom>
          <a:solidFill>
            <a:srgbClr val="715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lnSpc>
                <a:spcPct val="90000"/>
              </a:lnSpc>
              <a:spcBef>
                <a:spcPts val="0"/>
              </a:spcBef>
              <a:spcAft>
                <a:spcPts val="0"/>
              </a:spcAft>
              <a:buNone/>
            </a:pPr>
            <a:r>
              <a:rPr lang="es-PE" sz="1400" b="1" dirty="0">
                <a:solidFill>
                  <a:schemeClr val="lt1"/>
                </a:solidFill>
                <a:latin typeface="Calibri"/>
                <a:ea typeface="Calibri"/>
                <a:cs typeface="Calibri"/>
                <a:sym typeface="Calibri"/>
              </a:rPr>
              <a:t>PORTABILIDAD</a:t>
            </a:r>
            <a:endParaRPr lang="es-PE" dirty="0"/>
          </a:p>
        </p:txBody>
      </p:sp>
      <p:grpSp>
        <p:nvGrpSpPr>
          <p:cNvPr id="11" name="Grupo 10">
            <a:extLst>
              <a:ext uri="{FF2B5EF4-FFF2-40B4-BE49-F238E27FC236}">
                <a16:creationId xmlns:a16="http://schemas.microsoft.com/office/drawing/2014/main" id="{8C312F8D-2115-164E-B8EE-38468A2C9EC4}"/>
              </a:ext>
            </a:extLst>
          </p:cNvPr>
          <p:cNvGrpSpPr/>
          <p:nvPr/>
        </p:nvGrpSpPr>
        <p:grpSpPr>
          <a:xfrm>
            <a:off x="3219106" y="3398862"/>
            <a:ext cx="2394533" cy="394721"/>
            <a:chOff x="287221" y="917244"/>
            <a:chExt cx="2815524" cy="500394"/>
          </a:xfrm>
        </p:grpSpPr>
        <p:sp>
          <p:nvSpPr>
            <p:cNvPr id="12" name="Rectángulo redondeado 11">
              <a:extLst>
                <a:ext uri="{FF2B5EF4-FFF2-40B4-BE49-F238E27FC236}">
                  <a16:creationId xmlns:a16="http://schemas.microsoft.com/office/drawing/2014/main" id="{AA7EC83B-AE9D-7B42-8537-F60A4D1080EE}"/>
                </a:ext>
              </a:extLst>
            </p:cNvPr>
            <p:cNvSpPr/>
            <p:nvPr/>
          </p:nvSpPr>
          <p:spPr>
            <a:xfrm>
              <a:off x="503238" y="917244"/>
              <a:ext cx="2599507" cy="500394"/>
            </a:xfrm>
            <a:prstGeom prst="roundRect">
              <a:avLst>
                <a:gd name="adj" fmla="val 24841"/>
              </a:avLst>
            </a:prstGeom>
            <a:solidFill>
              <a:srgbClr val="715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7625" lvl="1" algn="ctr">
                <a:buSzPts val="1600"/>
                <a:tabLst>
                  <a:tab pos="569913" algn="l"/>
                </a:tabLst>
              </a:pPr>
              <a:r>
                <a:rPr lang="es-PE" b="1" dirty="0">
                  <a:solidFill>
                    <a:schemeClr val="lt1"/>
                  </a:solidFill>
                  <a:latin typeface="Calibri" charset="0"/>
                  <a:ea typeface="+mn-ea"/>
                  <a:cs typeface="Calibri" charset="0"/>
                  <a:sym typeface="Calibri"/>
                </a:rPr>
                <a:t>Adaptabilidad</a:t>
              </a:r>
              <a:endParaRPr lang="es-PE" b="1" dirty="0">
                <a:solidFill>
                  <a:schemeClr val="lt1"/>
                </a:solidFill>
                <a:latin typeface="Calibri" charset="0"/>
                <a:ea typeface="+mn-ea"/>
                <a:cs typeface="Calibri" charset="0"/>
              </a:endParaRPr>
            </a:p>
          </p:txBody>
        </p:sp>
        <p:grpSp>
          <p:nvGrpSpPr>
            <p:cNvPr id="13" name="Agrupar 14">
              <a:extLst>
                <a:ext uri="{FF2B5EF4-FFF2-40B4-BE49-F238E27FC236}">
                  <a16:creationId xmlns:a16="http://schemas.microsoft.com/office/drawing/2014/main" id="{1A64D3CB-467F-BF4E-B75C-773AB16B7791}"/>
                </a:ext>
              </a:extLst>
            </p:cNvPr>
            <p:cNvGrpSpPr/>
            <p:nvPr/>
          </p:nvGrpSpPr>
          <p:grpSpPr>
            <a:xfrm>
              <a:off x="287221" y="965530"/>
              <a:ext cx="459474" cy="403823"/>
              <a:chOff x="5892512" y="2805541"/>
              <a:chExt cx="459474" cy="403823"/>
            </a:xfrm>
          </p:grpSpPr>
          <p:sp>
            <p:nvSpPr>
              <p:cNvPr id="14" name="Elipse 13">
                <a:extLst>
                  <a:ext uri="{FF2B5EF4-FFF2-40B4-BE49-F238E27FC236}">
                    <a16:creationId xmlns:a16="http://schemas.microsoft.com/office/drawing/2014/main" id="{181EC5AD-53B1-194C-8ACC-420A2FFB4316}"/>
                  </a:ext>
                </a:extLst>
              </p:cNvPr>
              <p:cNvSpPr/>
              <p:nvPr/>
            </p:nvSpPr>
            <p:spPr>
              <a:xfrm>
                <a:off x="5956277" y="2824919"/>
                <a:ext cx="395709" cy="376075"/>
              </a:xfrm>
              <a:prstGeom prst="ellipse">
                <a:avLst/>
              </a:prstGeom>
              <a:solidFill>
                <a:srgbClr val="593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5" name="Elipse 14">
                <a:extLst>
                  <a:ext uri="{FF2B5EF4-FFF2-40B4-BE49-F238E27FC236}">
                    <a16:creationId xmlns:a16="http://schemas.microsoft.com/office/drawing/2014/main" id="{A0C2FD1B-7F98-AB48-9422-B69619973A73}"/>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6" name="Triángulo 15">
                <a:extLst>
                  <a:ext uri="{FF2B5EF4-FFF2-40B4-BE49-F238E27FC236}">
                    <a16:creationId xmlns:a16="http://schemas.microsoft.com/office/drawing/2014/main" id="{050ED245-CF5E-F244-9C9E-13698C45DBCA}"/>
                  </a:ext>
                </a:extLst>
              </p:cNvPr>
              <p:cNvSpPr/>
              <p:nvPr/>
            </p:nvSpPr>
            <p:spPr>
              <a:xfrm rot="5400000">
                <a:off x="6076285" y="2946262"/>
                <a:ext cx="186870" cy="122381"/>
              </a:xfrm>
              <a:prstGeom prst="triangle">
                <a:avLst/>
              </a:prstGeom>
              <a:solidFill>
                <a:srgbClr val="715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grpSp>
        <p:nvGrpSpPr>
          <p:cNvPr id="17" name="Grupo 16">
            <a:extLst>
              <a:ext uri="{FF2B5EF4-FFF2-40B4-BE49-F238E27FC236}">
                <a16:creationId xmlns:a16="http://schemas.microsoft.com/office/drawing/2014/main" id="{7AE3C472-6CE5-9849-BC3D-BA151E7208F6}"/>
              </a:ext>
            </a:extLst>
          </p:cNvPr>
          <p:cNvGrpSpPr/>
          <p:nvPr/>
        </p:nvGrpSpPr>
        <p:grpSpPr>
          <a:xfrm>
            <a:off x="3219106" y="3869509"/>
            <a:ext cx="2394533" cy="394721"/>
            <a:chOff x="287221" y="917244"/>
            <a:chExt cx="2815524" cy="500394"/>
          </a:xfrm>
        </p:grpSpPr>
        <p:sp>
          <p:nvSpPr>
            <p:cNvPr id="18" name="Rectángulo redondeado 17">
              <a:extLst>
                <a:ext uri="{FF2B5EF4-FFF2-40B4-BE49-F238E27FC236}">
                  <a16:creationId xmlns:a16="http://schemas.microsoft.com/office/drawing/2014/main" id="{E6DAEBE8-8468-7040-B9F7-DC742A63F402}"/>
                </a:ext>
              </a:extLst>
            </p:cNvPr>
            <p:cNvSpPr/>
            <p:nvPr/>
          </p:nvSpPr>
          <p:spPr>
            <a:xfrm>
              <a:off x="503237" y="917244"/>
              <a:ext cx="2599508" cy="500394"/>
            </a:xfrm>
            <a:prstGeom prst="roundRect">
              <a:avLst>
                <a:gd name="adj" fmla="val 24841"/>
              </a:avLst>
            </a:prstGeom>
            <a:solidFill>
              <a:srgbClr val="715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7625" lvl="1" algn="ctr">
                <a:buSzPts val="1600"/>
                <a:tabLst>
                  <a:tab pos="569913" algn="l"/>
                </a:tabLst>
              </a:pPr>
              <a:r>
                <a:rPr lang="es-PE" b="1" dirty="0">
                  <a:solidFill>
                    <a:schemeClr val="lt1"/>
                  </a:solidFill>
                  <a:latin typeface="Calibri" charset="0"/>
                  <a:ea typeface="+mn-ea"/>
                  <a:cs typeface="Calibri" charset="0"/>
                  <a:sym typeface="Calibri"/>
                </a:rPr>
                <a:t>Facilidad de instalación</a:t>
              </a:r>
              <a:endParaRPr lang="es-PE" b="1" dirty="0">
                <a:solidFill>
                  <a:schemeClr val="lt1"/>
                </a:solidFill>
                <a:latin typeface="Calibri" charset="0"/>
                <a:ea typeface="+mn-ea"/>
                <a:cs typeface="Calibri" charset="0"/>
              </a:endParaRPr>
            </a:p>
          </p:txBody>
        </p:sp>
        <p:grpSp>
          <p:nvGrpSpPr>
            <p:cNvPr id="19" name="Agrupar 14">
              <a:extLst>
                <a:ext uri="{FF2B5EF4-FFF2-40B4-BE49-F238E27FC236}">
                  <a16:creationId xmlns:a16="http://schemas.microsoft.com/office/drawing/2014/main" id="{ECE17085-F792-C145-B155-1843D5DF7D41}"/>
                </a:ext>
              </a:extLst>
            </p:cNvPr>
            <p:cNvGrpSpPr/>
            <p:nvPr/>
          </p:nvGrpSpPr>
          <p:grpSpPr>
            <a:xfrm>
              <a:off x="287221" y="965530"/>
              <a:ext cx="459474" cy="403823"/>
              <a:chOff x="5892512" y="2805541"/>
              <a:chExt cx="459474" cy="403823"/>
            </a:xfrm>
          </p:grpSpPr>
          <p:sp>
            <p:nvSpPr>
              <p:cNvPr id="20" name="Elipse 19">
                <a:extLst>
                  <a:ext uri="{FF2B5EF4-FFF2-40B4-BE49-F238E27FC236}">
                    <a16:creationId xmlns:a16="http://schemas.microsoft.com/office/drawing/2014/main" id="{2D14F8AA-DC89-E643-8099-5502DFC9B281}"/>
                  </a:ext>
                </a:extLst>
              </p:cNvPr>
              <p:cNvSpPr/>
              <p:nvPr/>
            </p:nvSpPr>
            <p:spPr>
              <a:xfrm>
                <a:off x="5956277" y="2824919"/>
                <a:ext cx="395709" cy="376075"/>
              </a:xfrm>
              <a:prstGeom prst="ellipse">
                <a:avLst/>
              </a:prstGeom>
              <a:solidFill>
                <a:srgbClr val="593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21" name="Elipse 20">
                <a:extLst>
                  <a:ext uri="{FF2B5EF4-FFF2-40B4-BE49-F238E27FC236}">
                    <a16:creationId xmlns:a16="http://schemas.microsoft.com/office/drawing/2014/main" id="{8CBD382C-4F00-AB45-91C3-3EE43092AEA2}"/>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22" name="Triángulo 21">
                <a:extLst>
                  <a:ext uri="{FF2B5EF4-FFF2-40B4-BE49-F238E27FC236}">
                    <a16:creationId xmlns:a16="http://schemas.microsoft.com/office/drawing/2014/main" id="{794458F7-CA4E-C846-9DC4-A4FD7E667CD2}"/>
                  </a:ext>
                </a:extLst>
              </p:cNvPr>
              <p:cNvSpPr/>
              <p:nvPr/>
            </p:nvSpPr>
            <p:spPr>
              <a:xfrm rot="5400000">
                <a:off x="6076285" y="2946262"/>
                <a:ext cx="186870" cy="122381"/>
              </a:xfrm>
              <a:prstGeom prst="triangle">
                <a:avLst/>
              </a:prstGeom>
              <a:solidFill>
                <a:srgbClr val="715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grpSp>
        <p:nvGrpSpPr>
          <p:cNvPr id="23" name="Grupo 22">
            <a:extLst>
              <a:ext uri="{FF2B5EF4-FFF2-40B4-BE49-F238E27FC236}">
                <a16:creationId xmlns:a16="http://schemas.microsoft.com/office/drawing/2014/main" id="{C1977F11-48D1-1E40-94CF-2F1C5394A91D}"/>
              </a:ext>
            </a:extLst>
          </p:cNvPr>
          <p:cNvGrpSpPr/>
          <p:nvPr/>
        </p:nvGrpSpPr>
        <p:grpSpPr>
          <a:xfrm>
            <a:off x="3219106" y="4352109"/>
            <a:ext cx="2394533" cy="394721"/>
            <a:chOff x="287221" y="917244"/>
            <a:chExt cx="2815524" cy="500394"/>
          </a:xfrm>
        </p:grpSpPr>
        <p:sp>
          <p:nvSpPr>
            <p:cNvPr id="24" name="Rectángulo redondeado 23">
              <a:extLst>
                <a:ext uri="{FF2B5EF4-FFF2-40B4-BE49-F238E27FC236}">
                  <a16:creationId xmlns:a16="http://schemas.microsoft.com/office/drawing/2014/main" id="{60353A16-1844-4149-A53D-0E7B751A8B4A}"/>
                </a:ext>
              </a:extLst>
            </p:cNvPr>
            <p:cNvSpPr/>
            <p:nvPr/>
          </p:nvSpPr>
          <p:spPr>
            <a:xfrm>
              <a:off x="503237" y="917244"/>
              <a:ext cx="2599508" cy="500394"/>
            </a:xfrm>
            <a:prstGeom prst="roundRect">
              <a:avLst>
                <a:gd name="adj" fmla="val 24841"/>
              </a:avLst>
            </a:prstGeom>
            <a:solidFill>
              <a:srgbClr val="715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7625" lvl="1" algn="ctr">
                <a:buSzPts val="1600"/>
                <a:tabLst>
                  <a:tab pos="569913" algn="l"/>
                </a:tabLst>
              </a:pPr>
              <a:r>
                <a:rPr lang="es-PE" b="1" dirty="0">
                  <a:solidFill>
                    <a:schemeClr val="lt1"/>
                  </a:solidFill>
                  <a:latin typeface="Calibri" charset="0"/>
                  <a:ea typeface="+mn-ea"/>
                  <a:cs typeface="Calibri" charset="0"/>
                  <a:sym typeface="Calibri"/>
                </a:rPr>
                <a:t>Capacidad de reemplazo</a:t>
              </a:r>
              <a:endParaRPr lang="es-PE" b="1" dirty="0">
                <a:solidFill>
                  <a:schemeClr val="lt1"/>
                </a:solidFill>
                <a:latin typeface="Calibri" charset="0"/>
                <a:ea typeface="+mn-ea"/>
                <a:cs typeface="Calibri" charset="0"/>
              </a:endParaRPr>
            </a:p>
          </p:txBody>
        </p:sp>
        <p:grpSp>
          <p:nvGrpSpPr>
            <p:cNvPr id="25" name="Agrupar 14">
              <a:extLst>
                <a:ext uri="{FF2B5EF4-FFF2-40B4-BE49-F238E27FC236}">
                  <a16:creationId xmlns:a16="http://schemas.microsoft.com/office/drawing/2014/main" id="{013058AC-0FD8-9543-AA16-9ABFF889B945}"/>
                </a:ext>
              </a:extLst>
            </p:cNvPr>
            <p:cNvGrpSpPr/>
            <p:nvPr/>
          </p:nvGrpSpPr>
          <p:grpSpPr>
            <a:xfrm>
              <a:off x="287221" y="965530"/>
              <a:ext cx="459474" cy="403823"/>
              <a:chOff x="5892512" y="2805541"/>
              <a:chExt cx="459474" cy="403823"/>
            </a:xfrm>
          </p:grpSpPr>
          <p:sp>
            <p:nvSpPr>
              <p:cNvPr id="26" name="Elipse 25">
                <a:extLst>
                  <a:ext uri="{FF2B5EF4-FFF2-40B4-BE49-F238E27FC236}">
                    <a16:creationId xmlns:a16="http://schemas.microsoft.com/office/drawing/2014/main" id="{7D94E553-05F9-B945-AACD-79F21B389C65}"/>
                  </a:ext>
                </a:extLst>
              </p:cNvPr>
              <p:cNvSpPr/>
              <p:nvPr/>
            </p:nvSpPr>
            <p:spPr>
              <a:xfrm>
                <a:off x="5956277" y="2824919"/>
                <a:ext cx="395709" cy="376075"/>
              </a:xfrm>
              <a:prstGeom prst="ellipse">
                <a:avLst/>
              </a:prstGeom>
              <a:solidFill>
                <a:srgbClr val="593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27" name="Elipse 26">
                <a:extLst>
                  <a:ext uri="{FF2B5EF4-FFF2-40B4-BE49-F238E27FC236}">
                    <a16:creationId xmlns:a16="http://schemas.microsoft.com/office/drawing/2014/main" id="{3803C641-60F1-F847-911F-6A584301A7CC}"/>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28" name="Triángulo 27">
                <a:extLst>
                  <a:ext uri="{FF2B5EF4-FFF2-40B4-BE49-F238E27FC236}">
                    <a16:creationId xmlns:a16="http://schemas.microsoft.com/office/drawing/2014/main" id="{D6BADC69-8315-8448-90F3-AB65E907E21F}"/>
                  </a:ext>
                </a:extLst>
              </p:cNvPr>
              <p:cNvSpPr/>
              <p:nvPr/>
            </p:nvSpPr>
            <p:spPr>
              <a:xfrm rot="5400000">
                <a:off x="6076285" y="2946262"/>
                <a:ext cx="186870" cy="122381"/>
              </a:xfrm>
              <a:prstGeom prst="triangle">
                <a:avLst/>
              </a:prstGeom>
              <a:solidFill>
                <a:srgbClr val="715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pic>
        <p:nvPicPr>
          <p:cNvPr id="474" name="Google Shape;474;p32"/>
          <p:cNvPicPr preferRelativeResize="0"/>
          <p:nvPr/>
        </p:nvPicPr>
        <p:blipFill rotWithShape="1">
          <a:blip r:embed="rId3">
            <a:alphaModFix/>
          </a:blip>
          <a:srcRect l="39426"/>
          <a:stretch/>
        </p:blipFill>
        <p:spPr>
          <a:xfrm>
            <a:off x="468313" y="912814"/>
            <a:ext cx="3924300" cy="4321174"/>
          </a:xfrm>
          <a:prstGeom prst="rect">
            <a:avLst/>
          </a:prstGeom>
          <a:noFill/>
          <a:ln>
            <a:noFill/>
          </a:ln>
        </p:spPr>
      </p:pic>
      <p:sp>
        <p:nvSpPr>
          <p:cNvPr id="5" name="Rectangle 5">
            <a:extLst>
              <a:ext uri="{FF2B5EF4-FFF2-40B4-BE49-F238E27FC236}">
                <a16:creationId xmlns:a16="http://schemas.microsoft.com/office/drawing/2014/main" id="{AB3E0FDE-62FB-894A-BB2E-B0A19E594BC4}"/>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ATRIBUTOS DE CALIDAD</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473" name="Google Shape;473;p32"/>
          <p:cNvSpPr/>
          <p:nvPr/>
        </p:nvSpPr>
        <p:spPr>
          <a:xfrm>
            <a:off x="4751389" y="912814"/>
            <a:ext cx="3577717" cy="253915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600"/>
              </a:spcAft>
              <a:buNone/>
            </a:pPr>
            <a:r>
              <a:rPr lang="es-PE" sz="1600" b="1" dirty="0">
                <a:solidFill>
                  <a:schemeClr val="dk1"/>
                </a:solidFill>
                <a:latin typeface="Calibri"/>
                <a:ea typeface="Calibri"/>
                <a:cs typeface="Calibri"/>
                <a:sym typeface="Calibri"/>
              </a:rPr>
              <a:t>ATRIBUTOS DE CALIDAD IMPORTANTES PARA USUARIOS</a:t>
            </a:r>
            <a:endParaRPr sz="1600" b="1" dirty="0">
              <a:solidFill>
                <a:schemeClr val="dk1"/>
              </a:solidFill>
              <a:latin typeface="Calibri"/>
              <a:ea typeface="Calibri"/>
              <a:cs typeface="Calibri"/>
              <a:sym typeface="Calibri"/>
            </a:endParaRPr>
          </a:p>
          <a:p>
            <a:pPr marL="185738" marR="0" lvl="0" indent="-185738"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Disponibilidad</a:t>
            </a:r>
            <a:endParaRPr dirty="0"/>
          </a:p>
          <a:p>
            <a:pPr marL="185738" marR="0" lvl="0" indent="-185738"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Eficiencia</a:t>
            </a:r>
            <a:endParaRPr dirty="0"/>
          </a:p>
          <a:p>
            <a:pPr marL="185738" marR="0" lvl="0" indent="-185738"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Flexibilidad</a:t>
            </a:r>
            <a:endParaRPr dirty="0"/>
          </a:p>
          <a:p>
            <a:pPr marL="185738" marR="0" lvl="0" indent="-185738"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Integridad</a:t>
            </a:r>
            <a:endParaRPr dirty="0"/>
          </a:p>
          <a:p>
            <a:pPr marL="185738" marR="0" lvl="0" indent="-185738"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Interoperabilidad</a:t>
            </a:r>
            <a:endParaRPr dirty="0"/>
          </a:p>
          <a:p>
            <a:pPr marL="185738" marR="0" lvl="0" indent="-185738"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Confiabilidad</a:t>
            </a:r>
            <a:endParaRPr dirty="0"/>
          </a:p>
          <a:p>
            <a:pPr marL="185738" marR="0" lvl="0" indent="-185738"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Robustez</a:t>
            </a:r>
            <a:endParaRPr dirty="0"/>
          </a:p>
          <a:p>
            <a:pPr marL="185738" marR="0" lvl="0" indent="-185738"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Usable</a:t>
            </a:r>
            <a:endParaRPr sz="1600" b="1" dirty="0">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1" name="Google Shape;481;p33"/>
          <p:cNvSpPr/>
          <p:nvPr/>
        </p:nvSpPr>
        <p:spPr>
          <a:xfrm>
            <a:off x="503237" y="912813"/>
            <a:ext cx="2443164" cy="2292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PE" sz="1600" b="1" dirty="0">
                <a:solidFill>
                  <a:schemeClr val="dk1"/>
                </a:solidFill>
                <a:latin typeface="Calibri"/>
                <a:ea typeface="Calibri"/>
                <a:cs typeface="Calibri"/>
                <a:sym typeface="Calibri"/>
              </a:rPr>
              <a:t>ATRIBUTOS DE CALIDAD IMPORTANTES PARA DESARROLLADORES</a:t>
            </a:r>
            <a:endParaRPr sz="1600" b="1" dirty="0">
              <a:solidFill>
                <a:schemeClr val="dk1"/>
              </a:solidFill>
              <a:latin typeface="Calibri"/>
              <a:ea typeface="Calibri"/>
              <a:cs typeface="Calibri"/>
              <a:sym typeface="Calibri"/>
            </a:endParaRPr>
          </a:p>
          <a:p>
            <a:pPr marL="185738" marR="0" lvl="0" indent="-185738"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Mantenimiento</a:t>
            </a:r>
            <a:endParaRPr dirty="0"/>
          </a:p>
          <a:p>
            <a:pPr marL="185738" marR="0" lvl="0" indent="-185738"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Portabilidad</a:t>
            </a:r>
            <a:endParaRPr dirty="0"/>
          </a:p>
          <a:p>
            <a:pPr marL="185738" marR="0" lvl="0" indent="-185738"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Reusable</a:t>
            </a:r>
            <a:endParaRPr dirty="0"/>
          </a:p>
          <a:p>
            <a:pPr marL="185738" marR="0" lvl="0" indent="-185738"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Comprobable</a:t>
            </a:r>
            <a:endParaRPr dirty="0"/>
          </a:p>
          <a:p>
            <a:pPr marL="185738" marR="0" lvl="0" indent="-185738"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Gestionable</a:t>
            </a:r>
            <a:endParaRPr dirty="0"/>
          </a:p>
          <a:p>
            <a:pPr marL="185738" marR="0" lvl="0" indent="-185738"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Seguridad</a:t>
            </a:r>
            <a:endParaRPr sz="1600" b="1" dirty="0">
              <a:solidFill>
                <a:schemeClr val="dk1"/>
              </a:solidFill>
              <a:latin typeface="Calibri"/>
              <a:ea typeface="Calibri"/>
              <a:cs typeface="Calibri"/>
              <a:sym typeface="Calibri"/>
            </a:endParaRPr>
          </a:p>
        </p:txBody>
      </p:sp>
      <p:pic>
        <p:nvPicPr>
          <p:cNvPr id="482" name="Google Shape;482;p33"/>
          <p:cNvPicPr preferRelativeResize="0"/>
          <p:nvPr/>
        </p:nvPicPr>
        <p:blipFill rotWithShape="1">
          <a:blip r:embed="rId3">
            <a:alphaModFix/>
          </a:blip>
          <a:srcRect r="4520"/>
          <a:stretch/>
        </p:blipFill>
        <p:spPr>
          <a:xfrm>
            <a:off x="2958339" y="912812"/>
            <a:ext cx="6185661" cy="4321175"/>
          </a:xfrm>
          <a:prstGeom prst="rect">
            <a:avLst/>
          </a:prstGeom>
          <a:noFill/>
          <a:ln>
            <a:noFill/>
          </a:ln>
        </p:spPr>
      </p:pic>
      <p:sp>
        <p:nvSpPr>
          <p:cNvPr id="5" name="Rectangle 5">
            <a:extLst>
              <a:ext uri="{FF2B5EF4-FFF2-40B4-BE49-F238E27FC236}">
                <a16:creationId xmlns:a16="http://schemas.microsoft.com/office/drawing/2014/main" id="{BF177AC6-1AEB-E640-964F-5ECC950A8915}"/>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ATRIBUTOS DE CALIDAD</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9" name="Google Shape;489;p34"/>
          <p:cNvSpPr/>
          <p:nvPr/>
        </p:nvSpPr>
        <p:spPr>
          <a:xfrm>
            <a:off x="503238" y="910569"/>
            <a:ext cx="7383288" cy="221599"/>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PE" sz="1600" b="1" dirty="0">
                <a:solidFill>
                  <a:schemeClr val="dk1"/>
                </a:solidFill>
                <a:latin typeface="Calibri"/>
                <a:ea typeface="Calibri"/>
                <a:cs typeface="Calibri"/>
                <a:sym typeface="Calibri"/>
              </a:rPr>
              <a:t>PASOS PARA EL CONTROL DE LA CALIDAD</a:t>
            </a:r>
            <a:endParaRPr dirty="0"/>
          </a:p>
        </p:txBody>
      </p:sp>
      <p:sp>
        <p:nvSpPr>
          <p:cNvPr id="490" name="Google Shape;490;p34"/>
          <p:cNvSpPr txBox="1"/>
          <p:nvPr/>
        </p:nvSpPr>
        <p:spPr>
          <a:xfrm>
            <a:off x="509289" y="5039209"/>
            <a:ext cx="4572000"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000" dirty="0">
                <a:solidFill>
                  <a:schemeClr val="bg1">
                    <a:lumMod val="50000"/>
                  </a:schemeClr>
                </a:solidFill>
                <a:latin typeface="Calibri"/>
                <a:ea typeface="Calibri"/>
                <a:cs typeface="Calibri"/>
                <a:sym typeface="Calibri"/>
              </a:rPr>
              <a:t>docplayer.es</a:t>
            </a:r>
            <a:endParaRPr dirty="0">
              <a:solidFill>
                <a:schemeClr val="bg1">
                  <a:lumMod val="50000"/>
                </a:schemeClr>
              </a:solidFill>
            </a:endParaRPr>
          </a:p>
        </p:txBody>
      </p:sp>
      <p:sp>
        <p:nvSpPr>
          <p:cNvPr id="5" name="Rectangle 5">
            <a:extLst>
              <a:ext uri="{FF2B5EF4-FFF2-40B4-BE49-F238E27FC236}">
                <a16:creationId xmlns:a16="http://schemas.microsoft.com/office/drawing/2014/main" id="{14AD9E06-3734-7144-B2A4-713CE801BD82}"/>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ATRIBUTOS DE CALIDAD</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6" name="Rectángulo redondeado 5">
            <a:extLst>
              <a:ext uri="{FF2B5EF4-FFF2-40B4-BE49-F238E27FC236}">
                <a16:creationId xmlns:a16="http://schemas.microsoft.com/office/drawing/2014/main" id="{55B1A453-2E8D-304B-804A-529F58076A11}"/>
              </a:ext>
            </a:extLst>
          </p:cNvPr>
          <p:cNvSpPr/>
          <p:nvPr/>
        </p:nvSpPr>
        <p:spPr>
          <a:xfrm>
            <a:off x="469942" y="2038941"/>
            <a:ext cx="2592346" cy="818559"/>
          </a:xfrm>
          <a:prstGeom prst="roundRect">
            <a:avLst>
              <a:gd name="adj" fmla="val 14039"/>
            </a:avLst>
          </a:prstGeom>
          <a:solidFill>
            <a:srgbClr val="CCEFF2"/>
          </a:solidFill>
          <a:ln w="38100">
            <a:solidFill>
              <a:srgbClr val="00B1C2"/>
            </a:solidFill>
          </a:ln>
        </p:spPr>
        <p:style>
          <a:lnRef idx="2">
            <a:schemeClr val="accent1">
              <a:shade val="50000"/>
            </a:schemeClr>
          </a:lnRef>
          <a:fillRef idx="1">
            <a:schemeClr val="accent1"/>
          </a:fillRef>
          <a:effectRef idx="0">
            <a:schemeClr val="accent1"/>
          </a:effectRef>
          <a:fontRef idx="minor">
            <a:schemeClr val="lt1"/>
          </a:fontRef>
        </p:style>
        <p:txBody>
          <a:bodyPr lIns="468000" tIns="180000" rIns="36000" rtlCol="0" anchor="t"/>
          <a:lstStyle/>
          <a:p>
            <a:pPr defTabSz="889000">
              <a:lnSpc>
                <a:spcPct val="90000"/>
              </a:lnSpc>
              <a:spcBef>
                <a:spcPct val="0"/>
              </a:spcBef>
              <a:spcAft>
                <a:spcPct val="35000"/>
              </a:spcAft>
              <a:buSzPts val="1600"/>
            </a:pPr>
            <a:r>
              <a:rPr lang="es-PE" kern="1200" dirty="0">
                <a:solidFill>
                  <a:schemeClr val="tx1"/>
                </a:solidFill>
                <a:latin typeface="Calibri" panose="020F0502020204030204" pitchFamily="34" charset="0"/>
                <a:ea typeface="+mn-ea"/>
                <a:cs typeface="Calibri" panose="020F0502020204030204" pitchFamily="34" charset="0"/>
                <a:sym typeface="Calibri"/>
              </a:rPr>
              <a:t>Definir los atributos de calidad y sus niveles.</a:t>
            </a:r>
            <a:endParaRPr lang="es-PE" kern="1200" dirty="0">
              <a:solidFill>
                <a:schemeClr val="tx1"/>
              </a:solidFill>
              <a:latin typeface="Calibri" panose="020F0502020204030204" pitchFamily="34" charset="0"/>
              <a:ea typeface="+mn-ea"/>
              <a:cs typeface="Calibri" panose="020F0502020204030204" pitchFamily="34" charset="0"/>
            </a:endParaRPr>
          </a:p>
        </p:txBody>
      </p:sp>
      <p:grpSp>
        <p:nvGrpSpPr>
          <p:cNvPr id="7" name="Grupo 6">
            <a:extLst>
              <a:ext uri="{FF2B5EF4-FFF2-40B4-BE49-F238E27FC236}">
                <a16:creationId xmlns:a16="http://schemas.microsoft.com/office/drawing/2014/main" id="{DDFCC555-C9CB-6545-ABFF-C2AECBEC4C26}"/>
              </a:ext>
            </a:extLst>
          </p:cNvPr>
          <p:cNvGrpSpPr/>
          <p:nvPr/>
        </p:nvGrpSpPr>
        <p:grpSpPr>
          <a:xfrm>
            <a:off x="286556" y="2201998"/>
            <a:ext cx="491163" cy="492443"/>
            <a:chOff x="276723" y="1626508"/>
            <a:chExt cx="673990" cy="675747"/>
          </a:xfrm>
        </p:grpSpPr>
        <p:sp>
          <p:nvSpPr>
            <p:cNvPr id="8" name="Acorde 5">
              <a:extLst>
                <a:ext uri="{FF2B5EF4-FFF2-40B4-BE49-F238E27FC236}">
                  <a16:creationId xmlns:a16="http://schemas.microsoft.com/office/drawing/2014/main" id="{07D562B6-4D3B-3645-8E40-F88B7639FEC7}"/>
                </a:ext>
              </a:extLst>
            </p:cNvPr>
            <p:cNvSpPr/>
            <p:nvPr/>
          </p:nvSpPr>
          <p:spPr>
            <a:xfrm rot="12600000">
              <a:off x="276723" y="1640550"/>
              <a:ext cx="673990" cy="654822"/>
            </a:xfrm>
            <a:prstGeom prst="chord">
              <a:avLst>
                <a:gd name="adj1" fmla="val 2700000"/>
                <a:gd name="adj2" fmla="val 15233344"/>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charset="0"/>
                <a:ea typeface="Calibri" charset="0"/>
                <a:cs typeface="Calibri" charset="0"/>
              </a:endParaRPr>
            </a:p>
          </p:txBody>
        </p:sp>
        <p:sp>
          <p:nvSpPr>
            <p:cNvPr id="9" name="CuadroTexto 8">
              <a:extLst>
                <a:ext uri="{FF2B5EF4-FFF2-40B4-BE49-F238E27FC236}">
                  <a16:creationId xmlns:a16="http://schemas.microsoft.com/office/drawing/2014/main" id="{A8779AE5-3714-CC4A-AFA2-3252FB1FF2AA}"/>
                </a:ext>
              </a:extLst>
            </p:cNvPr>
            <p:cNvSpPr txBox="1"/>
            <p:nvPr/>
          </p:nvSpPr>
          <p:spPr>
            <a:xfrm>
              <a:off x="479524" y="1626508"/>
              <a:ext cx="370681" cy="675747"/>
            </a:xfrm>
            <a:prstGeom prst="rect">
              <a:avLst/>
            </a:prstGeom>
            <a:noFill/>
          </p:spPr>
          <p:txBody>
            <a:bodyPr wrap="square" rtlCol="0">
              <a:spAutoFit/>
            </a:bodyPr>
            <a:lstStyle/>
            <a:p>
              <a:r>
                <a:rPr lang="es-ES_tradnl" sz="2600" b="1" dirty="0">
                  <a:solidFill>
                    <a:schemeClr val="bg1"/>
                  </a:solidFill>
                  <a:latin typeface="Calibri" charset="0"/>
                  <a:ea typeface="Calibri" charset="0"/>
                  <a:cs typeface="Calibri" charset="0"/>
                </a:rPr>
                <a:t>1</a:t>
              </a:r>
            </a:p>
          </p:txBody>
        </p:sp>
      </p:grpSp>
      <p:sp>
        <p:nvSpPr>
          <p:cNvPr id="10" name="Rectángulo redondeado 9">
            <a:extLst>
              <a:ext uri="{FF2B5EF4-FFF2-40B4-BE49-F238E27FC236}">
                <a16:creationId xmlns:a16="http://schemas.microsoft.com/office/drawing/2014/main" id="{5BA8FEA7-BFDB-D44A-8D21-20C2FB68E80C}"/>
              </a:ext>
            </a:extLst>
          </p:cNvPr>
          <p:cNvSpPr/>
          <p:nvPr/>
        </p:nvSpPr>
        <p:spPr>
          <a:xfrm>
            <a:off x="3289342" y="2038941"/>
            <a:ext cx="2592346" cy="818559"/>
          </a:xfrm>
          <a:prstGeom prst="roundRect">
            <a:avLst>
              <a:gd name="adj" fmla="val 14039"/>
            </a:avLst>
          </a:prstGeom>
          <a:solidFill>
            <a:srgbClr val="FFD7C1"/>
          </a:solidFill>
          <a:ln w="38100">
            <a:solidFill>
              <a:srgbClr val="FE7828"/>
            </a:solidFill>
          </a:ln>
        </p:spPr>
        <p:style>
          <a:lnRef idx="2">
            <a:schemeClr val="accent1">
              <a:shade val="50000"/>
            </a:schemeClr>
          </a:lnRef>
          <a:fillRef idx="1">
            <a:schemeClr val="accent1"/>
          </a:fillRef>
          <a:effectRef idx="0">
            <a:schemeClr val="accent1"/>
          </a:effectRef>
          <a:fontRef idx="minor">
            <a:schemeClr val="lt1"/>
          </a:fontRef>
        </p:style>
        <p:txBody>
          <a:bodyPr lIns="468000" tIns="108000" rIns="36000" rtlCol="0" anchor="t"/>
          <a:lstStyle/>
          <a:p>
            <a:pPr defTabSz="889000">
              <a:lnSpc>
                <a:spcPct val="90000"/>
              </a:lnSpc>
              <a:spcBef>
                <a:spcPct val="0"/>
              </a:spcBef>
              <a:spcAft>
                <a:spcPct val="35000"/>
              </a:spcAft>
              <a:buSzPts val="1600"/>
            </a:pPr>
            <a:r>
              <a:rPr lang="es-PE" kern="1200" dirty="0">
                <a:solidFill>
                  <a:schemeClr val="tx1"/>
                </a:solidFill>
                <a:latin typeface="Calibri" panose="020F0502020204030204" pitchFamily="34" charset="0"/>
                <a:ea typeface="+mn-ea"/>
                <a:cs typeface="Calibri" panose="020F0502020204030204" pitchFamily="34" charset="0"/>
                <a:sym typeface="Calibri"/>
              </a:rPr>
              <a:t>Definir el procedimiento </a:t>
            </a:r>
            <a:br>
              <a:rPr lang="es-PE" kern="1200" dirty="0">
                <a:solidFill>
                  <a:schemeClr val="tx1"/>
                </a:solidFill>
                <a:latin typeface="Calibri" panose="020F0502020204030204" pitchFamily="34" charset="0"/>
                <a:ea typeface="+mn-ea"/>
                <a:cs typeface="Calibri" panose="020F0502020204030204" pitchFamily="34" charset="0"/>
                <a:sym typeface="Calibri"/>
              </a:rPr>
            </a:br>
            <a:r>
              <a:rPr lang="es-PE" kern="1200" dirty="0">
                <a:solidFill>
                  <a:schemeClr val="tx1"/>
                </a:solidFill>
                <a:latin typeface="Calibri" panose="020F0502020204030204" pitchFamily="34" charset="0"/>
                <a:ea typeface="+mn-ea"/>
                <a:cs typeface="Calibri" panose="020F0502020204030204" pitchFamily="34" charset="0"/>
                <a:sym typeface="Calibri"/>
              </a:rPr>
              <a:t>de comprobación para </a:t>
            </a:r>
            <a:br>
              <a:rPr lang="es-PE" kern="1200" dirty="0">
                <a:solidFill>
                  <a:schemeClr val="tx1"/>
                </a:solidFill>
                <a:latin typeface="Calibri" panose="020F0502020204030204" pitchFamily="34" charset="0"/>
                <a:ea typeface="+mn-ea"/>
                <a:cs typeface="Calibri" panose="020F0502020204030204" pitchFamily="34" charset="0"/>
                <a:sym typeface="Calibri"/>
              </a:rPr>
            </a:br>
            <a:r>
              <a:rPr lang="es-PE" kern="1200" dirty="0">
                <a:solidFill>
                  <a:schemeClr val="tx1"/>
                </a:solidFill>
                <a:latin typeface="Calibri" panose="020F0502020204030204" pitchFamily="34" charset="0"/>
                <a:ea typeface="+mn-ea"/>
                <a:cs typeface="Calibri" panose="020F0502020204030204" pitchFamily="34" charset="0"/>
                <a:sym typeface="Calibri"/>
              </a:rPr>
              <a:t>cada atributo.</a:t>
            </a:r>
            <a:endParaRPr lang="es-PE" kern="1200" dirty="0">
              <a:solidFill>
                <a:schemeClr val="tx1"/>
              </a:solidFill>
              <a:latin typeface="Calibri" panose="020F0502020204030204" pitchFamily="34" charset="0"/>
              <a:ea typeface="+mn-ea"/>
              <a:cs typeface="Calibri" panose="020F0502020204030204" pitchFamily="34" charset="0"/>
            </a:endParaRPr>
          </a:p>
        </p:txBody>
      </p:sp>
      <p:grpSp>
        <p:nvGrpSpPr>
          <p:cNvPr id="11" name="Grupo 10">
            <a:extLst>
              <a:ext uri="{FF2B5EF4-FFF2-40B4-BE49-F238E27FC236}">
                <a16:creationId xmlns:a16="http://schemas.microsoft.com/office/drawing/2014/main" id="{070E3A13-F8FC-0248-A30D-03C9FFB73FC9}"/>
              </a:ext>
            </a:extLst>
          </p:cNvPr>
          <p:cNvGrpSpPr/>
          <p:nvPr/>
        </p:nvGrpSpPr>
        <p:grpSpPr>
          <a:xfrm>
            <a:off x="3105956" y="2201998"/>
            <a:ext cx="491163" cy="492443"/>
            <a:chOff x="276723" y="1626508"/>
            <a:chExt cx="673990" cy="675747"/>
          </a:xfrm>
        </p:grpSpPr>
        <p:sp>
          <p:nvSpPr>
            <p:cNvPr id="12" name="Acorde 5">
              <a:extLst>
                <a:ext uri="{FF2B5EF4-FFF2-40B4-BE49-F238E27FC236}">
                  <a16:creationId xmlns:a16="http://schemas.microsoft.com/office/drawing/2014/main" id="{66868DFA-A69E-4443-9045-C33FAB664809}"/>
                </a:ext>
              </a:extLst>
            </p:cNvPr>
            <p:cNvSpPr/>
            <p:nvPr/>
          </p:nvSpPr>
          <p:spPr>
            <a:xfrm rot="12600000">
              <a:off x="276723" y="1640550"/>
              <a:ext cx="673990" cy="654822"/>
            </a:xfrm>
            <a:prstGeom prst="chord">
              <a:avLst>
                <a:gd name="adj1" fmla="val 2700000"/>
                <a:gd name="adj2" fmla="val 15233344"/>
              </a:avLst>
            </a:prstGeom>
            <a:solidFill>
              <a:srgbClr val="FE7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charset="0"/>
                <a:ea typeface="Calibri" charset="0"/>
                <a:cs typeface="Calibri" charset="0"/>
              </a:endParaRPr>
            </a:p>
          </p:txBody>
        </p:sp>
        <p:sp>
          <p:nvSpPr>
            <p:cNvPr id="13" name="CuadroTexto 12">
              <a:extLst>
                <a:ext uri="{FF2B5EF4-FFF2-40B4-BE49-F238E27FC236}">
                  <a16:creationId xmlns:a16="http://schemas.microsoft.com/office/drawing/2014/main" id="{E21EBB6A-3C1A-814B-AE47-361B42A609EA}"/>
                </a:ext>
              </a:extLst>
            </p:cNvPr>
            <p:cNvSpPr txBox="1"/>
            <p:nvPr/>
          </p:nvSpPr>
          <p:spPr>
            <a:xfrm>
              <a:off x="479524" y="1626508"/>
              <a:ext cx="370681" cy="675747"/>
            </a:xfrm>
            <a:prstGeom prst="rect">
              <a:avLst/>
            </a:prstGeom>
            <a:noFill/>
          </p:spPr>
          <p:txBody>
            <a:bodyPr wrap="square" rtlCol="0">
              <a:spAutoFit/>
            </a:bodyPr>
            <a:lstStyle/>
            <a:p>
              <a:r>
                <a:rPr lang="es-ES_tradnl" sz="2600" b="1" dirty="0">
                  <a:solidFill>
                    <a:schemeClr val="bg1"/>
                  </a:solidFill>
                  <a:latin typeface="Calibri" charset="0"/>
                  <a:ea typeface="Calibri" charset="0"/>
                  <a:cs typeface="Calibri" charset="0"/>
                </a:rPr>
                <a:t>2</a:t>
              </a:r>
            </a:p>
          </p:txBody>
        </p:sp>
      </p:grpSp>
      <p:sp>
        <p:nvSpPr>
          <p:cNvPr id="14" name="Rectángulo redondeado 13">
            <a:extLst>
              <a:ext uri="{FF2B5EF4-FFF2-40B4-BE49-F238E27FC236}">
                <a16:creationId xmlns:a16="http://schemas.microsoft.com/office/drawing/2014/main" id="{B3FA84DD-9691-914B-9C21-FE10D60B5340}"/>
              </a:ext>
            </a:extLst>
          </p:cNvPr>
          <p:cNvSpPr/>
          <p:nvPr/>
        </p:nvSpPr>
        <p:spPr>
          <a:xfrm>
            <a:off x="6083342" y="2038941"/>
            <a:ext cx="2592346" cy="818559"/>
          </a:xfrm>
          <a:prstGeom prst="roundRect">
            <a:avLst>
              <a:gd name="adj" fmla="val 14039"/>
            </a:avLst>
          </a:prstGeom>
          <a:solidFill>
            <a:srgbClr val="E3DCED"/>
          </a:solidFill>
          <a:ln w="38100">
            <a:solidFill>
              <a:srgbClr val="7150A0"/>
            </a:solidFill>
          </a:ln>
        </p:spPr>
        <p:style>
          <a:lnRef idx="2">
            <a:schemeClr val="accent1">
              <a:shade val="50000"/>
            </a:schemeClr>
          </a:lnRef>
          <a:fillRef idx="1">
            <a:schemeClr val="accent1"/>
          </a:fillRef>
          <a:effectRef idx="0">
            <a:schemeClr val="accent1"/>
          </a:effectRef>
          <a:fontRef idx="minor">
            <a:schemeClr val="lt1"/>
          </a:fontRef>
        </p:style>
        <p:txBody>
          <a:bodyPr lIns="468000" tIns="108000" rIns="36000" rtlCol="0" anchor="t"/>
          <a:lstStyle/>
          <a:p>
            <a:pPr defTabSz="889000">
              <a:lnSpc>
                <a:spcPct val="90000"/>
              </a:lnSpc>
              <a:spcBef>
                <a:spcPct val="0"/>
              </a:spcBef>
              <a:spcAft>
                <a:spcPct val="35000"/>
              </a:spcAft>
              <a:buSzPts val="1600"/>
            </a:pPr>
            <a:r>
              <a:rPr lang="es-PE" sz="1400" kern="1200" dirty="0">
                <a:solidFill>
                  <a:schemeClr val="tx1"/>
                </a:solidFill>
                <a:latin typeface="Calibri" panose="020F0502020204030204" pitchFamily="34" charset="0"/>
                <a:ea typeface="+mn-ea"/>
                <a:cs typeface="Calibri" panose="020F0502020204030204" pitchFamily="34" charset="0"/>
                <a:sym typeface="Calibri"/>
              </a:rPr>
              <a:t>Ejecutar el procedimiento de comprobación sobre cada atributo.</a:t>
            </a:r>
            <a:endParaRPr lang="es-PE" sz="1400" kern="1200" dirty="0">
              <a:solidFill>
                <a:schemeClr val="tx1"/>
              </a:solidFill>
              <a:latin typeface="Calibri" panose="020F0502020204030204" pitchFamily="34" charset="0"/>
              <a:ea typeface="+mn-ea"/>
              <a:cs typeface="Calibri" panose="020F0502020204030204" pitchFamily="34" charset="0"/>
            </a:endParaRPr>
          </a:p>
        </p:txBody>
      </p:sp>
      <p:grpSp>
        <p:nvGrpSpPr>
          <p:cNvPr id="15" name="Grupo 14">
            <a:extLst>
              <a:ext uri="{FF2B5EF4-FFF2-40B4-BE49-F238E27FC236}">
                <a16:creationId xmlns:a16="http://schemas.microsoft.com/office/drawing/2014/main" id="{9B0F23B7-8339-7B4E-AD84-7374AB04F488}"/>
              </a:ext>
            </a:extLst>
          </p:cNvPr>
          <p:cNvGrpSpPr/>
          <p:nvPr/>
        </p:nvGrpSpPr>
        <p:grpSpPr>
          <a:xfrm>
            <a:off x="5899956" y="2201998"/>
            <a:ext cx="491163" cy="492443"/>
            <a:chOff x="276723" y="1626508"/>
            <a:chExt cx="673990" cy="675747"/>
          </a:xfrm>
        </p:grpSpPr>
        <p:sp>
          <p:nvSpPr>
            <p:cNvPr id="16" name="Acorde 5">
              <a:extLst>
                <a:ext uri="{FF2B5EF4-FFF2-40B4-BE49-F238E27FC236}">
                  <a16:creationId xmlns:a16="http://schemas.microsoft.com/office/drawing/2014/main" id="{BBCCAFB8-974C-2D40-9932-B3A53CCBD9D7}"/>
                </a:ext>
              </a:extLst>
            </p:cNvPr>
            <p:cNvSpPr/>
            <p:nvPr/>
          </p:nvSpPr>
          <p:spPr>
            <a:xfrm rot="12600000">
              <a:off x="276723" y="1640550"/>
              <a:ext cx="673990" cy="654822"/>
            </a:xfrm>
            <a:prstGeom prst="chord">
              <a:avLst>
                <a:gd name="adj1" fmla="val 2700000"/>
                <a:gd name="adj2" fmla="val 15233344"/>
              </a:avLst>
            </a:prstGeom>
            <a:solidFill>
              <a:srgbClr val="715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charset="0"/>
                <a:ea typeface="Calibri" charset="0"/>
                <a:cs typeface="Calibri" charset="0"/>
              </a:endParaRPr>
            </a:p>
          </p:txBody>
        </p:sp>
        <p:sp>
          <p:nvSpPr>
            <p:cNvPr id="17" name="CuadroTexto 16">
              <a:extLst>
                <a:ext uri="{FF2B5EF4-FFF2-40B4-BE49-F238E27FC236}">
                  <a16:creationId xmlns:a16="http://schemas.microsoft.com/office/drawing/2014/main" id="{E1471F12-476B-9D4F-975E-CEC42FCFA3E4}"/>
                </a:ext>
              </a:extLst>
            </p:cNvPr>
            <p:cNvSpPr txBox="1"/>
            <p:nvPr/>
          </p:nvSpPr>
          <p:spPr>
            <a:xfrm>
              <a:off x="479524" y="1626508"/>
              <a:ext cx="370681" cy="675747"/>
            </a:xfrm>
            <a:prstGeom prst="rect">
              <a:avLst/>
            </a:prstGeom>
            <a:noFill/>
          </p:spPr>
          <p:txBody>
            <a:bodyPr wrap="square" rtlCol="0">
              <a:spAutoFit/>
            </a:bodyPr>
            <a:lstStyle/>
            <a:p>
              <a:r>
                <a:rPr lang="es-ES_tradnl" sz="2600" b="1" dirty="0">
                  <a:solidFill>
                    <a:schemeClr val="bg1"/>
                  </a:solidFill>
                  <a:latin typeface="Calibri" charset="0"/>
                  <a:ea typeface="Calibri" charset="0"/>
                  <a:cs typeface="Calibri" charset="0"/>
                </a:rPr>
                <a:t>3</a:t>
              </a:r>
            </a:p>
          </p:txBody>
        </p:sp>
      </p:grpSp>
      <p:sp>
        <p:nvSpPr>
          <p:cNvPr id="18" name="Rectángulo redondeado 17">
            <a:extLst>
              <a:ext uri="{FF2B5EF4-FFF2-40B4-BE49-F238E27FC236}">
                <a16:creationId xmlns:a16="http://schemas.microsoft.com/office/drawing/2014/main" id="{DE8DFD62-0AB6-5A43-BAE0-033ED75D1D79}"/>
              </a:ext>
            </a:extLst>
          </p:cNvPr>
          <p:cNvSpPr/>
          <p:nvPr/>
        </p:nvSpPr>
        <p:spPr>
          <a:xfrm>
            <a:off x="1867715" y="3131739"/>
            <a:ext cx="2592346" cy="818559"/>
          </a:xfrm>
          <a:prstGeom prst="roundRect">
            <a:avLst>
              <a:gd name="adj" fmla="val 14039"/>
            </a:avLst>
          </a:prstGeom>
          <a:solidFill>
            <a:srgbClr val="FFD8D4"/>
          </a:solidFill>
          <a:ln w="38100">
            <a:solidFill>
              <a:srgbClr val="EE4639"/>
            </a:solidFill>
          </a:ln>
        </p:spPr>
        <p:style>
          <a:lnRef idx="2">
            <a:schemeClr val="accent1">
              <a:shade val="50000"/>
            </a:schemeClr>
          </a:lnRef>
          <a:fillRef idx="1">
            <a:schemeClr val="accent1"/>
          </a:fillRef>
          <a:effectRef idx="0">
            <a:schemeClr val="accent1"/>
          </a:effectRef>
          <a:fontRef idx="minor">
            <a:schemeClr val="lt1"/>
          </a:fontRef>
        </p:style>
        <p:txBody>
          <a:bodyPr lIns="468000" tIns="180000" rIns="36000" rtlCol="0" anchor="t"/>
          <a:lstStyle/>
          <a:p>
            <a:pPr defTabSz="889000">
              <a:lnSpc>
                <a:spcPct val="90000"/>
              </a:lnSpc>
              <a:spcBef>
                <a:spcPct val="0"/>
              </a:spcBef>
              <a:spcAft>
                <a:spcPct val="35000"/>
              </a:spcAft>
              <a:buSzPts val="1600"/>
            </a:pPr>
            <a:r>
              <a:rPr lang="es-PE" sz="1400" kern="1200" dirty="0">
                <a:solidFill>
                  <a:schemeClr val="tx1"/>
                </a:solidFill>
                <a:latin typeface="Calibri" panose="020F0502020204030204" pitchFamily="34" charset="0"/>
                <a:ea typeface="+mn-ea"/>
                <a:cs typeface="Calibri" panose="020F0502020204030204" pitchFamily="34" charset="0"/>
                <a:sym typeface="Calibri"/>
              </a:rPr>
              <a:t>Registrar el resultado de la comprobación.</a:t>
            </a:r>
            <a:endParaRPr lang="es-PE" sz="1400" kern="1200" dirty="0">
              <a:solidFill>
                <a:schemeClr val="tx1"/>
              </a:solidFill>
              <a:latin typeface="Calibri" panose="020F0502020204030204" pitchFamily="34" charset="0"/>
              <a:ea typeface="+mn-ea"/>
              <a:cs typeface="Calibri" panose="020F0502020204030204" pitchFamily="34" charset="0"/>
            </a:endParaRPr>
          </a:p>
        </p:txBody>
      </p:sp>
      <p:grpSp>
        <p:nvGrpSpPr>
          <p:cNvPr id="19" name="Grupo 18">
            <a:extLst>
              <a:ext uri="{FF2B5EF4-FFF2-40B4-BE49-F238E27FC236}">
                <a16:creationId xmlns:a16="http://schemas.microsoft.com/office/drawing/2014/main" id="{BD8FD06E-6000-5C4F-BBBC-46402C69D1CD}"/>
              </a:ext>
            </a:extLst>
          </p:cNvPr>
          <p:cNvGrpSpPr/>
          <p:nvPr/>
        </p:nvGrpSpPr>
        <p:grpSpPr>
          <a:xfrm>
            <a:off x="1684329" y="3294796"/>
            <a:ext cx="491163" cy="492443"/>
            <a:chOff x="276723" y="1626508"/>
            <a:chExt cx="673990" cy="675747"/>
          </a:xfrm>
        </p:grpSpPr>
        <p:sp>
          <p:nvSpPr>
            <p:cNvPr id="20" name="Acorde 5">
              <a:extLst>
                <a:ext uri="{FF2B5EF4-FFF2-40B4-BE49-F238E27FC236}">
                  <a16:creationId xmlns:a16="http://schemas.microsoft.com/office/drawing/2014/main" id="{FA7F6A8F-59FC-644C-99ED-864F0428769C}"/>
                </a:ext>
              </a:extLst>
            </p:cNvPr>
            <p:cNvSpPr/>
            <p:nvPr/>
          </p:nvSpPr>
          <p:spPr>
            <a:xfrm rot="12600000">
              <a:off x="276723" y="1640550"/>
              <a:ext cx="673990" cy="654822"/>
            </a:xfrm>
            <a:prstGeom prst="chord">
              <a:avLst>
                <a:gd name="adj1" fmla="val 2700000"/>
                <a:gd name="adj2" fmla="val 15233344"/>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charset="0"/>
                <a:ea typeface="Calibri" charset="0"/>
                <a:cs typeface="Calibri" charset="0"/>
              </a:endParaRPr>
            </a:p>
          </p:txBody>
        </p:sp>
        <p:sp>
          <p:nvSpPr>
            <p:cNvPr id="21" name="CuadroTexto 20">
              <a:extLst>
                <a:ext uri="{FF2B5EF4-FFF2-40B4-BE49-F238E27FC236}">
                  <a16:creationId xmlns:a16="http://schemas.microsoft.com/office/drawing/2014/main" id="{441498C7-6123-AC49-82D0-259C8E2A15DF}"/>
                </a:ext>
              </a:extLst>
            </p:cNvPr>
            <p:cNvSpPr txBox="1"/>
            <p:nvPr/>
          </p:nvSpPr>
          <p:spPr>
            <a:xfrm>
              <a:off x="479524" y="1626508"/>
              <a:ext cx="370681" cy="675747"/>
            </a:xfrm>
            <a:prstGeom prst="rect">
              <a:avLst/>
            </a:prstGeom>
            <a:noFill/>
          </p:spPr>
          <p:txBody>
            <a:bodyPr wrap="square" rtlCol="0">
              <a:spAutoFit/>
            </a:bodyPr>
            <a:lstStyle/>
            <a:p>
              <a:r>
                <a:rPr lang="es-ES_tradnl" sz="2600" b="1" dirty="0">
                  <a:solidFill>
                    <a:schemeClr val="bg1"/>
                  </a:solidFill>
                  <a:latin typeface="Calibri" charset="0"/>
                  <a:ea typeface="Calibri" charset="0"/>
                  <a:cs typeface="Calibri" charset="0"/>
                </a:rPr>
                <a:t>4</a:t>
              </a:r>
            </a:p>
          </p:txBody>
        </p:sp>
      </p:grpSp>
      <p:sp>
        <p:nvSpPr>
          <p:cNvPr id="22" name="Rectángulo redondeado 21">
            <a:extLst>
              <a:ext uri="{FF2B5EF4-FFF2-40B4-BE49-F238E27FC236}">
                <a16:creationId xmlns:a16="http://schemas.microsoft.com/office/drawing/2014/main" id="{A333A41C-7B57-474F-8671-E9BE110E9BBB}"/>
              </a:ext>
            </a:extLst>
          </p:cNvPr>
          <p:cNvSpPr/>
          <p:nvPr/>
        </p:nvSpPr>
        <p:spPr>
          <a:xfrm>
            <a:off x="4687115" y="3131739"/>
            <a:ext cx="2592346" cy="818559"/>
          </a:xfrm>
          <a:prstGeom prst="roundRect">
            <a:avLst>
              <a:gd name="adj" fmla="val 14039"/>
            </a:avLst>
          </a:prstGeom>
          <a:solidFill>
            <a:srgbClr val="DDEEC8"/>
          </a:solidFill>
          <a:ln w="38100">
            <a:solidFill>
              <a:srgbClr val="8FC53F"/>
            </a:solidFill>
          </a:ln>
        </p:spPr>
        <p:style>
          <a:lnRef idx="2">
            <a:schemeClr val="accent1">
              <a:shade val="50000"/>
            </a:schemeClr>
          </a:lnRef>
          <a:fillRef idx="1">
            <a:schemeClr val="accent1"/>
          </a:fillRef>
          <a:effectRef idx="0">
            <a:schemeClr val="accent1"/>
          </a:effectRef>
          <a:fontRef idx="minor">
            <a:schemeClr val="lt1"/>
          </a:fontRef>
        </p:style>
        <p:txBody>
          <a:bodyPr lIns="468000" tIns="108000" rIns="36000" rtlCol="0" anchor="t"/>
          <a:lstStyle/>
          <a:p>
            <a:pPr defTabSz="889000">
              <a:lnSpc>
                <a:spcPct val="90000"/>
              </a:lnSpc>
              <a:spcBef>
                <a:spcPct val="0"/>
              </a:spcBef>
              <a:spcAft>
                <a:spcPct val="35000"/>
              </a:spcAft>
              <a:buSzPts val="1600"/>
            </a:pPr>
            <a:r>
              <a:rPr lang="es-PE" sz="1400" kern="1200" dirty="0">
                <a:solidFill>
                  <a:schemeClr val="tx1"/>
                </a:solidFill>
                <a:latin typeface="Calibri" panose="020F0502020204030204" pitchFamily="34" charset="0"/>
                <a:ea typeface="+mn-ea"/>
                <a:cs typeface="Calibri" panose="020F0502020204030204" pitchFamily="34" charset="0"/>
                <a:sym typeface="Calibri"/>
              </a:rPr>
              <a:t>Tomar acciones correctivas, registrarlas y darles seguimiento.</a:t>
            </a:r>
          </a:p>
        </p:txBody>
      </p:sp>
      <p:grpSp>
        <p:nvGrpSpPr>
          <p:cNvPr id="23" name="Grupo 22">
            <a:extLst>
              <a:ext uri="{FF2B5EF4-FFF2-40B4-BE49-F238E27FC236}">
                <a16:creationId xmlns:a16="http://schemas.microsoft.com/office/drawing/2014/main" id="{14104A26-62BA-6D4B-85EE-1CDDB60F75A0}"/>
              </a:ext>
            </a:extLst>
          </p:cNvPr>
          <p:cNvGrpSpPr/>
          <p:nvPr/>
        </p:nvGrpSpPr>
        <p:grpSpPr>
          <a:xfrm>
            <a:off x="4503729" y="3294796"/>
            <a:ext cx="491163" cy="492443"/>
            <a:chOff x="276723" y="1626508"/>
            <a:chExt cx="673990" cy="675747"/>
          </a:xfrm>
        </p:grpSpPr>
        <p:sp>
          <p:nvSpPr>
            <p:cNvPr id="24" name="Acorde 5">
              <a:extLst>
                <a:ext uri="{FF2B5EF4-FFF2-40B4-BE49-F238E27FC236}">
                  <a16:creationId xmlns:a16="http://schemas.microsoft.com/office/drawing/2014/main" id="{DB895A62-3459-AC4E-8F76-314988D68428}"/>
                </a:ext>
              </a:extLst>
            </p:cNvPr>
            <p:cNvSpPr/>
            <p:nvPr/>
          </p:nvSpPr>
          <p:spPr>
            <a:xfrm rot="12600000">
              <a:off x="276723" y="1640550"/>
              <a:ext cx="673990" cy="654822"/>
            </a:xfrm>
            <a:prstGeom prst="chord">
              <a:avLst>
                <a:gd name="adj1" fmla="val 2700000"/>
                <a:gd name="adj2" fmla="val 15233344"/>
              </a:avLst>
            </a:prstGeom>
            <a:solidFill>
              <a:srgbClr val="8FC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charset="0"/>
                <a:ea typeface="Calibri" charset="0"/>
                <a:cs typeface="Calibri" charset="0"/>
              </a:endParaRPr>
            </a:p>
          </p:txBody>
        </p:sp>
        <p:sp>
          <p:nvSpPr>
            <p:cNvPr id="25" name="CuadroTexto 24">
              <a:extLst>
                <a:ext uri="{FF2B5EF4-FFF2-40B4-BE49-F238E27FC236}">
                  <a16:creationId xmlns:a16="http://schemas.microsoft.com/office/drawing/2014/main" id="{0FE2287E-51E9-D64A-8520-F4A1E69900F3}"/>
                </a:ext>
              </a:extLst>
            </p:cNvPr>
            <p:cNvSpPr txBox="1"/>
            <p:nvPr/>
          </p:nvSpPr>
          <p:spPr>
            <a:xfrm>
              <a:off x="479524" y="1626508"/>
              <a:ext cx="370681" cy="675747"/>
            </a:xfrm>
            <a:prstGeom prst="rect">
              <a:avLst/>
            </a:prstGeom>
            <a:noFill/>
          </p:spPr>
          <p:txBody>
            <a:bodyPr wrap="square" rtlCol="0">
              <a:spAutoFit/>
            </a:bodyPr>
            <a:lstStyle/>
            <a:p>
              <a:r>
                <a:rPr lang="es-ES_tradnl" sz="2600" b="1" dirty="0">
                  <a:solidFill>
                    <a:schemeClr val="bg1"/>
                  </a:solidFill>
                  <a:latin typeface="Calibri" charset="0"/>
                  <a:ea typeface="Calibri" charset="0"/>
                  <a:cs typeface="Calibri" charset="0"/>
                </a:rPr>
                <a:t>5</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3FB60931-677F-0543-8737-69D158FAA541}"/>
              </a:ext>
            </a:extLst>
          </p:cNvPr>
          <p:cNvSpPr/>
          <p:nvPr/>
        </p:nvSpPr>
        <p:spPr>
          <a:xfrm>
            <a:off x="0" y="0"/>
            <a:ext cx="9144000" cy="5715000"/>
          </a:xfrm>
          <a:prstGeom prst="rect">
            <a:avLst/>
          </a:prstGeom>
          <a:solidFill>
            <a:srgbClr val="654E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grpSp>
        <p:nvGrpSpPr>
          <p:cNvPr id="3" name="Grupo 2">
            <a:extLst>
              <a:ext uri="{FF2B5EF4-FFF2-40B4-BE49-F238E27FC236}">
                <a16:creationId xmlns:a16="http://schemas.microsoft.com/office/drawing/2014/main" id="{0413EF62-DF8C-614E-8931-297F0A8A1517}"/>
              </a:ext>
            </a:extLst>
          </p:cNvPr>
          <p:cNvGrpSpPr/>
          <p:nvPr/>
        </p:nvGrpSpPr>
        <p:grpSpPr>
          <a:xfrm>
            <a:off x="2506315" y="2194222"/>
            <a:ext cx="4581728" cy="1326557"/>
            <a:chOff x="2403187" y="2211377"/>
            <a:chExt cx="4581728" cy="1326557"/>
          </a:xfrm>
        </p:grpSpPr>
        <p:sp>
          <p:nvSpPr>
            <p:cNvPr id="4" name="CuadroTexto 3">
              <a:extLst>
                <a:ext uri="{FF2B5EF4-FFF2-40B4-BE49-F238E27FC236}">
                  <a16:creationId xmlns:a16="http://schemas.microsoft.com/office/drawing/2014/main" id="{6E46D91B-8D1D-AB4A-AB6C-68A61171B53B}"/>
                </a:ext>
              </a:extLst>
            </p:cNvPr>
            <p:cNvSpPr txBox="1"/>
            <p:nvPr/>
          </p:nvSpPr>
          <p:spPr>
            <a:xfrm>
              <a:off x="2403187" y="2540738"/>
              <a:ext cx="4581728" cy="997196"/>
            </a:xfrm>
            <a:prstGeom prst="rect">
              <a:avLst/>
            </a:prstGeom>
            <a:noFill/>
          </p:spPr>
          <p:txBody>
            <a:bodyPr wrap="square" lIns="0" tIns="0" rIns="0" bIns="0" rtlCol="0">
              <a:spAutoFit/>
            </a:bodyPr>
            <a:lstStyle/>
            <a:p>
              <a:pPr>
                <a:lnSpc>
                  <a:spcPct val="90000"/>
                </a:lnSpc>
              </a:pPr>
              <a:r>
                <a:rPr lang="es-ES_tradnl" sz="3600" dirty="0">
                  <a:solidFill>
                    <a:schemeClr val="bg1"/>
                  </a:solidFill>
                  <a:latin typeface="Graphik Regular" charset="0"/>
                  <a:ea typeface="Graphik Regular" charset="0"/>
                  <a:cs typeface="Graphik Regular" charset="0"/>
                </a:rPr>
                <a:t>CONCLUSIONES</a:t>
              </a:r>
              <a:br>
                <a:rPr lang="es-ES_tradnl" sz="3600" dirty="0">
                  <a:solidFill>
                    <a:schemeClr val="bg1"/>
                  </a:solidFill>
                  <a:latin typeface="Graphik Regular" charset="0"/>
                  <a:ea typeface="Graphik Regular" charset="0"/>
                  <a:cs typeface="Graphik Regular" charset="0"/>
                </a:rPr>
              </a:br>
              <a:r>
                <a:rPr lang="es-ES_tradnl" sz="3600" b="1" dirty="0">
                  <a:solidFill>
                    <a:schemeClr val="bg1"/>
                  </a:solidFill>
                  <a:latin typeface="Graphik Bold" charset="0"/>
                  <a:ea typeface="Graphik Bold" charset="0"/>
                  <a:cs typeface="Graphik Bold" charset="0"/>
                </a:rPr>
                <a:t>MÁS REFERENCIAS</a:t>
              </a:r>
            </a:p>
          </p:txBody>
        </p:sp>
        <p:pic>
          <p:nvPicPr>
            <p:cNvPr id="5" name="Imagen 4">
              <a:extLst>
                <a:ext uri="{FF2B5EF4-FFF2-40B4-BE49-F238E27FC236}">
                  <a16:creationId xmlns:a16="http://schemas.microsoft.com/office/drawing/2014/main" id="{1FE8E445-9E66-FA42-A11E-4BE9F75229EA}"/>
                </a:ext>
              </a:extLst>
            </p:cNvPr>
            <p:cNvPicPr>
              <a:picLocks noChangeAspect="1"/>
            </p:cNvPicPr>
            <p:nvPr/>
          </p:nvPicPr>
          <p:blipFill>
            <a:blip r:embed="rId2"/>
            <a:stretch>
              <a:fillRect/>
            </a:stretch>
          </p:blipFill>
          <p:spPr>
            <a:xfrm>
              <a:off x="2425491" y="2211377"/>
              <a:ext cx="202176" cy="208211"/>
            </a:xfrm>
            <a:prstGeom prst="rect">
              <a:avLst/>
            </a:prstGeom>
          </p:spPr>
        </p:pic>
      </p:grpSp>
      <p:pic>
        <p:nvPicPr>
          <p:cNvPr id="6" name="Imagen 5">
            <a:extLst>
              <a:ext uri="{FF2B5EF4-FFF2-40B4-BE49-F238E27FC236}">
                <a16:creationId xmlns:a16="http://schemas.microsoft.com/office/drawing/2014/main" id="{0C76556E-84EB-0E43-8DFA-CC2F1D7A1F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3" y="946969"/>
            <a:ext cx="2072214" cy="3898064"/>
          </a:xfrm>
          <a:prstGeom prst="rect">
            <a:avLst/>
          </a:prstGeom>
        </p:spPr>
      </p:pic>
    </p:spTree>
    <p:extLst>
      <p:ext uri="{BB962C8B-B14F-4D97-AF65-F5344CB8AC3E}">
        <p14:creationId xmlns:p14="http://schemas.microsoft.com/office/powerpoint/2010/main" val="7838505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22" name="Rectángulo 21">
            <a:extLst>
              <a:ext uri="{FF2B5EF4-FFF2-40B4-BE49-F238E27FC236}">
                <a16:creationId xmlns:a16="http://schemas.microsoft.com/office/drawing/2014/main" id="{F100666C-29C9-224C-BCFB-40C50680250D}"/>
              </a:ext>
            </a:extLst>
          </p:cNvPr>
          <p:cNvSpPr/>
          <p:nvPr/>
        </p:nvSpPr>
        <p:spPr>
          <a:xfrm>
            <a:off x="301556" y="5321030"/>
            <a:ext cx="8453337" cy="291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23" name="object 7">
            <a:extLst>
              <a:ext uri="{FF2B5EF4-FFF2-40B4-BE49-F238E27FC236}">
                <a16:creationId xmlns:a16="http://schemas.microsoft.com/office/drawing/2014/main" id="{30DBB16E-2A64-C449-83B9-8F44C622E7B9}"/>
              </a:ext>
            </a:extLst>
          </p:cNvPr>
          <p:cNvSpPr txBox="1"/>
          <p:nvPr/>
        </p:nvSpPr>
        <p:spPr>
          <a:xfrm>
            <a:off x="1279545" y="912813"/>
            <a:ext cx="5705454" cy="3016210"/>
          </a:xfrm>
          <a:prstGeom prst="rect">
            <a:avLst/>
          </a:prstGeom>
        </p:spPr>
        <p:txBody>
          <a:bodyPr vert="horz" wrap="square" lIns="0" tIns="0" rIns="0" bIns="0" rtlCol="0">
            <a:spAutoFit/>
          </a:bodyPr>
          <a:lstStyle/>
          <a:p>
            <a:pPr marL="9525" marR="0" lvl="0" algn="l" rtl="0">
              <a:spcBef>
                <a:spcPts val="0"/>
              </a:spcBef>
              <a:spcAft>
                <a:spcPts val="0"/>
              </a:spcAft>
              <a:buClr>
                <a:schemeClr val="lt1"/>
              </a:buClr>
              <a:buSzPts val="1700"/>
            </a:pPr>
            <a:r>
              <a:rPr lang="es-PE" dirty="0">
                <a:solidFill>
                  <a:schemeClr val="tx1"/>
                </a:solidFill>
                <a:latin typeface="Calibri"/>
                <a:ea typeface="Calibri"/>
                <a:cs typeface="Calibri"/>
                <a:sym typeface="Calibri"/>
              </a:rPr>
              <a:t>Modelos de Calidad:</a:t>
            </a:r>
            <a:endParaRPr lang="es-PE" dirty="0">
              <a:solidFill>
                <a:schemeClr val="tx1"/>
              </a:solidFill>
            </a:endParaRPr>
          </a:p>
          <a:p>
            <a:pPr marL="177800" lvl="1" indent="-165100">
              <a:buClr>
                <a:srgbClr val="7150A0"/>
              </a:buClr>
              <a:buSzPct val="100000"/>
              <a:buFont typeface="Arial" charset="0"/>
              <a:buChar char="•"/>
              <a:tabLst>
                <a:tab pos="120650" algn="l"/>
              </a:tabLst>
            </a:pPr>
            <a:r>
              <a:rPr lang="es-PE" spc="-10" dirty="0">
                <a:solidFill>
                  <a:srgbClr val="262626"/>
                </a:solidFill>
                <a:latin typeface="Calibri" charset="0"/>
                <a:cs typeface="Calibri" charset="0"/>
                <a:sym typeface="Calibri"/>
              </a:rPr>
              <a:t>CMMi</a:t>
            </a:r>
            <a:endParaRPr lang="es-PE" spc="-10" dirty="0">
              <a:solidFill>
                <a:srgbClr val="262626"/>
              </a:solidFill>
              <a:latin typeface="Calibri" charset="0"/>
              <a:cs typeface="Calibri" charset="0"/>
            </a:endParaRPr>
          </a:p>
          <a:p>
            <a:pPr marL="177800" lvl="1" indent="-165100">
              <a:buClr>
                <a:srgbClr val="7150A0"/>
              </a:buClr>
              <a:buSzPct val="100000"/>
              <a:buFont typeface="Arial" charset="0"/>
              <a:buChar char="•"/>
              <a:tabLst>
                <a:tab pos="120650" algn="l"/>
              </a:tabLst>
            </a:pPr>
            <a:r>
              <a:rPr lang="es-PE" spc="-10" dirty="0">
                <a:solidFill>
                  <a:srgbClr val="262626"/>
                </a:solidFill>
                <a:latin typeface="Calibri" charset="0"/>
                <a:cs typeface="Calibri" charset="0"/>
                <a:sym typeface="Calibri"/>
              </a:rPr>
              <a:t>ISO</a:t>
            </a:r>
            <a:endParaRPr lang="es-PE" spc="-10" dirty="0">
              <a:solidFill>
                <a:srgbClr val="262626"/>
              </a:solidFill>
              <a:latin typeface="Calibri" charset="0"/>
              <a:cs typeface="Calibri" charset="0"/>
            </a:endParaRPr>
          </a:p>
          <a:p>
            <a:pPr marL="177800" lvl="1" indent="-165100">
              <a:buClr>
                <a:srgbClr val="7150A0"/>
              </a:buClr>
              <a:buSzPct val="100000"/>
              <a:buFont typeface="Arial" charset="0"/>
              <a:buChar char="•"/>
              <a:tabLst>
                <a:tab pos="120650" algn="l"/>
              </a:tabLst>
            </a:pPr>
            <a:r>
              <a:rPr lang="es-PE" spc="-10" dirty="0">
                <a:solidFill>
                  <a:srgbClr val="262626"/>
                </a:solidFill>
                <a:latin typeface="Calibri" charset="0"/>
                <a:cs typeface="Calibri" charset="0"/>
                <a:sym typeface="Calibri"/>
              </a:rPr>
              <a:t>Verificación y Validación</a:t>
            </a:r>
            <a:endParaRPr lang="es-PE" spc="-10" dirty="0">
              <a:solidFill>
                <a:srgbClr val="262626"/>
              </a:solidFill>
              <a:latin typeface="Calibri" charset="0"/>
              <a:cs typeface="Calibri" charset="0"/>
            </a:endParaRPr>
          </a:p>
          <a:p>
            <a:pPr marL="471487" marR="0" lvl="1" indent="-177800" algn="l" rtl="0">
              <a:spcBef>
                <a:spcPts val="0"/>
              </a:spcBef>
              <a:spcAft>
                <a:spcPts val="0"/>
              </a:spcAft>
              <a:buClr>
                <a:schemeClr val="dk1"/>
              </a:buClr>
              <a:buSzPts val="1700"/>
              <a:buFont typeface="Noto Sans Symbols"/>
              <a:buNone/>
            </a:pPr>
            <a:endParaRPr lang="es-PE" b="0" i="0" u="none" strike="noStrike" cap="none" dirty="0">
              <a:solidFill>
                <a:schemeClr val="lt1"/>
              </a:solidFill>
              <a:latin typeface="Calibri"/>
              <a:ea typeface="Calibri"/>
              <a:cs typeface="Calibri"/>
              <a:sym typeface="Calibri"/>
            </a:endParaRPr>
          </a:p>
          <a:p>
            <a:pPr marL="9525" marR="0" lvl="0" algn="l" rtl="0">
              <a:spcBef>
                <a:spcPts val="0"/>
              </a:spcBef>
              <a:spcAft>
                <a:spcPts val="0"/>
              </a:spcAft>
              <a:buClr>
                <a:schemeClr val="lt1"/>
              </a:buClr>
              <a:buSzPts val="1700"/>
            </a:pPr>
            <a:r>
              <a:rPr lang="es-PE" dirty="0">
                <a:solidFill>
                  <a:schemeClr val="tx1"/>
                </a:solidFill>
                <a:latin typeface="Calibri"/>
                <a:ea typeface="Calibri"/>
                <a:cs typeface="Calibri"/>
                <a:sym typeface="Calibri"/>
              </a:rPr>
              <a:t>Atributos de Calidad:</a:t>
            </a:r>
            <a:endParaRPr lang="es-PE" dirty="0">
              <a:solidFill>
                <a:schemeClr val="tx1"/>
              </a:solidFill>
            </a:endParaRPr>
          </a:p>
          <a:p>
            <a:pPr marL="177800" lvl="1" indent="-165100">
              <a:buClr>
                <a:srgbClr val="7150A0"/>
              </a:buClr>
              <a:buSzPct val="100000"/>
              <a:buFont typeface="Arial" charset="0"/>
              <a:buChar char="•"/>
              <a:tabLst>
                <a:tab pos="120650" algn="l"/>
              </a:tabLst>
            </a:pPr>
            <a:r>
              <a:rPr lang="es-PE" spc="-10" dirty="0">
                <a:solidFill>
                  <a:srgbClr val="262626"/>
                </a:solidFill>
                <a:latin typeface="Calibri" charset="0"/>
                <a:cs typeface="Calibri" charset="0"/>
                <a:sym typeface="Calibri"/>
              </a:rPr>
              <a:t>Funcionalidad</a:t>
            </a:r>
            <a:endParaRPr lang="es-PE" spc="-10" dirty="0">
              <a:solidFill>
                <a:srgbClr val="262626"/>
              </a:solidFill>
              <a:latin typeface="Calibri" charset="0"/>
              <a:cs typeface="Calibri" charset="0"/>
            </a:endParaRPr>
          </a:p>
          <a:p>
            <a:pPr marL="177800" lvl="1" indent="-165100">
              <a:buClr>
                <a:srgbClr val="7150A0"/>
              </a:buClr>
              <a:buSzPct val="100000"/>
              <a:buFont typeface="Arial" charset="0"/>
              <a:buChar char="•"/>
              <a:tabLst>
                <a:tab pos="120650" algn="l"/>
              </a:tabLst>
            </a:pPr>
            <a:r>
              <a:rPr lang="es-PE" spc="-10" dirty="0">
                <a:solidFill>
                  <a:srgbClr val="262626"/>
                </a:solidFill>
                <a:latin typeface="Calibri" charset="0"/>
                <a:cs typeface="Calibri" charset="0"/>
                <a:sym typeface="Calibri"/>
              </a:rPr>
              <a:t>Rendimiento</a:t>
            </a:r>
            <a:endParaRPr lang="es-PE" spc="-10" dirty="0">
              <a:solidFill>
                <a:srgbClr val="262626"/>
              </a:solidFill>
              <a:latin typeface="Calibri" charset="0"/>
              <a:cs typeface="Calibri" charset="0"/>
            </a:endParaRPr>
          </a:p>
          <a:p>
            <a:pPr marL="177800" lvl="1" indent="-165100">
              <a:buClr>
                <a:srgbClr val="7150A0"/>
              </a:buClr>
              <a:buSzPct val="100000"/>
              <a:buFont typeface="Arial" charset="0"/>
              <a:buChar char="•"/>
              <a:tabLst>
                <a:tab pos="120650" algn="l"/>
              </a:tabLst>
            </a:pPr>
            <a:r>
              <a:rPr lang="es-PE" spc="-10" dirty="0">
                <a:solidFill>
                  <a:srgbClr val="262626"/>
                </a:solidFill>
                <a:latin typeface="Calibri" charset="0"/>
                <a:cs typeface="Calibri" charset="0"/>
                <a:sym typeface="Calibri"/>
              </a:rPr>
              <a:t>Compatibilidad</a:t>
            </a:r>
            <a:endParaRPr lang="es-PE" spc="-10" dirty="0">
              <a:solidFill>
                <a:srgbClr val="262626"/>
              </a:solidFill>
              <a:latin typeface="Calibri" charset="0"/>
              <a:cs typeface="Calibri" charset="0"/>
            </a:endParaRPr>
          </a:p>
          <a:p>
            <a:pPr marL="177800" lvl="1" indent="-165100">
              <a:buClr>
                <a:srgbClr val="7150A0"/>
              </a:buClr>
              <a:buSzPct val="100000"/>
              <a:buFont typeface="Arial" charset="0"/>
              <a:buChar char="•"/>
              <a:tabLst>
                <a:tab pos="120650" algn="l"/>
              </a:tabLst>
            </a:pPr>
            <a:r>
              <a:rPr lang="es-PE" spc="-10" dirty="0">
                <a:solidFill>
                  <a:srgbClr val="262626"/>
                </a:solidFill>
                <a:latin typeface="Calibri" charset="0"/>
                <a:cs typeface="Calibri" charset="0"/>
                <a:sym typeface="Calibri"/>
              </a:rPr>
              <a:t>Usabilidad</a:t>
            </a:r>
            <a:endParaRPr lang="es-PE" spc="-10" dirty="0">
              <a:solidFill>
                <a:srgbClr val="262626"/>
              </a:solidFill>
              <a:latin typeface="Calibri" charset="0"/>
              <a:cs typeface="Calibri" charset="0"/>
            </a:endParaRPr>
          </a:p>
          <a:p>
            <a:pPr marL="177800" lvl="1" indent="-165100">
              <a:buClr>
                <a:srgbClr val="7150A0"/>
              </a:buClr>
              <a:buSzPct val="100000"/>
              <a:buFont typeface="Arial" charset="0"/>
              <a:buChar char="•"/>
              <a:tabLst>
                <a:tab pos="120650" algn="l"/>
              </a:tabLst>
            </a:pPr>
            <a:r>
              <a:rPr lang="es-PE" spc="-10" dirty="0">
                <a:solidFill>
                  <a:srgbClr val="262626"/>
                </a:solidFill>
                <a:latin typeface="Calibri" charset="0"/>
                <a:cs typeface="Calibri" charset="0"/>
                <a:sym typeface="Calibri"/>
              </a:rPr>
              <a:t>Confiabilidad</a:t>
            </a:r>
            <a:endParaRPr lang="es-PE" spc="-10" dirty="0">
              <a:solidFill>
                <a:srgbClr val="262626"/>
              </a:solidFill>
              <a:latin typeface="Calibri" charset="0"/>
              <a:cs typeface="Calibri" charset="0"/>
            </a:endParaRPr>
          </a:p>
          <a:p>
            <a:pPr marL="177800" lvl="1" indent="-165100">
              <a:buClr>
                <a:srgbClr val="7150A0"/>
              </a:buClr>
              <a:buSzPct val="100000"/>
              <a:buFont typeface="Arial" charset="0"/>
              <a:buChar char="•"/>
              <a:tabLst>
                <a:tab pos="120650" algn="l"/>
              </a:tabLst>
            </a:pPr>
            <a:r>
              <a:rPr lang="es-PE" spc="-10" dirty="0">
                <a:solidFill>
                  <a:srgbClr val="262626"/>
                </a:solidFill>
                <a:latin typeface="Calibri" charset="0"/>
                <a:cs typeface="Calibri" charset="0"/>
                <a:sym typeface="Calibri"/>
              </a:rPr>
              <a:t>Seguridad</a:t>
            </a:r>
            <a:endParaRPr lang="es-PE" spc="-10" dirty="0">
              <a:solidFill>
                <a:srgbClr val="262626"/>
              </a:solidFill>
              <a:latin typeface="Calibri" charset="0"/>
              <a:cs typeface="Calibri" charset="0"/>
            </a:endParaRPr>
          </a:p>
          <a:p>
            <a:pPr marL="177800" lvl="1" indent="-165100">
              <a:buClr>
                <a:srgbClr val="7150A0"/>
              </a:buClr>
              <a:buSzPct val="100000"/>
              <a:buFont typeface="Arial" charset="0"/>
              <a:buChar char="•"/>
              <a:tabLst>
                <a:tab pos="120650" algn="l"/>
              </a:tabLst>
            </a:pPr>
            <a:r>
              <a:rPr lang="es-PE" spc="-10" dirty="0">
                <a:solidFill>
                  <a:srgbClr val="262626"/>
                </a:solidFill>
                <a:latin typeface="Calibri" charset="0"/>
                <a:cs typeface="Calibri" charset="0"/>
                <a:sym typeface="Calibri"/>
              </a:rPr>
              <a:t>Mantenibilidad</a:t>
            </a:r>
            <a:endParaRPr lang="es-PE" spc="-10" dirty="0">
              <a:solidFill>
                <a:srgbClr val="262626"/>
              </a:solidFill>
              <a:latin typeface="Calibri" charset="0"/>
              <a:cs typeface="Calibri" charset="0"/>
            </a:endParaRPr>
          </a:p>
          <a:p>
            <a:pPr marL="177800" lvl="1" indent="-165100">
              <a:buClr>
                <a:srgbClr val="7150A0"/>
              </a:buClr>
              <a:buSzPct val="100000"/>
              <a:buFont typeface="Arial" charset="0"/>
              <a:buChar char="•"/>
              <a:tabLst>
                <a:tab pos="120650" algn="l"/>
              </a:tabLst>
            </a:pPr>
            <a:r>
              <a:rPr lang="es-PE" spc="-10" dirty="0">
                <a:solidFill>
                  <a:srgbClr val="262626"/>
                </a:solidFill>
                <a:latin typeface="Calibri" charset="0"/>
                <a:cs typeface="Calibri" charset="0"/>
                <a:sym typeface="Calibri"/>
              </a:rPr>
              <a:t>Portabilidad</a:t>
            </a:r>
            <a:endParaRPr lang="es-PE" spc="-10" dirty="0">
              <a:solidFill>
                <a:srgbClr val="262626"/>
              </a:solidFill>
              <a:latin typeface="Calibri" charset="0"/>
              <a:cs typeface="Calibri" charset="0"/>
            </a:endParaRPr>
          </a:p>
        </p:txBody>
      </p:sp>
      <p:pic>
        <p:nvPicPr>
          <p:cNvPr id="24" name="Imagen 23">
            <a:extLst>
              <a:ext uri="{FF2B5EF4-FFF2-40B4-BE49-F238E27FC236}">
                <a16:creationId xmlns:a16="http://schemas.microsoft.com/office/drawing/2014/main" id="{1193E2DB-B2BA-204B-A433-455F59022640}"/>
              </a:ext>
            </a:extLst>
          </p:cNvPr>
          <p:cNvPicPr>
            <a:picLocks noChangeAspect="1"/>
          </p:cNvPicPr>
          <p:nvPr/>
        </p:nvPicPr>
        <p:blipFill>
          <a:blip r:embed="rId3"/>
          <a:stretch>
            <a:fillRect/>
          </a:stretch>
        </p:blipFill>
        <p:spPr>
          <a:xfrm>
            <a:off x="1011260" y="954885"/>
            <a:ext cx="114138" cy="117546"/>
          </a:xfrm>
          <a:prstGeom prst="rect">
            <a:avLst/>
          </a:prstGeom>
        </p:spPr>
      </p:pic>
      <p:pic>
        <p:nvPicPr>
          <p:cNvPr id="25" name="Imagen 24">
            <a:extLst>
              <a:ext uri="{FF2B5EF4-FFF2-40B4-BE49-F238E27FC236}">
                <a16:creationId xmlns:a16="http://schemas.microsoft.com/office/drawing/2014/main" id="{D99D3E31-7CCB-FE4B-8045-006F6F5646D1}"/>
              </a:ext>
            </a:extLst>
          </p:cNvPr>
          <p:cNvPicPr>
            <a:picLocks noChangeAspect="1"/>
          </p:cNvPicPr>
          <p:nvPr/>
        </p:nvPicPr>
        <p:blipFill>
          <a:blip r:embed="rId3"/>
          <a:stretch>
            <a:fillRect/>
          </a:stretch>
        </p:blipFill>
        <p:spPr>
          <a:xfrm>
            <a:off x="1011260" y="2013082"/>
            <a:ext cx="114138" cy="117546"/>
          </a:xfrm>
          <a:prstGeom prst="rect">
            <a:avLst/>
          </a:prstGeom>
        </p:spPr>
      </p:pic>
      <p:pic>
        <p:nvPicPr>
          <p:cNvPr id="27" name="Imagen 26">
            <a:extLst>
              <a:ext uri="{FF2B5EF4-FFF2-40B4-BE49-F238E27FC236}">
                <a16:creationId xmlns:a16="http://schemas.microsoft.com/office/drawing/2014/main" id="{289981E1-4429-9C41-9004-18FD2016970E}"/>
              </a:ext>
            </a:extLst>
          </p:cNvPr>
          <p:cNvPicPr>
            <a:picLocks noChangeAspect="1"/>
          </p:cNvPicPr>
          <p:nvPr/>
        </p:nvPicPr>
        <p:blipFill>
          <a:blip r:embed="rId4">
            <a:alphaModFix amt="42000"/>
            <a:extLst>
              <a:ext uri="{28A0092B-C50C-407E-A947-70E740481C1C}">
                <a14:useLocalDpi xmlns:a14="http://schemas.microsoft.com/office/drawing/2010/main" val="0"/>
              </a:ext>
            </a:extLst>
          </a:blip>
          <a:stretch>
            <a:fillRect/>
          </a:stretch>
        </p:blipFill>
        <p:spPr>
          <a:xfrm>
            <a:off x="6984999" y="3048772"/>
            <a:ext cx="1690689" cy="2185216"/>
          </a:xfrm>
          <a:prstGeom prst="rect">
            <a:avLst/>
          </a:prstGeom>
        </p:spPr>
      </p:pic>
      <p:sp>
        <p:nvSpPr>
          <p:cNvPr id="28" name="Rectangle 5">
            <a:extLst>
              <a:ext uri="{FF2B5EF4-FFF2-40B4-BE49-F238E27FC236}">
                <a16:creationId xmlns:a16="http://schemas.microsoft.com/office/drawing/2014/main" id="{3A7AF636-5E7B-234E-BF8F-608569564904}"/>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CONCLUSIONES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A3F3030E-FB4C-E94B-9B93-5200B3B9E089}"/>
              </a:ext>
            </a:extLst>
          </p:cNvPr>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3" name="Imagen 2">
            <a:extLst>
              <a:ext uri="{FF2B5EF4-FFF2-40B4-BE49-F238E27FC236}">
                <a16:creationId xmlns:a16="http://schemas.microsoft.com/office/drawing/2014/main" id="{BB85BA52-C93F-8C4D-B767-E7C4B4E93C9E}"/>
              </a:ext>
            </a:extLst>
          </p:cNvPr>
          <p:cNvPicPr>
            <a:picLocks noChangeAspect="1"/>
          </p:cNvPicPr>
          <p:nvPr/>
        </p:nvPicPr>
        <p:blipFill>
          <a:blip r:embed="rId2"/>
          <a:stretch>
            <a:fillRect/>
          </a:stretch>
        </p:blipFill>
        <p:spPr>
          <a:xfrm>
            <a:off x="3924199" y="2666298"/>
            <a:ext cx="1295601" cy="386803"/>
          </a:xfrm>
          <a:prstGeom prst="rect">
            <a:avLst/>
          </a:prstGeom>
        </p:spPr>
      </p:pic>
    </p:spTree>
    <p:extLst>
      <p:ext uri="{BB962C8B-B14F-4D97-AF65-F5344CB8AC3E}">
        <p14:creationId xmlns:p14="http://schemas.microsoft.com/office/powerpoint/2010/main" val="66040693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315</TotalTime>
  <Words>5685</Words>
  <Application>Microsoft Office PowerPoint</Application>
  <PresentationFormat>Presentación en pantalla (16:10)</PresentationFormat>
  <Paragraphs>552</Paragraphs>
  <Slides>38</Slides>
  <Notes>35</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38</vt:i4>
      </vt:variant>
    </vt:vector>
  </HeadingPairs>
  <TitlesOfParts>
    <vt:vector size="46" baseType="lpstr">
      <vt:lpstr>Graphik Bold</vt:lpstr>
      <vt:lpstr>Graphik Regular</vt:lpstr>
      <vt:lpstr>Graphik-Medium</vt:lpstr>
      <vt:lpstr>Noto Sans Symbols</vt:lpstr>
      <vt:lpstr>Arial</vt:lpstr>
      <vt:lpstr>Calibri</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ISIL</dc:creator>
  <cp:lastModifiedBy>Elva Zoraida Hamada Doshi</cp:lastModifiedBy>
  <cp:revision>87</cp:revision>
  <dcterms:created xsi:type="dcterms:W3CDTF">2016-10-06T14:52:02Z</dcterms:created>
  <dcterms:modified xsi:type="dcterms:W3CDTF">2024-12-03T15:59:55Z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