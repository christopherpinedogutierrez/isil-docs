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tiff" ContentType="image/tiff"/>
  <Default Extension="vml" ContentType="application/vnd.openxmlformats-officedocument.vmlDrawing"/>
  <Default Extension="gif" ContentType="image/gif"/>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1"/>
  </p:notesMasterIdLst>
  <p:sldIdLst>
    <p:sldId id="256" r:id="rId2"/>
    <p:sldId id="292"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3" r:id="rId38"/>
    <p:sldId id="291" r:id="rId39"/>
    <p:sldId id="294" r:id="rId40"/>
  </p:sldIdLst>
  <p:sldSz cx="9144000" cy="5715000" type="screen16x1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6" pos="2880" userDrawn="1">
          <p15:clr>
            <a:srgbClr val="A4A3A4"/>
          </p15:clr>
        </p15:guide>
        <p15:guide id="7" pos="4354" userDrawn="1">
          <p15:clr>
            <a:srgbClr val="A4A3A4"/>
          </p15:clr>
        </p15:guide>
        <p15:guide id="8" orient="horz" pos="180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3" roundtripDataSignature="AMtx7mjkqmy6OzgYCU13yd3nJ80vmWSo7w=="/>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697E"/>
    <a:srgbClr val="007DAB"/>
    <a:srgbClr val="FEAD03"/>
    <a:srgbClr val="006494"/>
    <a:srgbClr val="00B1C2"/>
    <a:srgbClr val="EE4639"/>
    <a:srgbClr val="E87475"/>
    <a:srgbClr val="7150A0"/>
    <a:srgbClr val="8FC53F"/>
    <a:srgbClr val="D8D8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7C8C00D-67D3-4246-AC80-61FB997D9874}">
  <a:tblStyle styleId="{C7C8C00D-67D3-4246-AC80-61FB997D9874}"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301"/>
    <p:restoredTop sz="94674"/>
  </p:normalViewPr>
  <p:slideViewPr>
    <p:cSldViewPr snapToGrid="0">
      <p:cViewPr varScale="1">
        <p:scale>
          <a:sx n="98" d="100"/>
          <a:sy n="98" d="100"/>
        </p:scale>
        <p:origin x="1530" y="72"/>
      </p:cViewPr>
      <p:guideLst>
        <p:guide pos="2880"/>
        <p:guide pos="4354"/>
        <p:guide orient="horz" pos="1800"/>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4.66805624512978E-2"/>
          <c:y val="5.3862195058334396E-3"/>
          <c:w val="0.90663887509740404"/>
          <c:h val="0.85995829284833003"/>
        </c:manualLayout>
      </c:layout>
      <c:pie3DChart>
        <c:varyColors val="1"/>
        <c:ser>
          <c:idx val="0"/>
          <c:order val="0"/>
          <c:tx>
            <c:strRef>
              <c:f>Hoja1!$B$1</c:f>
              <c:strCache>
                <c:ptCount val="1"/>
                <c:pt idx="0">
                  <c:v>Ventas</c:v>
                </c:pt>
              </c:strCache>
            </c:strRef>
          </c:tx>
          <c:dPt>
            <c:idx val="0"/>
            <c:bubble3D val="0"/>
            <c:spPr>
              <a:solidFill>
                <a:srgbClr val="7150A0"/>
              </a:solidFill>
              <a:ln w="25400">
                <a:solidFill>
                  <a:schemeClr val="lt1"/>
                </a:solidFill>
              </a:ln>
              <a:effectLst/>
              <a:sp3d contourW="25400">
                <a:contourClr>
                  <a:schemeClr val="lt1"/>
                </a:contourClr>
              </a:sp3d>
            </c:spPr>
            <c:extLst>
              <c:ext xmlns:c16="http://schemas.microsoft.com/office/drawing/2014/chart" uri="{C3380CC4-5D6E-409C-BE32-E72D297353CC}">
                <c16:uniqueId val="{00000001-7707-4497-A6A0-1C71C32C17FC}"/>
              </c:ext>
            </c:extLst>
          </c:dPt>
          <c:dPt>
            <c:idx val="1"/>
            <c:bubble3D val="0"/>
            <c:spPr>
              <a:solidFill>
                <a:srgbClr val="EE4639"/>
              </a:solidFill>
              <a:ln w="25400">
                <a:solidFill>
                  <a:schemeClr val="lt1"/>
                </a:solidFill>
              </a:ln>
              <a:effectLst/>
              <a:sp3d contourW="25400">
                <a:contourClr>
                  <a:schemeClr val="lt1"/>
                </a:contourClr>
              </a:sp3d>
            </c:spPr>
            <c:extLst>
              <c:ext xmlns:c16="http://schemas.microsoft.com/office/drawing/2014/chart" uri="{C3380CC4-5D6E-409C-BE32-E72D297353CC}">
                <c16:uniqueId val="{00000003-7707-4497-A6A0-1C71C32C17FC}"/>
              </c:ext>
            </c:extLst>
          </c:dPt>
          <c:dPt>
            <c:idx val="2"/>
            <c:bubble3D val="0"/>
            <c:spPr>
              <a:solidFill>
                <a:srgbClr val="00B1C2"/>
              </a:solidFill>
              <a:ln w="25400">
                <a:solidFill>
                  <a:schemeClr val="lt1"/>
                </a:solidFill>
              </a:ln>
              <a:effectLst/>
              <a:sp3d contourW="25400">
                <a:contourClr>
                  <a:schemeClr val="lt1"/>
                </a:contourClr>
              </a:sp3d>
            </c:spPr>
            <c:extLst>
              <c:ext xmlns:c16="http://schemas.microsoft.com/office/drawing/2014/chart" uri="{C3380CC4-5D6E-409C-BE32-E72D297353CC}">
                <c16:uniqueId val="{00000005-7707-4497-A6A0-1C71C32C17FC}"/>
              </c:ext>
            </c:extLst>
          </c:dPt>
          <c:dPt>
            <c:idx val="3"/>
            <c:bubble3D val="0"/>
            <c:spPr>
              <a:solidFill>
                <a:srgbClr val="8FC53F"/>
              </a:solidFill>
              <a:ln w="25400">
                <a:solidFill>
                  <a:schemeClr val="lt1"/>
                </a:solidFill>
              </a:ln>
              <a:effectLst/>
              <a:sp3d contourW="25400">
                <a:contourClr>
                  <a:schemeClr val="lt1"/>
                </a:contourClr>
              </a:sp3d>
            </c:spPr>
            <c:extLst>
              <c:ext xmlns:c16="http://schemas.microsoft.com/office/drawing/2014/chart" uri="{C3380CC4-5D6E-409C-BE32-E72D297353CC}">
                <c16:uniqueId val="{00000007-7707-4497-A6A0-1C71C32C17FC}"/>
              </c:ext>
            </c:extLst>
          </c:dPt>
          <c:cat>
            <c:strRef>
              <c:f>Hoja1!$A$2:$A$5</c:f>
              <c:strCache>
                <c:ptCount val="4"/>
                <c:pt idx="0">
                  <c:v>1er trim.</c:v>
                </c:pt>
                <c:pt idx="1">
                  <c:v>2º trim.</c:v>
                </c:pt>
                <c:pt idx="2">
                  <c:v>3er trim.</c:v>
                </c:pt>
                <c:pt idx="3">
                  <c:v>4º trim.</c:v>
                </c:pt>
              </c:strCache>
            </c:strRef>
          </c:cat>
          <c:val>
            <c:numRef>
              <c:f>Hoja1!$B$2:$B$5</c:f>
              <c:numCache>
                <c:formatCode>0%</c:formatCode>
                <c:ptCount val="4"/>
                <c:pt idx="0">
                  <c:v>0.27</c:v>
                </c:pt>
                <c:pt idx="1">
                  <c:v>7.0000000000000007E-2</c:v>
                </c:pt>
                <c:pt idx="2">
                  <c:v>0.1</c:v>
                </c:pt>
                <c:pt idx="3">
                  <c:v>0.56000000000000005</c:v>
                </c:pt>
              </c:numCache>
            </c:numRef>
          </c:val>
          <c:extLst>
            <c:ext xmlns:c16="http://schemas.microsoft.com/office/drawing/2014/chart" uri="{C3380CC4-5D6E-409C-BE32-E72D297353CC}">
              <c16:uniqueId val="{00000008-7707-4497-A6A0-1C71C32C17FC}"/>
            </c:ext>
          </c:extLst>
        </c:ser>
        <c:dLbls>
          <c:showLegendKey val="0"/>
          <c:showVal val="0"/>
          <c:showCatName val="0"/>
          <c:showSerName val="0"/>
          <c:showPercent val="0"/>
          <c:showBubbleSize val="0"/>
          <c:showLeaderLines val="1"/>
        </c:dLbls>
      </c:pie3DChart>
      <c:spPr>
        <a:noFill/>
        <a:ln>
          <a:noFill/>
        </a:ln>
        <a:effectLst/>
      </c:spPr>
    </c:plotArea>
    <c:plotVisOnly val="1"/>
    <c:dispBlanksAs val="gap"/>
    <c:showDLblsOverMax val="0"/>
  </c:chart>
  <c:spPr>
    <a:noFill/>
    <a:ln>
      <a:noFill/>
    </a:ln>
    <a:effectLst/>
  </c:spPr>
  <c:txPr>
    <a:bodyPr/>
    <a:lstStyle/>
    <a:p>
      <a:pPr>
        <a:defRPr/>
      </a:pPr>
      <a:endParaRPr lang="es-PE"/>
    </a:p>
  </c:txPr>
  <c:externalData r:id="rId3">
    <c:autoUpdate val="0"/>
  </c:externalData>
</c:chartSpace>
</file>

<file path=ppt/charts/colors1.xml><?xml version="1.0" encoding="utf-8"?>
<cs:colorStyle xmlns:cs="http://schemas.microsoft.com/office/drawing/2012/chartStyle" xmlns:a="http://schemas.openxmlformats.org/drawingml/2006/main" meth="withinLinear" id="18">
  <a:schemeClr val="accent5"/>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image" Target="../media/image14.emf"/><Relationship Id="rId4" Type="http://schemas.openxmlformats.org/officeDocument/2006/relationships/image" Target="../media/image1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PE"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Google Shape;26;p1: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a:latin typeface="Arial"/>
              <a:ea typeface="Arial"/>
              <a:cs typeface="Arial"/>
              <a:sym typeface="Arial"/>
            </a:endParaRPr>
          </a:p>
        </p:txBody>
      </p:sp>
      <p:sp>
        <p:nvSpPr>
          <p:cNvPr id="28" name="Google Shape;2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 name="Google Shape;3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40" name="Google Shape;4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 name="Google Shape;4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 name="Google Shape;4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 name="Google Shape;5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dirty="0"/>
              <a:t>El video muestra una situación en la que se cuelga Windows 98 durante una presentación. </a:t>
            </a:r>
            <a:endParaRPr dirty="0"/>
          </a:p>
          <a:p>
            <a:pPr marL="0" lvl="0" indent="0" algn="l" rtl="0">
              <a:spcBef>
                <a:spcPts val="0"/>
              </a:spcBef>
              <a:spcAft>
                <a:spcPts val="0"/>
              </a:spcAft>
              <a:buNone/>
            </a:pPr>
            <a:r>
              <a:rPr lang="es-PE" dirty="0"/>
              <a:t>Archivo: 30032-S01-COMPLEMENTARIO-VIDEO 01</a:t>
            </a:r>
            <a:endParaRPr dirty="0"/>
          </a:p>
          <a:p>
            <a:pPr marL="0" lvl="0" indent="0" algn="l" rtl="0">
              <a:spcBef>
                <a:spcPts val="0"/>
              </a:spcBef>
              <a:spcAft>
                <a:spcPts val="0"/>
              </a:spcAft>
              <a:buNone/>
            </a:pPr>
            <a:endParaRPr dirty="0"/>
          </a:p>
        </p:txBody>
      </p:sp>
      <p:sp>
        <p:nvSpPr>
          <p:cNvPr id="54" name="Google Shape;5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5: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 name="Google Shape;6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a:t>El video muestra un caso ejemplar de persuasión y calidad en el servicio.</a:t>
            </a:r>
            <a:endParaRPr/>
          </a:p>
          <a:p>
            <a:pPr marL="0" lvl="0" indent="0" algn="l" rtl="0">
              <a:spcBef>
                <a:spcPts val="0"/>
              </a:spcBef>
              <a:spcAft>
                <a:spcPts val="0"/>
              </a:spcAft>
              <a:buNone/>
            </a:pPr>
            <a:r>
              <a:rPr lang="es-PE"/>
              <a:t>Archivo: 30032-S01-COMPLEMENTARIO-VIDEO 02</a:t>
            </a:r>
            <a:endParaRPr/>
          </a:p>
          <a:p>
            <a:pPr marL="0" lvl="0" indent="0" algn="l" rtl="0">
              <a:spcBef>
                <a:spcPts val="0"/>
              </a:spcBef>
              <a:spcAft>
                <a:spcPts val="0"/>
              </a:spcAft>
              <a:buNone/>
            </a:pPr>
            <a:endParaRPr/>
          </a:p>
        </p:txBody>
      </p:sp>
      <p:sp>
        <p:nvSpPr>
          <p:cNvPr id="65" name="Google Shape;6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6: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7: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8: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9: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0: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11: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12: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3: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5: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sz="1200" b="0" i="0">
                <a:solidFill>
                  <a:schemeClr val="dk1"/>
                </a:solidFill>
                <a:latin typeface="Calibri"/>
                <a:ea typeface="Calibri"/>
                <a:cs typeface="Calibri"/>
                <a:sym typeface="Calibri"/>
              </a:rPr>
              <a:t>Error (error): Decisión incorrecta tomada durante el desarrollo de un sistema de software (generalmente una suposición incorrecta).</a:t>
            </a:r>
            <a:endParaRPr/>
          </a:p>
          <a:p>
            <a:pPr marL="0" lvl="0" indent="0" algn="l" rtl="0">
              <a:spcBef>
                <a:spcPts val="0"/>
              </a:spcBef>
              <a:spcAft>
                <a:spcPts val="0"/>
              </a:spcAft>
              <a:buNone/>
            </a:pPr>
            <a:r>
              <a:rPr lang="es-PE" sz="1200" b="0" i="0">
                <a:solidFill>
                  <a:schemeClr val="dk1"/>
                </a:solidFill>
                <a:latin typeface="Calibri"/>
                <a:ea typeface="Calibri"/>
                <a:cs typeface="Calibri"/>
                <a:sym typeface="Calibri"/>
              </a:rPr>
              <a:t>Defecto (defect, fault, bug): Propiedad del software desarrollado que puede hacer que se comporte de una forma  no deseada , por ejemplo, un proceso, una definición de datos o el paso de procesamiento incorrectos en un programa.</a:t>
            </a:r>
            <a:endParaRPr/>
          </a:p>
          <a:p>
            <a:pPr marL="0" lvl="0" indent="0" algn="l" rtl="0">
              <a:spcBef>
                <a:spcPts val="0"/>
              </a:spcBef>
              <a:spcAft>
                <a:spcPts val="0"/>
              </a:spcAft>
              <a:buNone/>
            </a:pPr>
            <a:r>
              <a:rPr lang="es-PE" sz="1200" b="0" i="0">
                <a:solidFill>
                  <a:schemeClr val="dk1"/>
                </a:solidFill>
                <a:latin typeface="Calibri"/>
                <a:ea typeface="Calibri"/>
                <a:cs typeface="Calibri"/>
                <a:sym typeface="Calibri"/>
              </a:rPr>
              <a:t>Fallo </a:t>
            </a:r>
            <a:r>
              <a:rPr lang="es-PE" sz="1200" b="0" i="1">
                <a:solidFill>
                  <a:schemeClr val="dk1"/>
                </a:solidFill>
                <a:latin typeface="Calibri"/>
                <a:ea typeface="Calibri"/>
                <a:cs typeface="Calibri"/>
                <a:sym typeface="Calibri"/>
              </a:rPr>
              <a:t>(failure): S</a:t>
            </a:r>
            <a:r>
              <a:rPr lang="es-PE" sz="1200" b="0" i="0">
                <a:solidFill>
                  <a:schemeClr val="dk1"/>
                </a:solidFill>
                <a:latin typeface="Calibri"/>
                <a:ea typeface="Calibri"/>
                <a:cs typeface="Calibri"/>
                <a:sym typeface="Calibri"/>
              </a:rPr>
              <a:t>ituación en la cual un software en ejecución se comporta de una forma no deseada.</a:t>
            </a:r>
            <a:endParaRPr/>
          </a:p>
        </p:txBody>
      </p:sp>
      <p:sp>
        <p:nvSpPr>
          <p:cNvPr id="214" name="Google Shape;214;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16</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6: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sz="1200"/>
              <a:t>El 6 de junio de 1996 se culpó a una computadora por la explosión del primer vuelo, el 501, del cohete Ariane 5 con un costo de 500 millones de dólares. El cohete, que al parecer no estaba asegurado, llevaba 4 satélites, cuya explosión ocasion</a:t>
            </a:r>
            <a:r>
              <a:rPr lang="es-PE"/>
              <a:t>ó</a:t>
            </a:r>
            <a:r>
              <a:rPr lang="es-PE" sz="1200"/>
              <a:t> pérdidas totales de 1800 millones de dólares. El Ariane 5 estaba funcionando perfectamente hasta los 40 segundos iniciales, cuando de repente empezó a salirse de su trayectoria y, solo fracciones de segundo después, fue destruido por control remoto mediante una señal enviada por un controlador del Ariadne desde Tierra. Según la European Spacial Agency (ESA), administradora del programa, la desviación en la trayectoria fue ocasionada por la computadora que controlaba los dos poderosos impulsores del cohete. Se especuló que la computadora creyó que el cohete se estaba saliendo de curso y de esta manera trataba de corregir la trayectoria de vuelo. </a:t>
            </a:r>
            <a:endParaRPr/>
          </a:p>
          <a:p>
            <a:pPr marL="0" lvl="0" indent="0" algn="l" rtl="0">
              <a:spcBef>
                <a:spcPts val="0"/>
              </a:spcBef>
              <a:spcAft>
                <a:spcPts val="0"/>
              </a:spcAft>
              <a:buNone/>
            </a:pPr>
            <a:r>
              <a:rPr lang="es-PE" sz="1200"/>
              <a:t>De acuerdo con el reporte final, la causa de la falla del sistema ocurrió durante la conversión de un número flotante de 64 bits a un número entero de 16 bits. Al convertir un número con punto flotante daba como resultado un valor mayor que el que podía ser representado por un numero entero de 16 bits (con signo), ocasionando un </a:t>
            </a:r>
            <a:r>
              <a:rPr lang="es-PE" sz="1200" i="1"/>
              <a:t>error de operando</a:t>
            </a:r>
            <a:r>
              <a:rPr lang="es-PE" sz="1200"/>
              <a:t>. Las instrucciones de conversión de datos (código Ada) no estaban protegidas para evitar el error de operando, aunque otras conversiones en variables similares en el mismo lugar sí lo estaban (quizás al desarrollador “le dio flojera” terminar de validar). El origen del problema radicó en que el Ariane 5 podía llevar un mayor número de satélites que el Ariane 4, incrementando así su peso. Sin embargo, el Ariadne 5 utilizaba una gran cantidad de software diseñado para el Ariane 4 (hicieron el típico copy paste).</a:t>
            </a:r>
            <a:endParaRPr sz="1200"/>
          </a:p>
        </p:txBody>
      </p:sp>
      <p:sp>
        <p:nvSpPr>
          <p:cNvPr id="222" name="Google Shape;222;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7: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sz="1200"/>
              <a:t>El acelerador lineal médico Therac-25, producido por Atomic Energy of Canada Limited ( AECI), fue diseñado para tratamientos de radiación de dos tipos: (1) tratamiento de rayo directo de bajo poder y (2) tratamiento de rayo indirecto reflejado de alto poder. Entre 1985 y 1987 esté sistema ocasionó la muerte de varios pacientes en diferentes hospitales de Estado Unidos y Canadá debido a las radiaciones de alto poder aplicadas sin control. A partir de ciertas secuencias de comandos del operador  de la máquina, los controles de la computadora lo llevaban a un estado interno erróneo muy peligroso, generado por una sobredosis masiva de radiación.  Después de una amplia publicidad de estos accidentes, se descubrió que la Federal Drug Agency (FDA) no especificaba requisitos, ni hacía revisiones sobre las prácticas de desarrollo o control de calidad del software en dispositivos médicos. La FDA informó en 1987 que comenzaría a exigir controles de software integrados a ciertas clases de dispositivos médicos. Lamentablemente, en muchos de estos sistemas  el operador también juega un papel crítico, como en el caso de Panamá en 2001, donde datos insertados </a:t>
            </a:r>
            <a:r>
              <a:rPr lang="es-PE"/>
              <a:t>de manera incorrecta</a:t>
            </a:r>
            <a:r>
              <a:rPr lang="es-PE" sz="1200"/>
              <a:t> por los operadores durante tratamientos de cáncer mediante radiación ocasionaron la muerte de 5 personas en este país. Aunque la falla no fue directamente atribuida al software, se supone que el sistema de radicación contaba con protección para prevenir la radiación de tejido sano.</a:t>
            </a:r>
            <a:endParaRPr sz="1200"/>
          </a:p>
        </p:txBody>
      </p:sp>
      <p:sp>
        <p:nvSpPr>
          <p:cNvPr id="230" name="Google Shape;230;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18</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18: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9: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 name="Google Shape;243;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a:t>Las pruebas existen desde los comienzos de la computación</a:t>
            </a:r>
            <a:endParaRPr/>
          </a:p>
          <a:p>
            <a:pPr marL="457200" lvl="1" indent="0" algn="l" rtl="0">
              <a:spcBef>
                <a:spcPts val="0"/>
              </a:spcBef>
              <a:spcAft>
                <a:spcPts val="0"/>
              </a:spcAft>
              <a:buNone/>
            </a:pPr>
            <a:r>
              <a:rPr lang="es-PE"/>
              <a:t>Hasta 1956 🡪 período orientado a la </a:t>
            </a:r>
            <a:r>
              <a:rPr lang="es-PE" b="1"/>
              <a:t>depuración</a:t>
            </a:r>
            <a:r>
              <a:rPr lang="es-PE"/>
              <a:t>. </a:t>
            </a:r>
            <a:endParaRPr/>
          </a:p>
          <a:p>
            <a:pPr marL="457200" lvl="1" indent="0" algn="l" rtl="0">
              <a:spcBef>
                <a:spcPts val="0"/>
              </a:spcBef>
              <a:spcAft>
                <a:spcPts val="0"/>
              </a:spcAft>
              <a:buNone/>
            </a:pPr>
            <a:r>
              <a:rPr lang="es-PE"/>
              <a:t>De 1957 a 1978 🡪 período orientado a la </a:t>
            </a:r>
            <a:r>
              <a:rPr lang="es-PE" b="1"/>
              <a:t>demostración</a:t>
            </a:r>
            <a:r>
              <a:rPr lang="es-PE"/>
              <a:t>. </a:t>
            </a:r>
            <a:endParaRPr/>
          </a:p>
          <a:p>
            <a:pPr marL="457200" lvl="1" indent="0" algn="l" rtl="0">
              <a:spcBef>
                <a:spcPts val="0"/>
              </a:spcBef>
              <a:spcAft>
                <a:spcPts val="0"/>
              </a:spcAft>
              <a:buNone/>
            </a:pPr>
            <a:r>
              <a:rPr lang="es-PE"/>
              <a:t>De 1979 a 1982 🡪 período orientado a la </a:t>
            </a:r>
            <a:r>
              <a:rPr lang="es-PE" b="1"/>
              <a:t>destrucción</a:t>
            </a:r>
            <a:r>
              <a:rPr lang="es-PE"/>
              <a:t>. </a:t>
            </a:r>
            <a:endParaRPr/>
          </a:p>
          <a:p>
            <a:pPr marL="457200" lvl="1" indent="0" algn="l" rtl="0">
              <a:spcBef>
                <a:spcPts val="0"/>
              </a:spcBef>
              <a:spcAft>
                <a:spcPts val="0"/>
              </a:spcAft>
              <a:buNone/>
            </a:pPr>
            <a:r>
              <a:rPr lang="es-PE"/>
              <a:t>De 1983 a 1987🡪 período orientado a la </a:t>
            </a:r>
            <a:r>
              <a:rPr lang="es-PE" b="1"/>
              <a:t>evaluación.</a:t>
            </a:r>
            <a:endParaRPr/>
          </a:p>
          <a:p>
            <a:pPr marL="457200" lvl="1" indent="0" algn="l" rtl="0">
              <a:spcBef>
                <a:spcPts val="0"/>
              </a:spcBef>
              <a:spcAft>
                <a:spcPts val="0"/>
              </a:spcAft>
              <a:buNone/>
            </a:pPr>
            <a:r>
              <a:rPr lang="es-PE"/>
              <a:t>1988 🡪 período de la </a:t>
            </a:r>
            <a:r>
              <a:rPr lang="es-PE" b="1"/>
              <a:t>prevención.</a:t>
            </a:r>
            <a:endParaRPr/>
          </a:p>
        </p:txBody>
      </p:sp>
      <p:sp>
        <p:nvSpPr>
          <p:cNvPr id="244" name="Google Shape;244;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0: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 name="Google Shape;261;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sz="1200" b="0" i="0">
                <a:solidFill>
                  <a:schemeClr val="dk1"/>
                </a:solidFill>
                <a:latin typeface="Calibri"/>
                <a:ea typeface="Calibri"/>
                <a:cs typeface="Calibri"/>
                <a:sym typeface="Calibri"/>
              </a:rPr>
              <a:t> </a:t>
            </a:r>
            <a:r>
              <a:rPr lang="es-PE" sz="1200" b="1" i="0">
                <a:solidFill>
                  <a:schemeClr val="dk1"/>
                </a:solidFill>
                <a:latin typeface="Calibri"/>
                <a:ea typeface="Calibri"/>
                <a:cs typeface="Calibri"/>
                <a:sym typeface="Calibri"/>
              </a:rPr>
              <a:t>Proceso: </a:t>
            </a:r>
            <a:r>
              <a:rPr lang="es-PE" sz="1200" b="0" i="0">
                <a:solidFill>
                  <a:schemeClr val="dk1"/>
                </a:solidFill>
                <a:latin typeface="Calibri"/>
                <a:ea typeface="Calibri"/>
                <a:cs typeface="Calibri"/>
                <a:sym typeface="Calibri"/>
              </a:rPr>
              <a:t>La prueba es un proceso más que una sola actividad. Hay una serie de actividades involucradas.</a:t>
            </a:r>
            <a:endParaRPr/>
          </a:p>
          <a:p>
            <a:pPr marL="0" lvl="0" indent="0" algn="l" rtl="0">
              <a:spcBef>
                <a:spcPts val="0"/>
              </a:spcBef>
              <a:spcAft>
                <a:spcPts val="0"/>
              </a:spcAft>
              <a:buNone/>
            </a:pPr>
            <a:r>
              <a:rPr lang="es-PE" sz="1200" b="0" i="0">
                <a:solidFill>
                  <a:schemeClr val="dk1"/>
                </a:solidFill>
                <a:latin typeface="Calibri"/>
                <a:ea typeface="Calibri"/>
                <a:cs typeface="Calibri"/>
                <a:sym typeface="Calibri"/>
              </a:rPr>
              <a:t>• </a:t>
            </a:r>
            <a:r>
              <a:rPr lang="es-PE" sz="1200" b="1" i="0">
                <a:solidFill>
                  <a:schemeClr val="dk1"/>
                </a:solidFill>
                <a:latin typeface="Calibri"/>
                <a:ea typeface="Calibri"/>
                <a:cs typeface="Calibri"/>
                <a:sym typeface="Calibri"/>
              </a:rPr>
              <a:t>Todas las actividades del ciclo de vida: </a:t>
            </a:r>
            <a:r>
              <a:rPr lang="es-PE" sz="1200" b="0" i="0">
                <a:solidFill>
                  <a:schemeClr val="dk1"/>
                </a:solidFill>
                <a:latin typeface="Calibri"/>
                <a:ea typeface="Calibri"/>
                <a:cs typeface="Calibri"/>
                <a:sym typeface="Calibri"/>
              </a:rPr>
              <a:t>se lleva a cabo durante todo el ciclo de desarrollo de software tratando de encontrar y corregir defectos desde el inicio del ciclo de vida a fin de reducir el coste total.</a:t>
            </a:r>
            <a:endParaRPr/>
          </a:p>
          <a:p>
            <a:pPr marL="0" lvl="0" indent="0" algn="l" rtl="0">
              <a:spcBef>
                <a:spcPts val="0"/>
              </a:spcBef>
              <a:spcAft>
                <a:spcPts val="0"/>
              </a:spcAft>
              <a:buNone/>
            </a:pPr>
            <a:r>
              <a:rPr lang="es-PE" sz="1200" b="0" i="0">
                <a:solidFill>
                  <a:schemeClr val="dk1"/>
                </a:solidFill>
                <a:latin typeface="Calibri"/>
                <a:ea typeface="Calibri"/>
                <a:cs typeface="Calibri"/>
                <a:sym typeface="Calibri"/>
              </a:rPr>
              <a:t>• </a:t>
            </a:r>
            <a:r>
              <a:rPr lang="es-PE" sz="1200" b="1" i="0">
                <a:solidFill>
                  <a:schemeClr val="dk1"/>
                </a:solidFill>
                <a:latin typeface="Calibri"/>
                <a:ea typeface="Calibri"/>
                <a:cs typeface="Calibri"/>
                <a:sym typeface="Calibri"/>
              </a:rPr>
              <a:t>Tanto estáticos como dinámicos:</a:t>
            </a:r>
            <a:r>
              <a:rPr lang="es-PE" sz="1200" b="0" i="0">
                <a:solidFill>
                  <a:schemeClr val="dk1"/>
                </a:solidFill>
                <a:latin typeface="Calibri"/>
                <a:ea typeface="Calibri"/>
                <a:cs typeface="Calibri"/>
                <a:sym typeface="Calibri"/>
              </a:rPr>
              <a:t> Así como hay pruebas donde se ejecuta el código del software para demostrar los resultados, también se puede probar y encontrar defectos sin ejecutar código (revisión de documentos y el código).</a:t>
            </a:r>
            <a:endParaRPr/>
          </a:p>
          <a:p>
            <a:pPr marL="0" lvl="0" indent="0" algn="l" rtl="0">
              <a:spcBef>
                <a:spcPts val="0"/>
              </a:spcBef>
              <a:spcAft>
                <a:spcPts val="0"/>
              </a:spcAft>
              <a:buNone/>
            </a:pPr>
            <a:r>
              <a:rPr lang="es-PE" sz="1200" b="0" i="0">
                <a:solidFill>
                  <a:schemeClr val="dk1"/>
                </a:solidFill>
                <a:latin typeface="Calibri"/>
                <a:ea typeface="Calibri"/>
                <a:cs typeface="Calibri"/>
                <a:sym typeface="Calibri"/>
              </a:rPr>
              <a:t>• </a:t>
            </a:r>
            <a:r>
              <a:rPr lang="es-PE" sz="1200" b="1" i="0">
                <a:solidFill>
                  <a:schemeClr val="dk1"/>
                </a:solidFill>
                <a:latin typeface="Calibri"/>
                <a:ea typeface="Calibri"/>
                <a:cs typeface="Calibri"/>
                <a:sym typeface="Calibri"/>
              </a:rPr>
              <a:t>Planificación, preparación, evaluación</a:t>
            </a:r>
            <a:r>
              <a:rPr lang="es-PE" sz="1200" b="0" i="0">
                <a:solidFill>
                  <a:schemeClr val="dk1"/>
                </a:solidFill>
                <a:latin typeface="Calibri"/>
                <a:ea typeface="Calibri"/>
                <a:cs typeface="Calibri"/>
                <a:sym typeface="Calibri"/>
              </a:rPr>
              <a:t> se llevará a cabo antes y después de la ejecución de pruebas. Tenemos que administrar la planificación de las pruebas, el seguimiento y la presentación de informes. También tenemos que identificar lo que vamos a hacer, mediante la selección de las condiciones de prueba y el diseño de casos de prueba, así como evaluar el sistema bajo prueba de los criterios de finalización, lo que ayuda a decidir si hemos terminado nuestras pruebas.</a:t>
            </a:r>
            <a:endParaRPr/>
          </a:p>
          <a:p>
            <a:pPr marL="0" lvl="0" indent="0" algn="l" rtl="0">
              <a:spcBef>
                <a:spcPts val="0"/>
              </a:spcBef>
              <a:spcAft>
                <a:spcPts val="0"/>
              </a:spcAft>
              <a:buNone/>
            </a:pPr>
            <a:r>
              <a:rPr lang="es-PE" sz="1200" b="0" i="0">
                <a:solidFill>
                  <a:schemeClr val="dk1"/>
                </a:solidFill>
                <a:latin typeface="Calibri"/>
                <a:ea typeface="Calibri"/>
                <a:cs typeface="Calibri"/>
                <a:sym typeface="Calibri"/>
              </a:rPr>
              <a:t>• </a:t>
            </a:r>
            <a:r>
              <a:rPr lang="es-PE" sz="1200" b="1" i="0">
                <a:solidFill>
                  <a:schemeClr val="dk1"/>
                </a:solidFill>
                <a:latin typeface="Calibri"/>
                <a:ea typeface="Calibri"/>
                <a:cs typeface="Calibri"/>
                <a:sym typeface="Calibri"/>
              </a:rPr>
              <a:t>Productos de software y productos relacionados con el trabajo:</a:t>
            </a:r>
            <a:r>
              <a:rPr lang="es-PE" sz="1200" b="0" i="0">
                <a:solidFill>
                  <a:schemeClr val="dk1"/>
                </a:solidFill>
                <a:latin typeface="Calibri"/>
                <a:ea typeface="Calibri"/>
                <a:cs typeface="Calibri"/>
                <a:sym typeface="Calibri"/>
              </a:rPr>
              <a:t> Probamos muchas otras cosas además de un código como los requisitos, especificaciones de diseño, manuales de usuario, etc.</a:t>
            </a:r>
            <a:endParaRPr/>
          </a:p>
          <a:p>
            <a:pPr marL="0" lvl="0" indent="0" algn="l" rtl="0">
              <a:spcBef>
                <a:spcPts val="0"/>
              </a:spcBef>
              <a:spcAft>
                <a:spcPts val="0"/>
              </a:spcAft>
              <a:buNone/>
            </a:pPr>
            <a:r>
              <a:rPr lang="es-PE" sz="1200" b="0" i="0">
                <a:solidFill>
                  <a:schemeClr val="dk1"/>
                </a:solidFill>
                <a:latin typeface="Calibri"/>
                <a:ea typeface="Calibri"/>
                <a:cs typeface="Calibri"/>
                <a:sym typeface="Calibri"/>
              </a:rPr>
              <a:t>La segunda parte de la definición se refiere a las razones por las cuales lo hacemos:</a:t>
            </a:r>
            <a:endParaRPr/>
          </a:p>
          <a:p>
            <a:pPr marL="0" lvl="0" indent="0" algn="l" rtl="0">
              <a:spcBef>
                <a:spcPts val="0"/>
              </a:spcBef>
              <a:spcAft>
                <a:spcPts val="0"/>
              </a:spcAft>
              <a:buNone/>
            </a:pPr>
            <a:r>
              <a:rPr lang="es-PE" sz="1200" b="0" i="0">
                <a:solidFill>
                  <a:schemeClr val="dk1"/>
                </a:solidFill>
                <a:latin typeface="Calibri"/>
                <a:ea typeface="Calibri"/>
                <a:cs typeface="Calibri"/>
                <a:sym typeface="Calibri"/>
              </a:rPr>
              <a:t>• </a:t>
            </a:r>
            <a:r>
              <a:rPr lang="es-PE" sz="1200" b="1" i="0">
                <a:solidFill>
                  <a:schemeClr val="dk1"/>
                </a:solidFill>
                <a:latin typeface="Calibri"/>
                <a:ea typeface="Calibri"/>
                <a:cs typeface="Calibri"/>
                <a:sym typeface="Calibri"/>
              </a:rPr>
              <a:t>Determinar que (los productos de software) cumplan con los requisitos especificados:</a:t>
            </a:r>
            <a:r>
              <a:rPr lang="es-PE" sz="1200" b="0" i="0">
                <a:solidFill>
                  <a:schemeClr val="dk1"/>
                </a:solidFill>
                <a:latin typeface="Calibri"/>
                <a:ea typeface="Calibri"/>
                <a:cs typeface="Calibri"/>
                <a:sym typeface="Calibri"/>
              </a:rPr>
              <a:t> Si el producto cumple con sus especificaciones, podemos proporcionar esa información para ayudar a los interesados a ​​juzgar la calidad del producto y decidir si está listo para su uso.</a:t>
            </a:r>
            <a:endParaRPr/>
          </a:p>
          <a:p>
            <a:pPr marL="0" lvl="0" indent="0" algn="l" rtl="0">
              <a:spcBef>
                <a:spcPts val="0"/>
              </a:spcBef>
              <a:spcAft>
                <a:spcPts val="0"/>
              </a:spcAft>
              <a:buNone/>
            </a:pPr>
            <a:r>
              <a:rPr lang="es-PE" sz="1200" b="0" i="0">
                <a:solidFill>
                  <a:schemeClr val="dk1"/>
                </a:solidFill>
                <a:latin typeface="Calibri"/>
                <a:ea typeface="Calibri"/>
                <a:cs typeface="Calibri"/>
                <a:sym typeface="Calibri"/>
              </a:rPr>
              <a:t>• </a:t>
            </a:r>
            <a:r>
              <a:rPr lang="es-PE" sz="1200" b="1" i="0">
                <a:solidFill>
                  <a:schemeClr val="dk1"/>
                </a:solidFill>
                <a:latin typeface="Calibri"/>
                <a:ea typeface="Calibri"/>
                <a:cs typeface="Calibri"/>
                <a:sym typeface="Calibri"/>
              </a:rPr>
              <a:t>Demostrar que (los productos de software) son aptos para el propósito:</a:t>
            </a:r>
            <a:r>
              <a:rPr lang="es-PE" sz="1200" b="0" i="0">
                <a:solidFill>
                  <a:schemeClr val="dk1"/>
                </a:solidFill>
                <a:latin typeface="Calibri"/>
                <a:ea typeface="Calibri"/>
                <a:cs typeface="Calibri"/>
                <a:sym typeface="Calibri"/>
              </a:rPr>
              <a:t> Hace referencia a si el software hace lo suficiente para ayudar a los usuarios a llevar a cabo sus tareas o no.</a:t>
            </a:r>
            <a:endParaRPr/>
          </a:p>
          <a:p>
            <a:pPr marL="0" lvl="0" indent="0" algn="l" rtl="0">
              <a:spcBef>
                <a:spcPts val="0"/>
              </a:spcBef>
              <a:spcAft>
                <a:spcPts val="0"/>
              </a:spcAft>
              <a:buNone/>
            </a:pPr>
            <a:r>
              <a:rPr lang="es-PE" sz="1200" b="0" i="0">
                <a:solidFill>
                  <a:schemeClr val="dk1"/>
                </a:solidFill>
                <a:latin typeface="Calibri"/>
                <a:ea typeface="Calibri"/>
                <a:cs typeface="Calibri"/>
                <a:sym typeface="Calibri"/>
              </a:rPr>
              <a:t>• </a:t>
            </a:r>
            <a:r>
              <a:rPr lang="es-PE" sz="1200" b="1" i="0">
                <a:solidFill>
                  <a:schemeClr val="dk1"/>
                </a:solidFill>
                <a:latin typeface="Calibri"/>
                <a:ea typeface="Calibri"/>
                <a:cs typeface="Calibri"/>
                <a:sym typeface="Calibri"/>
              </a:rPr>
              <a:t>Detectar defectos:</a:t>
            </a:r>
            <a:r>
              <a:rPr lang="es-PE" sz="1200" b="0" i="0">
                <a:solidFill>
                  <a:schemeClr val="dk1"/>
                </a:solidFill>
                <a:latin typeface="Calibri"/>
                <a:ea typeface="Calibri"/>
                <a:cs typeface="Calibri"/>
                <a:sym typeface="Calibri"/>
              </a:rPr>
              <a:t> Esto nos ayuda a entender los riesgos asociados con poner el software en uso operacional, así como mejorar el desarrollo de procesos para cometer menos errores en el futuro.</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62" name="Google Shape;262;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1: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9" name="Google Shape;269;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sz="1200" b="1" i="0">
                <a:solidFill>
                  <a:schemeClr val="dk1"/>
                </a:solidFill>
                <a:latin typeface="Calibri"/>
                <a:ea typeface="Calibri"/>
                <a:cs typeface="Calibri"/>
                <a:sym typeface="Calibri"/>
              </a:rPr>
              <a:t>Detectar No Conformidades: </a:t>
            </a:r>
            <a:r>
              <a:rPr lang="es-PE" sz="1200" b="0" i="0">
                <a:solidFill>
                  <a:schemeClr val="dk1"/>
                </a:solidFill>
                <a:latin typeface="Calibri"/>
                <a:ea typeface="Calibri"/>
                <a:cs typeface="Calibri"/>
                <a:sym typeface="Calibri"/>
              </a:rPr>
              <a:t>Con anticipación a que el producto sea entregado al usuario o cliente final.</a:t>
            </a:r>
            <a:endParaRPr/>
          </a:p>
          <a:p>
            <a:pPr marL="0" lvl="0" indent="0" algn="l" rtl="0">
              <a:spcBef>
                <a:spcPts val="0"/>
              </a:spcBef>
              <a:spcAft>
                <a:spcPts val="0"/>
              </a:spcAft>
              <a:buNone/>
            </a:pPr>
            <a:r>
              <a:rPr lang="es-PE" sz="1200" b="1" i="0">
                <a:solidFill>
                  <a:schemeClr val="dk1"/>
                </a:solidFill>
                <a:latin typeface="Calibri"/>
                <a:ea typeface="Calibri"/>
                <a:cs typeface="Calibri"/>
                <a:sym typeface="Calibri"/>
              </a:rPr>
              <a:t>Garantizar la Aceptación: </a:t>
            </a:r>
            <a:r>
              <a:rPr lang="es-PE" sz="1200" b="0" i="0">
                <a:solidFill>
                  <a:schemeClr val="dk1"/>
                </a:solidFill>
                <a:latin typeface="Calibri"/>
                <a:ea typeface="Calibri"/>
                <a:cs typeface="Calibri"/>
                <a:sym typeface="Calibri"/>
              </a:rPr>
              <a:t>De los productos y desarrollos por parte del usuario o cliente final.</a:t>
            </a:r>
            <a:endParaRPr/>
          </a:p>
          <a:p>
            <a:pPr marL="0" lvl="0" indent="0" algn="l" rtl="0">
              <a:spcBef>
                <a:spcPts val="0"/>
              </a:spcBef>
              <a:spcAft>
                <a:spcPts val="0"/>
              </a:spcAft>
              <a:buNone/>
            </a:pPr>
            <a:r>
              <a:rPr lang="es-PE" sz="1200" b="1" i="0">
                <a:solidFill>
                  <a:schemeClr val="dk1"/>
                </a:solidFill>
                <a:latin typeface="Calibri"/>
                <a:ea typeface="Calibri"/>
                <a:cs typeface="Calibri"/>
                <a:sym typeface="Calibri"/>
              </a:rPr>
              <a:t>Asegurar que el Desarrollo: </a:t>
            </a:r>
            <a:r>
              <a:rPr lang="es-PE" sz="1200" b="0" i="0">
                <a:solidFill>
                  <a:schemeClr val="dk1"/>
                </a:solidFill>
                <a:latin typeface="Calibri"/>
                <a:ea typeface="Calibri"/>
                <a:cs typeface="Calibri"/>
                <a:sym typeface="Calibri"/>
              </a:rPr>
              <a:t>O sistema, se encuentre listo para su utilización desde un punto de vista funcional.</a:t>
            </a:r>
            <a:endParaRPr/>
          </a:p>
          <a:p>
            <a:pPr marL="0" lvl="0" indent="0" algn="l" rtl="0">
              <a:spcBef>
                <a:spcPts val="0"/>
              </a:spcBef>
              <a:spcAft>
                <a:spcPts val="0"/>
              </a:spcAft>
              <a:buNone/>
            </a:pPr>
            <a:r>
              <a:rPr lang="es-PE" sz="1200" b="1" i="0">
                <a:solidFill>
                  <a:schemeClr val="dk1"/>
                </a:solidFill>
                <a:latin typeface="Calibri"/>
                <a:ea typeface="Calibri"/>
                <a:cs typeface="Calibri"/>
                <a:sym typeface="Calibri"/>
              </a:rPr>
              <a:t>Correcto Funcionamiento: </a:t>
            </a:r>
            <a:r>
              <a:rPr lang="es-PE" sz="1200" b="0" i="0">
                <a:solidFill>
                  <a:schemeClr val="dk1"/>
                </a:solidFill>
                <a:latin typeface="Calibri"/>
                <a:ea typeface="Calibri"/>
                <a:cs typeface="Calibri"/>
                <a:sym typeface="Calibri"/>
              </a:rPr>
              <a:t>De cada una de las partes del producto final.</a:t>
            </a:r>
            <a:endParaRPr/>
          </a:p>
          <a:p>
            <a:pPr marL="0" lvl="0" indent="0" algn="l" rtl="0">
              <a:spcBef>
                <a:spcPts val="0"/>
              </a:spcBef>
              <a:spcAft>
                <a:spcPts val="0"/>
              </a:spcAft>
              <a:buNone/>
            </a:pPr>
            <a:endParaRPr/>
          </a:p>
        </p:txBody>
      </p:sp>
      <p:sp>
        <p:nvSpPr>
          <p:cNvPr id="270" name="Google Shape;270;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22</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2: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sz="1200" b="1" i="0">
                <a:solidFill>
                  <a:schemeClr val="dk1"/>
                </a:solidFill>
                <a:latin typeface="Calibri"/>
                <a:ea typeface="Calibri"/>
                <a:cs typeface="Calibri"/>
                <a:sym typeface="Calibri"/>
              </a:rPr>
              <a:t>Disminuir los reprocesos: </a:t>
            </a:r>
            <a:r>
              <a:rPr lang="es-PE" sz="1200" b="0" i="0">
                <a:solidFill>
                  <a:schemeClr val="dk1"/>
                </a:solidFill>
                <a:latin typeface="Calibri"/>
                <a:ea typeface="Calibri"/>
                <a:cs typeface="Calibri"/>
                <a:sym typeface="Calibri"/>
              </a:rPr>
              <a:t>Optimizando tiempos y costos en beneficio del cliente y la empresa.</a:t>
            </a:r>
            <a:endParaRPr/>
          </a:p>
          <a:p>
            <a:pPr marL="0" lvl="0" indent="0" algn="l" rtl="0">
              <a:spcBef>
                <a:spcPts val="0"/>
              </a:spcBef>
              <a:spcAft>
                <a:spcPts val="0"/>
              </a:spcAft>
              <a:buNone/>
            </a:pPr>
            <a:r>
              <a:rPr lang="es-PE" sz="1200" b="1" i="0">
                <a:solidFill>
                  <a:schemeClr val="dk1"/>
                </a:solidFill>
                <a:latin typeface="Calibri"/>
                <a:ea typeface="Calibri"/>
                <a:cs typeface="Calibri"/>
                <a:sym typeface="Calibri"/>
              </a:rPr>
              <a:t>Cultura de la Calidad: </a:t>
            </a:r>
            <a:r>
              <a:rPr lang="es-PE" sz="1200" b="0" i="0">
                <a:solidFill>
                  <a:schemeClr val="dk1"/>
                </a:solidFill>
                <a:latin typeface="Calibri"/>
                <a:ea typeface="Calibri"/>
                <a:cs typeface="Calibri"/>
                <a:sym typeface="Calibri"/>
              </a:rPr>
              <a:t>Apropiación y empoderamiento por parte de todo el equipo humano.</a:t>
            </a:r>
            <a:endParaRPr/>
          </a:p>
          <a:p>
            <a:pPr marL="0" lvl="0" indent="0" algn="l" rtl="0">
              <a:spcBef>
                <a:spcPts val="0"/>
              </a:spcBef>
              <a:spcAft>
                <a:spcPts val="0"/>
              </a:spcAft>
              <a:buNone/>
            </a:pPr>
            <a:r>
              <a:rPr lang="es-PE" sz="1200" b="1" i="0">
                <a:solidFill>
                  <a:schemeClr val="dk1"/>
                </a:solidFill>
                <a:latin typeface="Calibri"/>
                <a:ea typeface="Calibri"/>
                <a:cs typeface="Calibri"/>
                <a:sym typeface="Calibri"/>
              </a:rPr>
              <a:t>Personal Idóneo: </a:t>
            </a:r>
            <a:r>
              <a:rPr lang="es-PE" sz="1200" b="0" i="0">
                <a:solidFill>
                  <a:schemeClr val="dk1"/>
                </a:solidFill>
                <a:latin typeface="Calibri"/>
                <a:ea typeface="Calibri"/>
                <a:cs typeface="Calibri"/>
                <a:sym typeface="Calibri"/>
              </a:rPr>
              <a:t>Capacitado, calificado y certificado en las áreas clave del proceso de calidad.</a:t>
            </a:r>
            <a:endParaRPr/>
          </a:p>
          <a:p>
            <a:pPr marL="0" lvl="0" indent="0" algn="l" rtl="0">
              <a:spcBef>
                <a:spcPts val="0"/>
              </a:spcBef>
              <a:spcAft>
                <a:spcPts val="0"/>
              </a:spcAft>
              <a:buNone/>
            </a:pPr>
            <a:r>
              <a:rPr lang="es-PE" sz="1200" b="1" i="0">
                <a:solidFill>
                  <a:schemeClr val="dk1"/>
                </a:solidFill>
                <a:latin typeface="Calibri"/>
                <a:ea typeface="Calibri"/>
                <a:cs typeface="Calibri"/>
                <a:sym typeface="Calibri"/>
              </a:rPr>
              <a:t>Documentación: </a:t>
            </a:r>
            <a:r>
              <a:rPr lang="es-PE" sz="1200" b="0" i="0">
                <a:solidFill>
                  <a:schemeClr val="dk1"/>
                </a:solidFill>
                <a:latin typeface="Calibri"/>
                <a:ea typeface="Calibri"/>
                <a:cs typeface="Calibri"/>
                <a:sym typeface="Calibri"/>
              </a:rPr>
              <a:t>De la función de aseguramiento de calidad del software.</a:t>
            </a:r>
            <a:endParaRPr/>
          </a:p>
          <a:p>
            <a:pPr marL="0" lvl="0" indent="0" algn="l" rtl="0">
              <a:spcBef>
                <a:spcPts val="0"/>
              </a:spcBef>
              <a:spcAft>
                <a:spcPts val="0"/>
              </a:spcAft>
              <a:buNone/>
            </a:pPr>
            <a:endParaRPr/>
          </a:p>
        </p:txBody>
      </p:sp>
      <p:sp>
        <p:nvSpPr>
          <p:cNvPr id="283" name="Google Shape;283;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23</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3: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5" name="Google Shape;295;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sz="1200" b="1" i="0">
                <a:solidFill>
                  <a:schemeClr val="dk1"/>
                </a:solidFill>
                <a:latin typeface="Calibri"/>
                <a:ea typeface="Calibri"/>
                <a:cs typeface="Calibri"/>
                <a:sym typeface="Calibri"/>
              </a:rPr>
              <a:t>Incrementar la Productividad: </a:t>
            </a:r>
            <a:r>
              <a:rPr lang="es-PE" sz="1200" b="0" i="0">
                <a:solidFill>
                  <a:schemeClr val="dk1"/>
                </a:solidFill>
                <a:latin typeface="Calibri"/>
                <a:ea typeface="Calibri"/>
                <a:cs typeface="Calibri"/>
                <a:sym typeface="Calibri"/>
              </a:rPr>
              <a:t>del equipo de desarrollo y sus distintas áreas.</a:t>
            </a:r>
            <a:endParaRPr/>
          </a:p>
          <a:p>
            <a:pPr marL="0" lvl="0" indent="0" algn="l" rtl="0">
              <a:spcBef>
                <a:spcPts val="0"/>
              </a:spcBef>
              <a:spcAft>
                <a:spcPts val="0"/>
              </a:spcAft>
              <a:buNone/>
            </a:pPr>
            <a:r>
              <a:rPr lang="es-PE" sz="1200" b="1" i="0">
                <a:solidFill>
                  <a:schemeClr val="dk1"/>
                </a:solidFill>
                <a:latin typeface="Calibri"/>
                <a:ea typeface="Calibri"/>
                <a:cs typeface="Calibri"/>
                <a:sym typeface="Calibri"/>
              </a:rPr>
              <a:t>Facilitar la Detección: </a:t>
            </a:r>
            <a:r>
              <a:rPr lang="es-PE" sz="1200" b="0" i="0">
                <a:solidFill>
                  <a:schemeClr val="dk1"/>
                </a:solidFill>
                <a:latin typeface="Calibri"/>
                <a:ea typeface="Calibri"/>
                <a:cs typeface="Calibri"/>
                <a:sym typeface="Calibri"/>
              </a:rPr>
              <a:t>anticipada de posibles No Conformidades (NC).</a:t>
            </a:r>
            <a:endParaRPr/>
          </a:p>
          <a:p>
            <a:pPr marL="0" lvl="0" indent="0" algn="l" rtl="0">
              <a:spcBef>
                <a:spcPts val="0"/>
              </a:spcBef>
              <a:spcAft>
                <a:spcPts val="0"/>
              </a:spcAft>
              <a:buNone/>
            </a:pPr>
            <a:r>
              <a:rPr lang="es-PE" sz="1200" b="1" i="0">
                <a:solidFill>
                  <a:schemeClr val="dk1"/>
                </a:solidFill>
                <a:latin typeface="Calibri"/>
                <a:ea typeface="Calibri"/>
                <a:cs typeface="Calibri"/>
                <a:sym typeface="Calibri"/>
              </a:rPr>
              <a:t>Asegurar los Requerimientos: </a:t>
            </a:r>
            <a:r>
              <a:rPr lang="es-PE" sz="1200" b="0" i="0">
                <a:solidFill>
                  <a:schemeClr val="dk1"/>
                </a:solidFill>
                <a:latin typeface="Calibri"/>
                <a:ea typeface="Calibri"/>
                <a:cs typeface="Calibri"/>
                <a:sym typeface="Calibri"/>
              </a:rPr>
              <a:t>de los productos, a través de mecanismos objetivos.</a:t>
            </a:r>
            <a:endParaRPr/>
          </a:p>
          <a:p>
            <a:pPr marL="0" lvl="0" indent="0" algn="l" rtl="0">
              <a:spcBef>
                <a:spcPts val="0"/>
              </a:spcBef>
              <a:spcAft>
                <a:spcPts val="0"/>
              </a:spcAft>
              <a:buNone/>
            </a:pPr>
            <a:r>
              <a:rPr lang="es-PE" sz="1200" b="1" i="0">
                <a:solidFill>
                  <a:schemeClr val="dk1"/>
                </a:solidFill>
                <a:latin typeface="Calibri"/>
                <a:ea typeface="Calibri"/>
                <a:cs typeface="Calibri"/>
                <a:sym typeface="Calibri"/>
              </a:rPr>
              <a:t>Evaluación Objetiva: </a:t>
            </a:r>
            <a:r>
              <a:rPr lang="es-PE" sz="1200" b="0" i="0">
                <a:solidFill>
                  <a:schemeClr val="dk1"/>
                </a:solidFill>
                <a:latin typeface="Calibri"/>
                <a:ea typeface="Calibri"/>
                <a:cs typeface="Calibri"/>
                <a:sym typeface="Calibri"/>
              </a:rPr>
              <a:t>de todos los resultados obtenidos.</a:t>
            </a:r>
            <a:endParaRPr/>
          </a:p>
          <a:p>
            <a:pPr marL="0" lvl="0" indent="0" algn="l" rtl="0">
              <a:spcBef>
                <a:spcPts val="0"/>
              </a:spcBef>
              <a:spcAft>
                <a:spcPts val="0"/>
              </a:spcAft>
              <a:buNone/>
            </a:pPr>
            <a:endParaRPr/>
          </a:p>
        </p:txBody>
      </p:sp>
      <p:sp>
        <p:nvSpPr>
          <p:cNvPr id="296" name="Google Shape;296;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24</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2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1" name="Google Shape;311;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25</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8" name="Google Shape;318;p25: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26: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6" name="Google Shape;346;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b="1"/>
              <a:t>Las pruebas revelan la presencia de defectos</a:t>
            </a:r>
            <a:endParaRPr/>
          </a:p>
          <a:p>
            <a:pPr marL="0" marR="0" lvl="0" indent="0" algn="l" rtl="0">
              <a:lnSpc>
                <a:spcPct val="100000"/>
              </a:lnSpc>
              <a:spcBef>
                <a:spcPts val="0"/>
              </a:spcBef>
              <a:spcAft>
                <a:spcPts val="0"/>
              </a:spcAft>
              <a:buClr>
                <a:schemeClr val="dk1"/>
              </a:buClr>
              <a:buSzPts val="1200"/>
              <a:buFont typeface="Calibri"/>
              <a:buNone/>
            </a:pPr>
            <a:r>
              <a:rPr lang="es-PE" sz="1200" b="0" i="0">
                <a:solidFill>
                  <a:schemeClr val="dk1"/>
                </a:solidFill>
                <a:latin typeface="Calibri"/>
                <a:ea typeface="Calibri"/>
                <a:cs typeface="Calibri"/>
                <a:sym typeface="Calibri"/>
              </a:rPr>
              <a:t>Este principio se deriva de la teoría del proceso de la experimentación científica y ha sido adoptado por los testers. La analogía utilizada en la ciencia es útil para explicar este principio, no importa la cantidad de cisnes blancos que vemos, no podemos decir ‘todos los cisnes son blancos”. Sin embargo, tan pronto como vemos un cisne negro, podemos decir ‘No todos los cisnes son blancos”. De la misma manera, sin embargo, que muchas pruebas se hayan ejecutado sin encontrar un error, no demuestra que “No hay errores”. Tan pronto como nos encontramos con un error, se ha mostrado ‘Este código no está libre de errores”.</a:t>
            </a:r>
            <a:endParaRPr/>
          </a:p>
          <a:p>
            <a:pPr marL="171450" lvl="0" indent="-171450" algn="l" rtl="0">
              <a:spcBef>
                <a:spcPts val="0"/>
              </a:spcBef>
              <a:spcAft>
                <a:spcPts val="0"/>
              </a:spcAft>
              <a:buClr>
                <a:schemeClr val="dk1"/>
              </a:buClr>
              <a:buSzPts val="1200"/>
              <a:buFont typeface="Arial"/>
              <a:buChar char="•"/>
            </a:pPr>
            <a:r>
              <a:rPr lang="es-PE"/>
              <a:t>Las pruebas pueden demostrar que hay defectos, pero no pueden probar que no los hay.</a:t>
            </a:r>
            <a:endParaRPr/>
          </a:p>
          <a:p>
            <a:pPr marL="171450" lvl="0" indent="-171450" algn="l" rtl="0">
              <a:spcBef>
                <a:spcPts val="0"/>
              </a:spcBef>
              <a:spcAft>
                <a:spcPts val="0"/>
              </a:spcAft>
              <a:buClr>
                <a:schemeClr val="dk1"/>
              </a:buClr>
              <a:buSzPts val="1200"/>
              <a:buFont typeface="Arial"/>
              <a:buChar char="•"/>
            </a:pPr>
            <a:r>
              <a:rPr lang="es-PE"/>
              <a:t>Las pruebas reducen la probabilidad de que haya defectos ocultos en el software, pero, aunque no se detecte ningún defecto, no constituye evidencia de corrección.</a:t>
            </a:r>
            <a:endParaRPr/>
          </a:p>
          <a:p>
            <a:pPr marL="171450" lvl="0" indent="-171450" algn="l" rtl="0">
              <a:spcBef>
                <a:spcPts val="0"/>
              </a:spcBef>
              <a:spcAft>
                <a:spcPts val="0"/>
              </a:spcAft>
              <a:buClr>
                <a:schemeClr val="dk1"/>
              </a:buClr>
              <a:buSzPts val="1200"/>
              <a:buFont typeface="Arial"/>
              <a:buChar char="•"/>
            </a:pPr>
            <a:r>
              <a:rPr lang="es-PE"/>
              <a:t>Un sitio web podría no tener defectos funcionales y aun fallar debido a problemas no-funcionales.</a:t>
            </a:r>
            <a:endParaRPr/>
          </a:p>
          <a:p>
            <a:pPr marL="0" lvl="0" indent="0" algn="l" rtl="0">
              <a:spcBef>
                <a:spcPts val="0"/>
              </a:spcBef>
              <a:spcAft>
                <a:spcPts val="0"/>
              </a:spcAft>
              <a:buNone/>
            </a:pPr>
            <a:endParaRPr/>
          </a:p>
        </p:txBody>
      </p:sp>
      <p:sp>
        <p:nvSpPr>
          <p:cNvPr id="347" name="Google Shape;347;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27</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27: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Char char="•"/>
            </a:pPr>
            <a:r>
              <a:rPr lang="es-PE"/>
              <a:t>Probar todo (combinaciones de entradas y pre-condiciones) es imposible, salvo en caso triviales.</a:t>
            </a:r>
            <a:endParaRPr/>
          </a:p>
          <a:p>
            <a:pPr marL="171450" lvl="0" indent="-95250" algn="l" rtl="0">
              <a:spcBef>
                <a:spcPts val="0"/>
              </a:spcBef>
              <a:spcAft>
                <a:spcPts val="0"/>
              </a:spcAft>
              <a:buClr>
                <a:schemeClr val="dk1"/>
              </a:buClr>
              <a:buSzPts val="1200"/>
              <a:buFont typeface="Arial"/>
              <a:buNone/>
            </a:pPr>
            <a:endParaRPr/>
          </a:p>
          <a:p>
            <a:pPr marL="171450" lvl="0" indent="-171450" algn="l" rtl="0">
              <a:spcBef>
                <a:spcPts val="0"/>
              </a:spcBef>
              <a:spcAft>
                <a:spcPts val="0"/>
              </a:spcAft>
              <a:buClr>
                <a:schemeClr val="dk1"/>
              </a:buClr>
              <a:buSzPts val="1200"/>
              <a:buFont typeface="Arial"/>
              <a:buChar char="•"/>
            </a:pPr>
            <a:r>
              <a:rPr lang="es-PE"/>
              <a:t>En lugar de pretender hacer pruebas exhaustivas, se deben realizar análisis de riesgos y prioridades para centralizar los esfuerzos de las pruebas.</a:t>
            </a:r>
            <a:endParaRPr/>
          </a:p>
          <a:p>
            <a:pPr marL="0" lvl="0" indent="0" algn="l" rtl="0">
              <a:spcBef>
                <a:spcPts val="0"/>
              </a:spcBef>
              <a:spcAft>
                <a:spcPts val="0"/>
              </a:spcAft>
              <a:buNone/>
            </a:pPr>
            <a:endParaRPr/>
          </a:p>
        </p:txBody>
      </p:sp>
      <p:sp>
        <p:nvSpPr>
          <p:cNvPr id="355" name="Google Shape;355;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28</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28: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1" name="Google Shape;361;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sz="1200" b="0" i="0">
                <a:solidFill>
                  <a:schemeClr val="dk1"/>
                </a:solidFill>
                <a:latin typeface="Calibri"/>
                <a:ea typeface="Calibri"/>
                <a:cs typeface="Calibri"/>
                <a:sym typeface="Calibri"/>
              </a:rPr>
              <a:t>Recordemos:</a:t>
            </a:r>
            <a:endParaRPr/>
          </a:p>
          <a:p>
            <a:pPr marL="0" lvl="0" indent="0" algn="l" rtl="0">
              <a:spcBef>
                <a:spcPts val="0"/>
              </a:spcBef>
              <a:spcAft>
                <a:spcPts val="0"/>
              </a:spcAft>
              <a:buNone/>
            </a:pPr>
            <a:r>
              <a:rPr lang="es-PE" sz="1200" b="0" i="0">
                <a:solidFill>
                  <a:schemeClr val="dk1"/>
                </a:solidFill>
                <a:latin typeface="Calibri"/>
                <a:ea typeface="Calibri"/>
                <a:cs typeface="Calibri"/>
                <a:sym typeface="Calibri"/>
              </a:rPr>
              <a:t>Probar todas las combinaciones de entradas y condiciones es imposible (salvo en casos triviales). En vez de intentar probar todo, debemos enfocar las pruebas en base a riesgos y prioridades.</a:t>
            </a:r>
            <a:endParaRPr/>
          </a:p>
          <a:p>
            <a:pPr marL="0" lvl="0" indent="0" algn="l" rtl="0">
              <a:spcBef>
                <a:spcPts val="0"/>
              </a:spcBef>
              <a:spcAft>
                <a:spcPts val="0"/>
              </a:spcAft>
              <a:buNone/>
            </a:pPr>
            <a:endParaRPr sz="1200" b="0" i="0">
              <a:solidFill>
                <a:schemeClr val="dk1"/>
              </a:solidFill>
              <a:latin typeface="Calibri"/>
              <a:ea typeface="Calibri"/>
              <a:cs typeface="Calibri"/>
              <a:sym typeface="Calibri"/>
            </a:endParaRPr>
          </a:p>
          <a:p>
            <a:pPr marL="171450" lvl="0" indent="-171450" algn="l" rtl="0">
              <a:spcBef>
                <a:spcPts val="0"/>
              </a:spcBef>
              <a:spcAft>
                <a:spcPts val="0"/>
              </a:spcAft>
              <a:buClr>
                <a:schemeClr val="dk1"/>
              </a:buClr>
              <a:buSzPts val="1200"/>
              <a:buFont typeface="Arial"/>
              <a:buChar char="•"/>
            </a:pPr>
            <a:r>
              <a:rPr lang="es-PE"/>
              <a:t>Probar todo (combinaciones de entradas y pre-condiciones) es imposible, salvo en caso triviales.</a:t>
            </a:r>
            <a:endParaRPr/>
          </a:p>
          <a:p>
            <a:pPr marL="171450" lvl="0" indent="-171450" algn="l" rtl="0">
              <a:spcBef>
                <a:spcPts val="0"/>
              </a:spcBef>
              <a:spcAft>
                <a:spcPts val="0"/>
              </a:spcAft>
              <a:buClr>
                <a:schemeClr val="dk1"/>
              </a:buClr>
              <a:buSzPts val="1200"/>
              <a:buFont typeface="Arial"/>
              <a:buChar char="•"/>
            </a:pPr>
            <a:r>
              <a:rPr lang="es-PE"/>
              <a:t>En lugar de pretender hacer pruebas exhaustivas, se deben realizar análisis de riesgos y prioridades para centralizar los esfuerzos de las pruebas.</a:t>
            </a:r>
            <a:endParaRPr/>
          </a:p>
          <a:p>
            <a:pPr marL="0" lvl="0" indent="0" algn="l" rtl="0">
              <a:spcBef>
                <a:spcPts val="0"/>
              </a:spcBef>
              <a:spcAft>
                <a:spcPts val="0"/>
              </a:spcAft>
              <a:buNone/>
            </a:pPr>
            <a:endParaRPr/>
          </a:p>
          <a:p>
            <a:pPr marL="0" lvl="0" indent="0" algn="l" rtl="0">
              <a:spcBef>
                <a:spcPts val="0"/>
              </a:spcBef>
              <a:spcAft>
                <a:spcPts val="0"/>
              </a:spcAft>
              <a:buNone/>
            </a:pPr>
            <a:r>
              <a:rPr lang="es-PE"/>
              <a:t>Campo 1</a:t>
            </a:r>
            <a:endParaRPr/>
          </a:p>
          <a:p>
            <a:pPr marL="0" lvl="0" indent="0" algn="l" rtl="0">
              <a:spcBef>
                <a:spcPts val="0"/>
              </a:spcBef>
              <a:spcAft>
                <a:spcPts val="0"/>
              </a:spcAft>
              <a:buNone/>
            </a:pPr>
            <a:endParaRPr/>
          </a:p>
        </p:txBody>
      </p:sp>
      <p:sp>
        <p:nvSpPr>
          <p:cNvPr id="362" name="Google Shape;362;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29</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29: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9" name="Google Shape;419;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sz="1200" b="0" i="0">
                <a:solidFill>
                  <a:schemeClr val="dk1"/>
                </a:solidFill>
                <a:latin typeface="Calibri"/>
                <a:ea typeface="Calibri"/>
                <a:cs typeface="Calibri"/>
                <a:sym typeface="Calibri"/>
              </a:rPr>
              <a:t>Las actividades de prueba deben comenzar tan pronto como sea posible en el software o el sistema. Las pruebas deben enfocarse en los objetivos definidos en el Test Plan.</a:t>
            </a:r>
            <a:endParaRPr/>
          </a:p>
          <a:p>
            <a:pPr marL="0" lvl="0" indent="0" algn="l" rtl="0">
              <a:spcBef>
                <a:spcPts val="0"/>
              </a:spcBef>
              <a:spcAft>
                <a:spcPts val="0"/>
              </a:spcAft>
              <a:buNone/>
            </a:pPr>
            <a:r>
              <a:rPr lang="es-PE" sz="1200" b="0" i="0">
                <a:solidFill>
                  <a:schemeClr val="dk1"/>
                </a:solidFill>
                <a:latin typeface="Calibri"/>
                <a:ea typeface="Calibri"/>
                <a:cs typeface="Calibri"/>
                <a:sym typeface="Calibri"/>
              </a:rPr>
              <a:t>El objetivo principal de las pruebas estáticas es llevar a cabo las pruebas tan pronto como sea posible, encontrar y corregir defectos de forma más barata y prevenir los defectos que aparezcan en etapas posteriores de este proyecto. Estas actividades nos ayudan a conocer al principio los defectos e identificar los posibles grupos. Recordemos que, a partir de la definición de las pruebas, las pruebas no se inician hasta que el código ha sido terminado.</a:t>
            </a:r>
            <a:endParaRPr/>
          </a:p>
          <a:p>
            <a:pPr marL="0" lvl="0" indent="0" algn="l" rtl="0">
              <a:spcBef>
                <a:spcPts val="0"/>
              </a:spcBef>
              <a:spcAft>
                <a:spcPts val="0"/>
              </a:spcAft>
              <a:buNone/>
            </a:pPr>
            <a:endParaRPr/>
          </a:p>
        </p:txBody>
      </p:sp>
      <p:sp>
        <p:nvSpPr>
          <p:cNvPr id="420" name="Google Shape;420;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30</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30: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7" name="Google Shape;427;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sz="1200" b="0" i="0">
                <a:solidFill>
                  <a:schemeClr val="dk1"/>
                </a:solidFill>
                <a:latin typeface="Calibri"/>
                <a:ea typeface="Calibri"/>
                <a:cs typeface="Calibri"/>
                <a:sym typeface="Calibri"/>
              </a:rPr>
              <a:t>Las actividades de prueba deben comenzar tan pronto como sea posible en el software o el sistema. Las pruebas deben enfocarse en los objetivos definidos en el Test Plan.</a:t>
            </a:r>
            <a:endParaRPr/>
          </a:p>
          <a:p>
            <a:pPr marL="0" lvl="0" indent="0" algn="l" rtl="0">
              <a:spcBef>
                <a:spcPts val="0"/>
              </a:spcBef>
              <a:spcAft>
                <a:spcPts val="0"/>
              </a:spcAft>
              <a:buNone/>
            </a:pPr>
            <a:r>
              <a:rPr lang="es-PE" sz="1200" b="0" i="0">
                <a:solidFill>
                  <a:schemeClr val="dk1"/>
                </a:solidFill>
                <a:latin typeface="Calibri"/>
                <a:ea typeface="Calibri"/>
                <a:cs typeface="Calibri"/>
                <a:sym typeface="Calibri"/>
              </a:rPr>
              <a:t>El objetivo principal de las pruebas estáticas es llevar a cabo las pruebas tan pronto como sea posible, encontrar y corregir defectos de forma más barata y prevenir los defectos que aparezcan en etapas posteriores de este proyecto. Estas actividades nos ayudan a conocer al principio los defectos e identificar los posibles grupos. Recordemos que, a partir de la definición de las pruebas, las pruebas no se inician hasta que el código ha sido terminado.</a:t>
            </a:r>
            <a:endParaRPr/>
          </a:p>
          <a:p>
            <a:pPr marL="0" lvl="0" indent="0" algn="l" rtl="0">
              <a:spcBef>
                <a:spcPts val="0"/>
              </a:spcBef>
              <a:spcAft>
                <a:spcPts val="0"/>
              </a:spcAft>
              <a:buNone/>
            </a:pPr>
            <a:endParaRPr sz="1200" b="0" i="0">
              <a:solidFill>
                <a:schemeClr val="dk1"/>
              </a:solidFill>
              <a:latin typeface="Calibri"/>
              <a:ea typeface="Calibri"/>
              <a:cs typeface="Calibri"/>
              <a:sym typeface="Calibri"/>
            </a:endParaRPr>
          </a:p>
          <a:p>
            <a:pPr marL="0" lvl="0" indent="0" algn="l" rtl="0">
              <a:spcBef>
                <a:spcPts val="0"/>
              </a:spcBef>
              <a:spcAft>
                <a:spcPts val="0"/>
              </a:spcAft>
              <a:buNone/>
            </a:pPr>
            <a:endParaRPr/>
          </a:p>
        </p:txBody>
      </p:sp>
      <p:sp>
        <p:nvSpPr>
          <p:cNvPr id="428" name="Google Shape;428;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31</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31: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0" name="Google Shape;440;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sz="1200" b="0" i="0">
                <a:solidFill>
                  <a:schemeClr val="dk1"/>
                </a:solidFill>
                <a:latin typeface="Calibri"/>
                <a:ea typeface="Calibri"/>
                <a:cs typeface="Calibri"/>
                <a:sym typeface="Calibri"/>
              </a:rPr>
              <a:t>Un pequeño número de módulos contienen la mayoría de los defectos detectados durante las pruebas de pre-lanzamiento. Un fenómeno que los testers han observado es que muchos defectos tienden a agruparse. Esto puede suceder debido a que un área del código es particularmente compleja y delicada, o porque el cambio de software y otros productos tiende a causar una reacción en cadena.</a:t>
            </a:r>
            <a:endParaRPr/>
          </a:p>
          <a:p>
            <a:pPr marL="0" lvl="0" indent="0" algn="l" rtl="0">
              <a:spcBef>
                <a:spcPts val="0"/>
              </a:spcBef>
              <a:spcAft>
                <a:spcPts val="0"/>
              </a:spcAft>
              <a:buNone/>
            </a:pPr>
            <a:r>
              <a:rPr lang="es-PE" sz="1200" b="0" i="0">
                <a:solidFill>
                  <a:schemeClr val="dk1"/>
                </a:solidFill>
                <a:latin typeface="Calibri"/>
                <a:ea typeface="Calibri"/>
                <a:cs typeface="Calibri"/>
                <a:sym typeface="Calibri"/>
              </a:rPr>
              <a:t>Igualmente, hay que tener en cuenta que este agrupamiento de defectos va cambiando en el tiempo, por eso es importante centrarse en los “puntos calientes”. Los testers  suelen utilizar esta información al hacer su evaluación de riesgos para la planificación de las pruebas, y se centrarán en los conocidos “puntos calientes”. Como el “hot spots” de los errores se limpia tenemos que posar nuestro enfoque en otros lugares.</a:t>
            </a:r>
            <a:endParaRPr/>
          </a:p>
          <a:p>
            <a:pPr marL="0" lvl="0" indent="0" algn="l" rtl="0">
              <a:spcBef>
                <a:spcPts val="0"/>
              </a:spcBef>
              <a:spcAft>
                <a:spcPts val="0"/>
              </a:spcAft>
              <a:buNone/>
            </a:pPr>
            <a:endParaRPr/>
          </a:p>
        </p:txBody>
      </p:sp>
      <p:sp>
        <p:nvSpPr>
          <p:cNvPr id="441" name="Google Shape;441;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32</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32: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7" name="Google Shape;447;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s-PE" sz="1200" b="0" i="0">
                <a:solidFill>
                  <a:schemeClr val="dk1"/>
                </a:solidFill>
                <a:latin typeface="Calibri"/>
                <a:ea typeface="Calibri"/>
                <a:cs typeface="Calibri"/>
                <a:sym typeface="Calibri"/>
              </a:rPr>
              <a:t>Si las pruebas se repiten una y otra vez, con el tiempo el mismo conjunto de casos de prueba ya no encuentran nuevos errores. Todas las técnicas de prueba se dirigen a un conjunto diferente de bugs. Si los programadores responden a las pruebas y la información de los errores mediante la reducción o eliminación de tales errores, se deduce que, como su software mejora, la eficacia de las pruebas anteriores se daña, es decir, las pruebas se desgastan y tendrán que aprender, crear y utilizar nuevas pruebas basadas en las nuevas técnicas para captar nuevos errores.</a:t>
            </a:r>
            <a:br>
              <a:rPr lang="es-PE"/>
            </a:br>
            <a:r>
              <a:rPr lang="es-PE" sz="1200" b="0" i="0">
                <a:solidFill>
                  <a:schemeClr val="dk1"/>
                </a:solidFill>
                <a:latin typeface="Calibri"/>
                <a:ea typeface="Calibri"/>
                <a:cs typeface="Calibri"/>
                <a:sym typeface="Calibri"/>
              </a:rPr>
              <a:t>Para superar esta “paradoja de plaguicidas”, los casos de prueba deben ser examinadas y revisadas periódicamente. Se llama la “paradoja de plaguicidas”, después de que el fenómeno de la agricultura, donde los insectos como el picudo del algodón construye la tolerancia a los pesticidas, provocando la elección de pesticidas cada vez más potentes seguido de insectos cada vez más potentes.</a:t>
            </a:r>
            <a:br>
              <a:rPr lang="es-PE"/>
            </a:br>
            <a:r>
              <a:rPr lang="es-PE" sz="1200" b="0" i="0">
                <a:solidFill>
                  <a:schemeClr val="dk1"/>
                </a:solidFill>
                <a:latin typeface="Calibri"/>
                <a:ea typeface="Calibri"/>
                <a:cs typeface="Calibri"/>
                <a:sym typeface="Calibri"/>
              </a:rPr>
              <a:t>Pruebas nuevas y diferentes deben ser escritas para ejercitar las distintas partes del software o el sistema para encontrar potencialmente más defectos. Como el “hot spots” de los errores se va limpiando, tenemos que posar nuestro enfoque en otros lugares, a la siguiente serie de riesgos. Con el tiempo, nuestro enfoque puede cambiar de encontrar errores de codificación, a mirar los requisitos y documentos de diseño, y en busca de mejoras en los procesos para que podamos prevenir los defectos en el producto.</a:t>
            </a:r>
            <a:endParaRPr/>
          </a:p>
          <a:p>
            <a:pPr marL="0" lvl="0" indent="0" algn="l" rtl="0">
              <a:spcBef>
                <a:spcPts val="0"/>
              </a:spcBef>
              <a:spcAft>
                <a:spcPts val="0"/>
              </a:spcAft>
              <a:buNone/>
            </a:pPr>
            <a:endParaRPr/>
          </a:p>
        </p:txBody>
      </p:sp>
      <p:sp>
        <p:nvSpPr>
          <p:cNvPr id="448" name="Google Shape;448;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33</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33: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4" name="Google Shape;454;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sz="1200" b="0" i="0">
                <a:solidFill>
                  <a:schemeClr val="dk1"/>
                </a:solidFill>
                <a:latin typeface="Calibri"/>
                <a:ea typeface="Calibri"/>
                <a:cs typeface="Calibri"/>
                <a:sym typeface="Calibri"/>
              </a:rPr>
              <a:t>Las pruebas se realizan de manera diferente en diferentes contextos. Por ejemplo, la seguridad del software será testeada de forma diferente en un sitio de comercio electrónico que uno donde se comparten fotografías.</a:t>
            </a:r>
            <a:br>
              <a:rPr lang="es-PE" sz="1200" b="0" i="0">
                <a:solidFill>
                  <a:schemeClr val="dk1"/>
                </a:solidFill>
                <a:latin typeface="Calibri"/>
                <a:ea typeface="Calibri"/>
                <a:cs typeface="Calibri"/>
                <a:sym typeface="Calibri"/>
              </a:rPr>
            </a:br>
            <a:r>
              <a:rPr lang="es-PE" sz="1200" b="0" i="0">
                <a:solidFill>
                  <a:schemeClr val="dk1"/>
                </a:solidFill>
                <a:latin typeface="Calibri"/>
                <a:ea typeface="Calibri"/>
                <a:cs typeface="Calibri"/>
                <a:sym typeface="Calibri"/>
              </a:rPr>
              <a:t>No todos los sistemas de software llevan el mismo nivel de riesgo y no todos los problemas tienen el mismo impacto cuando se producen. Algunos de los problemas que encontramos en el uso de software son bastante triviales, pero otros pueden ser costosos y perjudiciales –provocando pérdida de reputación, de dinero, tiempo o de negocios– e incluso puede resultar en lesiones o la muerte.</a:t>
            </a:r>
            <a:endParaRPr/>
          </a:p>
          <a:p>
            <a:pPr marL="0" lvl="0" indent="0" algn="l" rtl="0">
              <a:spcBef>
                <a:spcPts val="0"/>
              </a:spcBef>
              <a:spcAft>
                <a:spcPts val="0"/>
              </a:spcAft>
              <a:buNone/>
            </a:pPr>
            <a:r>
              <a:rPr lang="es-PE" sz="1200" b="0" i="0">
                <a:solidFill>
                  <a:schemeClr val="dk1"/>
                </a:solidFill>
                <a:latin typeface="Calibri"/>
                <a:ea typeface="Calibri"/>
                <a:cs typeface="Calibri"/>
                <a:sym typeface="Calibri"/>
              </a:rPr>
              <a:t>A continuación, se detallan algunos ejemplos de fallos de media por KLOC que confirman que las pruebas son dependientes del contexto:</a:t>
            </a:r>
            <a:endParaRPr/>
          </a:p>
          <a:p>
            <a:pPr marL="171450" lvl="0" indent="-171450" algn="l" rtl="0">
              <a:spcBef>
                <a:spcPts val="0"/>
              </a:spcBef>
              <a:spcAft>
                <a:spcPts val="0"/>
              </a:spcAft>
              <a:buClr>
                <a:schemeClr val="dk1"/>
              </a:buClr>
              <a:buSzPts val="1200"/>
              <a:buFont typeface="Arial"/>
              <a:buChar char="•"/>
            </a:pPr>
            <a:r>
              <a:rPr lang="es-PE" sz="1200" b="0" i="0">
                <a:solidFill>
                  <a:schemeClr val="dk1"/>
                </a:solidFill>
                <a:latin typeface="Calibri"/>
                <a:ea typeface="Calibri"/>
                <a:cs typeface="Calibri"/>
                <a:sym typeface="Calibri"/>
              </a:rPr>
              <a:t>3 a 10 fallas por cada mil líneas de código (KLOC) típico de software comercial</a:t>
            </a:r>
            <a:endParaRPr/>
          </a:p>
          <a:p>
            <a:pPr marL="171450" lvl="0" indent="-171450" algn="l" rtl="0">
              <a:spcBef>
                <a:spcPts val="0"/>
              </a:spcBef>
              <a:spcAft>
                <a:spcPts val="0"/>
              </a:spcAft>
              <a:buClr>
                <a:schemeClr val="dk1"/>
              </a:buClr>
              <a:buSzPts val="1200"/>
              <a:buFont typeface="Arial"/>
              <a:buChar char="•"/>
            </a:pPr>
            <a:r>
              <a:rPr lang="es-PE" sz="1200" b="0" i="0">
                <a:solidFill>
                  <a:schemeClr val="dk1"/>
                </a:solidFill>
                <a:latin typeface="Calibri"/>
                <a:ea typeface="Calibri"/>
                <a:cs typeface="Calibri"/>
                <a:sym typeface="Calibri"/>
              </a:rPr>
              <a:t>1 a 3 fallos por KLOC típico de software industrial</a:t>
            </a:r>
            <a:endParaRPr/>
          </a:p>
          <a:p>
            <a:pPr marL="171450" lvl="0" indent="-171450" algn="l" rtl="0">
              <a:spcBef>
                <a:spcPts val="0"/>
              </a:spcBef>
              <a:spcAft>
                <a:spcPts val="0"/>
              </a:spcAft>
              <a:buClr>
                <a:schemeClr val="dk1"/>
              </a:buClr>
              <a:buSzPts val="1200"/>
              <a:buFont typeface="Arial"/>
              <a:buChar char="•"/>
            </a:pPr>
            <a:r>
              <a:rPr lang="es-PE" sz="1200" b="0" i="0">
                <a:solidFill>
                  <a:schemeClr val="dk1"/>
                </a:solidFill>
                <a:latin typeface="Calibri"/>
                <a:ea typeface="Calibri"/>
                <a:cs typeface="Calibri"/>
                <a:sym typeface="Calibri"/>
              </a:rPr>
              <a:t>0,01 fallos por KLOC para el código de lanzamiento de la NASA</a:t>
            </a:r>
            <a:endParaRPr/>
          </a:p>
          <a:p>
            <a:pPr marL="0" lvl="0" indent="0" algn="l" rtl="0">
              <a:spcBef>
                <a:spcPts val="0"/>
              </a:spcBef>
              <a:spcAft>
                <a:spcPts val="0"/>
              </a:spcAft>
              <a:buNone/>
            </a:pPr>
            <a:endParaRPr/>
          </a:p>
        </p:txBody>
      </p:sp>
      <p:sp>
        <p:nvSpPr>
          <p:cNvPr id="455" name="Google Shape;455;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34</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3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1" name="Google Shape;461;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sz="1200" b="0" i="0">
                <a:solidFill>
                  <a:schemeClr val="dk1"/>
                </a:solidFill>
                <a:latin typeface="Calibri"/>
                <a:ea typeface="Calibri"/>
                <a:cs typeface="Calibri"/>
                <a:sym typeface="Calibri"/>
              </a:rPr>
              <a:t>Si construimos un sistema y, al hacerlo, encontramos y corregimos defectos, no quiere decir que se convierte en un buen sistema. Encontrar y corregir defectos no sirve de nada si el sistema integrado no se puede utilizar y no satisfacer las necesidades de los usuarios y sus expectativas. Las personas y organizaciones que compran y utilizan software como ayuda en su día a día no están interesadas ​​en los defectos o el número de defectos, salvo que sean directamente afectados por la inestabilidad del software. La gente que usa software está más interesada ​​en que la aplicación los apoye en la realización de sus tareas de manera eficiente y eficaz. Por eso, revisiones en las primeras etapas (requisitos y diseño) son una parte importante de las pruebas y si los verdaderos usuarios del sistema no han estado involucrados en el proceso de prueba en algún momento, entonces es probable que no obtengan lo que realmente quieren; por ejemplo, las páginas web puede parecer libre de errores, pero si han sido diseñados de una manera que no es compatible con los procesos de negocio del sistema no se podrán utilizar.</a:t>
            </a:r>
            <a:endParaRPr/>
          </a:p>
          <a:p>
            <a:pPr marL="0" lvl="0" indent="0" algn="l" rtl="0">
              <a:spcBef>
                <a:spcPts val="0"/>
              </a:spcBef>
              <a:spcAft>
                <a:spcPts val="0"/>
              </a:spcAft>
              <a:buNone/>
            </a:pPr>
            <a:endParaRPr/>
          </a:p>
        </p:txBody>
      </p:sp>
      <p:sp>
        <p:nvSpPr>
          <p:cNvPr id="462" name="Google Shape;462;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35</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8" name="Google Shape;468;p35: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36: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5" name="Google Shape;495;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6" name="Google Shape;496;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Diapositiva de título">
  <p:cSld name="1_Diapositiva de título">
    <p:spTree>
      <p:nvGrpSpPr>
        <p:cNvPr id="1"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ubtema - Video">
  <p:cSld name="Subtema - Video">
    <p:spTree>
      <p:nvGrpSpPr>
        <p:cNvPr id="1" name="Shape 17"/>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ubtema - 1 Imagen Centrada">
  <p:cSld name="Subtema - 1 Imagen Centrada">
    <p:spTree>
      <p:nvGrpSpPr>
        <p:cNvPr id="1" name="Shape 18"/>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ubtema - 1 Imagen A">
  <p:cSld name="Subtema - 1 Imagen A">
    <p:spTree>
      <p:nvGrpSpPr>
        <p:cNvPr id="1" name="Shape 1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6" name="Rectangle 3">
            <a:extLst>
              <a:ext uri="{FF2B5EF4-FFF2-40B4-BE49-F238E27FC236}">
                <a16:creationId xmlns:a16="http://schemas.microsoft.com/office/drawing/2014/main" id="{05245670-3FA4-BB49-A94F-9938FF9641B8}"/>
              </a:ext>
            </a:extLst>
          </p:cNvPr>
          <p:cNvSpPr/>
          <p:nvPr userDrawn="1"/>
        </p:nvSpPr>
        <p:spPr>
          <a:xfrm>
            <a:off x="7204422" y="5371562"/>
            <a:ext cx="1544012" cy="184666"/>
          </a:xfrm>
          <a:prstGeom prst="rect">
            <a:avLst/>
          </a:prstGeom>
        </p:spPr>
        <p:txBody>
          <a:bodyPr wrap="none">
            <a:spAutoFit/>
          </a:bodyPr>
          <a:lstStyle/>
          <a:p>
            <a:pPr algn="r"/>
            <a:r>
              <a:rPr lang="es-ES_tradnl" sz="600" dirty="0">
                <a:solidFill>
                  <a:schemeClr val="bg1">
                    <a:lumMod val="50000"/>
                  </a:schemeClr>
                </a:solidFill>
              </a:rPr>
              <a:t>© ISIL. Todos los derechos reservados</a:t>
            </a:r>
          </a:p>
        </p:txBody>
      </p:sp>
      <p:sp>
        <p:nvSpPr>
          <p:cNvPr id="7" name="TextBox 7">
            <a:extLst>
              <a:ext uri="{FF2B5EF4-FFF2-40B4-BE49-F238E27FC236}">
                <a16:creationId xmlns:a16="http://schemas.microsoft.com/office/drawing/2014/main" id="{088BC676-EDE6-7A43-87FA-1BE4B119DBA3}"/>
              </a:ext>
            </a:extLst>
          </p:cNvPr>
          <p:cNvSpPr txBox="1"/>
          <p:nvPr userDrawn="1"/>
        </p:nvSpPr>
        <p:spPr>
          <a:xfrm>
            <a:off x="876300" y="5343295"/>
            <a:ext cx="2164375" cy="215444"/>
          </a:xfrm>
          <a:prstGeom prst="rect">
            <a:avLst/>
          </a:prstGeom>
          <a:noFill/>
        </p:spPr>
        <p:txBody>
          <a:bodyPr wrap="none" rtlCol="0">
            <a:spAutoFit/>
          </a:bodyPr>
          <a:lstStyle/>
          <a:p>
            <a:r>
              <a:rPr lang="en-US" sz="800" kern="1200" baseline="0" dirty="0">
                <a:solidFill>
                  <a:schemeClr val="bg1">
                    <a:lumMod val="50000"/>
                  </a:schemeClr>
                </a:solidFill>
                <a:latin typeface="Calibri"/>
                <a:ea typeface="+mn-ea"/>
                <a:cs typeface="Calibri"/>
                <a:sym typeface="Wingdings"/>
              </a:rPr>
              <a:t>CALIDAD Y PRUEBAS DE SOFTWARE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TEMA 01</a:t>
            </a:r>
            <a:endParaRPr lang="en-US" sz="800" dirty="0">
              <a:solidFill>
                <a:schemeClr val="bg1">
                  <a:lumMod val="50000"/>
                </a:schemeClr>
              </a:solidFill>
              <a:latin typeface="Calibri"/>
              <a:cs typeface="Calibri"/>
            </a:endParaRPr>
          </a:p>
        </p:txBody>
      </p:sp>
      <p:pic>
        <p:nvPicPr>
          <p:cNvPr id="8" name="Imagen 7">
            <a:extLst>
              <a:ext uri="{FF2B5EF4-FFF2-40B4-BE49-F238E27FC236}">
                <a16:creationId xmlns:a16="http://schemas.microsoft.com/office/drawing/2014/main" id="{97766711-39B5-AA46-B421-761154E6CFE1}"/>
              </a:ext>
            </a:extLst>
          </p:cNvPr>
          <p:cNvPicPr>
            <a:picLocks noChangeAspect="1"/>
          </p:cNvPicPr>
          <p:nvPr userDrawn="1"/>
        </p:nvPicPr>
        <p:blipFill>
          <a:blip r:embed="rId8" cstate="screen">
            <a:alphaModFix amt="20000"/>
            <a:extLst>
              <a:ext uri="{28A0092B-C50C-407E-A947-70E740481C1C}">
                <a14:useLocalDpi xmlns:a14="http://schemas.microsoft.com/office/drawing/2010/main"/>
              </a:ext>
            </a:extLst>
          </a:blip>
          <a:stretch>
            <a:fillRect/>
          </a:stretch>
        </p:blipFill>
        <p:spPr>
          <a:xfrm>
            <a:off x="506316" y="5349405"/>
            <a:ext cx="369984" cy="206823"/>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880" userDrawn="1">
          <p15:clr>
            <a:srgbClr val="F26B43"/>
          </p15:clr>
        </p15:guide>
        <p15:guide id="2" orient="horz" pos="1800" userDrawn="1">
          <p15:clr>
            <a:srgbClr val="F26B43"/>
          </p15:clr>
        </p15:guide>
        <p15:guide id="3" pos="2767" userDrawn="1">
          <p15:clr>
            <a:srgbClr val="F26B43"/>
          </p15:clr>
        </p15:guide>
        <p15:guide id="4" pos="2993" userDrawn="1">
          <p15:clr>
            <a:srgbClr val="F26B43"/>
          </p15:clr>
        </p15:guide>
        <p15:guide id="5" pos="5465" userDrawn="1">
          <p15:clr>
            <a:srgbClr val="F26B43"/>
          </p15:clr>
        </p15:guide>
        <p15:guide id="6" pos="295" userDrawn="1">
          <p15:clr>
            <a:srgbClr val="F26B43"/>
          </p15:clr>
        </p15:guide>
        <p15:guide id="7" pos="431" userDrawn="1">
          <p15:clr>
            <a:srgbClr val="F26B43"/>
          </p15:clr>
        </p15:guide>
        <p15:guide id="8" orient="horz" pos="303" userDrawn="1">
          <p15:clr>
            <a:srgbClr val="F26B43"/>
          </p15:clr>
        </p15:guide>
        <p15:guide id="9" orient="horz" pos="575" userDrawn="1">
          <p15:clr>
            <a:srgbClr val="F26B43"/>
          </p15:clr>
        </p15:guide>
        <p15:guide id="10" orient="horz" pos="3297"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emf"/></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1.emf"/><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11.emf"/><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8" Type="http://schemas.openxmlformats.org/officeDocument/2006/relationships/package" Target="../embeddings/Microsoft_Excel_Worksheet1.xlsx"/><Relationship Id="rId13" Type="http://schemas.openxmlformats.org/officeDocument/2006/relationships/image" Target="../media/image17.emf"/><Relationship Id="rId3" Type="http://schemas.openxmlformats.org/officeDocument/2006/relationships/notesSlide" Target="../notesSlides/notesSlide11.xml"/><Relationship Id="rId7" Type="http://schemas.openxmlformats.org/officeDocument/2006/relationships/image" Target="../media/image14.emf"/><Relationship Id="rId12" Type="http://schemas.openxmlformats.org/officeDocument/2006/relationships/package" Target="../embeddings/Microsoft_Excel_Worksheet3.xlsx"/><Relationship Id="rId2" Type="http://schemas.openxmlformats.org/officeDocument/2006/relationships/slideLayout" Target="../slideLayouts/slideLayout5.xml"/><Relationship Id="rId1" Type="http://schemas.openxmlformats.org/officeDocument/2006/relationships/vmlDrawing" Target="../drawings/vmlDrawing1.vml"/><Relationship Id="rId6" Type="http://schemas.openxmlformats.org/officeDocument/2006/relationships/package" Target="../embeddings/Microsoft_Excel_Worksheet.xlsx"/><Relationship Id="rId11" Type="http://schemas.openxmlformats.org/officeDocument/2006/relationships/image" Target="../media/image16.emf"/><Relationship Id="rId5" Type="http://schemas.openxmlformats.org/officeDocument/2006/relationships/image" Target="../media/image18.png"/><Relationship Id="rId10" Type="http://schemas.openxmlformats.org/officeDocument/2006/relationships/package" Target="../embeddings/Microsoft_Excel_Worksheet2.xlsx"/><Relationship Id="rId4" Type="http://schemas.openxmlformats.org/officeDocument/2006/relationships/image" Target="../media/image13.jpg"/><Relationship Id="rId9" Type="http://schemas.openxmlformats.org/officeDocument/2006/relationships/image" Target="../media/image15.emf"/><Relationship Id="rId14" Type="http://schemas.openxmlformats.org/officeDocument/2006/relationships/image" Target="../media/image19.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g"/><Relationship Id="rId7"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5.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0.xml"/><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39.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9" name="Rectángulo 8">
            <a:extLst>
              <a:ext uri="{FF2B5EF4-FFF2-40B4-BE49-F238E27FC236}">
                <a16:creationId xmlns:a16="http://schemas.microsoft.com/office/drawing/2014/main" id="{7458E1D8-BA13-3741-A5ED-194A53E78514}"/>
              </a:ext>
            </a:extLst>
          </p:cNvPr>
          <p:cNvSpPr/>
          <p:nvPr/>
        </p:nvSpPr>
        <p:spPr>
          <a:xfrm>
            <a:off x="182879" y="5120640"/>
            <a:ext cx="4304965" cy="46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1" name="CuadroTexto 10">
            <a:extLst>
              <a:ext uri="{FF2B5EF4-FFF2-40B4-BE49-F238E27FC236}">
                <a16:creationId xmlns:a16="http://schemas.microsoft.com/office/drawing/2014/main" id="{83AD90C5-5B6A-274F-BF11-FD1218E5A79F}"/>
              </a:ext>
            </a:extLst>
          </p:cNvPr>
          <p:cNvSpPr txBox="1"/>
          <p:nvPr/>
        </p:nvSpPr>
        <p:spPr>
          <a:xfrm>
            <a:off x="503238" y="808689"/>
            <a:ext cx="3104743" cy="138499"/>
          </a:xfrm>
          <a:prstGeom prst="rect">
            <a:avLst/>
          </a:prstGeom>
          <a:noFill/>
        </p:spPr>
        <p:txBody>
          <a:bodyPr wrap="square" lIns="0" tIns="0" rIns="0" bIns="0" rtlCol="0">
            <a:spAutoFit/>
          </a:bodyPr>
          <a:lstStyle/>
          <a:p>
            <a:r>
              <a:rPr lang="es-ES_tradnl" sz="900" b="1" dirty="0">
                <a:solidFill>
                  <a:srgbClr val="6C6D6C"/>
                </a:solidFill>
                <a:latin typeface="Calibri" charset="0"/>
                <a:cs typeface="Calibri" charset="0"/>
              </a:rPr>
              <a:t>CALIDAD Y PRUEBAS DE SOFTWARE</a:t>
            </a:r>
          </a:p>
        </p:txBody>
      </p:sp>
      <p:sp>
        <p:nvSpPr>
          <p:cNvPr id="23" name="Rectángulo 22">
            <a:extLst>
              <a:ext uri="{FF2B5EF4-FFF2-40B4-BE49-F238E27FC236}">
                <a16:creationId xmlns:a16="http://schemas.microsoft.com/office/drawing/2014/main" id="{F7E4554A-6CAF-6843-B9F9-5A994D4297F8}"/>
              </a:ext>
            </a:extLst>
          </p:cNvPr>
          <p:cNvSpPr/>
          <p:nvPr/>
        </p:nvSpPr>
        <p:spPr>
          <a:xfrm>
            <a:off x="503239" y="2177570"/>
            <a:ext cx="3056852" cy="886397"/>
          </a:xfrm>
          <a:prstGeom prst="rect">
            <a:avLst/>
          </a:prstGeom>
        </p:spPr>
        <p:txBody>
          <a:bodyPr wrap="square" lIns="0" tIns="0" rIns="0" bIns="0">
            <a:spAutoFit/>
          </a:bodyPr>
          <a:lstStyle/>
          <a:p>
            <a:pPr>
              <a:lnSpc>
                <a:spcPct val="90000"/>
              </a:lnSpc>
            </a:pPr>
            <a:r>
              <a:rPr lang="es-PE" sz="3200" dirty="0">
                <a:latin typeface="Graphik-Medium" charset="0"/>
                <a:ea typeface="Graphik-Medium" charset="0"/>
                <a:cs typeface="Graphik-Medium" charset="0"/>
              </a:rPr>
              <a:t>CALIDAD Y </a:t>
            </a:r>
            <a:r>
              <a:rPr lang="es-PE" sz="3200" b="1" dirty="0">
                <a:latin typeface="Graphik Bold" charset="0"/>
                <a:ea typeface="Graphik Bold" charset="0"/>
                <a:cs typeface="Graphik Bold" charset="0"/>
              </a:rPr>
              <a:t>SOFTWARE</a:t>
            </a:r>
          </a:p>
        </p:txBody>
      </p:sp>
      <p:sp>
        <p:nvSpPr>
          <p:cNvPr id="24" name="Rectángulo 23">
            <a:extLst>
              <a:ext uri="{FF2B5EF4-FFF2-40B4-BE49-F238E27FC236}">
                <a16:creationId xmlns:a16="http://schemas.microsoft.com/office/drawing/2014/main" id="{65F1FB93-1ED0-C74E-A6C6-E7335AD214A5}"/>
              </a:ext>
            </a:extLst>
          </p:cNvPr>
          <p:cNvSpPr/>
          <p:nvPr/>
        </p:nvSpPr>
        <p:spPr>
          <a:xfrm>
            <a:off x="503238" y="3219842"/>
            <a:ext cx="2845526" cy="420884"/>
          </a:xfrm>
          <a:prstGeom prst="rect">
            <a:avLst/>
          </a:prstGeom>
        </p:spPr>
        <p:txBody>
          <a:bodyPr wrap="square" lIns="0" tIns="0" rIns="0" bIns="0">
            <a:spAutoFit/>
          </a:bodyPr>
          <a:lstStyle/>
          <a:p>
            <a:pPr marL="177800" lvl="0" indent="-177800">
              <a:lnSpc>
                <a:spcPct val="120000"/>
              </a:lnSpc>
              <a:buClr>
                <a:srgbClr val="4E697E"/>
              </a:buClr>
              <a:buSzPct val="100000"/>
              <a:buFont typeface="Arial"/>
              <a:buChar char="•"/>
            </a:pPr>
            <a:r>
              <a:rPr lang="es-PE" sz="1200" dirty="0">
                <a:latin typeface="Graphik-Medium" charset="0"/>
                <a:sym typeface="Calibri"/>
              </a:rPr>
              <a:t>Conceptos y Definiciones Básicas</a:t>
            </a:r>
            <a:endParaRPr lang="es-PE" sz="1200" dirty="0">
              <a:latin typeface="Graphik-Medium" charset="0"/>
            </a:endParaRPr>
          </a:p>
          <a:p>
            <a:pPr marL="177800" lvl="0" indent="-177800">
              <a:lnSpc>
                <a:spcPct val="120000"/>
              </a:lnSpc>
              <a:buClr>
                <a:srgbClr val="4E697E"/>
              </a:buClr>
              <a:buSzPct val="100000"/>
              <a:buFont typeface="Arial"/>
              <a:buChar char="•"/>
            </a:pPr>
            <a:r>
              <a:rPr lang="es-PE" sz="1200" dirty="0">
                <a:latin typeface="Graphik-Medium" charset="0"/>
                <a:sym typeface="Calibri"/>
              </a:rPr>
              <a:t>Principios generales de las pruebas</a:t>
            </a:r>
            <a:endParaRPr lang="es-PE" sz="1200" dirty="0">
              <a:latin typeface="Graphik-Medium" charset="0"/>
              <a:ea typeface="Graphik-Medium" charset="0"/>
              <a:cs typeface="Graphik-Medium" charset="0"/>
              <a:sym typeface="Calibri"/>
            </a:endParaRPr>
          </a:p>
        </p:txBody>
      </p:sp>
      <p:sp>
        <p:nvSpPr>
          <p:cNvPr id="25" name="CuadroTexto 24">
            <a:extLst>
              <a:ext uri="{FF2B5EF4-FFF2-40B4-BE49-F238E27FC236}">
                <a16:creationId xmlns:a16="http://schemas.microsoft.com/office/drawing/2014/main" id="{76A983B6-40D1-5648-88E1-3ECEF5E54482}"/>
              </a:ext>
            </a:extLst>
          </p:cNvPr>
          <p:cNvSpPr txBox="1"/>
          <p:nvPr/>
        </p:nvSpPr>
        <p:spPr>
          <a:xfrm>
            <a:off x="743902" y="1819386"/>
            <a:ext cx="1457648" cy="307777"/>
          </a:xfrm>
          <a:prstGeom prst="rect">
            <a:avLst/>
          </a:prstGeom>
          <a:noFill/>
        </p:spPr>
        <p:txBody>
          <a:bodyPr wrap="square" lIns="0" tIns="0" rIns="0" bIns="0" rtlCol="0">
            <a:spAutoFit/>
          </a:bodyPr>
          <a:lstStyle/>
          <a:p>
            <a:r>
              <a:rPr lang="es-ES_tradnl" sz="2000" b="1" dirty="0">
                <a:solidFill>
                  <a:srgbClr val="4E697E"/>
                </a:solidFill>
                <a:latin typeface="Calibri" charset="0"/>
                <a:ea typeface="Calibri" charset="0"/>
                <a:cs typeface="Calibri" charset="0"/>
              </a:rPr>
              <a:t>TEMA 01</a:t>
            </a:r>
          </a:p>
        </p:txBody>
      </p:sp>
      <p:pic>
        <p:nvPicPr>
          <p:cNvPr id="27" name="Imagen 26">
            <a:extLst>
              <a:ext uri="{FF2B5EF4-FFF2-40B4-BE49-F238E27FC236}">
                <a16:creationId xmlns:a16="http://schemas.microsoft.com/office/drawing/2014/main" id="{4796EE45-6536-E34C-8CC5-6B6BA737B40C}"/>
              </a:ext>
            </a:extLst>
          </p:cNvPr>
          <p:cNvPicPr>
            <a:picLocks noChangeAspect="1"/>
          </p:cNvPicPr>
          <p:nvPr/>
        </p:nvPicPr>
        <p:blipFill>
          <a:blip r:embed="rId3"/>
          <a:stretch>
            <a:fillRect/>
          </a:stretch>
        </p:blipFill>
        <p:spPr>
          <a:xfrm>
            <a:off x="507464" y="1883411"/>
            <a:ext cx="166865" cy="170453"/>
          </a:xfrm>
          <a:prstGeom prst="rect">
            <a:avLst/>
          </a:prstGeom>
        </p:spPr>
      </p:pic>
      <p:pic>
        <p:nvPicPr>
          <p:cNvPr id="3" name="Imagen 2">
            <a:extLst>
              <a:ext uri="{FF2B5EF4-FFF2-40B4-BE49-F238E27FC236}">
                <a16:creationId xmlns:a16="http://schemas.microsoft.com/office/drawing/2014/main" id="{A73DD81A-2C3C-444C-B60B-5B8FA09752AD}"/>
              </a:ext>
            </a:extLst>
          </p:cNvPr>
          <p:cNvPicPr>
            <a:picLocks noChangeAspect="1"/>
          </p:cNvPicPr>
          <p:nvPr/>
        </p:nvPicPr>
        <p:blipFill>
          <a:blip r:embed="rId4"/>
          <a:stretch>
            <a:fillRect/>
          </a:stretch>
        </p:blipFill>
        <p:spPr>
          <a:xfrm>
            <a:off x="3752850" y="0"/>
            <a:ext cx="5391150" cy="5715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7610D47-61CF-CD4C-A594-276C6E032902}"/>
              </a:ext>
            </a:extLst>
          </p:cNvPr>
          <p:cNvSpPr/>
          <p:nvPr/>
        </p:nvSpPr>
        <p:spPr>
          <a:xfrm>
            <a:off x="0" y="1"/>
            <a:ext cx="9144000" cy="5715000"/>
          </a:xfrm>
          <a:prstGeom prst="rect">
            <a:avLst/>
          </a:prstGeom>
          <a:solidFill>
            <a:srgbClr val="ED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3" name="Imagen 2">
            <a:extLst>
              <a:ext uri="{FF2B5EF4-FFF2-40B4-BE49-F238E27FC236}">
                <a16:creationId xmlns:a16="http://schemas.microsoft.com/office/drawing/2014/main" id="{4766FB32-F9D9-3941-B324-17005F4AE9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946969"/>
            <a:ext cx="2072213" cy="3898064"/>
          </a:xfrm>
          <a:prstGeom prst="rect">
            <a:avLst/>
          </a:prstGeom>
        </p:spPr>
      </p:pic>
      <p:sp>
        <p:nvSpPr>
          <p:cNvPr id="4" name="Rectángulo 3">
            <a:extLst>
              <a:ext uri="{FF2B5EF4-FFF2-40B4-BE49-F238E27FC236}">
                <a16:creationId xmlns:a16="http://schemas.microsoft.com/office/drawing/2014/main" id="{E86ECD0A-BC11-1B49-9BBC-995EBAADF509}"/>
              </a:ext>
            </a:extLst>
          </p:cNvPr>
          <p:cNvSpPr/>
          <p:nvPr/>
        </p:nvSpPr>
        <p:spPr>
          <a:xfrm>
            <a:off x="149817" y="3724759"/>
            <a:ext cx="1037633" cy="1069383"/>
          </a:xfrm>
          <a:prstGeom prst="rect">
            <a:avLst/>
          </a:prstGeom>
          <a:solidFill>
            <a:srgbClr val="ED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5" name="CuadroTexto 4">
            <a:extLst>
              <a:ext uri="{FF2B5EF4-FFF2-40B4-BE49-F238E27FC236}">
                <a16:creationId xmlns:a16="http://schemas.microsoft.com/office/drawing/2014/main" id="{109F6AF6-5C8B-634E-A819-350D4361AE15}"/>
              </a:ext>
            </a:extLst>
          </p:cNvPr>
          <p:cNvSpPr txBox="1"/>
          <p:nvPr/>
        </p:nvSpPr>
        <p:spPr>
          <a:xfrm>
            <a:off x="2519363" y="2540738"/>
            <a:ext cx="4581728" cy="812530"/>
          </a:xfrm>
          <a:prstGeom prst="rect">
            <a:avLst/>
          </a:prstGeom>
          <a:noFill/>
        </p:spPr>
        <p:txBody>
          <a:bodyPr wrap="square" lIns="0" tIns="0" rIns="0" bIns="0" rtlCol="0">
            <a:spAutoFit/>
          </a:bodyPr>
          <a:lstStyle/>
          <a:p>
            <a:pPr>
              <a:lnSpc>
                <a:spcPct val="80000"/>
              </a:lnSpc>
            </a:pPr>
            <a:r>
              <a:rPr lang="es-ES_tradnl" sz="3300" dirty="0">
                <a:solidFill>
                  <a:schemeClr val="bg1"/>
                </a:solidFill>
                <a:latin typeface="Graphik Regular" charset="0"/>
                <a:ea typeface="Graphik Regular" charset="0"/>
                <a:cs typeface="Graphik Regular" charset="0"/>
              </a:rPr>
              <a:t>INTRODUCCIÓN</a:t>
            </a:r>
          </a:p>
          <a:p>
            <a:pPr>
              <a:lnSpc>
                <a:spcPct val="80000"/>
              </a:lnSpc>
            </a:pPr>
            <a:r>
              <a:rPr lang="es-ES_tradnl" sz="3300" b="1" dirty="0">
                <a:solidFill>
                  <a:schemeClr val="bg1"/>
                </a:solidFill>
                <a:latin typeface="Graphik Bold" charset="0"/>
                <a:ea typeface="Graphik Bold" charset="0"/>
                <a:cs typeface="Graphik Bold" charset="0"/>
              </a:rPr>
              <a:t>DE LA SESIÓN</a:t>
            </a:r>
          </a:p>
        </p:txBody>
      </p:sp>
      <p:pic>
        <p:nvPicPr>
          <p:cNvPr id="6" name="Imagen 5">
            <a:extLst>
              <a:ext uri="{FF2B5EF4-FFF2-40B4-BE49-F238E27FC236}">
                <a16:creationId xmlns:a16="http://schemas.microsoft.com/office/drawing/2014/main" id="{1F9377F7-7D41-AD46-A379-8FADEA298DFE}"/>
              </a:ext>
            </a:extLst>
          </p:cNvPr>
          <p:cNvPicPr>
            <a:picLocks noChangeAspect="1"/>
          </p:cNvPicPr>
          <p:nvPr/>
        </p:nvPicPr>
        <p:blipFill>
          <a:blip r:embed="rId3">
            <a:alphaModFix amt="16000"/>
          </a:blip>
          <a:stretch>
            <a:fillRect/>
          </a:stretch>
        </p:blipFill>
        <p:spPr>
          <a:xfrm>
            <a:off x="334433" y="3817749"/>
            <a:ext cx="809264" cy="809264"/>
          </a:xfrm>
          <a:prstGeom prst="rect">
            <a:avLst/>
          </a:prstGeom>
        </p:spPr>
      </p:pic>
      <p:pic>
        <p:nvPicPr>
          <p:cNvPr id="7" name="Imagen 6">
            <a:extLst>
              <a:ext uri="{FF2B5EF4-FFF2-40B4-BE49-F238E27FC236}">
                <a16:creationId xmlns:a16="http://schemas.microsoft.com/office/drawing/2014/main" id="{87F79D36-9EC1-D040-9B3D-488DEA1C5B77}"/>
              </a:ext>
            </a:extLst>
          </p:cNvPr>
          <p:cNvPicPr>
            <a:picLocks noChangeAspect="1"/>
          </p:cNvPicPr>
          <p:nvPr/>
        </p:nvPicPr>
        <p:blipFill>
          <a:blip r:embed="rId4"/>
          <a:stretch>
            <a:fillRect/>
          </a:stretch>
        </p:blipFill>
        <p:spPr>
          <a:xfrm>
            <a:off x="2528619" y="2194222"/>
            <a:ext cx="202176" cy="208211"/>
          </a:xfrm>
          <a:prstGeom prst="rect">
            <a:avLst/>
          </a:prstGeom>
        </p:spPr>
      </p:pic>
    </p:spTree>
    <p:extLst>
      <p:ext uri="{BB962C8B-B14F-4D97-AF65-F5344CB8AC3E}">
        <p14:creationId xmlns:p14="http://schemas.microsoft.com/office/powerpoint/2010/main" val="2042825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sp>
        <p:nvSpPr>
          <p:cNvPr id="4" name="Rectángulo 3">
            <a:extLst>
              <a:ext uri="{FF2B5EF4-FFF2-40B4-BE49-F238E27FC236}">
                <a16:creationId xmlns:a16="http://schemas.microsoft.com/office/drawing/2014/main" id="{F774BD6D-83F9-EC4C-9049-156466E1C671}"/>
              </a:ext>
            </a:extLst>
          </p:cNvPr>
          <p:cNvSpPr/>
          <p:nvPr/>
        </p:nvSpPr>
        <p:spPr>
          <a:xfrm>
            <a:off x="6918960" y="5364480"/>
            <a:ext cx="2133600" cy="2244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5" name="object 7">
            <a:extLst>
              <a:ext uri="{FF2B5EF4-FFF2-40B4-BE49-F238E27FC236}">
                <a16:creationId xmlns:a16="http://schemas.microsoft.com/office/drawing/2014/main" id="{863D8BF6-E7BE-AB43-A216-A7F0E81AAF3D}"/>
              </a:ext>
            </a:extLst>
          </p:cNvPr>
          <p:cNvSpPr txBox="1"/>
          <p:nvPr/>
        </p:nvSpPr>
        <p:spPr>
          <a:xfrm>
            <a:off x="1282299" y="918372"/>
            <a:ext cx="5200798" cy="646331"/>
          </a:xfrm>
          <a:prstGeom prst="rect">
            <a:avLst/>
          </a:prstGeom>
        </p:spPr>
        <p:txBody>
          <a:bodyPr vert="horz" wrap="square" lIns="0" tIns="0" rIns="0" bIns="0" rtlCol="0">
            <a:spAutoFit/>
          </a:bodyPr>
          <a:lstStyle/>
          <a:p>
            <a:pPr marL="11725" marR="0" lvl="0" indent="0" algn="l" rtl="0">
              <a:spcBef>
                <a:spcPts val="0"/>
              </a:spcBef>
              <a:spcAft>
                <a:spcPts val="0"/>
              </a:spcAft>
              <a:buNone/>
            </a:pPr>
            <a:r>
              <a:rPr lang="es-PE" dirty="0">
                <a:solidFill>
                  <a:srgbClr val="262626"/>
                </a:solidFill>
                <a:latin typeface="Calibri"/>
                <a:ea typeface="Calibri"/>
                <a:cs typeface="Calibri"/>
                <a:sym typeface="Calibri"/>
              </a:rPr>
              <a:t>Durante esta sesión:</a:t>
            </a:r>
            <a:endParaRPr lang="es-PE" dirty="0"/>
          </a:p>
          <a:p>
            <a:pPr marL="177800" lvl="1" indent="-165100">
              <a:buClr>
                <a:srgbClr val="EE4639"/>
              </a:buClr>
              <a:buSzPts val="1600"/>
              <a:buFont typeface="Arial" charset="0"/>
              <a:buChar char="•"/>
              <a:tabLst>
                <a:tab pos="120650" algn="l"/>
              </a:tabLst>
            </a:pPr>
            <a:r>
              <a:rPr lang="es-PE" b="1" spc="-10" dirty="0">
                <a:solidFill>
                  <a:srgbClr val="262626"/>
                </a:solidFill>
                <a:latin typeface="Calibri" charset="0"/>
                <a:cs typeface="Calibri" charset="0"/>
                <a:sym typeface="Calibri"/>
              </a:rPr>
              <a:t>Aprenderás</a:t>
            </a:r>
            <a:r>
              <a:rPr lang="es-PE" spc="-10" dirty="0">
                <a:solidFill>
                  <a:srgbClr val="262626"/>
                </a:solidFill>
                <a:latin typeface="Calibri" charset="0"/>
                <a:cs typeface="Calibri" charset="0"/>
                <a:sym typeface="Calibri"/>
              </a:rPr>
              <a:t> distintos conceptos y definiciones asociados a las pruebas de software.</a:t>
            </a:r>
            <a:endParaRPr lang="es-PE" spc="-10" dirty="0">
              <a:solidFill>
                <a:srgbClr val="262626"/>
              </a:solidFill>
              <a:latin typeface="Calibri" charset="0"/>
              <a:cs typeface="Calibri" charset="0"/>
            </a:endParaRPr>
          </a:p>
        </p:txBody>
      </p:sp>
      <p:pic>
        <p:nvPicPr>
          <p:cNvPr id="6" name="Imagen 5">
            <a:extLst>
              <a:ext uri="{FF2B5EF4-FFF2-40B4-BE49-F238E27FC236}">
                <a16:creationId xmlns:a16="http://schemas.microsoft.com/office/drawing/2014/main" id="{328767BF-55CF-0643-BD2F-19515040DED0}"/>
              </a:ext>
            </a:extLst>
          </p:cNvPr>
          <p:cNvPicPr>
            <a:picLocks noChangeAspect="1"/>
          </p:cNvPicPr>
          <p:nvPr/>
        </p:nvPicPr>
        <p:blipFill>
          <a:blip r:embed="rId3"/>
          <a:stretch>
            <a:fillRect/>
          </a:stretch>
        </p:blipFill>
        <p:spPr>
          <a:xfrm>
            <a:off x="1010839" y="954885"/>
            <a:ext cx="117851" cy="121369"/>
          </a:xfrm>
          <a:prstGeom prst="rect">
            <a:avLst/>
          </a:prstGeom>
        </p:spPr>
      </p:pic>
      <p:pic>
        <p:nvPicPr>
          <p:cNvPr id="9" name="Imagen 8">
            <a:extLst>
              <a:ext uri="{FF2B5EF4-FFF2-40B4-BE49-F238E27FC236}">
                <a16:creationId xmlns:a16="http://schemas.microsoft.com/office/drawing/2014/main" id="{7BF09702-E6CB-A24F-B25C-AD75351EC77C}"/>
              </a:ext>
            </a:extLst>
          </p:cNvPr>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6661" y="3052731"/>
            <a:ext cx="1689027" cy="2181257"/>
          </a:xfrm>
          <a:prstGeom prst="rect">
            <a:avLst/>
          </a:prstGeom>
        </p:spPr>
      </p:pic>
      <p:sp>
        <p:nvSpPr>
          <p:cNvPr id="11" name="Rectángulo 10">
            <a:extLst>
              <a:ext uri="{FF2B5EF4-FFF2-40B4-BE49-F238E27FC236}">
                <a16:creationId xmlns:a16="http://schemas.microsoft.com/office/drawing/2014/main" id="{F4DB409D-D073-844B-925F-68E4F5227A5A}"/>
              </a:ext>
            </a:extLst>
          </p:cNvPr>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5" name="Rectangle 5">
            <a:extLst>
              <a:ext uri="{FF2B5EF4-FFF2-40B4-BE49-F238E27FC236}">
                <a16:creationId xmlns:a16="http://schemas.microsoft.com/office/drawing/2014/main" id="{2F39441F-30C6-4645-8960-88849940F70C}"/>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INTRODUCCIÓN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 name="Rectángulo 3">
            <a:extLst>
              <a:ext uri="{FF2B5EF4-FFF2-40B4-BE49-F238E27FC236}">
                <a16:creationId xmlns:a16="http://schemas.microsoft.com/office/drawing/2014/main" id="{6FD7BBE7-8535-164C-8B15-1337D7EDC271}"/>
              </a:ext>
            </a:extLst>
          </p:cNvPr>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5" name="CuadroTexto 4">
            <a:extLst>
              <a:ext uri="{FF2B5EF4-FFF2-40B4-BE49-F238E27FC236}">
                <a16:creationId xmlns:a16="http://schemas.microsoft.com/office/drawing/2014/main" id="{39A99FC6-32DF-BB41-84F8-FBF2CE667174}"/>
              </a:ext>
            </a:extLst>
          </p:cNvPr>
          <p:cNvSpPr txBox="1"/>
          <p:nvPr/>
        </p:nvSpPr>
        <p:spPr>
          <a:xfrm>
            <a:off x="1008063" y="3169972"/>
            <a:ext cx="5993558" cy="775597"/>
          </a:xfrm>
          <a:prstGeom prst="rect">
            <a:avLst/>
          </a:prstGeom>
          <a:noFill/>
        </p:spPr>
        <p:txBody>
          <a:bodyPr wrap="square" lIns="0" tIns="0" rIns="0" bIns="0" rtlCol="0">
            <a:spAutoFit/>
          </a:bodyPr>
          <a:lstStyle/>
          <a:p>
            <a:pPr>
              <a:lnSpc>
                <a:spcPct val="90000"/>
              </a:lnSpc>
              <a:spcBef>
                <a:spcPts val="1000"/>
              </a:spcBef>
              <a:defRPr/>
            </a:pPr>
            <a:r>
              <a:rPr lang="es-PE" sz="2800" dirty="0">
                <a:solidFill>
                  <a:schemeClr val="bg1"/>
                </a:solidFill>
                <a:latin typeface="Graphik Regular" charset="0"/>
                <a:ea typeface="Graphik Regular" charset="0"/>
                <a:cs typeface="Graphik Regular" charset="0"/>
              </a:rPr>
              <a:t>CONCEPTOS Y</a:t>
            </a:r>
            <a:br>
              <a:rPr lang="es-PE" sz="2800" b="1" dirty="0">
                <a:solidFill>
                  <a:schemeClr val="bg1"/>
                </a:solidFill>
                <a:latin typeface="Calibri"/>
                <a:cs typeface="Calibri"/>
              </a:rPr>
            </a:br>
            <a:r>
              <a:rPr lang="es-PE" sz="2800" b="1" dirty="0">
                <a:solidFill>
                  <a:schemeClr val="bg1"/>
                </a:solidFill>
                <a:latin typeface="Graphik Bold" charset="0"/>
                <a:ea typeface="Graphik Bold" charset="0"/>
                <a:cs typeface="Graphik Bold" charset="0"/>
              </a:rPr>
              <a:t>DEFINICIONES BÁSICAS</a:t>
            </a:r>
          </a:p>
        </p:txBody>
      </p:sp>
      <p:pic>
        <p:nvPicPr>
          <p:cNvPr id="6" name="Imagen 5">
            <a:extLst>
              <a:ext uri="{FF2B5EF4-FFF2-40B4-BE49-F238E27FC236}">
                <a16:creationId xmlns:a16="http://schemas.microsoft.com/office/drawing/2014/main" id="{8CABA8C4-4F3D-AB4E-81EB-72FF6B3A8813}"/>
              </a:ext>
            </a:extLst>
          </p:cNvPr>
          <p:cNvPicPr>
            <a:picLocks noChangeAspect="1"/>
          </p:cNvPicPr>
          <p:nvPr/>
        </p:nvPicPr>
        <p:blipFill>
          <a:blip r:embed="rId3"/>
          <a:stretch>
            <a:fillRect/>
          </a:stretch>
        </p:blipFill>
        <p:spPr>
          <a:xfrm>
            <a:off x="1008063" y="2869612"/>
            <a:ext cx="195423" cy="20125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grpSp>
        <p:nvGrpSpPr>
          <p:cNvPr id="2" name="Grupo 1">
            <a:extLst>
              <a:ext uri="{FF2B5EF4-FFF2-40B4-BE49-F238E27FC236}">
                <a16:creationId xmlns:a16="http://schemas.microsoft.com/office/drawing/2014/main" id="{2BF4D309-6A08-974E-99BA-7ADAC1192B2D}"/>
              </a:ext>
            </a:extLst>
          </p:cNvPr>
          <p:cNvGrpSpPr/>
          <p:nvPr/>
        </p:nvGrpSpPr>
        <p:grpSpPr>
          <a:xfrm>
            <a:off x="1228399" y="1852141"/>
            <a:ext cx="6734511" cy="3381847"/>
            <a:chOff x="766317" y="1411590"/>
            <a:chExt cx="7611366" cy="3822174"/>
          </a:xfrm>
        </p:grpSpPr>
        <p:pic>
          <p:nvPicPr>
            <p:cNvPr id="8" name="Imagen 7">
              <a:extLst>
                <a:ext uri="{FF2B5EF4-FFF2-40B4-BE49-F238E27FC236}">
                  <a16:creationId xmlns:a16="http://schemas.microsoft.com/office/drawing/2014/main" id="{C7B17359-74F8-814A-8A53-63E613E13E3A}"/>
                </a:ext>
              </a:extLst>
            </p:cNvPr>
            <p:cNvPicPr>
              <a:picLocks noChangeAspect="1"/>
            </p:cNvPicPr>
            <p:nvPr/>
          </p:nvPicPr>
          <p:blipFill rotWithShape="1">
            <a:blip r:embed="rId3">
              <a:extLst>
                <a:ext uri="{28A0092B-C50C-407E-A947-70E740481C1C}">
                  <a14:useLocalDpi xmlns:a14="http://schemas.microsoft.com/office/drawing/2010/main"/>
                </a:ext>
              </a:extLst>
            </a:blip>
            <a:srcRect/>
            <a:stretch/>
          </p:blipFill>
          <p:spPr>
            <a:xfrm>
              <a:off x="766317" y="1411590"/>
              <a:ext cx="7611366" cy="3822174"/>
            </a:xfrm>
            <a:prstGeom prst="rect">
              <a:avLst/>
            </a:prstGeom>
          </p:spPr>
        </p:pic>
        <p:pic>
          <p:nvPicPr>
            <p:cNvPr id="15" name="Imagen 14">
              <a:extLst>
                <a:ext uri="{FF2B5EF4-FFF2-40B4-BE49-F238E27FC236}">
                  <a16:creationId xmlns:a16="http://schemas.microsoft.com/office/drawing/2014/main" id="{AA94F1D6-3630-A340-8554-BB3F622A1209}"/>
                </a:ext>
              </a:extLst>
            </p:cNvPr>
            <p:cNvPicPr>
              <a:picLocks noChangeAspect="1"/>
            </p:cNvPicPr>
            <p:nvPr/>
          </p:nvPicPr>
          <p:blipFill>
            <a:blip r:embed="rId4"/>
            <a:srcRect t="12459" b="12459"/>
            <a:stretch/>
          </p:blipFill>
          <p:spPr>
            <a:xfrm>
              <a:off x="1644203" y="1687500"/>
              <a:ext cx="5856625" cy="2783333"/>
            </a:xfrm>
            <a:prstGeom prst="roundRect">
              <a:avLst/>
            </a:prstGeom>
          </p:spPr>
        </p:pic>
      </p:grpSp>
      <p:sp>
        <p:nvSpPr>
          <p:cNvPr id="9" name="CuadroTexto 8">
            <a:extLst>
              <a:ext uri="{FF2B5EF4-FFF2-40B4-BE49-F238E27FC236}">
                <a16:creationId xmlns:a16="http://schemas.microsoft.com/office/drawing/2014/main" id="{A4333DB9-EDEC-1747-BF0F-467CA3CD9865}"/>
              </a:ext>
            </a:extLst>
          </p:cNvPr>
          <p:cNvSpPr txBox="1"/>
          <p:nvPr/>
        </p:nvSpPr>
        <p:spPr>
          <a:xfrm>
            <a:off x="1961419" y="4916108"/>
            <a:ext cx="6001491" cy="215444"/>
          </a:xfrm>
          <a:prstGeom prst="rect">
            <a:avLst/>
          </a:prstGeom>
          <a:noFill/>
        </p:spPr>
        <p:txBody>
          <a:bodyPr wrap="square" lIns="0" tIns="0" rIns="0" bIns="0" rtlCol="0">
            <a:spAutoFit/>
          </a:bodyPr>
          <a:lstStyle/>
          <a:p>
            <a:pPr marL="0" lvl="0" indent="0">
              <a:spcAft>
                <a:spcPts val="600"/>
              </a:spcAft>
              <a:buFont typeface="Arial"/>
              <a:buNone/>
            </a:pPr>
            <a:r>
              <a:rPr lang="es-PE" b="1" dirty="0">
                <a:latin typeface="Calibri" charset="0"/>
                <a:cs typeface="Calibri" charset="0"/>
                <a:sym typeface="Calibri"/>
              </a:rPr>
              <a:t>CSW S01 WINDOWS 98 ERROR EN PRESENTACIÓN</a:t>
            </a:r>
          </a:p>
        </p:txBody>
      </p:sp>
      <p:sp>
        <p:nvSpPr>
          <p:cNvPr id="10" name="Rectángulo 9">
            <a:extLst>
              <a:ext uri="{FF2B5EF4-FFF2-40B4-BE49-F238E27FC236}">
                <a16:creationId xmlns:a16="http://schemas.microsoft.com/office/drawing/2014/main" id="{624BFF06-C65F-1346-B979-07DA23D77696}"/>
              </a:ext>
            </a:extLst>
          </p:cNvPr>
          <p:cNvSpPr/>
          <p:nvPr/>
        </p:nvSpPr>
        <p:spPr>
          <a:xfrm>
            <a:off x="683568" y="481236"/>
            <a:ext cx="544831" cy="193899"/>
          </a:xfrm>
          <a:prstGeom prst="rect">
            <a:avLst/>
          </a:prstGeom>
        </p:spPr>
        <p:txBody>
          <a:bodyPr wrap="square" lIns="0" tIns="0" rIns="0" bIns="0">
            <a:spAutoFit/>
          </a:bodyPr>
          <a:lstStyle/>
          <a:p>
            <a:pPr>
              <a:lnSpc>
                <a:spcPct val="90000"/>
              </a:lnSpc>
              <a:spcBef>
                <a:spcPts val="0"/>
              </a:spcBef>
              <a:defRPr/>
            </a:pPr>
            <a:r>
              <a:rPr lang="es-PE" sz="1400" b="1" dirty="0">
                <a:solidFill>
                  <a:srgbClr val="00B1C3"/>
                </a:solidFill>
                <a:latin typeface="Calibri" charset="0"/>
                <a:ea typeface="Calibri" charset="0"/>
                <a:cs typeface="Calibri" charset="0"/>
              </a:rPr>
              <a:t>VIDEO</a:t>
            </a:r>
            <a:endParaRPr lang="es-ES" sz="1600" b="1" dirty="0">
              <a:solidFill>
                <a:srgbClr val="00B1C3"/>
              </a:solidFill>
              <a:latin typeface="Calibri" charset="0"/>
              <a:ea typeface="Calibri" charset="0"/>
              <a:cs typeface="Calibri" charset="0"/>
            </a:endParaRPr>
          </a:p>
        </p:txBody>
      </p:sp>
      <p:grpSp>
        <p:nvGrpSpPr>
          <p:cNvPr id="11" name="Agrupar 7">
            <a:extLst>
              <a:ext uri="{FF2B5EF4-FFF2-40B4-BE49-F238E27FC236}">
                <a16:creationId xmlns:a16="http://schemas.microsoft.com/office/drawing/2014/main" id="{FB23B065-D666-FF47-A470-4559257A4D26}"/>
              </a:ext>
            </a:extLst>
          </p:cNvPr>
          <p:cNvGrpSpPr/>
          <p:nvPr/>
        </p:nvGrpSpPr>
        <p:grpSpPr>
          <a:xfrm>
            <a:off x="514858" y="499074"/>
            <a:ext cx="131794" cy="132296"/>
            <a:chOff x="511902" y="912278"/>
            <a:chExt cx="281320" cy="282391"/>
          </a:xfrm>
        </p:grpSpPr>
        <p:sp>
          <p:nvSpPr>
            <p:cNvPr id="12" name="Elipse 11">
              <a:extLst>
                <a:ext uri="{FF2B5EF4-FFF2-40B4-BE49-F238E27FC236}">
                  <a16:creationId xmlns:a16="http://schemas.microsoft.com/office/drawing/2014/main" id="{3E816C5A-AA57-0B4B-80AB-4D08A731F6C2}"/>
                </a:ext>
              </a:extLst>
            </p:cNvPr>
            <p:cNvSpPr/>
            <p:nvPr/>
          </p:nvSpPr>
          <p:spPr>
            <a:xfrm rot="5400000">
              <a:off x="511366" y="912814"/>
              <a:ext cx="282391" cy="281320"/>
            </a:xfrm>
            <a:prstGeom prst="ellipse">
              <a:avLst/>
            </a:prstGeom>
            <a:solidFill>
              <a:srgbClr val="00B1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13" name="Imagen 12">
              <a:extLst>
                <a:ext uri="{FF2B5EF4-FFF2-40B4-BE49-F238E27FC236}">
                  <a16:creationId xmlns:a16="http://schemas.microsoft.com/office/drawing/2014/main" id="{A30640D0-D380-3C43-9434-2ABE762EA1CE}"/>
                </a:ext>
              </a:extLst>
            </p:cNvPr>
            <p:cNvPicPr>
              <a:picLocks noChangeAspect="1"/>
            </p:cNvPicPr>
            <p:nvPr/>
          </p:nvPicPr>
          <p:blipFill>
            <a:blip r:embed="rId5">
              <a:alphaModFix/>
              <a:lum bright="100000" contrast="100000"/>
            </a:blip>
            <a:stretch>
              <a:fillRect/>
            </a:stretch>
          </p:blipFill>
          <p:spPr>
            <a:xfrm rot="5400000">
              <a:off x="578093" y="979007"/>
              <a:ext cx="148937" cy="148937"/>
            </a:xfrm>
            <a:prstGeom prst="rect">
              <a:avLst/>
            </a:prstGeom>
          </p:spPr>
        </p:pic>
      </p:grpSp>
      <p:sp>
        <p:nvSpPr>
          <p:cNvPr id="16" name="Rectángulo 15">
            <a:extLst>
              <a:ext uri="{FF2B5EF4-FFF2-40B4-BE49-F238E27FC236}">
                <a16:creationId xmlns:a16="http://schemas.microsoft.com/office/drawing/2014/main" id="{8ACF6C33-BF09-5449-9793-06D7639C5AAC}"/>
              </a:ext>
            </a:extLst>
          </p:cNvPr>
          <p:cNvSpPr/>
          <p:nvPr/>
        </p:nvSpPr>
        <p:spPr>
          <a:xfrm>
            <a:off x="503238" y="916472"/>
            <a:ext cx="3168650" cy="877163"/>
          </a:xfrm>
          <a:prstGeom prst="rect">
            <a:avLst/>
          </a:prstGeom>
        </p:spPr>
        <p:txBody>
          <a:bodyPr wrap="square" lIns="0" tIns="0" rIns="0" bIns="0">
            <a:spAutoFit/>
          </a:bodyPr>
          <a:lstStyle/>
          <a:p>
            <a:pPr lvl="0">
              <a:spcAft>
                <a:spcPts val="600"/>
              </a:spcAft>
            </a:pPr>
            <a:r>
              <a:rPr lang="es-ES" sz="2000" b="1" dirty="0">
                <a:solidFill>
                  <a:srgbClr val="EE4639"/>
                </a:solidFill>
                <a:latin typeface="Graphik Bold" panose="020B0503030202060203" pitchFamily="34" charset="77"/>
                <a:cs typeface="Calibri" charset="0"/>
              </a:rPr>
              <a:t>+ 01.</a:t>
            </a:r>
            <a:br>
              <a:rPr lang="es-ES" sz="1600" b="1" dirty="0">
                <a:solidFill>
                  <a:srgbClr val="EE4639"/>
                </a:solidFill>
                <a:latin typeface="Calibri" charset="0"/>
                <a:cs typeface="Calibri" charset="0"/>
              </a:rPr>
            </a:br>
            <a:r>
              <a:rPr lang="es-ES" sz="1600" b="1" dirty="0">
                <a:solidFill>
                  <a:srgbClr val="EE4639"/>
                </a:solidFill>
                <a:latin typeface="Calibri" charset="0"/>
                <a:cs typeface="Calibri" charset="0"/>
              </a:rPr>
              <a:t>CALIDAD</a:t>
            </a:r>
          </a:p>
          <a:p>
            <a:pPr>
              <a:spcAft>
                <a:spcPts val="600"/>
              </a:spcAft>
            </a:pPr>
            <a:r>
              <a:rPr lang="es-PE" sz="1600" b="1" dirty="0">
                <a:solidFill>
                  <a:schemeClr val="dk1"/>
                </a:solidFill>
                <a:latin typeface="Calibri"/>
                <a:ea typeface="Calibri"/>
                <a:cs typeface="Calibri"/>
                <a:sym typeface="Calibri"/>
              </a:rPr>
              <a:t>VEAMOS QUÉ ES CALIDAD</a:t>
            </a:r>
            <a:endParaRPr lang="es-PE"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grpSp>
        <p:nvGrpSpPr>
          <p:cNvPr id="8" name="Grupo 7">
            <a:extLst>
              <a:ext uri="{FF2B5EF4-FFF2-40B4-BE49-F238E27FC236}">
                <a16:creationId xmlns:a16="http://schemas.microsoft.com/office/drawing/2014/main" id="{B520D16F-C242-1D45-A8F6-EE39F7996239}"/>
              </a:ext>
            </a:extLst>
          </p:cNvPr>
          <p:cNvGrpSpPr/>
          <p:nvPr/>
        </p:nvGrpSpPr>
        <p:grpSpPr>
          <a:xfrm>
            <a:off x="1228399" y="1852141"/>
            <a:ext cx="6734511" cy="3381847"/>
            <a:chOff x="766317" y="1411590"/>
            <a:chExt cx="7611366" cy="3822174"/>
          </a:xfrm>
        </p:grpSpPr>
        <p:pic>
          <p:nvPicPr>
            <p:cNvPr id="9" name="Imagen 8">
              <a:extLst>
                <a:ext uri="{FF2B5EF4-FFF2-40B4-BE49-F238E27FC236}">
                  <a16:creationId xmlns:a16="http://schemas.microsoft.com/office/drawing/2014/main" id="{DB9F2B91-EF63-D94C-8139-3E71B0642C72}"/>
                </a:ext>
              </a:extLst>
            </p:cNvPr>
            <p:cNvPicPr>
              <a:picLocks noChangeAspect="1"/>
            </p:cNvPicPr>
            <p:nvPr/>
          </p:nvPicPr>
          <p:blipFill rotWithShape="1">
            <a:blip r:embed="rId3">
              <a:extLst>
                <a:ext uri="{28A0092B-C50C-407E-A947-70E740481C1C}">
                  <a14:useLocalDpi xmlns:a14="http://schemas.microsoft.com/office/drawing/2010/main"/>
                </a:ext>
              </a:extLst>
            </a:blip>
            <a:srcRect/>
            <a:stretch/>
          </p:blipFill>
          <p:spPr>
            <a:xfrm>
              <a:off x="766317" y="1411590"/>
              <a:ext cx="7611366" cy="3822174"/>
            </a:xfrm>
            <a:prstGeom prst="rect">
              <a:avLst/>
            </a:prstGeom>
          </p:spPr>
        </p:pic>
        <p:pic>
          <p:nvPicPr>
            <p:cNvPr id="10" name="Imagen 9">
              <a:extLst>
                <a:ext uri="{FF2B5EF4-FFF2-40B4-BE49-F238E27FC236}">
                  <a16:creationId xmlns:a16="http://schemas.microsoft.com/office/drawing/2014/main" id="{CA7C64F0-1D69-7F40-A433-1719154BBB1E}"/>
                </a:ext>
              </a:extLst>
            </p:cNvPr>
            <p:cNvPicPr>
              <a:picLocks noChangeAspect="1"/>
            </p:cNvPicPr>
            <p:nvPr/>
          </p:nvPicPr>
          <p:blipFill rotWithShape="1">
            <a:blip r:embed="rId4"/>
            <a:srcRect t="3417" b="11347"/>
            <a:stretch/>
          </p:blipFill>
          <p:spPr>
            <a:xfrm>
              <a:off x="1644203" y="1687500"/>
              <a:ext cx="5856625" cy="2783333"/>
            </a:xfrm>
            <a:prstGeom prst="roundRect">
              <a:avLst/>
            </a:prstGeom>
          </p:spPr>
        </p:pic>
      </p:grpSp>
      <p:sp>
        <p:nvSpPr>
          <p:cNvPr id="11" name="CuadroTexto 10">
            <a:extLst>
              <a:ext uri="{FF2B5EF4-FFF2-40B4-BE49-F238E27FC236}">
                <a16:creationId xmlns:a16="http://schemas.microsoft.com/office/drawing/2014/main" id="{E6C32D72-7CC6-DE4D-8901-36FC3349DB61}"/>
              </a:ext>
            </a:extLst>
          </p:cNvPr>
          <p:cNvSpPr txBox="1"/>
          <p:nvPr/>
        </p:nvSpPr>
        <p:spPr>
          <a:xfrm>
            <a:off x="1961419" y="4916108"/>
            <a:ext cx="6001491" cy="215444"/>
          </a:xfrm>
          <a:prstGeom prst="rect">
            <a:avLst/>
          </a:prstGeom>
          <a:noFill/>
        </p:spPr>
        <p:txBody>
          <a:bodyPr wrap="square" lIns="0" tIns="0" rIns="0" bIns="0" rtlCol="0">
            <a:spAutoFit/>
          </a:bodyPr>
          <a:lstStyle/>
          <a:p>
            <a:pPr>
              <a:spcAft>
                <a:spcPts val="600"/>
              </a:spcAft>
            </a:pPr>
            <a:r>
              <a:rPr lang="es-PE" b="1" dirty="0">
                <a:latin typeface="Calibri" charset="0"/>
                <a:cs typeface="Calibri" charset="0"/>
                <a:sym typeface="Calibri"/>
              </a:rPr>
              <a:t>CASO DE PERSUASIÓN Y CALIDAD DE SERVICIO</a:t>
            </a:r>
          </a:p>
        </p:txBody>
      </p:sp>
      <p:sp>
        <p:nvSpPr>
          <p:cNvPr id="12" name="Rectángulo 11">
            <a:extLst>
              <a:ext uri="{FF2B5EF4-FFF2-40B4-BE49-F238E27FC236}">
                <a16:creationId xmlns:a16="http://schemas.microsoft.com/office/drawing/2014/main" id="{C7DF57EA-6A91-ED4E-974A-DE818D41BEAF}"/>
              </a:ext>
            </a:extLst>
          </p:cNvPr>
          <p:cNvSpPr/>
          <p:nvPr/>
        </p:nvSpPr>
        <p:spPr>
          <a:xfrm>
            <a:off x="683568" y="481236"/>
            <a:ext cx="544831" cy="193899"/>
          </a:xfrm>
          <a:prstGeom prst="rect">
            <a:avLst/>
          </a:prstGeom>
        </p:spPr>
        <p:txBody>
          <a:bodyPr wrap="square" lIns="0" tIns="0" rIns="0" bIns="0">
            <a:spAutoFit/>
          </a:bodyPr>
          <a:lstStyle/>
          <a:p>
            <a:pPr>
              <a:lnSpc>
                <a:spcPct val="90000"/>
              </a:lnSpc>
              <a:spcBef>
                <a:spcPts val="0"/>
              </a:spcBef>
              <a:defRPr/>
            </a:pPr>
            <a:r>
              <a:rPr lang="es-PE" sz="1400" b="1" dirty="0">
                <a:solidFill>
                  <a:srgbClr val="00B1C3"/>
                </a:solidFill>
                <a:latin typeface="Calibri" charset="0"/>
                <a:ea typeface="Calibri" charset="0"/>
                <a:cs typeface="Calibri" charset="0"/>
              </a:rPr>
              <a:t>VIDEO</a:t>
            </a:r>
            <a:endParaRPr lang="es-ES" sz="1600" b="1" dirty="0">
              <a:solidFill>
                <a:srgbClr val="00B1C3"/>
              </a:solidFill>
              <a:latin typeface="Calibri" charset="0"/>
              <a:ea typeface="Calibri" charset="0"/>
              <a:cs typeface="Calibri" charset="0"/>
            </a:endParaRPr>
          </a:p>
        </p:txBody>
      </p:sp>
      <p:grpSp>
        <p:nvGrpSpPr>
          <p:cNvPr id="13" name="Agrupar 7">
            <a:extLst>
              <a:ext uri="{FF2B5EF4-FFF2-40B4-BE49-F238E27FC236}">
                <a16:creationId xmlns:a16="http://schemas.microsoft.com/office/drawing/2014/main" id="{C48898BF-5D1A-A34C-99F4-43EA7B49BDBD}"/>
              </a:ext>
            </a:extLst>
          </p:cNvPr>
          <p:cNvGrpSpPr/>
          <p:nvPr/>
        </p:nvGrpSpPr>
        <p:grpSpPr>
          <a:xfrm>
            <a:off x="514858" y="499074"/>
            <a:ext cx="131794" cy="132296"/>
            <a:chOff x="511902" y="912278"/>
            <a:chExt cx="281320" cy="282391"/>
          </a:xfrm>
        </p:grpSpPr>
        <p:sp>
          <p:nvSpPr>
            <p:cNvPr id="14" name="Elipse 13">
              <a:extLst>
                <a:ext uri="{FF2B5EF4-FFF2-40B4-BE49-F238E27FC236}">
                  <a16:creationId xmlns:a16="http://schemas.microsoft.com/office/drawing/2014/main" id="{C1DD78D4-4DD7-C84E-83F8-70FA22F78527}"/>
                </a:ext>
              </a:extLst>
            </p:cNvPr>
            <p:cNvSpPr/>
            <p:nvPr/>
          </p:nvSpPr>
          <p:spPr>
            <a:xfrm rot="5400000">
              <a:off x="511366" y="912814"/>
              <a:ext cx="282391" cy="281320"/>
            </a:xfrm>
            <a:prstGeom prst="ellipse">
              <a:avLst/>
            </a:prstGeom>
            <a:solidFill>
              <a:srgbClr val="00B1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15" name="Imagen 14">
              <a:extLst>
                <a:ext uri="{FF2B5EF4-FFF2-40B4-BE49-F238E27FC236}">
                  <a16:creationId xmlns:a16="http://schemas.microsoft.com/office/drawing/2014/main" id="{0ACC3C83-D813-8046-856B-55003011B62E}"/>
                </a:ext>
              </a:extLst>
            </p:cNvPr>
            <p:cNvPicPr>
              <a:picLocks noChangeAspect="1"/>
            </p:cNvPicPr>
            <p:nvPr/>
          </p:nvPicPr>
          <p:blipFill>
            <a:blip r:embed="rId5">
              <a:alphaModFix/>
              <a:lum bright="100000" contrast="100000"/>
            </a:blip>
            <a:stretch>
              <a:fillRect/>
            </a:stretch>
          </p:blipFill>
          <p:spPr>
            <a:xfrm rot="5400000">
              <a:off x="578093" y="979007"/>
              <a:ext cx="148937" cy="148937"/>
            </a:xfrm>
            <a:prstGeom prst="rect">
              <a:avLst/>
            </a:prstGeom>
          </p:spPr>
        </p:pic>
      </p:grpSp>
      <p:sp>
        <p:nvSpPr>
          <p:cNvPr id="16" name="Rectángulo 15">
            <a:extLst>
              <a:ext uri="{FF2B5EF4-FFF2-40B4-BE49-F238E27FC236}">
                <a16:creationId xmlns:a16="http://schemas.microsoft.com/office/drawing/2014/main" id="{76ACA65A-D17B-2542-A992-09596B225F33}"/>
              </a:ext>
            </a:extLst>
          </p:cNvPr>
          <p:cNvSpPr/>
          <p:nvPr/>
        </p:nvSpPr>
        <p:spPr>
          <a:xfrm>
            <a:off x="503238" y="916472"/>
            <a:ext cx="3168650" cy="877163"/>
          </a:xfrm>
          <a:prstGeom prst="rect">
            <a:avLst/>
          </a:prstGeom>
        </p:spPr>
        <p:txBody>
          <a:bodyPr wrap="square" lIns="0" tIns="0" rIns="0" bIns="0">
            <a:spAutoFit/>
          </a:bodyPr>
          <a:lstStyle/>
          <a:p>
            <a:pPr lvl="0">
              <a:spcAft>
                <a:spcPts val="600"/>
              </a:spcAft>
            </a:pPr>
            <a:r>
              <a:rPr lang="es-ES" sz="2000" b="1" dirty="0">
                <a:solidFill>
                  <a:srgbClr val="EE4639"/>
                </a:solidFill>
                <a:latin typeface="Graphik Bold" panose="020B0503030202060203" pitchFamily="34" charset="77"/>
                <a:cs typeface="Calibri" charset="0"/>
              </a:rPr>
              <a:t>+ 01.</a:t>
            </a:r>
            <a:br>
              <a:rPr lang="es-ES" sz="1600" b="1" dirty="0">
                <a:solidFill>
                  <a:srgbClr val="EE4639"/>
                </a:solidFill>
                <a:latin typeface="Calibri" charset="0"/>
                <a:cs typeface="Calibri" charset="0"/>
              </a:rPr>
            </a:br>
            <a:r>
              <a:rPr lang="es-ES" sz="1600" b="1" dirty="0">
                <a:solidFill>
                  <a:srgbClr val="EE4639"/>
                </a:solidFill>
                <a:latin typeface="Calibri" charset="0"/>
                <a:cs typeface="Calibri" charset="0"/>
              </a:rPr>
              <a:t>CALIDAD</a:t>
            </a:r>
          </a:p>
          <a:p>
            <a:pPr>
              <a:spcAft>
                <a:spcPts val="600"/>
              </a:spcAft>
            </a:pPr>
            <a:r>
              <a:rPr lang="es-PE" sz="1600" b="1" dirty="0">
                <a:solidFill>
                  <a:schemeClr val="dk1"/>
                </a:solidFill>
                <a:latin typeface="Calibri"/>
                <a:ea typeface="Calibri"/>
                <a:cs typeface="Calibri"/>
                <a:sym typeface="Calibri"/>
              </a:rPr>
              <a:t>VEAMOS QUÉ ES CALIDAD</a:t>
            </a:r>
            <a:endParaRPr lang="es-PE"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8" name="Google Shape;78;p6"/>
          <p:cNvSpPr/>
          <p:nvPr/>
        </p:nvSpPr>
        <p:spPr>
          <a:xfrm>
            <a:off x="503238" y="923768"/>
            <a:ext cx="4899611" cy="5693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DEFINICIÓN DE CALIDAD</a:t>
            </a:r>
            <a:endParaRPr dirty="0"/>
          </a:p>
          <a:p>
            <a:pPr marL="180975" marR="0" lvl="0" indent="-180975"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Pensemos un momento y elijamos cuál es la respuesta:</a:t>
            </a:r>
            <a:endParaRPr dirty="0"/>
          </a:p>
        </p:txBody>
      </p:sp>
      <p:sp>
        <p:nvSpPr>
          <p:cNvPr id="83" name="Google Shape;83;p6"/>
          <p:cNvSpPr txBox="1"/>
          <p:nvPr/>
        </p:nvSpPr>
        <p:spPr>
          <a:xfrm>
            <a:off x="531118" y="5037491"/>
            <a:ext cx="4572000"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www.buenastareas.com</a:t>
            </a:r>
            <a:endParaRPr dirty="0">
              <a:solidFill>
                <a:schemeClr val="bg1">
                  <a:lumMod val="50000"/>
                </a:schemeClr>
              </a:solidFill>
            </a:endParaRPr>
          </a:p>
        </p:txBody>
      </p:sp>
      <p:sp>
        <p:nvSpPr>
          <p:cNvPr id="9" name="Rectangle 5">
            <a:extLst>
              <a:ext uri="{FF2B5EF4-FFF2-40B4-BE49-F238E27FC236}">
                <a16:creationId xmlns:a16="http://schemas.microsoft.com/office/drawing/2014/main" id="{9CB5D011-3B1A-C54B-8178-E94FE1A5969A}"/>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CONCEPTOS Y DEFINICIONES BÁSICAS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11" name="Google Shape;333;p23">
            <a:extLst>
              <a:ext uri="{FF2B5EF4-FFF2-40B4-BE49-F238E27FC236}">
                <a16:creationId xmlns:a16="http://schemas.microsoft.com/office/drawing/2014/main" id="{39E182F9-3CE8-3841-8D4F-A17C3A3BB27A}"/>
              </a:ext>
            </a:extLst>
          </p:cNvPr>
          <p:cNvSpPr/>
          <p:nvPr/>
        </p:nvSpPr>
        <p:spPr>
          <a:xfrm>
            <a:off x="719004" y="1707545"/>
            <a:ext cx="3673610" cy="501005"/>
          </a:xfrm>
          <a:prstGeom prst="roundRect">
            <a:avLst>
              <a:gd name="adj" fmla="val 18326"/>
            </a:avLst>
          </a:prstGeom>
          <a:solidFill>
            <a:srgbClr val="7150A0"/>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s-PE" sz="1400" b="1" dirty="0">
                <a:solidFill>
                  <a:schemeClr val="lt1"/>
                </a:solidFill>
                <a:latin typeface="Calibri"/>
                <a:ea typeface="Calibri"/>
                <a:cs typeface="Calibri"/>
                <a:sym typeface="Calibri"/>
              </a:rPr>
              <a:t>CONCEPTO A</a:t>
            </a:r>
          </a:p>
        </p:txBody>
      </p:sp>
      <p:sp>
        <p:nvSpPr>
          <p:cNvPr id="12" name="Google Shape;335;p23">
            <a:extLst>
              <a:ext uri="{FF2B5EF4-FFF2-40B4-BE49-F238E27FC236}">
                <a16:creationId xmlns:a16="http://schemas.microsoft.com/office/drawing/2014/main" id="{C0EA3901-4C37-6248-B78A-5DABE69D007E}"/>
              </a:ext>
            </a:extLst>
          </p:cNvPr>
          <p:cNvSpPr/>
          <p:nvPr/>
        </p:nvSpPr>
        <p:spPr>
          <a:xfrm>
            <a:off x="719003" y="2282095"/>
            <a:ext cx="3673609" cy="968237"/>
          </a:xfrm>
          <a:prstGeom prst="roundRect">
            <a:avLst>
              <a:gd name="adj" fmla="val 8919"/>
            </a:avLst>
          </a:prstGeom>
          <a:solidFill>
            <a:srgbClr val="E3DCED"/>
          </a:solidFill>
          <a:ln>
            <a:noFill/>
          </a:ln>
        </p:spPr>
        <p:txBody>
          <a:bodyPr spcFirstLastPara="1" wrap="square" lIns="108000" tIns="108000" rIns="108000" bIns="45700" anchor="t" anchorCtr="0">
            <a:noAutofit/>
          </a:bodyPr>
          <a:lstStyle/>
          <a:p>
            <a:pPr marL="222250" marR="0" lvl="1" indent="-134938" algn="l" rtl="0">
              <a:lnSpc>
                <a:spcPct val="100000"/>
              </a:lnSpc>
              <a:spcBef>
                <a:spcPts val="0"/>
              </a:spcBef>
              <a:spcAft>
                <a:spcPts val="0"/>
              </a:spcAft>
              <a:buClr>
                <a:srgbClr val="7150A0"/>
              </a:buClr>
              <a:buSzPct val="100000"/>
              <a:buFont typeface="Arial" panose="020B0604020202020204" pitchFamily="34" charset="0"/>
              <a:buChar char="•"/>
            </a:pPr>
            <a:r>
              <a:rPr lang="es-PE" sz="1400" b="0" i="0" u="none" strike="noStrike" cap="none" dirty="0">
                <a:solidFill>
                  <a:srgbClr val="000000"/>
                </a:solidFill>
                <a:latin typeface="Calibri" panose="020F0502020204030204" pitchFamily="34" charset="0"/>
                <a:ea typeface="+mj-lt"/>
                <a:cs typeface="Calibri" panose="020F0502020204030204" pitchFamily="34" charset="0"/>
                <a:sym typeface="Arial"/>
              </a:rPr>
              <a:t>Calidad se define como un conjunto de normas para incorporar exigencias de alto nivel en la producción de un bien o servicio.</a:t>
            </a:r>
          </a:p>
        </p:txBody>
      </p:sp>
      <p:grpSp>
        <p:nvGrpSpPr>
          <p:cNvPr id="13" name="Agrupar 9">
            <a:extLst>
              <a:ext uri="{FF2B5EF4-FFF2-40B4-BE49-F238E27FC236}">
                <a16:creationId xmlns:a16="http://schemas.microsoft.com/office/drawing/2014/main" id="{DBE4A253-4D5F-E540-8681-C9AC992B1D08}"/>
              </a:ext>
            </a:extLst>
          </p:cNvPr>
          <p:cNvGrpSpPr/>
          <p:nvPr/>
        </p:nvGrpSpPr>
        <p:grpSpPr>
          <a:xfrm>
            <a:off x="503238" y="1756174"/>
            <a:ext cx="459474" cy="403823"/>
            <a:chOff x="5892512" y="2805541"/>
            <a:chExt cx="459474" cy="403823"/>
          </a:xfrm>
        </p:grpSpPr>
        <p:sp>
          <p:nvSpPr>
            <p:cNvPr id="20" name="Elipse 19">
              <a:extLst>
                <a:ext uri="{FF2B5EF4-FFF2-40B4-BE49-F238E27FC236}">
                  <a16:creationId xmlns:a16="http://schemas.microsoft.com/office/drawing/2014/main" id="{E5D0669D-B392-A64D-A2A2-045AB7E0AE37}"/>
                </a:ext>
              </a:extLst>
            </p:cNvPr>
            <p:cNvSpPr/>
            <p:nvPr/>
          </p:nvSpPr>
          <p:spPr>
            <a:xfrm>
              <a:off x="5956277" y="2824919"/>
              <a:ext cx="395709" cy="376075"/>
            </a:xfrm>
            <a:prstGeom prst="ellipse">
              <a:avLst/>
            </a:prstGeom>
            <a:solidFill>
              <a:srgbClr val="6649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21" name="Elipse 20">
              <a:extLst>
                <a:ext uri="{FF2B5EF4-FFF2-40B4-BE49-F238E27FC236}">
                  <a16:creationId xmlns:a16="http://schemas.microsoft.com/office/drawing/2014/main" id="{944ED07E-6072-BC4C-8DE9-77B26789791D}"/>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22" name="Triángulo 21">
              <a:extLst>
                <a:ext uri="{FF2B5EF4-FFF2-40B4-BE49-F238E27FC236}">
                  <a16:creationId xmlns:a16="http://schemas.microsoft.com/office/drawing/2014/main" id="{FC6A72DD-F412-C941-AC36-9B9F837EE96A}"/>
                </a:ext>
              </a:extLst>
            </p:cNvPr>
            <p:cNvSpPr/>
            <p:nvPr/>
          </p:nvSpPr>
          <p:spPr>
            <a:xfrm rot="5400000">
              <a:off x="6076285" y="2946262"/>
              <a:ext cx="186870" cy="122381"/>
            </a:xfrm>
            <a:prstGeom prst="triangle">
              <a:avLst/>
            </a:prstGeom>
            <a:solidFill>
              <a:srgbClr val="715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grpSp>
      <p:sp>
        <p:nvSpPr>
          <p:cNvPr id="23" name="Google Shape;333;p23">
            <a:extLst>
              <a:ext uri="{FF2B5EF4-FFF2-40B4-BE49-F238E27FC236}">
                <a16:creationId xmlns:a16="http://schemas.microsoft.com/office/drawing/2014/main" id="{E4B41DC5-F1AA-6D4B-90AA-4074921FEE66}"/>
              </a:ext>
            </a:extLst>
          </p:cNvPr>
          <p:cNvSpPr/>
          <p:nvPr/>
        </p:nvSpPr>
        <p:spPr>
          <a:xfrm>
            <a:off x="719004" y="3390041"/>
            <a:ext cx="3673610" cy="501005"/>
          </a:xfrm>
          <a:prstGeom prst="roundRect">
            <a:avLst>
              <a:gd name="adj" fmla="val 18326"/>
            </a:avLst>
          </a:prstGeom>
          <a:solidFill>
            <a:srgbClr val="7150A0"/>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s-PE" sz="1400" b="1" dirty="0">
                <a:solidFill>
                  <a:schemeClr val="lt1"/>
                </a:solidFill>
                <a:latin typeface="Calibri"/>
                <a:ea typeface="Calibri"/>
                <a:cs typeface="Calibri"/>
                <a:sym typeface="Calibri"/>
              </a:rPr>
              <a:t>CONCEPTO C</a:t>
            </a:r>
          </a:p>
        </p:txBody>
      </p:sp>
      <p:sp>
        <p:nvSpPr>
          <p:cNvPr id="24" name="Google Shape;335;p23">
            <a:extLst>
              <a:ext uri="{FF2B5EF4-FFF2-40B4-BE49-F238E27FC236}">
                <a16:creationId xmlns:a16="http://schemas.microsoft.com/office/drawing/2014/main" id="{E37BB195-1D99-4F4E-B302-41DA93A28FC9}"/>
              </a:ext>
            </a:extLst>
          </p:cNvPr>
          <p:cNvSpPr/>
          <p:nvPr/>
        </p:nvSpPr>
        <p:spPr>
          <a:xfrm>
            <a:off x="719003" y="3964591"/>
            <a:ext cx="3673609" cy="968237"/>
          </a:xfrm>
          <a:prstGeom prst="roundRect">
            <a:avLst>
              <a:gd name="adj" fmla="val 8919"/>
            </a:avLst>
          </a:prstGeom>
          <a:solidFill>
            <a:srgbClr val="E3DCED"/>
          </a:solidFill>
          <a:ln>
            <a:noFill/>
          </a:ln>
        </p:spPr>
        <p:txBody>
          <a:bodyPr spcFirstLastPara="1" wrap="square" lIns="108000" tIns="108000" rIns="108000" bIns="45700" anchor="t" anchorCtr="0">
            <a:noAutofit/>
          </a:bodyPr>
          <a:lstStyle/>
          <a:p>
            <a:pPr marL="222250" marR="0" lvl="1" indent="-134938" algn="l" rtl="0">
              <a:lnSpc>
                <a:spcPct val="100000"/>
              </a:lnSpc>
              <a:spcBef>
                <a:spcPts val="0"/>
              </a:spcBef>
              <a:spcAft>
                <a:spcPts val="0"/>
              </a:spcAft>
              <a:buClr>
                <a:srgbClr val="7150A0"/>
              </a:buClr>
              <a:buSzPct val="100000"/>
              <a:buFont typeface="Arial" panose="020B0604020202020204" pitchFamily="34" charset="0"/>
              <a:buChar char="•"/>
            </a:pPr>
            <a:r>
              <a:rPr lang="es-PE" sz="1400" b="0" i="0" u="none" strike="noStrike" cap="none" dirty="0">
                <a:solidFill>
                  <a:srgbClr val="000000"/>
                </a:solidFill>
                <a:latin typeface="Calibri" panose="020F0502020204030204" pitchFamily="34" charset="0"/>
                <a:ea typeface="+mj-lt"/>
                <a:cs typeface="Calibri" panose="020F0502020204030204" pitchFamily="34" charset="0"/>
                <a:sym typeface="Calibri"/>
              </a:rPr>
              <a:t>Calidad se define como un conjunto de cualidades o propiedades que constituyen la manera de ser de una persona o cosa.</a:t>
            </a:r>
          </a:p>
        </p:txBody>
      </p:sp>
      <p:grpSp>
        <p:nvGrpSpPr>
          <p:cNvPr id="25" name="Agrupar 9">
            <a:extLst>
              <a:ext uri="{FF2B5EF4-FFF2-40B4-BE49-F238E27FC236}">
                <a16:creationId xmlns:a16="http://schemas.microsoft.com/office/drawing/2014/main" id="{9C86BEA9-7BA2-8F46-89E4-F9E61A36FDE0}"/>
              </a:ext>
            </a:extLst>
          </p:cNvPr>
          <p:cNvGrpSpPr/>
          <p:nvPr/>
        </p:nvGrpSpPr>
        <p:grpSpPr>
          <a:xfrm>
            <a:off x="503238" y="3438670"/>
            <a:ext cx="459474" cy="403823"/>
            <a:chOff x="5892512" y="2805541"/>
            <a:chExt cx="459474" cy="403823"/>
          </a:xfrm>
        </p:grpSpPr>
        <p:sp>
          <p:nvSpPr>
            <p:cNvPr id="26" name="Elipse 25">
              <a:extLst>
                <a:ext uri="{FF2B5EF4-FFF2-40B4-BE49-F238E27FC236}">
                  <a16:creationId xmlns:a16="http://schemas.microsoft.com/office/drawing/2014/main" id="{B91EEBA9-3A74-0549-8A3A-DE2EDF7989FE}"/>
                </a:ext>
              </a:extLst>
            </p:cNvPr>
            <p:cNvSpPr/>
            <p:nvPr/>
          </p:nvSpPr>
          <p:spPr>
            <a:xfrm>
              <a:off x="5956277" y="2824919"/>
              <a:ext cx="395709" cy="376075"/>
            </a:xfrm>
            <a:prstGeom prst="ellipse">
              <a:avLst/>
            </a:prstGeom>
            <a:solidFill>
              <a:srgbClr val="6649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27" name="Elipse 26">
              <a:extLst>
                <a:ext uri="{FF2B5EF4-FFF2-40B4-BE49-F238E27FC236}">
                  <a16:creationId xmlns:a16="http://schemas.microsoft.com/office/drawing/2014/main" id="{29E3F676-F903-734C-B7A5-580A1FD4F9EA}"/>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28" name="Triángulo 27">
              <a:extLst>
                <a:ext uri="{FF2B5EF4-FFF2-40B4-BE49-F238E27FC236}">
                  <a16:creationId xmlns:a16="http://schemas.microsoft.com/office/drawing/2014/main" id="{ABA4B8FD-A316-4A4F-96B0-7CCA8DEECC92}"/>
                </a:ext>
              </a:extLst>
            </p:cNvPr>
            <p:cNvSpPr/>
            <p:nvPr/>
          </p:nvSpPr>
          <p:spPr>
            <a:xfrm rot="5400000">
              <a:off x="6076285" y="2946262"/>
              <a:ext cx="186870" cy="122381"/>
            </a:xfrm>
            <a:prstGeom prst="triangle">
              <a:avLst/>
            </a:prstGeom>
            <a:solidFill>
              <a:srgbClr val="715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grpSp>
      <p:sp>
        <p:nvSpPr>
          <p:cNvPr id="29" name="Google Shape;333;p23">
            <a:extLst>
              <a:ext uri="{FF2B5EF4-FFF2-40B4-BE49-F238E27FC236}">
                <a16:creationId xmlns:a16="http://schemas.microsoft.com/office/drawing/2014/main" id="{EA46B282-D2F8-AF4A-AFF5-498EB231D669}"/>
              </a:ext>
            </a:extLst>
          </p:cNvPr>
          <p:cNvSpPr/>
          <p:nvPr/>
        </p:nvSpPr>
        <p:spPr>
          <a:xfrm>
            <a:off x="4769796" y="1707545"/>
            <a:ext cx="3673610" cy="501005"/>
          </a:xfrm>
          <a:prstGeom prst="roundRect">
            <a:avLst>
              <a:gd name="adj" fmla="val 18326"/>
            </a:avLst>
          </a:prstGeom>
          <a:solidFill>
            <a:srgbClr val="7150A0"/>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s-PE" sz="1400" b="1" dirty="0">
                <a:solidFill>
                  <a:schemeClr val="lt1"/>
                </a:solidFill>
                <a:latin typeface="Calibri"/>
                <a:ea typeface="Calibri"/>
                <a:cs typeface="Calibri"/>
                <a:sym typeface="Calibri"/>
              </a:rPr>
              <a:t>CONCEPTO B</a:t>
            </a:r>
          </a:p>
        </p:txBody>
      </p:sp>
      <p:sp>
        <p:nvSpPr>
          <p:cNvPr id="30" name="Google Shape;335;p23">
            <a:extLst>
              <a:ext uri="{FF2B5EF4-FFF2-40B4-BE49-F238E27FC236}">
                <a16:creationId xmlns:a16="http://schemas.microsoft.com/office/drawing/2014/main" id="{E83C7D34-8243-7B4A-8834-3FF289CAE97B}"/>
              </a:ext>
            </a:extLst>
          </p:cNvPr>
          <p:cNvSpPr/>
          <p:nvPr/>
        </p:nvSpPr>
        <p:spPr>
          <a:xfrm>
            <a:off x="4769795" y="2282095"/>
            <a:ext cx="3673609" cy="968237"/>
          </a:xfrm>
          <a:prstGeom prst="roundRect">
            <a:avLst>
              <a:gd name="adj" fmla="val 8919"/>
            </a:avLst>
          </a:prstGeom>
          <a:solidFill>
            <a:srgbClr val="E3DCED"/>
          </a:solidFill>
          <a:ln>
            <a:noFill/>
          </a:ln>
        </p:spPr>
        <p:txBody>
          <a:bodyPr spcFirstLastPara="1" wrap="square" lIns="108000" tIns="108000" rIns="108000" bIns="45700" anchor="t" anchorCtr="0">
            <a:noAutofit/>
          </a:bodyPr>
          <a:lstStyle/>
          <a:p>
            <a:pPr marL="222250" marR="0" lvl="1" indent="-134938" algn="l" rtl="0">
              <a:lnSpc>
                <a:spcPct val="100000"/>
              </a:lnSpc>
              <a:spcBef>
                <a:spcPts val="0"/>
              </a:spcBef>
              <a:spcAft>
                <a:spcPts val="0"/>
              </a:spcAft>
              <a:buClr>
                <a:srgbClr val="7150A0"/>
              </a:buClr>
              <a:buSzPct val="100000"/>
              <a:buFont typeface="Arial" panose="020B0604020202020204" pitchFamily="34" charset="0"/>
              <a:buChar char="•"/>
            </a:pPr>
            <a:r>
              <a:rPr lang="es-PE" sz="1300" b="0" i="0" u="none" strike="noStrike" cap="none" dirty="0">
                <a:solidFill>
                  <a:srgbClr val="000000"/>
                </a:solidFill>
                <a:latin typeface="Calibri" panose="020F0502020204030204" pitchFamily="34" charset="0"/>
                <a:ea typeface="+mj-lt"/>
                <a:cs typeface="Calibri" panose="020F0502020204030204" pitchFamily="34" charset="0"/>
                <a:sym typeface="Calibri"/>
              </a:rPr>
              <a:t>Calidad se define como un proceso a través del cual se aplican las mejores metodologías o técnicas para obtener productos o servicios inmejorables</a:t>
            </a:r>
            <a:r>
              <a:rPr lang="es-PE" sz="1400" b="0" i="0" u="none" strike="noStrike" cap="none" dirty="0">
                <a:solidFill>
                  <a:srgbClr val="000000"/>
                </a:solidFill>
                <a:latin typeface="Calibri" panose="020F0502020204030204" pitchFamily="34" charset="0"/>
                <a:ea typeface="+mj-lt"/>
                <a:cs typeface="Calibri" panose="020F0502020204030204" pitchFamily="34" charset="0"/>
                <a:sym typeface="Calibri"/>
              </a:rPr>
              <a:t>.</a:t>
            </a:r>
          </a:p>
        </p:txBody>
      </p:sp>
      <p:grpSp>
        <p:nvGrpSpPr>
          <p:cNvPr id="31" name="Agrupar 9">
            <a:extLst>
              <a:ext uri="{FF2B5EF4-FFF2-40B4-BE49-F238E27FC236}">
                <a16:creationId xmlns:a16="http://schemas.microsoft.com/office/drawing/2014/main" id="{60625839-5C04-6648-B102-3268EDE02923}"/>
              </a:ext>
            </a:extLst>
          </p:cNvPr>
          <p:cNvGrpSpPr/>
          <p:nvPr/>
        </p:nvGrpSpPr>
        <p:grpSpPr>
          <a:xfrm>
            <a:off x="4554030" y="1756174"/>
            <a:ext cx="459474" cy="403823"/>
            <a:chOff x="5892512" y="2805541"/>
            <a:chExt cx="459474" cy="403823"/>
          </a:xfrm>
        </p:grpSpPr>
        <p:sp>
          <p:nvSpPr>
            <p:cNvPr id="32" name="Elipse 31">
              <a:extLst>
                <a:ext uri="{FF2B5EF4-FFF2-40B4-BE49-F238E27FC236}">
                  <a16:creationId xmlns:a16="http://schemas.microsoft.com/office/drawing/2014/main" id="{68239B5D-F311-7844-A5FC-F60AA84E9AC6}"/>
                </a:ext>
              </a:extLst>
            </p:cNvPr>
            <p:cNvSpPr/>
            <p:nvPr/>
          </p:nvSpPr>
          <p:spPr>
            <a:xfrm>
              <a:off x="5956277" y="2824919"/>
              <a:ext cx="395709" cy="376075"/>
            </a:xfrm>
            <a:prstGeom prst="ellipse">
              <a:avLst/>
            </a:prstGeom>
            <a:solidFill>
              <a:srgbClr val="6649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33" name="Elipse 32">
              <a:extLst>
                <a:ext uri="{FF2B5EF4-FFF2-40B4-BE49-F238E27FC236}">
                  <a16:creationId xmlns:a16="http://schemas.microsoft.com/office/drawing/2014/main" id="{FC6C8287-B828-1B4C-805F-4BF90D7498AF}"/>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34" name="Triángulo 33">
              <a:extLst>
                <a:ext uri="{FF2B5EF4-FFF2-40B4-BE49-F238E27FC236}">
                  <a16:creationId xmlns:a16="http://schemas.microsoft.com/office/drawing/2014/main" id="{145F1951-C155-A244-97FB-9566978E1CA9}"/>
                </a:ext>
              </a:extLst>
            </p:cNvPr>
            <p:cNvSpPr/>
            <p:nvPr/>
          </p:nvSpPr>
          <p:spPr>
            <a:xfrm rot="5400000">
              <a:off x="6076285" y="2946262"/>
              <a:ext cx="186870" cy="122381"/>
            </a:xfrm>
            <a:prstGeom prst="triangle">
              <a:avLst/>
            </a:prstGeom>
            <a:solidFill>
              <a:srgbClr val="715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grpSp>
      <p:sp>
        <p:nvSpPr>
          <p:cNvPr id="35" name="Google Shape;333;p23">
            <a:extLst>
              <a:ext uri="{FF2B5EF4-FFF2-40B4-BE49-F238E27FC236}">
                <a16:creationId xmlns:a16="http://schemas.microsoft.com/office/drawing/2014/main" id="{B055CE9F-FD63-164B-AF65-180CA9BA8F87}"/>
              </a:ext>
            </a:extLst>
          </p:cNvPr>
          <p:cNvSpPr/>
          <p:nvPr/>
        </p:nvSpPr>
        <p:spPr>
          <a:xfrm>
            <a:off x="4769796" y="3390041"/>
            <a:ext cx="3673610" cy="501005"/>
          </a:xfrm>
          <a:prstGeom prst="roundRect">
            <a:avLst>
              <a:gd name="adj" fmla="val 18326"/>
            </a:avLst>
          </a:prstGeom>
          <a:solidFill>
            <a:srgbClr val="7150A0"/>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s-PE" sz="1400" b="1" dirty="0">
                <a:solidFill>
                  <a:schemeClr val="lt1"/>
                </a:solidFill>
                <a:latin typeface="Calibri"/>
                <a:ea typeface="Calibri"/>
                <a:cs typeface="Calibri"/>
                <a:sym typeface="Calibri"/>
              </a:rPr>
              <a:t>CONCEPTO D</a:t>
            </a:r>
          </a:p>
        </p:txBody>
      </p:sp>
      <p:sp>
        <p:nvSpPr>
          <p:cNvPr id="36" name="Google Shape;335;p23">
            <a:extLst>
              <a:ext uri="{FF2B5EF4-FFF2-40B4-BE49-F238E27FC236}">
                <a16:creationId xmlns:a16="http://schemas.microsoft.com/office/drawing/2014/main" id="{C06B6A69-00A2-994F-A68D-15018E2A4F14}"/>
              </a:ext>
            </a:extLst>
          </p:cNvPr>
          <p:cNvSpPr/>
          <p:nvPr/>
        </p:nvSpPr>
        <p:spPr>
          <a:xfrm>
            <a:off x="4769795" y="3964591"/>
            <a:ext cx="3673609" cy="968237"/>
          </a:xfrm>
          <a:prstGeom prst="roundRect">
            <a:avLst>
              <a:gd name="adj" fmla="val 8919"/>
            </a:avLst>
          </a:prstGeom>
          <a:solidFill>
            <a:srgbClr val="E3DCED"/>
          </a:solidFill>
          <a:ln>
            <a:noFill/>
          </a:ln>
        </p:spPr>
        <p:txBody>
          <a:bodyPr spcFirstLastPara="1" wrap="square" lIns="108000" tIns="108000" rIns="108000" bIns="45700" anchor="t" anchorCtr="0">
            <a:noAutofit/>
          </a:bodyPr>
          <a:lstStyle/>
          <a:p>
            <a:pPr marL="222250" marR="0" lvl="1" indent="-134938" algn="l" rtl="0">
              <a:lnSpc>
                <a:spcPct val="100000"/>
              </a:lnSpc>
              <a:spcBef>
                <a:spcPts val="0"/>
              </a:spcBef>
              <a:spcAft>
                <a:spcPts val="0"/>
              </a:spcAft>
              <a:buClr>
                <a:srgbClr val="7150A0"/>
              </a:buClr>
              <a:buSzPct val="100000"/>
              <a:buFont typeface="Arial" panose="020B0604020202020204" pitchFamily="34" charset="0"/>
              <a:buChar char="•"/>
            </a:pPr>
            <a:r>
              <a:rPr lang="es-PE" sz="1400" b="0" i="0" u="none" strike="noStrike" cap="none" dirty="0">
                <a:solidFill>
                  <a:srgbClr val="000000"/>
                </a:solidFill>
                <a:latin typeface="Calibri" panose="020F0502020204030204" pitchFamily="34" charset="0"/>
                <a:ea typeface="+mj-lt"/>
                <a:cs typeface="Calibri" panose="020F0502020204030204" pitchFamily="34" charset="0"/>
                <a:sym typeface="Calibri"/>
              </a:rPr>
              <a:t>Calidad se define como un estándar que establece reglas para lograr la satisfacción total de los clientes o usuarios.</a:t>
            </a:r>
          </a:p>
        </p:txBody>
      </p:sp>
      <p:grpSp>
        <p:nvGrpSpPr>
          <p:cNvPr id="37" name="Agrupar 9">
            <a:extLst>
              <a:ext uri="{FF2B5EF4-FFF2-40B4-BE49-F238E27FC236}">
                <a16:creationId xmlns:a16="http://schemas.microsoft.com/office/drawing/2014/main" id="{AF8F02D3-A84B-664F-A848-53FE98286C59}"/>
              </a:ext>
            </a:extLst>
          </p:cNvPr>
          <p:cNvGrpSpPr/>
          <p:nvPr/>
        </p:nvGrpSpPr>
        <p:grpSpPr>
          <a:xfrm>
            <a:off x="4554030" y="3438670"/>
            <a:ext cx="459474" cy="403823"/>
            <a:chOff x="5892512" y="2805541"/>
            <a:chExt cx="459474" cy="403823"/>
          </a:xfrm>
        </p:grpSpPr>
        <p:sp>
          <p:nvSpPr>
            <p:cNvPr id="38" name="Elipse 37">
              <a:extLst>
                <a:ext uri="{FF2B5EF4-FFF2-40B4-BE49-F238E27FC236}">
                  <a16:creationId xmlns:a16="http://schemas.microsoft.com/office/drawing/2014/main" id="{A04F708C-726C-8C4E-A37A-8B837CFDDBB6}"/>
                </a:ext>
              </a:extLst>
            </p:cNvPr>
            <p:cNvSpPr/>
            <p:nvPr/>
          </p:nvSpPr>
          <p:spPr>
            <a:xfrm>
              <a:off x="5956277" y="2824919"/>
              <a:ext cx="395709" cy="376075"/>
            </a:xfrm>
            <a:prstGeom prst="ellipse">
              <a:avLst/>
            </a:prstGeom>
            <a:solidFill>
              <a:srgbClr val="6649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39" name="Elipse 38">
              <a:extLst>
                <a:ext uri="{FF2B5EF4-FFF2-40B4-BE49-F238E27FC236}">
                  <a16:creationId xmlns:a16="http://schemas.microsoft.com/office/drawing/2014/main" id="{281F599F-D80E-C842-9C8C-236F24C03C43}"/>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40" name="Triángulo 39">
              <a:extLst>
                <a:ext uri="{FF2B5EF4-FFF2-40B4-BE49-F238E27FC236}">
                  <a16:creationId xmlns:a16="http://schemas.microsoft.com/office/drawing/2014/main" id="{C448369B-7960-7244-8CE7-B6A7FA28A00F}"/>
                </a:ext>
              </a:extLst>
            </p:cNvPr>
            <p:cNvSpPr/>
            <p:nvPr/>
          </p:nvSpPr>
          <p:spPr>
            <a:xfrm rot="5400000">
              <a:off x="6076285" y="2946262"/>
              <a:ext cx="186870" cy="122381"/>
            </a:xfrm>
            <a:prstGeom prst="triangle">
              <a:avLst/>
            </a:prstGeom>
            <a:solidFill>
              <a:srgbClr val="715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9" name="Rectangle 5">
            <a:extLst>
              <a:ext uri="{FF2B5EF4-FFF2-40B4-BE49-F238E27FC236}">
                <a16:creationId xmlns:a16="http://schemas.microsoft.com/office/drawing/2014/main" id="{F1A68321-1297-F447-AAFA-BF96BFD1AC62}"/>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CONCEPTOS Y DEFINICIONES BÁSICAS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10" name="Google Shape;78;p6">
            <a:extLst>
              <a:ext uri="{FF2B5EF4-FFF2-40B4-BE49-F238E27FC236}">
                <a16:creationId xmlns:a16="http://schemas.microsoft.com/office/drawing/2014/main" id="{8EC134B5-60C8-9B46-BDBF-7D82A104D36B}"/>
              </a:ext>
            </a:extLst>
          </p:cNvPr>
          <p:cNvSpPr/>
          <p:nvPr/>
        </p:nvSpPr>
        <p:spPr>
          <a:xfrm>
            <a:off x="503238" y="923768"/>
            <a:ext cx="4899611" cy="5693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DEFINICIÓN DE CALIDAD</a:t>
            </a:r>
            <a:endParaRPr dirty="0"/>
          </a:p>
          <a:p>
            <a:pPr marL="180975" marR="0" lvl="0" indent="-180975"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Pensemos un momento y elijamos cuál es la respuesta:</a:t>
            </a:r>
            <a:endParaRPr dirty="0"/>
          </a:p>
        </p:txBody>
      </p:sp>
      <p:sp>
        <p:nvSpPr>
          <p:cNvPr id="11" name="Google Shape;83;p6">
            <a:extLst>
              <a:ext uri="{FF2B5EF4-FFF2-40B4-BE49-F238E27FC236}">
                <a16:creationId xmlns:a16="http://schemas.microsoft.com/office/drawing/2014/main" id="{218BE0B9-07E4-774B-AB5B-C7ABA03AADFB}"/>
              </a:ext>
            </a:extLst>
          </p:cNvPr>
          <p:cNvSpPr txBox="1"/>
          <p:nvPr/>
        </p:nvSpPr>
        <p:spPr>
          <a:xfrm>
            <a:off x="531118" y="5037491"/>
            <a:ext cx="4572000"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www.buenastareas.com</a:t>
            </a:r>
            <a:endParaRPr dirty="0">
              <a:solidFill>
                <a:schemeClr val="bg1">
                  <a:lumMod val="50000"/>
                </a:schemeClr>
              </a:solidFill>
            </a:endParaRPr>
          </a:p>
        </p:txBody>
      </p:sp>
      <p:sp>
        <p:nvSpPr>
          <p:cNvPr id="12" name="Google Shape;333;p23">
            <a:extLst>
              <a:ext uri="{FF2B5EF4-FFF2-40B4-BE49-F238E27FC236}">
                <a16:creationId xmlns:a16="http://schemas.microsoft.com/office/drawing/2014/main" id="{A783AD14-C0BE-4A4C-9FBF-2D26831E4D7F}"/>
              </a:ext>
            </a:extLst>
          </p:cNvPr>
          <p:cNvSpPr/>
          <p:nvPr/>
        </p:nvSpPr>
        <p:spPr>
          <a:xfrm>
            <a:off x="719004" y="1707545"/>
            <a:ext cx="3673610" cy="501005"/>
          </a:xfrm>
          <a:prstGeom prst="roundRect">
            <a:avLst>
              <a:gd name="adj" fmla="val 18326"/>
            </a:avLst>
          </a:prstGeom>
          <a:solidFill>
            <a:srgbClr val="7150A0"/>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s-PE" sz="1400" b="1" dirty="0">
                <a:solidFill>
                  <a:schemeClr val="lt1"/>
                </a:solidFill>
                <a:latin typeface="Calibri"/>
                <a:ea typeface="Calibri"/>
                <a:cs typeface="Calibri"/>
                <a:sym typeface="Calibri"/>
              </a:rPr>
              <a:t>CONCEPTO A</a:t>
            </a:r>
          </a:p>
        </p:txBody>
      </p:sp>
      <p:sp>
        <p:nvSpPr>
          <p:cNvPr id="13" name="Google Shape;335;p23">
            <a:extLst>
              <a:ext uri="{FF2B5EF4-FFF2-40B4-BE49-F238E27FC236}">
                <a16:creationId xmlns:a16="http://schemas.microsoft.com/office/drawing/2014/main" id="{BF23698B-A7B0-5940-AE3D-29E63059E2ED}"/>
              </a:ext>
            </a:extLst>
          </p:cNvPr>
          <p:cNvSpPr/>
          <p:nvPr/>
        </p:nvSpPr>
        <p:spPr>
          <a:xfrm>
            <a:off x="719003" y="2282095"/>
            <a:ext cx="3673609" cy="968237"/>
          </a:xfrm>
          <a:prstGeom prst="roundRect">
            <a:avLst>
              <a:gd name="adj" fmla="val 8919"/>
            </a:avLst>
          </a:prstGeom>
          <a:solidFill>
            <a:srgbClr val="E3DCED"/>
          </a:solidFill>
          <a:ln>
            <a:noFill/>
          </a:ln>
        </p:spPr>
        <p:txBody>
          <a:bodyPr spcFirstLastPara="1" wrap="square" lIns="108000" tIns="108000" rIns="108000" bIns="45700" anchor="t" anchorCtr="0">
            <a:noAutofit/>
          </a:bodyPr>
          <a:lstStyle/>
          <a:p>
            <a:pPr marL="222250" marR="0" lvl="1" indent="-134938" algn="l" rtl="0">
              <a:lnSpc>
                <a:spcPct val="100000"/>
              </a:lnSpc>
              <a:spcBef>
                <a:spcPts val="0"/>
              </a:spcBef>
              <a:spcAft>
                <a:spcPts val="0"/>
              </a:spcAft>
              <a:buClr>
                <a:srgbClr val="7150A0"/>
              </a:buClr>
              <a:buSzPct val="100000"/>
              <a:buFont typeface="Arial" panose="020B0604020202020204" pitchFamily="34" charset="0"/>
              <a:buChar char="•"/>
            </a:pPr>
            <a:r>
              <a:rPr lang="es-PE" sz="1400" b="0" i="0" u="none" strike="noStrike" cap="none" dirty="0">
                <a:solidFill>
                  <a:srgbClr val="000000"/>
                </a:solidFill>
                <a:latin typeface="Calibri" panose="020F0502020204030204" pitchFamily="34" charset="0"/>
                <a:ea typeface="+mj-lt"/>
                <a:cs typeface="Calibri" panose="020F0502020204030204" pitchFamily="34" charset="0"/>
                <a:sym typeface="Arial"/>
              </a:rPr>
              <a:t>Calidad se define como un </a:t>
            </a:r>
            <a:r>
              <a:rPr lang="es-PE" sz="1400" b="1" i="0" u="none" strike="noStrike" cap="none" dirty="0">
                <a:solidFill>
                  <a:srgbClr val="7150A0"/>
                </a:solidFill>
                <a:latin typeface="Calibri" panose="020F0502020204030204" pitchFamily="34" charset="0"/>
                <a:ea typeface="+mj-lt"/>
                <a:cs typeface="Calibri" panose="020F0502020204030204" pitchFamily="34" charset="0"/>
                <a:sym typeface="Arial"/>
              </a:rPr>
              <a:t>conjunto de normas</a:t>
            </a:r>
            <a:r>
              <a:rPr lang="es-PE" sz="1400" b="0" i="0" u="none" strike="noStrike" cap="none" dirty="0">
                <a:solidFill>
                  <a:srgbClr val="000000"/>
                </a:solidFill>
                <a:latin typeface="Calibri" panose="020F0502020204030204" pitchFamily="34" charset="0"/>
                <a:ea typeface="+mj-lt"/>
                <a:cs typeface="Calibri" panose="020F0502020204030204" pitchFamily="34" charset="0"/>
                <a:sym typeface="Arial"/>
              </a:rPr>
              <a:t> para incorporar exigencias de alto nivel en la producción de un bien o servicio.</a:t>
            </a:r>
          </a:p>
        </p:txBody>
      </p:sp>
      <p:grpSp>
        <p:nvGrpSpPr>
          <p:cNvPr id="14" name="Agrupar 9">
            <a:extLst>
              <a:ext uri="{FF2B5EF4-FFF2-40B4-BE49-F238E27FC236}">
                <a16:creationId xmlns:a16="http://schemas.microsoft.com/office/drawing/2014/main" id="{EC197FB6-8CD8-8340-A1B7-C77EB4A604DD}"/>
              </a:ext>
            </a:extLst>
          </p:cNvPr>
          <p:cNvGrpSpPr/>
          <p:nvPr/>
        </p:nvGrpSpPr>
        <p:grpSpPr>
          <a:xfrm>
            <a:off x="503238" y="1756174"/>
            <a:ext cx="459474" cy="403823"/>
            <a:chOff x="5892512" y="2805541"/>
            <a:chExt cx="459474" cy="403823"/>
          </a:xfrm>
        </p:grpSpPr>
        <p:sp>
          <p:nvSpPr>
            <p:cNvPr id="15" name="Elipse 14">
              <a:extLst>
                <a:ext uri="{FF2B5EF4-FFF2-40B4-BE49-F238E27FC236}">
                  <a16:creationId xmlns:a16="http://schemas.microsoft.com/office/drawing/2014/main" id="{40A5858D-6B39-AC45-A821-4BC9BDF5A3C1}"/>
                </a:ext>
              </a:extLst>
            </p:cNvPr>
            <p:cNvSpPr/>
            <p:nvPr/>
          </p:nvSpPr>
          <p:spPr>
            <a:xfrm>
              <a:off x="5956277" y="2824919"/>
              <a:ext cx="395709" cy="376075"/>
            </a:xfrm>
            <a:prstGeom prst="ellipse">
              <a:avLst/>
            </a:prstGeom>
            <a:solidFill>
              <a:srgbClr val="6649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16" name="Elipse 15">
              <a:extLst>
                <a:ext uri="{FF2B5EF4-FFF2-40B4-BE49-F238E27FC236}">
                  <a16:creationId xmlns:a16="http://schemas.microsoft.com/office/drawing/2014/main" id="{0C11692D-29CA-F842-B30B-930F8DF759B0}"/>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17" name="Triángulo 16">
              <a:extLst>
                <a:ext uri="{FF2B5EF4-FFF2-40B4-BE49-F238E27FC236}">
                  <a16:creationId xmlns:a16="http://schemas.microsoft.com/office/drawing/2014/main" id="{C28CA602-2F3A-7341-AF8D-82AA27EC735D}"/>
                </a:ext>
              </a:extLst>
            </p:cNvPr>
            <p:cNvSpPr/>
            <p:nvPr/>
          </p:nvSpPr>
          <p:spPr>
            <a:xfrm rot="5400000">
              <a:off x="6076285" y="2946262"/>
              <a:ext cx="186870" cy="122381"/>
            </a:xfrm>
            <a:prstGeom prst="triangle">
              <a:avLst/>
            </a:prstGeom>
            <a:solidFill>
              <a:srgbClr val="715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grpSp>
      <p:sp>
        <p:nvSpPr>
          <p:cNvPr id="18" name="Google Shape;333;p23">
            <a:extLst>
              <a:ext uri="{FF2B5EF4-FFF2-40B4-BE49-F238E27FC236}">
                <a16:creationId xmlns:a16="http://schemas.microsoft.com/office/drawing/2014/main" id="{B0204622-B48E-9645-9F62-F31799E5AD1E}"/>
              </a:ext>
            </a:extLst>
          </p:cNvPr>
          <p:cNvSpPr/>
          <p:nvPr/>
        </p:nvSpPr>
        <p:spPr>
          <a:xfrm>
            <a:off x="719004" y="3390041"/>
            <a:ext cx="3673610" cy="501005"/>
          </a:xfrm>
          <a:prstGeom prst="roundRect">
            <a:avLst>
              <a:gd name="adj" fmla="val 18326"/>
            </a:avLst>
          </a:prstGeom>
          <a:solidFill>
            <a:srgbClr val="7150A0"/>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s-PE" sz="1400" b="1" dirty="0">
                <a:solidFill>
                  <a:schemeClr val="lt1"/>
                </a:solidFill>
                <a:latin typeface="Calibri"/>
                <a:ea typeface="Calibri"/>
                <a:cs typeface="Calibri"/>
                <a:sym typeface="Calibri"/>
              </a:rPr>
              <a:t>CONCEPTO C</a:t>
            </a:r>
          </a:p>
        </p:txBody>
      </p:sp>
      <p:sp>
        <p:nvSpPr>
          <p:cNvPr id="19" name="Google Shape;335;p23">
            <a:extLst>
              <a:ext uri="{FF2B5EF4-FFF2-40B4-BE49-F238E27FC236}">
                <a16:creationId xmlns:a16="http://schemas.microsoft.com/office/drawing/2014/main" id="{14ACBE93-3DD2-304F-A6ED-63C68646E7FB}"/>
              </a:ext>
            </a:extLst>
          </p:cNvPr>
          <p:cNvSpPr/>
          <p:nvPr/>
        </p:nvSpPr>
        <p:spPr>
          <a:xfrm>
            <a:off x="719003" y="3964591"/>
            <a:ext cx="3673609" cy="968237"/>
          </a:xfrm>
          <a:prstGeom prst="roundRect">
            <a:avLst>
              <a:gd name="adj" fmla="val 8919"/>
            </a:avLst>
          </a:prstGeom>
          <a:solidFill>
            <a:srgbClr val="E3DCED"/>
          </a:solidFill>
          <a:ln>
            <a:noFill/>
          </a:ln>
        </p:spPr>
        <p:txBody>
          <a:bodyPr spcFirstLastPara="1" wrap="square" lIns="108000" tIns="108000" rIns="108000" bIns="45700" anchor="t" anchorCtr="0">
            <a:noAutofit/>
          </a:bodyPr>
          <a:lstStyle/>
          <a:p>
            <a:pPr marL="222250" marR="0" lvl="1" indent="-134938" algn="l" rtl="0">
              <a:lnSpc>
                <a:spcPct val="100000"/>
              </a:lnSpc>
              <a:spcBef>
                <a:spcPts val="0"/>
              </a:spcBef>
              <a:spcAft>
                <a:spcPts val="0"/>
              </a:spcAft>
              <a:buClr>
                <a:srgbClr val="7150A0"/>
              </a:buClr>
              <a:buSzPct val="100000"/>
              <a:buFont typeface="Arial" panose="020B0604020202020204" pitchFamily="34" charset="0"/>
              <a:buChar char="•"/>
            </a:pPr>
            <a:r>
              <a:rPr lang="es-PE" sz="1400" b="0" i="0" u="none" strike="noStrike" cap="none" dirty="0">
                <a:solidFill>
                  <a:srgbClr val="000000"/>
                </a:solidFill>
                <a:latin typeface="Calibri" panose="020F0502020204030204" pitchFamily="34" charset="0"/>
                <a:ea typeface="+mj-lt"/>
                <a:cs typeface="Calibri" panose="020F0502020204030204" pitchFamily="34" charset="0"/>
                <a:sym typeface="Calibri"/>
              </a:rPr>
              <a:t>Calidad se define como un </a:t>
            </a:r>
            <a:r>
              <a:rPr lang="es-PE" sz="1400" b="1" i="0" u="none" strike="noStrike" cap="none" dirty="0">
                <a:solidFill>
                  <a:srgbClr val="7150A0"/>
                </a:solidFill>
                <a:latin typeface="Calibri" panose="020F0502020204030204" pitchFamily="34" charset="0"/>
                <a:ea typeface="+mj-lt"/>
                <a:cs typeface="Calibri" panose="020F0502020204030204" pitchFamily="34" charset="0"/>
                <a:sym typeface="Calibri"/>
              </a:rPr>
              <a:t>conjunto de cualidades o propiedades</a:t>
            </a:r>
            <a:r>
              <a:rPr lang="es-PE" sz="1400" b="0" i="0" u="none" strike="noStrike" cap="none" dirty="0">
                <a:solidFill>
                  <a:srgbClr val="000000"/>
                </a:solidFill>
                <a:latin typeface="Calibri" panose="020F0502020204030204" pitchFamily="34" charset="0"/>
                <a:ea typeface="+mj-lt"/>
                <a:cs typeface="Calibri" panose="020F0502020204030204" pitchFamily="34" charset="0"/>
                <a:sym typeface="Calibri"/>
              </a:rPr>
              <a:t> que constituyen la manera de ser de una persona o cosa.</a:t>
            </a:r>
          </a:p>
        </p:txBody>
      </p:sp>
      <p:grpSp>
        <p:nvGrpSpPr>
          <p:cNvPr id="20" name="Agrupar 9">
            <a:extLst>
              <a:ext uri="{FF2B5EF4-FFF2-40B4-BE49-F238E27FC236}">
                <a16:creationId xmlns:a16="http://schemas.microsoft.com/office/drawing/2014/main" id="{EE0EC7B7-78C9-CF4B-9A35-E264687681B8}"/>
              </a:ext>
            </a:extLst>
          </p:cNvPr>
          <p:cNvGrpSpPr/>
          <p:nvPr/>
        </p:nvGrpSpPr>
        <p:grpSpPr>
          <a:xfrm>
            <a:off x="503238" y="3438670"/>
            <a:ext cx="459474" cy="403823"/>
            <a:chOff x="5892512" y="2805541"/>
            <a:chExt cx="459474" cy="403823"/>
          </a:xfrm>
        </p:grpSpPr>
        <p:sp>
          <p:nvSpPr>
            <p:cNvPr id="21" name="Elipse 20">
              <a:extLst>
                <a:ext uri="{FF2B5EF4-FFF2-40B4-BE49-F238E27FC236}">
                  <a16:creationId xmlns:a16="http://schemas.microsoft.com/office/drawing/2014/main" id="{522D10E4-5A83-CD45-9426-72BBA2AF6EA6}"/>
                </a:ext>
              </a:extLst>
            </p:cNvPr>
            <p:cNvSpPr/>
            <p:nvPr/>
          </p:nvSpPr>
          <p:spPr>
            <a:xfrm>
              <a:off x="5956277" y="2824919"/>
              <a:ext cx="395709" cy="376075"/>
            </a:xfrm>
            <a:prstGeom prst="ellipse">
              <a:avLst/>
            </a:prstGeom>
            <a:solidFill>
              <a:srgbClr val="6649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22" name="Elipse 21">
              <a:extLst>
                <a:ext uri="{FF2B5EF4-FFF2-40B4-BE49-F238E27FC236}">
                  <a16:creationId xmlns:a16="http://schemas.microsoft.com/office/drawing/2014/main" id="{6491804C-DC41-4044-A7A8-1C4AE235AC1A}"/>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23" name="Triángulo 22">
              <a:extLst>
                <a:ext uri="{FF2B5EF4-FFF2-40B4-BE49-F238E27FC236}">
                  <a16:creationId xmlns:a16="http://schemas.microsoft.com/office/drawing/2014/main" id="{52F0C78D-A726-C347-9008-DB91DA49CE27}"/>
                </a:ext>
              </a:extLst>
            </p:cNvPr>
            <p:cNvSpPr/>
            <p:nvPr/>
          </p:nvSpPr>
          <p:spPr>
            <a:xfrm rot="5400000">
              <a:off x="6076285" y="2946262"/>
              <a:ext cx="186870" cy="122381"/>
            </a:xfrm>
            <a:prstGeom prst="triangle">
              <a:avLst/>
            </a:prstGeom>
            <a:solidFill>
              <a:srgbClr val="715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grpSp>
      <p:sp>
        <p:nvSpPr>
          <p:cNvPr id="24" name="Google Shape;333;p23">
            <a:extLst>
              <a:ext uri="{FF2B5EF4-FFF2-40B4-BE49-F238E27FC236}">
                <a16:creationId xmlns:a16="http://schemas.microsoft.com/office/drawing/2014/main" id="{2843EC2B-105B-A349-9FC5-374343CE572C}"/>
              </a:ext>
            </a:extLst>
          </p:cNvPr>
          <p:cNvSpPr/>
          <p:nvPr/>
        </p:nvSpPr>
        <p:spPr>
          <a:xfrm>
            <a:off x="4769796" y="1707545"/>
            <a:ext cx="3673610" cy="501005"/>
          </a:xfrm>
          <a:prstGeom prst="roundRect">
            <a:avLst>
              <a:gd name="adj" fmla="val 18326"/>
            </a:avLst>
          </a:prstGeom>
          <a:solidFill>
            <a:srgbClr val="7150A0"/>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s-PE" sz="1400" b="1" dirty="0">
                <a:solidFill>
                  <a:schemeClr val="lt1"/>
                </a:solidFill>
                <a:latin typeface="Calibri"/>
                <a:ea typeface="Calibri"/>
                <a:cs typeface="Calibri"/>
                <a:sym typeface="Calibri"/>
              </a:rPr>
              <a:t>CONCEPTO B</a:t>
            </a:r>
          </a:p>
        </p:txBody>
      </p:sp>
      <p:sp>
        <p:nvSpPr>
          <p:cNvPr id="25" name="Google Shape;335;p23">
            <a:extLst>
              <a:ext uri="{FF2B5EF4-FFF2-40B4-BE49-F238E27FC236}">
                <a16:creationId xmlns:a16="http://schemas.microsoft.com/office/drawing/2014/main" id="{543AADB1-6781-DB41-B1AE-F3F56F147024}"/>
              </a:ext>
            </a:extLst>
          </p:cNvPr>
          <p:cNvSpPr/>
          <p:nvPr/>
        </p:nvSpPr>
        <p:spPr>
          <a:xfrm>
            <a:off x="4769795" y="2282095"/>
            <a:ext cx="3673609" cy="968237"/>
          </a:xfrm>
          <a:prstGeom prst="roundRect">
            <a:avLst>
              <a:gd name="adj" fmla="val 8919"/>
            </a:avLst>
          </a:prstGeom>
          <a:solidFill>
            <a:srgbClr val="E3DCED"/>
          </a:solidFill>
          <a:ln>
            <a:noFill/>
          </a:ln>
        </p:spPr>
        <p:txBody>
          <a:bodyPr spcFirstLastPara="1" wrap="square" lIns="108000" tIns="108000" rIns="108000" bIns="45700" anchor="t" anchorCtr="0">
            <a:noAutofit/>
          </a:bodyPr>
          <a:lstStyle/>
          <a:p>
            <a:pPr marL="222250" marR="0" lvl="1" indent="-134938" algn="l" rtl="0">
              <a:lnSpc>
                <a:spcPct val="100000"/>
              </a:lnSpc>
              <a:spcBef>
                <a:spcPts val="0"/>
              </a:spcBef>
              <a:spcAft>
                <a:spcPts val="0"/>
              </a:spcAft>
              <a:buClr>
                <a:srgbClr val="7150A0"/>
              </a:buClr>
              <a:buSzPct val="100000"/>
              <a:buFont typeface="Arial" panose="020B0604020202020204" pitchFamily="34" charset="0"/>
              <a:buChar char="•"/>
            </a:pPr>
            <a:r>
              <a:rPr lang="es-PE" sz="1300" b="0" i="0" u="none" strike="noStrike" cap="none" dirty="0">
                <a:solidFill>
                  <a:srgbClr val="000000"/>
                </a:solidFill>
                <a:latin typeface="Calibri" panose="020F0502020204030204" pitchFamily="34" charset="0"/>
                <a:ea typeface="+mj-lt"/>
                <a:cs typeface="Calibri" panose="020F0502020204030204" pitchFamily="34" charset="0"/>
                <a:sym typeface="Calibri"/>
              </a:rPr>
              <a:t>Calidad se define como un </a:t>
            </a:r>
            <a:r>
              <a:rPr lang="es-PE" sz="1300" b="1" i="0" u="none" strike="noStrike" cap="none" dirty="0">
                <a:solidFill>
                  <a:srgbClr val="7150A0"/>
                </a:solidFill>
                <a:latin typeface="Calibri" panose="020F0502020204030204" pitchFamily="34" charset="0"/>
                <a:ea typeface="+mj-lt"/>
                <a:cs typeface="Calibri" panose="020F0502020204030204" pitchFamily="34" charset="0"/>
                <a:sym typeface="Calibri"/>
              </a:rPr>
              <a:t>proceso</a:t>
            </a:r>
            <a:r>
              <a:rPr lang="es-PE" sz="1300" b="0" i="0" u="none" strike="noStrike" cap="none" dirty="0">
                <a:solidFill>
                  <a:srgbClr val="000000"/>
                </a:solidFill>
                <a:latin typeface="Calibri" panose="020F0502020204030204" pitchFamily="34" charset="0"/>
                <a:ea typeface="+mj-lt"/>
                <a:cs typeface="Calibri" panose="020F0502020204030204" pitchFamily="34" charset="0"/>
                <a:sym typeface="Calibri"/>
              </a:rPr>
              <a:t> a través del cual se aplican las mejores metodologías  o técnicas para obtener productos o    servicios inmejorables.</a:t>
            </a:r>
          </a:p>
        </p:txBody>
      </p:sp>
      <p:grpSp>
        <p:nvGrpSpPr>
          <p:cNvPr id="26" name="Agrupar 9">
            <a:extLst>
              <a:ext uri="{FF2B5EF4-FFF2-40B4-BE49-F238E27FC236}">
                <a16:creationId xmlns:a16="http://schemas.microsoft.com/office/drawing/2014/main" id="{88D8ECF6-A9B2-9C46-AB34-1020AF6ABEAA}"/>
              </a:ext>
            </a:extLst>
          </p:cNvPr>
          <p:cNvGrpSpPr/>
          <p:nvPr/>
        </p:nvGrpSpPr>
        <p:grpSpPr>
          <a:xfrm>
            <a:off x="4554030" y="1756174"/>
            <a:ext cx="459474" cy="403823"/>
            <a:chOff x="5892512" y="2805541"/>
            <a:chExt cx="459474" cy="403823"/>
          </a:xfrm>
        </p:grpSpPr>
        <p:sp>
          <p:nvSpPr>
            <p:cNvPr id="27" name="Elipse 26">
              <a:extLst>
                <a:ext uri="{FF2B5EF4-FFF2-40B4-BE49-F238E27FC236}">
                  <a16:creationId xmlns:a16="http://schemas.microsoft.com/office/drawing/2014/main" id="{CA73247C-FF46-1440-A539-8F082D00C851}"/>
                </a:ext>
              </a:extLst>
            </p:cNvPr>
            <p:cNvSpPr/>
            <p:nvPr/>
          </p:nvSpPr>
          <p:spPr>
            <a:xfrm>
              <a:off x="5956277" y="2824919"/>
              <a:ext cx="395709" cy="376075"/>
            </a:xfrm>
            <a:prstGeom prst="ellipse">
              <a:avLst/>
            </a:prstGeom>
            <a:solidFill>
              <a:srgbClr val="6649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28" name="Elipse 27">
              <a:extLst>
                <a:ext uri="{FF2B5EF4-FFF2-40B4-BE49-F238E27FC236}">
                  <a16:creationId xmlns:a16="http://schemas.microsoft.com/office/drawing/2014/main" id="{027C7748-B256-2542-A519-9F753068FF66}"/>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29" name="Triángulo 28">
              <a:extLst>
                <a:ext uri="{FF2B5EF4-FFF2-40B4-BE49-F238E27FC236}">
                  <a16:creationId xmlns:a16="http://schemas.microsoft.com/office/drawing/2014/main" id="{70DBA644-D5C3-EC4C-A389-B22144F0634E}"/>
                </a:ext>
              </a:extLst>
            </p:cNvPr>
            <p:cNvSpPr/>
            <p:nvPr/>
          </p:nvSpPr>
          <p:spPr>
            <a:xfrm rot="5400000">
              <a:off x="6076285" y="2946262"/>
              <a:ext cx="186870" cy="122381"/>
            </a:xfrm>
            <a:prstGeom prst="triangle">
              <a:avLst/>
            </a:prstGeom>
            <a:solidFill>
              <a:srgbClr val="715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grpSp>
      <p:sp>
        <p:nvSpPr>
          <p:cNvPr id="30" name="Google Shape;333;p23">
            <a:extLst>
              <a:ext uri="{FF2B5EF4-FFF2-40B4-BE49-F238E27FC236}">
                <a16:creationId xmlns:a16="http://schemas.microsoft.com/office/drawing/2014/main" id="{0CC654F3-C8A8-D241-B4CD-FD019920A546}"/>
              </a:ext>
            </a:extLst>
          </p:cNvPr>
          <p:cNvSpPr/>
          <p:nvPr/>
        </p:nvSpPr>
        <p:spPr>
          <a:xfrm>
            <a:off x="4769796" y="3390041"/>
            <a:ext cx="3673610" cy="501005"/>
          </a:xfrm>
          <a:prstGeom prst="roundRect">
            <a:avLst>
              <a:gd name="adj" fmla="val 18326"/>
            </a:avLst>
          </a:prstGeom>
          <a:solidFill>
            <a:srgbClr val="7150A0"/>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s-PE" sz="1400" b="1" dirty="0">
                <a:solidFill>
                  <a:schemeClr val="lt1"/>
                </a:solidFill>
                <a:latin typeface="Calibri"/>
                <a:ea typeface="Calibri"/>
                <a:cs typeface="Calibri"/>
                <a:sym typeface="Calibri"/>
              </a:rPr>
              <a:t>CONCEPTO D</a:t>
            </a:r>
          </a:p>
        </p:txBody>
      </p:sp>
      <p:sp>
        <p:nvSpPr>
          <p:cNvPr id="31" name="Google Shape;335;p23">
            <a:extLst>
              <a:ext uri="{FF2B5EF4-FFF2-40B4-BE49-F238E27FC236}">
                <a16:creationId xmlns:a16="http://schemas.microsoft.com/office/drawing/2014/main" id="{39E38727-C6BF-E348-83AF-D4EA5A2D1199}"/>
              </a:ext>
            </a:extLst>
          </p:cNvPr>
          <p:cNvSpPr/>
          <p:nvPr/>
        </p:nvSpPr>
        <p:spPr>
          <a:xfrm>
            <a:off x="4769795" y="3964591"/>
            <a:ext cx="3673609" cy="968237"/>
          </a:xfrm>
          <a:prstGeom prst="roundRect">
            <a:avLst>
              <a:gd name="adj" fmla="val 8919"/>
            </a:avLst>
          </a:prstGeom>
          <a:solidFill>
            <a:srgbClr val="E3DCED"/>
          </a:solidFill>
          <a:ln>
            <a:noFill/>
          </a:ln>
        </p:spPr>
        <p:txBody>
          <a:bodyPr spcFirstLastPara="1" wrap="square" lIns="108000" tIns="108000" rIns="108000" bIns="45700" anchor="t" anchorCtr="0">
            <a:noAutofit/>
          </a:bodyPr>
          <a:lstStyle/>
          <a:p>
            <a:pPr marL="222250" marR="0" lvl="1" indent="-134938" algn="l" rtl="0">
              <a:lnSpc>
                <a:spcPct val="100000"/>
              </a:lnSpc>
              <a:spcBef>
                <a:spcPts val="0"/>
              </a:spcBef>
              <a:spcAft>
                <a:spcPts val="0"/>
              </a:spcAft>
              <a:buClr>
                <a:srgbClr val="7150A0"/>
              </a:buClr>
              <a:buSzPct val="100000"/>
              <a:buFont typeface="Arial" panose="020B0604020202020204" pitchFamily="34" charset="0"/>
              <a:buChar char="•"/>
            </a:pPr>
            <a:r>
              <a:rPr lang="es-PE" sz="1400" b="0" i="0" u="none" strike="noStrike" cap="none" dirty="0">
                <a:solidFill>
                  <a:srgbClr val="000000"/>
                </a:solidFill>
                <a:latin typeface="Calibri" panose="020F0502020204030204" pitchFamily="34" charset="0"/>
                <a:ea typeface="+mj-lt"/>
                <a:cs typeface="Calibri" panose="020F0502020204030204" pitchFamily="34" charset="0"/>
                <a:sym typeface="Calibri"/>
              </a:rPr>
              <a:t>Calidad se define como un </a:t>
            </a:r>
            <a:r>
              <a:rPr lang="es-PE" sz="1400" b="1" i="0" u="none" strike="noStrike" cap="none" dirty="0">
                <a:solidFill>
                  <a:srgbClr val="7150A0"/>
                </a:solidFill>
                <a:latin typeface="Calibri" panose="020F0502020204030204" pitchFamily="34" charset="0"/>
                <a:ea typeface="+mj-lt"/>
                <a:cs typeface="Calibri" panose="020F0502020204030204" pitchFamily="34" charset="0"/>
                <a:sym typeface="Calibri"/>
              </a:rPr>
              <a:t>estándar</a:t>
            </a:r>
            <a:r>
              <a:rPr lang="es-PE" sz="1400" b="0" i="0" u="none" strike="noStrike" cap="none" dirty="0">
                <a:solidFill>
                  <a:srgbClr val="000000"/>
                </a:solidFill>
                <a:latin typeface="Calibri" panose="020F0502020204030204" pitchFamily="34" charset="0"/>
                <a:ea typeface="+mj-lt"/>
                <a:cs typeface="Calibri" panose="020F0502020204030204" pitchFamily="34" charset="0"/>
                <a:sym typeface="Calibri"/>
              </a:rPr>
              <a:t> que establece reglas para lograr la satisfacción total de los clientes o usuarios.</a:t>
            </a:r>
          </a:p>
        </p:txBody>
      </p:sp>
      <p:grpSp>
        <p:nvGrpSpPr>
          <p:cNvPr id="32" name="Agrupar 9">
            <a:extLst>
              <a:ext uri="{FF2B5EF4-FFF2-40B4-BE49-F238E27FC236}">
                <a16:creationId xmlns:a16="http://schemas.microsoft.com/office/drawing/2014/main" id="{909DCA00-37A4-AC44-A7DC-3C4223095CD5}"/>
              </a:ext>
            </a:extLst>
          </p:cNvPr>
          <p:cNvGrpSpPr/>
          <p:nvPr/>
        </p:nvGrpSpPr>
        <p:grpSpPr>
          <a:xfrm>
            <a:off x="4554030" y="3438670"/>
            <a:ext cx="459474" cy="403823"/>
            <a:chOff x="5892512" y="2805541"/>
            <a:chExt cx="459474" cy="403823"/>
          </a:xfrm>
        </p:grpSpPr>
        <p:sp>
          <p:nvSpPr>
            <p:cNvPr id="33" name="Elipse 32">
              <a:extLst>
                <a:ext uri="{FF2B5EF4-FFF2-40B4-BE49-F238E27FC236}">
                  <a16:creationId xmlns:a16="http://schemas.microsoft.com/office/drawing/2014/main" id="{46C2E0A3-C796-4D46-83C0-A29F080E98B5}"/>
                </a:ext>
              </a:extLst>
            </p:cNvPr>
            <p:cNvSpPr/>
            <p:nvPr/>
          </p:nvSpPr>
          <p:spPr>
            <a:xfrm>
              <a:off x="5956277" y="2824919"/>
              <a:ext cx="395709" cy="376075"/>
            </a:xfrm>
            <a:prstGeom prst="ellipse">
              <a:avLst/>
            </a:prstGeom>
            <a:solidFill>
              <a:srgbClr val="6649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34" name="Elipse 33">
              <a:extLst>
                <a:ext uri="{FF2B5EF4-FFF2-40B4-BE49-F238E27FC236}">
                  <a16:creationId xmlns:a16="http://schemas.microsoft.com/office/drawing/2014/main" id="{53154C07-38D8-404E-AF10-A4F5F70DC761}"/>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35" name="Triángulo 34">
              <a:extLst>
                <a:ext uri="{FF2B5EF4-FFF2-40B4-BE49-F238E27FC236}">
                  <a16:creationId xmlns:a16="http://schemas.microsoft.com/office/drawing/2014/main" id="{EF4831D0-FD7A-D04D-BED3-415EB9210EA1}"/>
                </a:ext>
              </a:extLst>
            </p:cNvPr>
            <p:cNvSpPr/>
            <p:nvPr/>
          </p:nvSpPr>
          <p:spPr>
            <a:xfrm rot="5400000">
              <a:off x="6076285" y="2946262"/>
              <a:ext cx="186870" cy="122381"/>
            </a:xfrm>
            <a:prstGeom prst="triangle">
              <a:avLst/>
            </a:prstGeom>
            <a:solidFill>
              <a:srgbClr val="715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10" name="Rectangle 5">
            <a:extLst>
              <a:ext uri="{FF2B5EF4-FFF2-40B4-BE49-F238E27FC236}">
                <a16:creationId xmlns:a16="http://schemas.microsoft.com/office/drawing/2014/main" id="{4F8BDECC-52E0-0248-9F63-58ACAA392680}"/>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CONCEPTOS Y DEFINICIONES BÁSICAS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11" name="Google Shape;78;p6">
            <a:extLst>
              <a:ext uri="{FF2B5EF4-FFF2-40B4-BE49-F238E27FC236}">
                <a16:creationId xmlns:a16="http://schemas.microsoft.com/office/drawing/2014/main" id="{AE8F7E9C-3EE1-414E-A9AA-BDD3FEBD0005}"/>
              </a:ext>
            </a:extLst>
          </p:cNvPr>
          <p:cNvSpPr/>
          <p:nvPr/>
        </p:nvSpPr>
        <p:spPr>
          <a:xfrm>
            <a:off x="503238" y="923768"/>
            <a:ext cx="4899611" cy="5693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DEFINICIÓN DE CALIDAD</a:t>
            </a:r>
            <a:endParaRPr dirty="0"/>
          </a:p>
          <a:p>
            <a:pPr marL="180975" marR="0" lvl="0" indent="-180975"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Pensemos un momento y elijamos cuál es la respuesta:</a:t>
            </a:r>
            <a:endParaRPr dirty="0"/>
          </a:p>
        </p:txBody>
      </p:sp>
      <p:sp>
        <p:nvSpPr>
          <p:cNvPr id="12" name="Google Shape;83;p6">
            <a:extLst>
              <a:ext uri="{FF2B5EF4-FFF2-40B4-BE49-F238E27FC236}">
                <a16:creationId xmlns:a16="http://schemas.microsoft.com/office/drawing/2014/main" id="{DFAACE00-44E3-264E-A3D7-4ADE001903BB}"/>
              </a:ext>
            </a:extLst>
          </p:cNvPr>
          <p:cNvSpPr txBox="1"/>
          <p:nvPr/>
        </p:nvSpPr>
        <p:spPr>
          <a:xfrm>
            <a:off x="531118" y="5037491"/>
            <a:ext cx="4572000"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www.buenastareas.com</a:t>
            </a:r>
            <a:endParaRPr dirty="0">
              <a:solidFill>
                <a:schemeClr val="bg1">
                  <a:lumMod val="50000"/>
                </a:schemeClr>
              </a:solidFill>
            </a:endParaRPr>
          </a:p>
        </p:txBody>
      </p:sp>
      <p:sp>
        <p:nvSpPr>
          <p:cNvPr id="13" name="Google Shape;333;p23">
            <a:extLst>
              <a:ext uri="{FF2B5EF4-FFF2-40B4-BE49-F238E27FC236}">
                <a16:creationId xmlns:a16="http://schemas.microsoft.com/office/drawing/2014/main" id="{EBA19713-7328-E847-AEBE-9466AF6B4B25}"/>
              </a:ext>
            </a:extLst>
          </p:cNvPr>
          <p:cNvSpPr/>
          <p:nvPr/>
        </p:nvSpPr>
        <p:spPr>
          <a:xfrm>
            <a:off x="719004" y="1707545"/>
            <a:ext cx="3673610" cy="501005"/>
          </a:xfrm>
          <a:prstGeom prst="roundRect">
            <a:avLst>
              <a:gd name="adj" fmla="val 18326"/>
            </a:avLst>
          </a:prstGeom>
          <a:solidFill>
            <a:schemeClr val="bg1">
              <a:lumMod val="75000"/>
            </a:schemeClr>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s-PE" sz="1400" b="1" dirty="0">
                <a:solidFill>
                  <a:schemeClr val="lt1"/>
                </a:solidFill>
                <a:latin typeface="Calibri"/>
                <a:ea typeface="Calibri"/>
                <a:cs typeface="Calibri"/>
                <a:sym typeface="Calibri"/>
              </a:rPr>
              <a:t>CONCEPTO A</a:t>
            </a:r>
          </a:p>
        </p:txBody>
      </p:sp>
      <p:sp>
        <p:nvSpPr>
          <p:cNvPr id="14" name="Google Shape;335;p23">
            <a:extLst>
              <a:ext uri="{FF2B5EF4-FFF2-40B4-BE49-F238E27FC236}">
                <a16:creationId xmlns:a16="http://schemas.microsoft.com/office/drawing/2014/main" id="{4CE8B2CE-1E14-BD40-A60D-3B56D02DC33B}"/>
              </a:ext>
            </a:extLst>
          </p:cNvPr>
          <p:cNvSpPr/>
          <p:nvPr/>
        </p:nvSpPr>
        <p:spPr>
          <a:xfrm>
            <a:off x="719003" y="2282095"/>
            <a:ext cx="3673609" cy="968237"/>
          </a:xfrm>
          <a:prstGeom prst="roundRect">
            <a:avLst>
              <a:gd name="adj" fmla="val 8919"/>
            </a:avLst>
          </a:prstGeom>
          <a:solidFill>
            <a:srgbClr val="D9DBE1"/>
          </a:solidFill>
          <a:ln>
            <a:noFill/>
          </a:ln>
        </p:spPr>
        <p:txBody>
          <a:bodyPr spcFirstLastPara="1" wrap="square" lIns="108000" tIns="108000" rIns="108000" bIns="45700" anchor="t" anchorCtr="0">
            <a:noAutofit/>
          </a:bodyPr>
          <a:lstStyle/>
          <a:p>
            <a:pPr marL="222250" marR="0" lvl="1" indent="-134938" algn="l" rtl="0">
              <a:lnSpc>
                <a:spcPct val="100000"/>
              </a:lnSpc>
              <a:spcBef>
                <a:spcPts val="0"/>
              </a:spcBef>
              <a:spcAft>
                <a:spcPts val="0"/>
              </a:spcAft>
              <a:buClr>
                <a:schemeClr val="bg1">
                  <a:lumMod val="95000"/>
                </a:schemeClr>
              </a:buClr>
              <a:buSzPct val="100000"/>
              <a:buFont typeface="Arial" panose="020B0604020202020204" pitchFamily="34" charset="0"/>
              <a:buChar char="•"/>
            </a:pPr>
            <a:r>
              <a:rPr lang="es-PE" sz="1400" b="0" i="0" u="none" strike="noStrike" cap="none" dirty="0">
                <a:solidFill>
                  <a:schemeClr val="bg1">
                    <a:lumMod val="95000"/>
                  </a:schemeClr>
                </a:solidFill>
                <a:latin typeface="Calibri" panose="020F0502020204030204" pitchFamily="34" charset="0"/>
                <a:ea typeface="+mj-lt"/>
                <a:cs typeface="Calibri" panose="020F0502020204030204" pitchFamily="34" charset="0"/>
                <a:sym typeface="Arial"/>
              </a:rPr>
              <a:t>Calidad se define como un </a:t>
            </a:r>
            <a:r>
              <a:rPr lang="es-PE" sz="1400" b="1" i="0" u="none" strike="noStrike" cap="none" dirty="0">
                <a:solidFill>
                  <a:schemeClr val="bg1">
                    <a:lumMod val="95000"/>
                  </a:schemeClr>
                </a:solidFill>
                <a:latin typeface="Calibri" panose="020F0502020204030204" pitchFamily="34" charset="0"/>
                <a:ea typeface="+mj-lt"/>
                <a:cs typeface="Calibri" panose="020F0502020204030204" pitchFamily="34" charset="0"/>
                <a:sym typeface="Arial"/>
              </a:rPr>
              <a:t>conjunto de normas</a:t>
            </a:r>
            <a:r>
              <a:rPr lang="es-PE" sz="1400" b="0" i="0" u="none" strike="noStrike" cap="none" dirty="0">
                <a:solidFill>
                  <a:schemeClr val="bg1">
                    <a:lumMod val="95000"/>
                  </a:schemeClr>
                </a:solidFill>
                <a:latin typeface="Calibri" panose="020F0502020204030204" pitchFamily="34" charset="0"/>
                <a:ea typeface="+mj-lt"/>
                <a:cs typeface="Calibri" panose="020F0502020204030204" pitchFamily="34" charset="0"/>
                <a:sym typeface="Arial"/>
              </a:rPr>
              <a:t> para incorporar exigencias de alto nivel en la producción de un bien o servicio.</a:t>
            </a:r>
          </a:p>
        </p:txBody>
      </p:sp>
      <p:grpSp>
        <p:nvGrpSpPr>
          <p:cNvPr id="15" name="Agrupar 9">
            <a:extLst>
              <a:ext uri="{FF2B5EF4-FFF2-40B4-BE49-F238E27FC236}">
                <a16:creationId xmlns:a16="http://schemas.microsoft.com/office/drawing/2014/main" id="{E19CCDFC-5DF5-E242-8261-8EE96DA7153C}"/>
              </a:ext>
            </a:extLst>
          </p:cNvPr>
          <p:cNvGrpSpPr/>
          <p:nvPr/>
        </p:nvGrpSpPr>
        <p:grpSpPr>
          <a:xfrm>
            <a:off x="503238" y="1756174"/>
            <a:ext cx="459474" cy="403823"/>
            <a:chOff x="5892512" y="2805541"/>
            <a:chExt cx="459474" cy="403823"/>
          </a:xfrm>
        </p:grpSpPr>
        <p:sp>
          <p:nvSpPr>
            <p:cNvPr id="16" name="Elipse 15">
              <a:extLst>
                <a:ext uri="{FF2B5EF4-FFF2-40B4-BE49-F238E27FC236}">
                  <a16:creationId xmlns:a16="http://schemas.microsoft.com/office/drawing/2014/main" id="{A3E95324-64CA-4541-B6D7-FFB5FFBEA307}"/>
                </a:ext>
              </a:extLst>
            </p:cNvPr>
            <p:cNvSpPr/>
            <p:nvPr/>
          </p:nvSpPr>
          <p:spPr>
            <a:xfrm>
              <a:off x="5956277" y="2824919"/>
              <a:ext cx="395709" cy="37607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17" name="Elipse 16">
              <a:extLst>
                <a:ext uri="{FF2B5EF4-FFF2-40B4-BE49-F238E27FC236}">
                  <a16:creationId xmlns:a16="http://schemas.microsoft.com/office/drawing/2014/main" id="{84CBC8B7-0E7C-6A44-8250-C11E24162270}"/>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18" name="Triángulo 17">
              <a:extLst>
                <a:ext uri="{FF2B5EF4-FFF2-40B4-BE49-F238E27FC236}">
                  <a16:creationId xmlns:a16="http://schemas.microsoft.com/office/drawing/2014/main" id="{D0307C3F-6358-1E41-976E-5D7EEB7F59BF}"/>
                </a:ext>
              </a:extLst>
            </p:cNvPr>
            <p:cNvSpPr/>
            <p:nvPr/>
          </p:nvSpPr>
          <p:spPr>
            <a:xfrm rot="5400000">
              <a:off x="6076285" y="2946262"/>
              <a:ext cx="186870" cy="122381"/>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grpSp>
      <p:sp>
        <p:nvSpPr>
          <p:cNvPr id="19" name="Google Shape;333;p23">
            <a:extLst>
              <a:ext uri="{FF2B5EF4-FFF2-40B4-BE49-F238E27FC236}">
                <a16:creationId xmlns:a16="http://schemas.microsoft.com/office/drawing/2014/main" id="{1FC4D224-9298-D44F-A143-551CAAB6C4C4}"/>
              </a:ext>
            </a:extLst>
          </p:cNvPr>
          <p:cNvSpPr/>
          <p:nvPr/>
        </p:nvSpPr>
        <p:spPr>
          <a:xfrm>
            <a:off x="719004" y="3390041"/>
            <a:ext cx="3673610" cy="501005"/>
          </a:xfrm>
          <a:prstGeom prst="roundRect">
            <a:avLst>
              <a:gd name="adj" fmla="val 18326"/>
            </a:avLst>
          </a:prstGeom>
          <a:solidFill>
            <a:srgbClr val="FDC212"/>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s-PE" sz="1400" b="1" dirty="0">
                <a:solidFill>
                  <a:schemeClr val="tx1"/>
                </a:solidFill>
                <a:latin typeface="Calibri"/>
                <a:ea typeface="Calibri"/>
                <a:cs typeface="Calibri"/>
                <a:sym typeface="Calibri"/>
              </a:rPr>
              <a:t>CONCEPTO C</a:t>
            </a:r>
          </a:p>
        </p:txBody>
      </p:sp>
      <p:sp>
        <p:nvSpPr>
          <p:cNvPr id="20" name="Google Shape;335;p23">
            <a:extLst>
              <a:ext uri="{FF2B5EF4-FFF2-40B4-BE49-F238E27FC236}">
                <a16:creationId xmlns:a16="http://schemas.microsoft.com/office/drawing/2014/main" id="{5EE1895D-1EE3-9642-BB63-66B415FD5F3D}"/>
              </a:ext>
            </a:extLst>
          </p:cNvPr>
          <p:cNvSpPr/>
          <p:nvPr/>
        </p:nvSpPr>
        <p:spPr>
          <a:xfrm>
            <a:off x="719003" y="3964591"/>
            <a:ext cx="3673609" cy="968237"/>
          </a:xfrm>
          <a:prstGeom prst="roundRect">
            <a:avLst>
              <a:gd name="adj" fmla="val 8919"/>
            </a:avLst>
          </a:prstGeom>
          <a:solidFill>
            <a:srgbClr val="FFEDBF"/>
          </a:solidFill>
          <a:ln>
            <a:noFill/>
          </a:ln>
        </p:spPr>
        <p:txBody>
          <a:bodyPr spcFirstLastPara="1" wrap="square" lIns="108000" tIns="108000" rIns="108000" bIns="45700" anchor="t" anchorCtr="0">
            <a:noAutofit/>
          </a:bodyPr>
          <a:lstStyle/>
          <a:p>
            <a:pPr marL="222250" marR="0" lvl="1" indent="-134938" algn="l" rtl="0">
              <a:lnSpc>
                <a:spcPct val="100000"/>
              </a:lnSpc>
              <a:spcBef>
                <a:spcPts val="0"/>
              </a:spcBef>
              <a:spcAft>
                <a:spcPts val="0"/>
              </a:spcAft>
              <a:buClr>
                <a:srgbClr val="7150A0"/>
              </a:buClr>
              <a:buSzPct val="100000"/>
              <a:buFont typeface="Arial" panose="020B0604020202020204" pitchFamily="34" charset="0"/>
              <a:buChar char="•"/>
            </a:pPr>
            <a:r>
              <a:rPr lang="es-PE" sz="1400" b="0" i="0" u="none" strike="noStrike" cap="none" dirty="0">
                <a:solidFill>
                  <a:srgbClr val="000000"/>
                </a:solidFill>
                <a:latin typeface="Calibri" panose="020F0502020204030204" pitchFamily="34" charset="0"/>
                <a:ea typeface="+mj-lt"/>
                <a:cs typeface="Calibri" panose="020F0502020204030204" pitchFamily="34" charset="0"/>
                <a:sym typeface="Calibri"/>
              </a:rPr>
              <a:t>Calidad se define como un </a:t>
            </a:r>
            <a:r>
              <a:rPr lang="es-PE" sz="1400" b="1" i="0" u="none" strike="noStrike" cap="none" dirty="0">
                <a:solidFill>
                  <a:srgbClr val="7150A0"/>
                </a:solidFill>
                <a:latin typeface="Calibri" panose="020F0502020204030204" pitchFamily="34" charset="0"/>
                <a:ea typeface="+mj-lt"/>
                <a:cs typeface="Calibri" panose="020F0502020204030204" pitchFamily="34" charset="0"/>
                <a:sym typeface="Calibri"/>
              </a:rPr>
              <a:t>conjunto de cualidades o propiedades</a:t>
            </a:r>
            <a:r>
              <a:rPr lang="es-PE" sz="1400" b="0" i="0" u="none" strike="noStrike" cap="none" dirty="0">
                <a:solidFill>
                  <a:srgbClr val="000000"/>
                </a:solidFill>
                <a:latin typeface="Calibri" panose="020F0502020204030204" pitchFamily="34" charset="0"/>
                <a:ea typeface="+mj-lt"/>
                <a:cs typeface="Calibri" panose="020F0502020204030204" pitchFamily="34" charset="0"/>
                <a:sym typeface="Calibri"/>
              </a:rPr>
              <a:t> que constituyen la manera de ser de una persona o cosa.</a:t>
            </a:r>
          </a:p>
        </p:txBody>
      </p:sp>
      <p:grpSp>
        <p:nvGrpSpPr>
          <p:cNvPr id="21" name="Agrupar 9">
            <a:extLst>
              <a:ext uri="{FF2B5EF4-FFF2-40B4-BE49-F238E27FC236}">
                <a16:creationId xmlns:a16="http://schemas.microsoft.com/office/drawing/2014/main" id="{421F6AA3-0A80-F540-B67F-88AA3A45487D}"/>
              </a:ext>
            </a:extLst>
          </p:cNvPr>
          <p:cNvGrpSpPr/>
          <p:nvPr/>
        </p:nvGrpSpPr>
        <p:grpSpPr>
          <a:xfrm>
            <a:off x="503238" y="3438670"/>
            <a:ext cx="459474" cy="403823"/>
            <a:chOff x="5892512" y="2805541"/>
            <a:chExt cx="459474" cy="403823"/>
          </a:xfrm>
        </p:grpSpPr>
        <p:sp>
          <p:nvSpPr>
            <p:cNvPr id="22" name="Elipse 21">
              <a:extLst>
                <a:ext uri="{FF2B5EF4-FFF2-40B4-BE49-F238E27FC236}">
                  <a16:creationId xmlns:a16="http://schemas.microsoft.com/office/drawing/2014/main" id="{74052825-E886-3640-BDCE-ABDCC071C108}"/>
                </a:ext>
              </a:extLst>
            </p:cNvPr>
            <p:cNvSpPr/>
            <p:nvPr/>
          </p:nvSpPr>
          <p:spPr>
            <a:xfrm>
              <a:off x="5956277" y="2824919"/>
              <a:ext cx="395709" cy="376075"/>
            </a:xfrm>
            <a:prstGeom prst="ellipse">
              <a:avLst/>
            </a:prstGeom>
            <a:solidFill>
              <a:srgbClr val="D2A3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23" name="Elipse 22">
              <a:extLst>
                <a:ext uri="{FF2B5EF4-FFF2-40B4-BE49-F238E27FC236}">
                  <a16:creationId xmlns:a16="http://schemas.microsoft.com/office/drawing/2014/main" id="{7A64D5F1-7A5D-F448-A19C-D547DD7E1ECF}"/>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24" name="Triángulo 23">
              <a:extLst>
                <a:ext uri="{FF2B5EF4-FFF2-40B4-BE49-F238E27FC236}">
                  <a16:creationId xmlns:a16="http://schemas.microsoft.com/office/drawing/2014/main" id="{ACE33C7B-2ECC-E94E-82D7-4922EB27EC0E}"/>
                </a:ext>
              </a:extLst>
            </p:cNvPr>
            <p:cNvSpPr/>
            <p:nvPr/>
          </p:nvSpPr>
          <p:spPr>
            <a:xfrm rot="5400000">
              <a:off x="6076285" y="2946262"/>
              <a:ext cx="186870" cy="122381"/>
            </a:xfrm>
            <a:prstGeom prst="triangle">
              <a:avLst/>
            </a:prstGeom>
            <a:solidFill>
              <a:srgbClr val="FDC2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grpSp>
      <p:sp>
        <p:nvSpPr>
          <p:cNvPr id="25" name="Google Shape;333;p23">
            <a:extLst>
              <a:ext uri="{FF2B5EF4-FFF2-40B4-BE49-F238E27FC236}">
                <a16:creationId xmlns:a16="http://schemas.microsoft.com/office/drawing/2014/main" id="{F5362196-CFE5-634D-B4D1-F305DDB1ACE0}"/>
              </a:ext>
            </a:extLst>
          </p:cNvPr>
          <p:cNvSpPr/>
          <p:nvPr/>
        </p:nvSpPr>
        <p:spPr>
          <a:xfrm>
            <a:off x="4769796" y="1707545"/>
            <a:ext cx="3673610" cy="501005"/>
          </a:xfrm>
          <a:prstGeom prst="roundRect">
            <a:avLst>
              <a:gd name="adj" fmla="val 18326"/>
            </a:avLst>
          </a:prstGeom>
          <a:solidFill>
            <a:schemeClr val="bg1">
              <a:lumMod val="75000"/>
            </a:schemeClr>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s-PE" sz="1400" b="1" dirty="0">
                <a:solidFill>
                  <a:schemeClr val="lt1"/>
                </a:solidFill>
                <a:latin typeface="Calibri"/>
                <a:ea typeface="Calibri"/>
                <a:cs typeface="Calibri"/>
                <a:sym typeface="Calibri"/>
              </a:rPr>
              <a:t>CONCEPTO B</a:t>
            </a:r>
          </a:p>
        </p:txBody>
      </p:sp>
      <p:sp>
        <p:nvSpPr>
          <p:cNvPr id="26" name="Google Shape;335;p23">
            <a:extLst>
              <a:ext uri="{FF2B5EF4-FFF2-40B4-BE49-F238E27FC236}">
                <a16:creationId xmlns:a16="http://schemas.microsoft.com/office/drawing/2014/main" id="{F08153A1-6C8A-1B45-A9E4-2F2759EC1DF8}"/>
              </a:ext>
            </a:extLst>
          </p:cNvPr>
          <p:cNvSpPr/>
          <p:nvPr/>
        </p:nvSpPr>
        <p:spPr>
          <a:xfrm>
            <a:off x="4769795" y="2282095"/>
            <a:ext cx="3673609" cy="968237"/>
          </a:xfrm>
          <a:prstGeom prst="roundRect">
            <a:avLst>
              <a:gd name="adj" fmla="val 8919"/>
            </a:avLst>
          </a:prstGeom>
          <a:solidFill>
            <a:srgbClr val="D9DBE1"/>
          </a:solidFill>
          <a:ln>
            <a:noFill/>
          </a:ln>
        </p:spPr>
        <p:txBody>
          <a:bodyPr spcFirstLastPara="1" wrap="square" lIns="108000" tIns="108000" rIns="108000" bIns="45700" anchor="t" anchorCtr="0">
            <a:noAutofit/>
          </a:bodyPr>
          <a:lstStyle/>
          <a:p>
            <a:pPr marL="222250" marR="0" lvl="1" indent="-134938" algn="l" rtl="0">
              <a:lnSpc>
                <a:spcPct val="100000"/>
              </a:lnSpc>
              <a:spcBef>
                <a:spcPts val="0"/>
              </a:spcBef>
              <a:spcAft>
                <a:spcPts val="0"/>
              </a:spcAft>
              <a:buClr>
                <a:schemeClr val="bg1">
                  <a:lumMod val="95000"/>
                </a:schemeClr>
              </a:buClr>
              <a:buSzPct val="100000"/>
              <a:buFont typeface="Arial" panose="020B0604020202020204" pitchFamily="34" charset="0"/>
              <a:buChar char="•"/>
            </a:pPr>
            <a:r>
              <a:rPr lang="es-PE" sz="1300" b="0" i="0" u="none" strike="noStrike" cap="none" dirty="0">
                <a:solidFill>
                  <a:schemeClr val="bg1">
                    <a:lumMod val="95000"/>
                  </a:schemeClr>
                </a:solidFill>
                <a:latin typeface="Calibri" panose="020F0502020204030204" pitchFamily="34" charset="0"/>
                <a:ea typeface="+mj-lt"/>
                <a:cs typeface="Calibri" panose="020F0502020204030204" pitchFamily="34" charset="0"/>
                <a:sym typeface="Calibri"/>
              </a:rPr>
              <a:t>Calidad se define como un </a:t>
            </a:r>
            <a:r>
              <a:rPr lang="es-PE" sz="1300" b="1" i="0" u="none" strike="noStrike" cap="none" dirty="0">
                <a:solidFill>
                  <a:schemeClr val="bg1">
                    <a:lumMod val="95000"/>
                  </a:schemeClr>
                </a:solidFill>
                <a:latin typeface="Calibri" panose="020F0502020204030204" pitchFamily="34" charset="0"/>
                <a:ea typeface="+mj-lt"/>
                <a:cs typeface="Calibri" panose="020F0502020204030204" pitchFamily="34" charset="0"/>
                <a:sym typeface="Calibri"/>
              </a:rPr>
              <a:t>proceso</a:t>
            </a:r>
            <a:r>
              <a:rPr lang="es-PE" sz="1300" b="0" i="0" u="none" strike="noStrike" cap="none" dirty="0">
                <a:solidFill>
                  <a:schemeClr val="bg1">
                    <a:lumMod val="95000"/>
                  </a:schemeClr>
                </a:solidFill>
                <a:latin typeface="Calibri" panose="020F0502020204030204" pitchFamily="34" charset="0"/>
                <a:ea typeface="+mj-lt"/>
                <a:cs typeface="Calibri" panose="020F0502020204030204" pitchFamily="34" charset="0"/>
                <a:sym typeface="Calibri"/>
              </a:rPr>
              <a:t> a través del cual se aplican las mejores metodologías  o técnicas para obtener productos o    servicios inmejorables.</a:t>
            </a:r>
          </a:p>
        </p:txBody>
      </p:sp>
      <p:grpSp>
        <p:nvGrpSpPr>
          <p:cNvPr id="27" name="Agrupar 9">
            <a:extLst>
              <a:ext uri="{FF2B5EF4-FFF2-40B4-BE49-F238E27FC236}">
                <a16:creationId xmlns:a16="http://schemas.microsoft.com/office/drawing/2014/main" id="{F16BC5C3-E8A9-AC44-BD97-E1D44CDCC770}"/>
              </a:ext>
            </a:extLst>
          </p:cNvPr>
          <p:cNvGrpSpPr/>
          <p:nvPr/>
        </p:nvGrpSpPr>
        <p:grpSpPr>
          <a:xfrm>
            <a:off x="4554030" y="1756174"/>
            <a:ext cx="459474" cy="403823"/>
            <a:chOff x="5892512" y="2805541"/>
            <a:chExt cx="459474" cy="403823"/>
          </a:xfrm>
        </p:grpSpPr>
        <p:sp>
          <p:nvSpPr>
            <p:cNvPr id="28" name="Elipse 27">
              <a:extLst>
                <a:ext uri="{FF2B5EF4-FFF2-40B4-BE49-F238E27FC236}">
                  <a16:creationId xmlns:a16="http://schemas.microsoft.com/office/drawing/2014/main" id="{421B2049-AF37-464F-9B9E-3A95C6ADB277}"/>
                </a:ext>
              </a:extLst>
            </p:cNvPr>
            <p:cNvSpPr/>
            <p:nvPr/>
          </p:nvSpPr>
          <p:spPr>
            <a:xfrm>
              <a:off x="5956277" y="2824919"/>
              <a:ext cx="395709" cy="37607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29" name="Elipse 28">
              <a:extLst>
                <a:ext uri="{FF2B5EF4-FFF2-40B4-BE49-F238E27FC236}">
                  <a16:creationId xmlns:a16="http://schemas.microsoft.com/office/drawing/2014/main" id="{0A48E213-0624-1647-A229-EB145741FE25}"/>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30" name="Triángulo 29">
              <a:extLst>
                <a:ext uri="{FF2B5EF4-FFF2-40B4-BE49-F238E27FC236}">
                  <a16:creationId xmlns:a16="http://schemas.microsoft.com/office/drawing/2014/main" id="{5BEAA917-9BB7-CC4C-BFAB-8C892ED42E11}"/>
                </a:ext>
              </a:extLst>
            </p:cNvPr>
            <p:cNvSpPr/>
            <p:nvPr/>
          </p:nvSpPr>
          <p:spPr>
            <a:xfrm rot="5400000">
              <a:off x="6076285" y="2946262"/>
              <a:ext cx="186870" cy="122381"/>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grpSp>
      <p:sp>
        <p:nvSpPr>
          <p:cNvPr id="31" name="Google Shape;333;p23">
            <a:extLst>
              <a:ext uri="{FF2B5EF4-FFF2-40B4-BE49-F238E27FC236}">
                <a16:creationId xmlns:a16="http://schemas.microsoft.com/office/drawing/2014/main" id="{0D4E1960-B4F2-7D4F-BFD8-BA4CCD892CE1}"/>
              </a:ext>
            </a:extLst>
          </p:cNvPr>
          <p:cNvSpPr/>
          <p:nvPr/>
        </p:nvSpPr>
        <p:spPr>
          <a:xfrm>
            <a:off x="4769796" y="3390041"/>
            <a:ext cx="3673610" cy="501005"/>
          </a:xfrm>
          <a:prstGeom prst="roundRect">
            <a:avLst>
              <a:gd name="adj" fmla="val 18326"/>
            </a:avLst>
          </a:prstGeom>
          <a:solidFill>
            <a:schemeClr val="bg1">
              <a:lumMod val="75000"/>
            </a:schemeClr>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s-PE" sz="1400" b="1" dirty="0">
                <a:solidFill>
                  <a:schemeClr val="lt1"/>
                </a:solidFill>
                <a:latin typeface="Calibri"/>
                <a:ea typeface="Calibri"/>
                <a:cs typeface="Calibri"/>
                <a:sym typeface="Calibri"/>
              </a:rPr>
              <a:t>CONCEPTO D</a:t>
            </a:r>
          </a:p>
        </p:txBody>
      </p:sp>
      <p:sp>
        <p:nvSpPr>
          <p:cNvPr id="32" name="Google Shape;335;p23">
            <a:extLst>
              <a:ext uri="{FF2B5EF4-FFF2-40B4-BE49-F238E27FC236}">
                <a16:creationId xmlns:a16="http://schemas.microsoft.com/office/drawing/2014/main" id="{15373762-77B9-2846-ADC5-BB1ACCAD4CBC}"/>
              </a:ext>
            </a:extLst>
          </p:cNvPr>
          <p:cNvSpPr/>
          <p:nvPr/>
        </p:nvSpPr>
        <p:spPr>
          <a:xfrm>
            <a:off x="4769795" y="3964591"/>
            <a:ext cx="3673609" cy="968237"/>
          </a:xfrm>
          <a:prstGeom prst="roundRect">
            <a:avLst>
              <a:gd name="adj" fmla="val 8919"/>
            </a:avLst>
          </a:prstGeom>
          <a:solidFill>
            <a:srgbClr val="D9DBE1"/>
          </a:solidFill>
          <a:ln>
            <a:noFill/>
          </a:ln>
        </p:spPr>
        <p:txBody>
          <a:bodyPr spcFirstLastPara="1" wrap="square" lIns="108000" tIns="108000" rIns="108000" bIns="45700" anchor="t" anchorCtr="0">
            <a:noAutofit/>
          </a:bodyPr>
          <a:lstStyle/>
          <a:p>
            <a:pPr marL="222250" marR="0" lvl="1" indent="-134938" algn="l" rtl="0">
              <a:lnSpc>
                <a:spcPct val="100000"/>
              </a:lnSpc>
              <a:spcBef>
                <a:spcPts val="0"/>
              </a:spcBef>
              <a:spcAft>
                <a:spcPts val="0"/>
              </a:spcAft>
              <a:buClr>
                <a:schemeClr val="bg1">
                  <a:lumMod val="95000"/>
                </a:schemeClr>
              </a:buClr>
              <a:buSzPct val="100000"/>
              <a:buFont typeface="Arial" panose="020B0604020202020204" pitchFamily="34" charset="0"/>
              <a:buChar char="•"/>
            </a:pPr>
            <a:r>
              <a:rPr lang="es-PE" sz="1400" b="0" i="0" u="none" strike="noStrike" cap="none" dirty="0">
                <a:solidFill>
                  <a:schemeClr val="bg1">
                    <a:lumMod val="95000"/>
                  </a:schemeClr>
                </a:solidFill>
                <a:latin typeface="Calibri" panose="020F0502020204030204" pitchFamily="34" charset="0"/>
                <a:ea typeface="+mj-lt"/>
                <a:cs typeface="Calibri" panose="020F0502020204030204" pitchFamily="34" charset="0"/>
                <a:sym typeface="Calibri"/>
              </a:rPr>
              <a:t>Calidad se define como un </a:t>
            </a:r>
            <a:r>
              <a:rPr lang="es-PE" sz="1400" b="1" i="0" u="none" strike="noStrike" cap="none" dirty="0">
                <a:solidFill>
                  <a:schemeClr val="bg1">
                    <a:lumMod val="95000"/>
                  </a:schemeClr>
                </a:solidFill>
                <a:latin typeface="Calibri" panose="020F0502020204030204" pitchFamily="34" charset="0"/>
                <a:ea typeface="+mj-lt"/>
                <a:cs typeface="Calibri" panose="020F0502020204030204" pitchFamily="34" charset="0"/>
                <a:sym typeface="Calibri"/>
              </a:rPr>
              <a:t>estándar</a:t>
            </a:r>
            <a:r>
              <a:rPr lang="es-PE" sz="1400" b="0" i="0" u="none" strike="noStrike" cap="none" dirty="0">
                <a:solidFill>
                  <a:schemeClr val="bg1">
                    <a:lumMod val="95000"/>
                  </a:schemeClr>
                </a:solidFill>
                <a:latin typeface="Calibri" panose="020F0502020204030204" pitchFamily="34" charset="0"/>
                <a:ea typeface="+mj-lt"/>
                <a:cs typeface="Calibri" panose="020F0502020204030204" pitchFamily="34" charset="0"/>
                <a:sym typeface="Calibri"/>
              </a:rPr>
              <a:t> que establece reglas para lograr la satisfacción total de los clientes o usuarios.</a:t>
            </a:r>
          </a:p>
        </p:txBody>
      </p:sp>
      <p:grpSp>
        <p:nvGrpSpPr>
          <p:cNvPr id="33" name="Agrupar 9">
            <a:extLst>
              <a:ext uri="{FF2B5EF4-FFF2-40B4-BE49-F238E27FC236}">
                <a16:creationId xmlns:a16="http://schemas.microsoft.com/office/drawing/2014/main" id="{40CEFC02-4844-CA40-90A5-DED8B889F5F8}"/>
              </a:ext>
            </a:extLst>
          </p:cNvPr>
          <p:cNvGrpSpPr/>
          <p:nvPr/>
        </p:nvGrpSpPr>
        <p:grpSpPr>
          <a:xfrm>
            <a:off x="4554030" y="3438670"/>
            <a:ext cx="459474" cy="403823"/>
            <a:chOff x="5892512" y="2805541"/>
            <a:chExt cx="459474" cy="403823"/>
          </a:xfrm>
        </p:grpSpPr>
        <p:sp>
          <p:nvSpPr>
            <p:cNvPr id="34" name="Elipse 33">
              <a:extLst>
                <a:ext uri="{FF2B5EF4-FFF2-40B4-BE49-F238E27FC236}">
                  <a16:creationId xmlns:a16="http://schemas.microsoft.com/office/drawing/2014/main" id="{4DD65DA4-7520-7344-8388-AD6CA0A7E19A}"/>
                </a:ext>
              </a:extLst>
            </p:cNvPr>
            <p:cNvSpPr/>
            <p:nvPr/>
          </p:nvSpPr>
          <p:spPr>
            <a:xfrm>
              <a:off x="5956277" y="2824919"/>
              <a:ext cx="395709" cy="37607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35" name="Elipse 34">
              <a:extLst>
                <a:ext uri="{FF2B5EF4-FFF2-40B4-BE49-F238E27FC236}">
                  <a16:creationId xmlns:a16="http://schemas.microsoft.com/office/drawing/2014/main" id="{54DD17DF-2AFD-DA4B-8BE3-BC91E1ADA067}"/>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36" name="Triángulo 35">
              <a:extLst>
                <a:ext uri="{FF2B5EF4-FFF2-40B4-BE49-F238E27FC236}">
                  <a16:creationId xmlns:a16="http://schemas.microsoft.com/office/drawing/2014/main" id="{A0228EAD-A90A-0947-9BE6-08F1F4894D8A}"/>
                </a:ext>
              </a:extLst>
            </p:cNvPr>
            <p:cNvSpPr/>
            <p:nvPr/>
          </p:nvSpPr>
          <p:spPr>
            <a:xfrm rot="5400000">
              <a:off x="6076285" y="2946262"/>
              <a:ext cx="186870" cy="122381"/>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grpSp>
      <p:sp>
        <p:nvSpPr>
          <p:cNvPr id="37" name="Rectángulo redondeado 36">
            <a:extLst>
              <a:ext uri="{FF2B5EF4-FFF2-40B4-BE49-F238E27FC236}">
                <a16:creationId xmlns:a16="http://schemas.microsoft.com/office/drawing/2014/main" id="{EF35DB80-167C-014A-AB15-0B0E6F86F0D7}"/>
              </a:ext>
            </a:extLst>
          </p:cNvPr>
          <p:cNvSpPr/>
          <p:nvPr/>
        </p:nvSpPr>
        <p:spPr>
          <a:xfrm>
            <a:off x="4727355" y="3389491"/>
            <a:ext cx="2920498" cy="1388527"/>
          </a:xfrm>
          <a:prstGeom prst="roundRect">
            <a:avLst>
              <a:gd name="adj" fmla="val 10124"/>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0488" marR="0" lvl="0" indent="0" algn="l" rtl="0">
              <a:lnSpc>
                <a:spcPct val="100000"/>
              </a:lnSpc>
              <a:spcBef>
                <a:spcPts val="0"/>
              </a:spcBef>
              <a:spcAft>
                <a:spcPts val="0"/>
              </a:spcAft>
              <a:buClr>
                <a:schemeClr val="lt1"/>
              </a:buClr>
              <a:buSzPts val="1400"/>
              <a:buFont typeface="Calibri"/>
              <a:buNone/>
            </a:pPr>
            <a:r>
              <a:rPr lang="es-PE" sz="1300" dirty="0">
                <a:solidFill>
                  <a:schemeClr val="lt1"/>
                </a:solidFill>
                <a:latin typeface="Calibri"/>
                <a:ea typeface="Calibri"/>
                <a:cs typeface="Calibri"/>
                <a:sym typeface="Calibri"/>
              </a:rPr>
              <a:t>La calidad no es un proceso, no es una norma, no es un estándar. La calidad es un “conjunto de cualidades” o “conjunto de características”</a:t>
            </a:r>
          </a:p>
        </p:txBody>
      </p:sp>
      <p:sp>
        <p:nvSpPr>
          <p:cNvPr id="38" name="Flecha derecha 37">
            <a:extLst>
              <a:ext uri="{FF2B5EF4-FFF2-40B4-BE49-F238E27FC236}">
                <a16:creationId xmlns:a16="http://schemas.microsoft.com/office/drawing/2014/main" id="{F20E6C15-6B83-C243-A93E-5EE89A4DFD6F}"/>
              </a:ext>
            </a:extLst>
          </p:cNvPr>
          <p:cNvSpPr/>
          <p:nvPr/>
        </p:nvSpPr>
        <p:spPr>
          <a:xfrm rot="10800000">
            <a:off x="4310395" y="4157504"/>
            <a:ext cx="319995" cy="329184"/>
          </a:xfrm>
          <a:prstGeom prst="rightArrow">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3" name="Google Shape;113;p9"/>
          <p:cNvSpPr/>
          <p:nvPr/>
        </p:nvSpPr>
        <p:spPr>
          <a:xfrm>
            <a:off x="503238" y="922658"/>
            <a:ext cx="8172450" cy="24622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b="1" dirty="0">
                <a:solidFill>
                  <a:schemeClr val="dk1"/>
                </a:solidFill>
                <a:latin typeface="Calibri"/>
                <a:ea typeface="Calibri"/>
                <a:cs typeface="Calibri"/>
                <a:sym typeface="Calibri"/>
              </a:rPr>
              <a:t>DIFERENTES CONCEPTOS REFERIDOS A CALIDAD</a:t>
            </a:r>
            <a:endParaRPr sz="1600" b="1" dirty="0">
              <a:solidFill>
                <a:schemeClr val="dk1"/>
              </a:solidFill>
              <a:latin typeface="Calibri"/>
              <a:ea typeface="Calibri"/>
              <a:cs typeface="Calibri"/>
              <a:sym typeface="Calibri"/>
            </a:endParaRPr>
          </a:p>
        </p:txBody>
      </p:sp>
      <p:sp>
        <p:nvSpPr>
          <p:cNvPr id="119" name="Google Shape;119;p9"/>
          <p:cNvSpPr/>
          <p:nvPr/>
        </p:nvSpPr>
        <p:spPr>
          <a:xfrm>
            <a:off x="3778035" y="3129490"/>
            <a:ext cx="1544320" cy="457200"/>
          </a:xfrm>
          <a:prstGeom prst="roundRect">
            <a:avLst>
              <a:gd name="adj" fmla="val 16667"/>
            </a:avLst>
          </a:prstGeom>
          <a:solidFill>
            <a:srgbClr val="715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b="1">
                <a:solidFill>
                  <a:schemeClr val="lt1"/>
                </a:solidFill>
                <a:latin typeface="Calibri"/>
                <a:ea typeface="Calibri"/>
                <a:cs typeface="Calibri"/>
                <a:sym typeface="Calibri"/>
              </a:rPr>
              <a:t>CALIDAD</a:t>
            </a:r>
            <a:endParaRPr/>
          </a:p>
        </p:txBody>
      </p:sp>
      <p:sp>
        <p:nvSpPr>
          <p:cNvPr id="120" name="Google Shape;120;p9"/>
          <p:cNvSpPr txBox="1"/>
          <p:nvPr/>
        </p:nvSpPr>
        <p:spPr>
          <a:xfrm>
            <a:off x="503238" y="5065431"/>
            <a:ext cx="3899556" cy="153888"/>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s-PE" sz="1000" dirty="0">
                <a:solidFill>
                  <a:schemeClr val="bg1">
                    <a:lumMod val="50000"/>
                  </a:schemeClr>
                </a:solidFill>
                <a:latin typeface="Calibri"/>
                <a:ea typeface="Calibri"/>
                <a:cs typeface="Calibri"/>
                <a:sym typeface="Calibri"/>
              </a:rPr>
              <a:t>www.buenastareas.com / scioteca.caf.com</a:t>
            </a:r>
            <a:endParaRPr dirty="0">
              <a:solidFill>
                <a:schemeClr val="bg1">
                  <a:lumMod val="50000"/>
                </a:schemeClr>
              </a:solidFill>
            </a:endParaRPr>
          </a:p>
        </p:txBody>
      </p:sp>
      <p:sp>
        <p:nvSpPr>
          <p:cNvPr id="11" name="Rectangle 5">
            <a:extLst>
              <a:ext uri="{FF2B5EF4-FFF2-40B4-BE49-F238E27FC236}">
                <a16:creationId xmlns:a16="http://schemas.microsoft.com/office/drawing/2014/main" id="{DB9910D0-B4CE-AD43-B8E1-17A70D0284D7}"/>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CONCEPTOS Y DEFINICIONES BÁSICAS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12" name="Rectángulo redondeado 11">
            <a:extLst>
              <a:ext uri="{FF2B5EF4-FFF2-40B4-BE49-F238E27FC236}">
                <a16:creationId xmlns:a16="http://schemas.microsoft.com/office/drawing/2014/main" id="{70B21F06-EA4E-F44B-9AAE-9A06F8C9317B}"/>
              </a:ext>
            </a:extLst>
          </p:cNvPr>
          <p:cNvSpPr/>
          <p:nvPr/>
        </p:nvSpPr>
        <p:spPr>
          <a:xfrm>
            <a:off x="845081" y="1954113"/>
            <a:ext cx="2158587" cy="1384105"/>
          </a:xfrm>
          <a:prstGeom prst="roundRect">
            <a:avLst>
              <a:gd name="adj" fmla="val 9445"/>
            </a:avLst>
          </a:prstGeom>
          <a:solidFill>
            <a:srgbClr val="D1EF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rtl="0">
              <a:lnSpc>
                <a:spcPct val="100000"/>
              </a:lnSpc>
              <a:spcBef>
                <a:spcPts val="0"/>
              </a:spcBef>
              <a:spcAft>
                <a:spcPts val="0"/>
              </a:spcAft>
              <a:buClr>
                <a:schemeClr val="dk1"/>
              </a:buClr>
              <a:buSzPts val="1100"/>
              <a:buFont typeface="Calibri"/>
              <a:buNone/>
            </a:pPr>
            <a:r>
              <a:rPr lang="es-PE" sz="1100" b="1" i="0" u="none" strike="noStrike" cap="none" dirty="0">
                <a:solidFill>
                  <a:schemeClr val="dk1"/>
                </a:solidFill>
                <a:latin typeface="Calibri"/>
                <a:ea typeface="Calibri"/>
                <a:cs typeface="Calibri"/>
                <a:sym typeface="Calibri"/>
              </a:rPr>
              <a:t>REAL ACADEMIA</a:t>
            </a:r>
            <a:endParaRPr lang="es-PE" sz="1100" dirty="0"/>
          </a:p>
          <a:p>
            <a:pPr marL="139700" marR="0" lvl="0" indent="-139700" algn="l" rtl="0">
              <a:lnSpc>
                <a:spcPct val="100000"/>
              </a:lnSpc>
              <a:spcBef>
                <a:spcPts val="0"/>
              </a:spcBef>
              <a:spcAft>
                <a:spcPts val="0"/>
              </a:spcAft>
              <a:buClr>
                <a:schemeClr val="dk1"/>
              </a:buClr>
              <a:buSzPts val="1100"/>
              <a:buFont typeface="Arial"/>
              <a:buChar char="•"/>
            </a:pPr>
            <a:r>
              <a:rPr lang="es-PE" sz="1100" b="0" i="0" u="none" strike="noStrike" cap="none" dirty="0">
                <a:solidFill>
                  <a:schemeClr val="dk1"/>
                </a:solidFill>
                <a:latin typeface="Calibri"/>
                <a:ea typeface="Calibri"/>
                <a:cs typeface="Calibri"/>
                <a:sym typeface="Calibri"/>
              </a:rPr>
              <a:t>Propiedad o conjunto de propiedades inherentes a una cosa que permiten apreciarla como igual, mejor o peor que las restantes de su especie.</a:t>
            </a:r>
          </a:p>
        </p:txBody>
      </p:sp>
      <p:sp>
        <p:nvSpPr>
          <p:cNvPr id="13" name="Flecha derecha 12">
            <a:extLst>
              <a:ext uri="{FF2B5EF4-FFF2-40B4-BE49-F238E27FC236}">
                <a16:creationId xmlns:a16="http://schemas.microsoft.com/office/drawing/2014/main" id="{455D8F77-02FA-7646-B66B-0098177369A8}"/>
              </a:ext>
            </a:extLst>
          </p:cNvPr>
          <p:cNvSpPr/>
          <p:nvPr/>
        </p:nvSpPr>
        <p:spPr>
          <a:xfrm rot="1510970">
            <a:off x="3050507" y="2813397"/>
            <a:ext cx="488118" cy="329184"/>
          </a:xfrm>
          <a:prstGeom prst="rightArrow">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4" name="Rectángulo redondeado 13">
            <a:extLst>
              <a:ext uri="{FF2B5EF4-FFF2-40B4-BE49-F238E27FC236}">
                <a16:creationId xmlns:a16="http://schemas.microsoft.com/office/drawing/2014/main" id="{191122C6-77D5-A746-A64D-4D39F83A9D4F}"/>
              </a:ext>
            </a:extLst>
          </p:cNvPr>
          <p:cNvSpPr/>
          <p:nvPr/>
        </p:nvSpPr>
        <p:spPr>
          <a:xfrm>
            <a:off x="924308" y="3724878"/>
            <a:ext cx="2616771" cy="1081696"/>
          </a:xfrm>
          <a:prstGeom prst="roundRect">
            <a:avLst>
              <a:gd name="adj" fmla="val 9445"/>
            </a:avLst>
          </a:prstGeom>
          <a:solidFill>
            <a:srgbClr val="D1EF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rtl="0">
              <a:lnSpc>
                <a:spcPct val="100000"/>
              </a:lnSpc>
              <a:spcBef>
                <a:spcPts val="0"/>
              </a:spcBef>
              <a:spcAft>
                <a:spcPts val="0"/>
              </a:spcAft>
              <a:buClr>
                <a:schemeClr val="dk1"/>
              </a:buClr>
              <a:buSzPts val="1100"/>
              <a:buFont typeface="Calibri"/>
              <a:buNone/>
            </a:pPr>
            <a:r>
              <a:rPr lang="es-PE" sz="1100" b="1" i="0" u="none" strike="noStrike" cap="none" dirty="0">
                <a:solidFill>
                  <a:schemeClr val="dk1"/>
                </a:solidFill>
                <a:latin typeface="Calibri"/>
                <a:ea typeface="Calibri"/>
                <a:cs typeface="Calibri"/>
                <a:sym typeface="Calibri"/>
              </a:rPr>
              <a:t>PUNTO DE VISTA DE PRODUCCIÓN</a:t>
            </a:r>
            <a:endParaRPr lang="es-PE" sz="1100" dirty="0"/>
          </a:p>
          <a:p>
            <a:pPr marL="139700" marR="0" lvl="0" indent="-139700" algn="l" rtl="0">
              <a:lnSpc>
                <a:spcPct val="100000"/>
              </a:lnSpc>
              <a:spcBef>
                <a:spcPts val="0"/>
              </a:spcBef>
              <a:spcAft>
                <a:spcPts val="0"/>
              </a:spcAft>
              <a:buClr>
                <a:schemeClr val="dk1"/>
              </a:buClr>
              <a:buSzPts val="1100"/>
              <a:buFont typeface="Arial"/>
              <a:buChar char="•"/>
            </a:pPr>
            <a:r>
              <a:rPr lang="es-PE" sz="1100" b="0" i="0" u="none" strike="noStrike" cap="none" dirty="0">
                <a:solidFill>
                  <a:schemeClr val="dk1"/>
                </a:solidFill>
                <a:latin typeface="Calibri"/>
                <a:ea typeface="Calibri"/>
                <a:cs typeface="Calibri"/>
                <a:sym typeface="Calibri"/>
              </a:rPr>
              <a:t>Grado de cumplimiento en la conformidad de las especificaciones del diseño de un producto.</a:t>
            </a:r>
          </a:p>
        </p:txBody>
      </p:sp>
      <p:sp>
        <p:nvSpPr>
          <p:cNvPr id="15" name="Flecha derecha 14">
            <a:extLst>
              <a:ext uri="{FF2B5EF4-FFF2-40B4-BE49-F238E27FC236}">
                <a16:creationId xmlns:a16="http://schemas.microsoft.com/office/drawing/2014/main" id="{C8260F83-6B5F-DA4D-822F-DC5583AC8C32}"/>
              </a:ext>
            </a:extLst>
          </p:cNvPr>
          <p:cNvSpPr/>
          <p:nvPr/>
        </p:nvSpPr>
        <p:spPr>
          <a:xfrm rot="19609902">
            <a:off x="3622817" y="3905073"/>
            <a:ext cx="488118" cy="329184"/>
          </a:xfrm>
          <a:prstGeom prst="rightArrow">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6" name="Rectángulo redondeado 15">
            <a:extLst>
              <a:ext uri="{FF2B5EF4-FFF2-40B4-BE49-F238E27FC236}">
                <a16:creationId xmlns:a16="http://schemas.microsoft.com/office/drawing/2014/main" id="{A15B4368-9D87-724C-AC15-472A50D5BDC4}"/>
              </a:ext>
            </a:extLst>
          </p:cNvPr>
          <p:cNvSpPr/>
          <p:nvPr/>
        </p:nvSpPr>
        <p:spPr>
          <a:xfrm>
            <a:off x="3263614" y="1391879"/>
            <a:ext cx="2616771" cy="934335"/>
          </a:xfrm>
          <a:prstGeom prst="roundRect">
            <a:avLst>
              <a:gd name="adj" fmla="val 9445"/>
            </a:avLst>
          </a:prstGeom>
          <a:solidFill>
            <a:srgbClr val="D1EF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rtl="0">
              <a:lnSpc>
                <a:spcPct val="100000"/>
              </a:lnSpc>
              <a:spcBef>
                <a:spcPts val="0"/>
              </a:spcBef>
              <a:spcAft>
                <a:spcPts val="0"/>
              </a:spcAft>
              <a:buClr>
                <a:schemeClr val="dk1"/>
              </a:buClr>
              <a:buSzPts val="1100"/>
              <a:buFont typeface="Calibri"/>
              <a:buNone/>
            </a:pPr>
            <a:r>
              <a:rPr lang="es-PE" sz="1100" b="1" i="0" u="none" strike="noStrike" cap="none" dirty="0">
                <a:solidFill>
                  <a:schemeClr val="dk1"/>
                </a:solidFill>
                <a:latin typeface="Calibri"/>
                <a:ea typeface="Calibri"/>
                <a:cs typeface="Calibri"/>
                <a:sym typeface="Calibri"/>
              </a:rPr>
              <a:t>PUNTO DE VISTA DE TI DATOS</a:t>
            </a:r>
            <a:endParaRPr lang="es-PE" sz="1100" dirty="0"/>
          </a:p>
          <a:p>
            <a:pPr marL="139700" marR="0" lvl="0" indent="-139700" algn="l" rtl="0">
              <a:lnSpc>
                <a:spcPct val="100000"/>
              </a:lnSpc>
              <a:spcBef>
                <a:spcPts val="0"/>
              </a:spcBef>
              <a:spcAft>
                <a:spcPts val="0"/>
              </a:spcAft>
              <a:buClr>
                <a:schemeClr val="dk1"/>
              </a:buClr>
              <a:buSzPts val="1100"/>
              <a:buFont typeface="Arial"/>
              <a:buChar char="•"/>
            </a:pPr>
            <a:r>
              <a:rPr lang="es-PE" sz="1100" b="0" i="0" u="none" strike="noStrike" cap="none" dirty="0">
                <a:solidFill>
                  <a:schemeClr val="dk1"/>
                </a:solidFill>
                <a:latin typeface="Calibri"/>
                <a:ea typeface="Calibri"/>
                <a:cs typeface="Calibri"/>
                <a:sym typeface="Calibri"/>
              </a:rPr>
              <a:t>Datos capturados, procesados, almacenados y entregados son un fiel reflejo de la realidad.</a:t>
            </a:r>
          </a:p>
        </p:txBody>
      </p:sp>
      <p:sp>
        <p:nvSpPr>
          <p:cNvPr id="17" name="Flecha derecha 16">
            <a:extLst>
              <a:ext uri="{FF2B5EF4-FFF2-40B4-BE49-F238E27FC236}">
                <a16:creationId xmlns:a16="http://schemas.microsoft.com/office/drawing/2014/main" id="{5DA39CFE-0DEC-2942-9125-056E2D80E20D}"/>
              </a:ext>
            </a:extLst>
          </p:cNvPr>
          <p:cNvSpPr/>
          <p:nvPr/>
        </p:nvSpPr>
        <p:spPr>
          <a:xfrm rot="5400000">
            <a:off x="4323327" y="2543319"/>
            <a:ext cx="488118" cy="329184"/>
          </a:xfrm>
          <a:prstGeom prst="rightArrow">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8" name="Rectángulo redondeado 17">
            <a:extLst>
              <a:ext uri="{FF2B5EF4-FFF2-40B4-BE49-F238E27FC236}">
                <a16:creationId xmlns:a16="http://schemas.microsoft.com/office/drawing/2014/main" id="{81A08C29-A745-864D-9FAB-988A9033564E}"/>
              </a:ext>
            </a:extLst>
          </p:cNvPr>
          <p:cNvSpPr/>
          <p:nvPr/>
        </p:nvSpPr>
        <p:spPr>
          <a:xfrm>
            <a:off x="6166889" y="2282003"/>
            <a:ext cx="2158587" cy="1010495"/>
          </a:xfrm>
          <a:prstGeom prst="roundRect">
            <a:avLst>
              <a:gd name="adj" fmla="val 9445"/>
            </a:avLst>
          </a:prstGeom>
          <a:solidFill>
            <a:srgbClr val="D1EF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rtl="0">
              <a:lnSpc>
                <a:spcPct val="100000"/>
              </a:lnSpc>
              <a:spcBef>
                <a:spcPts val="0"/>
              </a:spcBef>
              <a:spcAft>
                <a:spcPts val="0"/>
              </a:spcAft>
              <a:buClr>
                <a:schemeClr val="dk1"/>
              </a:buClr>
              <a:buSzPts val="1100"/>
              <a:buFont typeface="Calibri"/>
              <a:buNone/>
            </a:pPr>
            <a:r>
              <a:rPr lang="es-PE" sz="1100" b="1" i="0" u="none" strike="noStrike" cap="none" dirty="0">
                <a:solidFill>
                  <a:schemeClr val="dk1"/>
                </a:solidFill>
                <a:latin typeface="Calibri"/>
                <a:ea typeface="Calibri"/>
                <a:cs typeface="Calibri"/>
                <a:sym typeface="Calibri"/>
              </a:rPr>
              <a:t>ISO</a:t>
            </a:r>
            <a:endParaRPr lang="es-PE" sz="1100" dirty="0"/>
          </a:p>
          <a:p>
            <a:pPr marL="139700" marR="0" lvl="0" indent="-139700" algn="l" rtl="0">
              <a:lnSpc>
                <a:spcPct val="100000"/>
              </a:lnSpc>
              <a:spcBef>
                <a:spcPts val="0"/>
              </a:spcBef>
              <a:spcAft>
                <a:spcPts val="0"/>
              </a:spcAft>
              <a:buClr>
                <a:schemeClr val="dk1"/>
              </a:buClr>
              <a:buSzPts val="1100"/>
              <a:buFont typeface="Arial"/>
              <a:buChar char="•"/>
            </a:pPr>
            <a:r>
              <a:rPr lang="es-PE" sz="1100" b="0" i="0" u="none" strike="noStrike" cap="none" dirty="0">
                <a:solidFill>
                  <a:schemeClr val="dk1"/>
                </a:solidFill>
                <a:latin typeface="Calibri"/>
                <a:ea typeface="Calibri"/>
                <a:cs typeface="Calibri"/>
                <a:sym typeface="Calibri"/>
              </a:rPr>
              <a:t>Grado en el que un conjunto de características inherentes cumple con los requisitos.</a:t>
            </a:r>
          </a:p>
        </p:txBody>
      </p:sp>
      <p:sp>
        <p:nvSpPr>
          <p:cNvPr id="19" name="Flecha derecha 18">
            <a:extLst>
              <a:ext uri="{FF2B5EF4-FFF2-40B4-BE49-F238E27FC236}">
                <a16:creationId xmlns:a16="http://schemas.microsoft.com/office/drawing/2014/main" id="{27EE554C-8FE5-7445-AB79-0DEF9890AC38}"/>
              </a:ext>
            </a:extLst>
          </p:cNvPr>
          <p:cNvSpPr/>
          <p:nvPr/>
        </p:nvSpPr>
        <p:spPr>
          <a:xfrm rot="8387041">
            <a:off x="5553574" y="2782928"/>
            <a:ext cx="488118" cy="329184"/>
          </a:xfrm>
          <a:prstGeom prst="rightArrow">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20" name="Rectángulo redondeado 19">
            <a:extLst>
              <a:ext uri="{FF2B5EF4-FFF2-40B4-BE49-F238E27FC236}">
                <a16:creationId xmlns:a16="http://schemas.microsoft.com/office/drawing/2014/main" id="{A08FB672-A803-0A4A-A0D8-5B3369684950}"/>
              </a:ext>
            </a:extLst>
          </p:cNvPr>
          <p:cNvSpPr/>
          <p:nvPr/>
        </p:nvSpPr>
        <p:spPr>
          <a:xfrm>
            <a:off x="5602923" y="3707909"/>
            <a:ext cx="2330956" cy="1081696"/>
          </a:xfrm>
          <a:prstGeom prst="roundRect">
            <a:avLst>
              <a:gd name="adj" fmla="val 9445"/>
            </a:avLst>
          </a:prstGeom>
          <a:solidFill>
            <a:srgbClr val="D1EF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rtl="0">
              <a:lnSpc>
                <a:spcPct val="100000"/>
              </a:lnSpc>
              <a:spcBef>
                <a:spcPts val="0"/>
              </a:spcBef>
              <a:spcAft>
                <a:spcPts val="0"/>
              </a:spcAft>
              <a:buClr>
                <a:schemeClr val="dk1"/>
              </a:buClr>
              <a:buSzPts val="1100"/>
              <a:buFont typeface="Calibri"/>
              <a:buNone/>
            </a:pPr>
            <a:r>
              <a:rPr lang="es-PE" sz="1100" b="1" i="0" u="none" strike="noStrike" cap="none" dirty="0">
                <a:solidFill>
                  <a:schemeClr val="dk1"/>
                </a:solidFill>
                <a:latin typeface="Calibri"/>
                <a:ea typeface="Calibri"/>
                <a:cs typeface="Calibri"/>
                <a:sym typeface="Calibri"/>
              </a:rPr>
              <a:t>PUNTO DE VISTA DE USUARIO</a:t>
            </a:r>
            <a:endParaRPr lang="es-PE" sz="1100" dirty="0"/>
          </a:p>
          <a:p>
            <a:pPr marL="139700" marR="0" lvl="0" indent="-139700" algn="l" rtl="0">
              <a:lnSpc>
                <a:spcPct val="100000"/>
              </a:lnSpc>
              <a:spcBef>
                <a:spcPts val="0"/>
              </a:spcBef>
              <a:spcAft>
                <a:spcPts val="0"/>
              </a:spcAft>
              <a:buClr>
                <a:schemeClr val="dk1"/>
              </a:buClr>
              <a:buSzPts val="1100"/>
              <a:buFont typeface="Arial"/>
              <a:buChar char="•"/>
            </a:pPr>
            <a:r>
              <a:rPr lang="es-PE" sz="1100" b="0" i="0" u="none" strike="noStrike" cap="none" dirty="0">
                <a:solidFill>
                  <a:schemeClr val="dk1"/>
                </a:solidFill>
                <a:latin typeface="Calibri"/>
                <a:ea typeface="Calibri"/>
                <a:cs typeface="Calibri"/>
                <a:sym typeface="Calibri"/>
              </a:rPr>
              <a:t>Implica la capacidad de satisfacer a la vez los deseos de los consumidores o clientes.</a:t>
            </a:r>
          </a:p>
        </p:txBody>
      </p:sp>
      <p:sp>
        <p:nvSpPr>
          <p:cNvPr id="21" name="Flecha derecha 20">
            <a:extLst>
              <a:ext uri="{FF2B5EF4-FFF2-40B4-BE49-F238E27FC236}">
                <a16:creationId xmlns:a16="http://schemas.microsoft.com/office/drawing/2014/main" id="{03F5AAB8-DDD2-2A49-BFDB-CF0DDB5F6A9E}"/>
              </a:ext>
            </a:extLst>
          </p:cNvPr>
          <p:cNvSpPr/>
          <p:nvPr/>
        </p:nvSpPr>
        <p:spPr>
          <a:xfrm rot="13143749">
            <a:off x="4977403" y="3896704"/>
            <a:ext cx="488118" cy="329184"/>
          </a:xfrm>
          <a:prstGeom prst="rightArrow">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6" name="Google Shape;126;p10"/>
          <p:cNvSpPr/>
          <p:nvPr/>
        </p:nvSpPr>
        <p:spPr>
          <a:xfrm>
            <a:off x="503238" y="1442261"/>
            <a:ext cx="8172450" cy="24622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b="1" dirty="0">
                <a:solidFill>
                  <a:schemeClr val="dk1"/>
                </a:solidFill>
                <a:latin typeface="Calibri"/>
                <a:ea typeface="Calibri"/>
                <a:cs typeface="Calibri"/>
                <a:sym typeface="Calibri"/>
              </a:rPr>
              <a:t>CUALIDADES O CARACTERÍSTICAS DE UN PRODUCTO: PUNTERO LÁSER</a:t>
            </a:r>
            <a:endParaRPr sz="1600" b="1" dirty="0">
              <a:solidFill>
                <a:schemeClr val="dk1"/>
              </a:solidFill>
              <a:latin typeface="Calibri"/>
              <a:ea typeface="Calibri"/>
              <a:cs typeface="Calibri"/>
              <a:sym typeface="Calibri"/>
            </a:endParaRPr>
          </a:p>
        </p:txBody>
      </p:sp>
      <p:sp>
        <p:nvSpPr>
          <p:cNvPr id="9" name="Rectangle 5">
            <a:extLst>
              <a:ext uri="{FF2B5EF4-FFF2-40B4-BE49-F238E27FC236}">
                <a16:creationId xmlns:a16="http://schemas.microsoft.com/office/drawing/2014/main" id="{5882ECE7-A1C0-284D-8E21-881786CB846F}"/>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CONCEPTOS Y DEFINICIONES BÁSICAS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10" name="Rectángulo redondeado 9">
            <a:extLst>
              <a:ext uri="{FF2B5EF4-FFF2-40B4-BE49-F238E27FC236}">
                <a16:creationId xmlns:a16="http://schemas.microsoft.com/office/drawing/2014/main" id="{96DC64AC-E4DE-7844-822C-F8577D888306}"/>
              </a:ext>
            </a:extLst>
          </p:cNvPr>
          <p:cNvSpPr/>
          <p:nvPr/>
        </p:nvSpPr>
        <p:spPr>
          <a:xfrm>
            <a:off x="873107" y="1971107"/>
            <a:ext cx="1870094" cy="925224"/>
          </a:xfrm>
          <a:prstGeom prst="roundRect">
            <a:avLst>
              <a:gd name="adj" fmla="val 9445"/>
            </a:avLst>
          </a:prstGeom>
          <a:solidFill>
            <a:srgbClr val="D1EF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rtl="0">
              <a:lnSpc>
                <a:spcPct val="100000"/>
              </a:lnSpc>
              <a:spcBef>
                <a:spcPts val="0"/>
              </a:spcBef>
              <a:spcAft>
                <a:spcPts val="0"/>
              </a:spcAft>
              <a:buClr>
                <a:srgbClr val="D2032B"/>
              </a:buClr>
              <a:buSzPts val="1400"/>
              <a:buFont typeface="Calibri"/>
              <a:buNone/>
            </a:pPr>
            <a:r>
              <a:rPr lang="es-PE" b="1" i="0" u="none" strike="noStrike" cap="none" dirty="0">
                <a:solidFill>
                  <a:srgbClr val="EE4639"/>
                </a:solidFill>
                <a:latin typeface="Calibri"/>
                <a:ea typeface="Calibri"/>
                <a:cs typeface="Calibri"/>
                <a:sym typeface="Calibri"/>
              </a:rPr>
              <a:t>PESO</a:t>
            </a:r>
            <a:endParaRPr lang="es-PE" dirty="0">
              <a:solidFill>
                <a:srgbClr val="EE4639"/>
              </a:solidFill>
            </a:endParaRPr>
          </a:p>
          <a:p>
            <a:pPr marL="139700" marR="0" lvl="0" indent="-139700" algn="l" rtl="0">
              <a:lnSpc>
                <a:spcPct val="100000"/>
              </a:lnSpc>
              <a:spcBef>
                <a:spcPts val="0"/>
              </a:spcBef>
              <a:spcAft>
                <a:spcPts val="0"/>
              </a:spcAft>
              <a:buClr>
                <a:srgbClr val="000000"/>
              </a:buClr>
              <a:buSzPts val="1400"/>
              <a:buFont typeface="Arial"/>
              <a:buChar char="•"/>
            </a:pPr>
            <a:r>
              <a:rPr lang="es-PE" b="0" i="0" u="none" strike="noStrike" cap="none" dirty="0">
                <a:solidFill>
                  <a:srgbClr val="000000"/>
                </a:solidFill>
                <a:latin typeface="Calibri"/>
                <a:ea typeface="Calibri"/>
                <a:cs typeface="Calibri"/>
                <a:sym typeface="Calibri"/>
              </a:rPr>
              <a:t>Por ejemplo: 40 gr.</a:t>
            </a:r>
            <a:endParaRPr lang="es-PE" b="0" i="0" u="none" strike="noStrike" cap="none" dirty="0">
              <a:solidFill>
                <a:schemeClr val="dk1"/>
              </a:solidFill>
              <a:latin typeface="Calibri"/>
              <a:ea typeface="Calibri"/>
              <a:cs typeface="Calibri"/>
              <a:sym typeface="Calibri"/>
            </a:endParaRPr>
          </a:p>
        </p:txBody>
      </p:sp>
      <p:sp>
        <p:nvSpPr>
          <p:cNvPr id="11" name="Flecha derecha 10">
            <a:extLst>
              <a:ext uri="{FF2B5EF4-FFF2-40B4-BE49-F238E27FC236}">
                <a16:creationId xmlns:a16="http://schemas.microsoft.com/office/drawing/2014/main" id="{6DFCD39D-5CA4-A243-A7C0-3E09CA72E841}"/>
              </a:ext>
            </a:extLst>
          </p:cNvPr>
          <p:cNvSpPr/>
          <p:nvPr/>
        </p:nvSpPr>
        <p:spPr>
          <a:xfrm rot="1510970">
            <a:off x="2816564" y="2413294"/>
            <a:ext cx="488118" cy="329184"/>
          </a:xfrm>
          <a:prstGeom prst="rightArrow">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2" name="Rectángulo redondeado 11">
            <a:extLst>
              <a:ext uri="{FF2B5EF4-FFF2-40B4-BE49-F238E27FC236}">
                <a16:creationId xmlns:a16="http://schemas.microsoft.com/office/drawing/2014/main" id="{530B1708-0623-6F43-99C0-E20F5AF1DD6A}"/>
              </a:ext>
            </a:extLst>
          </p:cNvPr>
          <p:cNvSpPr/>
          <p:nvPr/>
        </p:nvSpPr>
        <p:spPr>
          <a:xfrm>
            <a:off x="873107" y="3461578"/>
            <a:ext cx="1870094" cy="1211005"/>
          </a:xfrm>
          <a:prstGeom prst="roundRect">
            <a:avLst>
              <a:gd name="adj" fmla="val 9445"/>
            </a:avLst>
          </a:prstGeom>
          <a:solidFill>
            <a:srgbClr val="D1EF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rtl="0">
              <a:lnSpc>
                <a:spcPct val="100000"/>
              </a:lnSpc>
              <a:spcBef>
                <a:spcPts val="0"/>
              </a:spcBef>
              <a:spcAft>
                <a:spcPts val="0"/>
              </a:spcAft>
              <a:buClr>
                <a:srgbClr val="D2032B"/>
              </a:buClr>
              <a:buSzPts val="1400"/>
              <a:buFont typeface="Calibri"/>
              <a:buNone/>
            </a:pPr>
            <a:r>
              <a:rPr lang="es-PE" sz="1400" b="1" i="0" u="none" strike="noStrike" cap="none" dirty="0">
                <a:solidFill>
                  <a:srgbClr val="EE4639"/>
                </a:solidFill>
                <a:latin typeface="Calibri"/>
                <a:ea typeface="Calibri"/>
                <a:cs typeface="Calibri"/>
                <a:sym typeface="Calibri"/>
              </a:rPr>
              <a:t>ALCANCE</a:t>
            </a:r>
            <a:endParaRPr lang="es-PE" dirty="0">
              <a:solidFill>
                <a:srgbClr val="EE4639"/>
              </a:solidFill>
            </a:endParaRPr>
          </a:p>
          <a:p>
            <a:pPr marL="139700" marR="0" lvl="0" indent="-139700" algn="l" rtl="0">
              <a:lnSpc>
                <a:spcPct val="100000"/>
              </a:lnSpc>
              <a:spcBef>
                <a:spcPts val="0"/>
              </a:spcBef>
              <a:spcAft>
                <a:spcPts val="0"/>
              </a:spcAft>
              <a:buClr>
                <a:srgbClr val="000000"/>
              </a:buClr>
              <a:buSzPts val="1400"/>
              <a:buFont typeface="Arial"/>
              <a:buChar char="•"/>
            </a:pPr>
            <a:r>
              <a:rPr lang="es-PE" sz="1400" b="0" i="0" u="none" strike="noStrike" cap="none" dirty="0">
                <a:solidFill>
                  <a:srgbClr val="000000"/>
                </a:solidFill>
                <a:latin typeface="Calibri"/>
                <a:ea typeface="Calibri"/>
                <a:cs typeface="Calibri"/>
                <a:sym typeface="Calibri"/>
              </a:rPr>
              <a:t>Por ejemplo: 150 metros del alcance del rayo de luz.</a:t>
            </a:r>
          </a:p>
        </p:txBody>
      </p:sp>
      <p:sp>
        <p:nvSpPr>
          <p:cNvPr id="13" name="Flecha derecha 12">
            <a:extLst>
              <a:ext uri="{FF2B5EF4-FFF2-40B4-BE49-F238E27FC236}">
                <a16:creationId xmlns:a16="http://schemas.microsoft.com/office/drawing/2014/main" id="{86EFC20D-6940-604D-8215-C620329A0BEA}"/>
              </a:ext>
            </a:extLst>
          </p:cNvPr>
          <p:cNvSpPr/>
          <p:nvPr/>
        </p:nvSpPr>
        <p:spPr>
          <a:xfrm rot="20358449">
            <a:off x="2820988" y="3902488"/>
            <a:ext cx="488118" cy="329184"/>
          </a:xfrm>
          <a:prstGeom prst="rightArrow">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4" name="Rectángulo redondeado 13">
            <a:extLst>
              <a:ext uri="{FF2B5EF4-FFF2-40B4-BE49-F238E27FC236}">
                <a16:creationId xmlns:a16="http://schemas.microsoft.com/office/drawing/2014/main" id="{9E5C4A90-A7B8-4A4B-9B43-596750762061}"/>
              </a:ext>
            </a:extLst>
          </p:cNvPr>
          <p:cNvSpPr/>
          <p:nvPr/>
        </p:nvSpPr>
        <p:spPr>
          <a:xfrm>
            <a:off x="6337449" y="1971107"/>
            <a:ext cx="2067877" cy="1366453"/>
          </a:xfrm>
          <a:prstGeom prst="roundRect">
            <a:avLst>
              <a:gd name="adj" fmla="val 9445"/>
            </a:avLst>
          </a:prstGeom>
          <a:solidFill>
            <a:srgbClr val="D1EF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rtl="0">
              <a:lnSpc>
                <a:spcPct val="100000"/>
              </a:lnSpc>
              <a:spcBef>
                <a:spcPts val="0"/>
              </a:spcBef>
              <a:spcAft>
                <a:spcPts val="0"/>
              </a:spcAft>
              <a:buClr>
                <a:srgbClr val="D2032B"/>
              </a:buClr>
              <a:buSzPts val="1400"/>
              <a:buFont typeface="Calibri"/>
              <a:buNone/>
            </a:pPr>
            <a:r>
              <a:rPr lang="es-PE" sz="1400" b="1" i="0" u="none" strike="noStrike" cap="none" dirty="0">
                <a:solidFill>
                  <a:srgbClr val="EE4639"/>
                </a:solidFill>
                <a:latin typeface="Calibri"/>
                <a:ea typeface="Calibri"/>
                <a:cs typeface="Calibri"/>
                <a:sym typeface="Calibri"/>
              </a:rPr>
              <a:t>DURACIÓN</a:t>
            </a:r>
            <a:endParaRPr lang="es-PE" dirty="0">
              <a:solidFill>
                <a:srgbClr val="EE4639"/>
              </a:solidFill>
            </a:endParaRPr>
          </a:p>
          <a:p>
            <a:pPr marL="180975" marR="0" lvl="0" indent="-171450" algn="l" rtl="0">
              <a:lnSpc>
                <a:spcPct val="100000"/>
              </a:lnSpc>
              <a:spcBef>
                <a:spcPts val="0"/>
              </a:spcBef>
              <a:spcAft>
                <a:spcPts val="0"/>
              </a:spcAft>
              <a:buClr>
                <a:srgbClr val="000000"/>
              </a:buClr>
              <a:buSzPts val="1400"/>
              <a:buFont typeface="Arial"/>
              <a:buChar char="•"/>
            </a:pPr>
            <a:r>
              <a:rPr lang="es-PE" sz="1400" b="0" i="0" u="none" strike="noStrike" cap="none" dirty="0">
                <a:solidFill>
                  <a:srgbClr val="000000"/>
                </a:solidFill>
                <a:latin typeface="Calibri"/>
                <a:ea typeface="Calibri"/>
                <a:cs typeface="Calibri"/>
                <a:sym typeface="Calibri"/>
              </a:rPr>
              <a:t>Por ejemplo: 8 horas si permanece encendido de forma ininterrumpida.</a:t>
            </a:r>
          </a:p>
        </p:txBody>
      </p:sp>
      <p:sp>
        <p:nvSpPr>
          <p:cNvPr id="15" name="Rectángulo redondeado 14">
            <a:extLst>
              <a:ext uri="{FF2B5EF4-FFF2-40B4-BE49-F238E27FC236}">
                <a16:creationId xmlns:a16="http://schemas.microsoft.com/office/drawing/2014/main" id="{1FCD8D80-81FE-4946-8744-3B77E4BED93E}"/>
              </a:ext>
            </a:extLst>
          </p:cNvPr>
          <p:cNvSpPr/>
          <p:nvPr/>
        </p:nvSpPr>
        <p:spPr>
          <a:xfrm>
            <a:off x="6337450" y="3461579"/>
            <a:ext cx="2067876" cy="1211005"/>
          </a:xfrm>
          <a:prstGeom prst="roundRect">
            <a:avLst>
              <a:gd name="adj" fmla="val 9445"/>
            </a:avLst>
          </a:prstGeom>
          <a:solidFill>
            <a:srgbClr val="D1EF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rtl="0">
              <a:lnSpc>
                <a:spcPct val="100000"/>
              </a:lnSpc>
              <a:spcBef>
                <a:spcPts val="0"/>
              </a:spcBef>
              <a:spcAft>
                <a:spcPts val="0"/>
              </a:spcAft>
              <a:buClr>
                <a:srgbClr val="D2032B"/>
              </a:buClr>
              <a:buSzPts val="1400"/>
              <a:buFont typeface="Calibri"/>
              <a:buNone/>
            </a:pPr>
            <a:r>
              <a:rPr lang="es-PE" sz="1400" b="1" i="0" u="none" strike="noStrike" cap="none" dirty="0">
                <a:solidFill>
                  <a:srgbClr val="EE4639"/>
                </a:solidFill>
                <a:latin typeface="Calibri"/>
                <a:ea typeface="Calibri"/>
                <a:cs typeface="Calibri"/>
                <a:sym typeface="Calibri"/>
              </a:rPr>
              <a:t>RESISTENCIA</a:t>
            </a:r>
            <a:endParaRPr lang="es-PE" dirty="0">
              <a:solidFill>
                <a:srgbClr val="EE4639"/>
              </a:solidFill>
            </a:endParaRPr>
          </a:p>
          <a:p>
            <a:pPr marL="139700" marR="0" lvl="0" indent="-139700" algn="l" rtl="0">
              <a:lnSpc>
                <a:spcPct val="100000"/>
              </a:lnSpc>
              <a:spcBef>
                <a:spcPts val="0"/>
              </a:spcBef>
              <a:spcAft>
                <a:spcPts val="0"/>
              </a:spcAft>
              <a:buClr>
                <a:srgbClr val="000000"/>
              </a:buClr>
              <a:buSzPts val="1400"/>
              <a:buFont typeface="Arial"/>
              <a:buChar char="•"/>
            </a:pPr>
            <a:r>
              <a:rPr lang="es-PE" sz="1400" b="0" i="0" u="none" strike="noStrike" cap="none" dirty="0">
                <a:solidFill>
                  <a:srgbClr val="000000"/>
                </a:solidFill>
                <a:latin typeface="Calibri"/>
                <a:ea typeface="Calibri"/>
                <a:cs typeface="Calibri"/>
                <a:sym typeface="Calibri"/>
              </a:rPr>
              <a:t>Por ejemplo: hasta 25 metros bajo el agua sin dañarse.</a:t>
            </a:r>
          </a:p>
        </p:txBody>
      </p:sp>
      <p:sp>
        <p:nvSpPr>
          <p:cNvPr id="16" name="Flecha derecha 15">
            <a:extLst>
              <a:ext uri="{FF2B5EF4-FFF2-40B4-BE49-F238E27FC236}">
                <a16:creationId xmlns:a16="http://schemas.microsoft.com/office/drawing/2014/main" id="{3C7CBB2B-2D48-3C45-A66A-92AB4D911DA2}"/>
              </a:ext>
            </a:extLst>
          </p:cNvPr>
          <p:cNvSpPr/>
          <p:nvPr/>
        </p:nvSpPr>
        <p:spPr>
          <a:xfrm rot="9058034">
            <a:off x="5787496" y="2408022"/>
            <a:ext cx="427010" cy="329184"/>
          </a:xfrm>
          <a:prstGeom prst="rightArrow">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7" name="Flecha derecha 16">
            <a:extLst>
              <a:ext uri="{FF2B5EF4-FFF2-40B4-BE49-F238E27FC236}">
                <a16:creationId xmlns:a16="http://schemas.microsoft.com/office/drawing/2014/main" id="{C4E6BD29-6239-D24F-9933-4254AF0C9140}"/>
              </a:ext>
            </a:extLst>
          </p:cNvPr>
          <p:cNvSpPr/>
          <p:nvPr/>
        </p:nvSpPr>
        <p:spPr>
          <a:xfrm rot="12816972">
            <a:off x="5789863" y="3902487"/>
            <a:ext cx="427010" cy="329184"/>
          </a:xfrm>
          <a:prstGeom prst="rightArrow">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3" name="Imagen 2">
            <a:extLst>
              <a:ext uri="{FF2B5EF4-FFF2-40B4-BE49-F238E27FC236}">
                <a16:creationId xmlns:a16="http://schemas.microsoft.com/office/drawing/2014/main" id="{626D7A50-3A9B-5A40-BE67-582756268B18}"/>
              </a:ext>
            </a:extLst>
          </p:cNvPr>
          <p:cNvPicPr>
            <a:picLocks noChangeAspect="1"/>
          </p:cNvPicPr>
          <p:nvPr/>
        </p:nvPicPr>
        <p:blipFill>
          <a:blip r:embed="rId3"/>
          <a:stretch>
            <a:fillRect/>
          </a:stretch>
        </p:blipFill>
        <p:spPr>
          <a:xfrm>
            <a:off x="3494970" y="2451087"/>
            <a:ext cx="2154057" cy="16160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26" name="Imagen 25">
            <a:extLst>
              <a:ext uri="{FF2B5EF4-FFF2-40B4-BE49-F238E27FC236}">
                <a16:creationId xmlns:a16="http://schemas.microsoft.com/office/drawing/2014/main" id="{F470408D-5323-9D47-85D3-548D5DDD0800}"/>
              </a:ext>
            </a:extLst>
          </p:cNvPr>
          <p:cNvPicPr>
            <a:picLocks noChangeAspect="1"/>
          </p:cNvPicPr>
          <p:nvPr/>
        </p:nvPicPr>
        <p:blipFill>
          <a:blip r:embed="rId4"/>
          <a:stretch>
            <a:fillRect/>
          </a:stretch>
        </p:blipFill>
        <p:spPr>
          <a:xfrm>
            <a:off x="473920" y="2465918"/>
            <a:ext cx="929678" cy="697469"/>
          </a:xfrm>
          <a:prstGeom prst="rect">
            <a:avLst/>
          </a:prstGeom>
        </p:spPr>
      </p:pic>
      <p:sp>
        <p:nvSpPr>
          <p:cNvPr id="137" name="Google Shape;137;p11"/>
          <p:cNvSpPr/>
          <p:nvPr/>
        </p:nvSpPr>
        <p:spPr>
          <a:xfrm>
            <a:off x="503238" y="912813"/>
            <a:ext cx="8172450" cy="24622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b="1" dirty="0">
                <a:solidFill>
                  <a:schemeClr val="dk1"/>
                </a:solidFill>
                <a:latin typeface="Calibri"/>
                <a:ea typeface="Calibri"/>
                <a:cs typeface="Calibri"/>
                <a:sym typeface="Calibri"/>
              </a:rPr>
              <a:t>CALIDAD: CONFORMIDAD DE REQUISITOS</a:t>
            </a:r>
            <a:endParaRPr sz="1600" b="1" dirty="0">
              <a:solidFill>
                <a:schemeClr val="dk1"/>
              </a:solidFill>
              <a:latin typeface="Calibri"/>
              <a:ea typeface="Calibri"/>
              <a:cs typeface="Calibri"/>
              <a:sym typeface="Calibri"/>
            </a:endParaRPr>
          </a:p>
        </p:txBody>
      </p:sp>
      <p:sp>
        <p:nvSpPr>
          <p:cNvPr id="138" name="Google Shape;138;p11"/>
          <p:cNvSpPr/>
          <p:nvPr/>
        </p:nvSpPr>
        <p:spPr>
          <a:xfrm>
            <a:off x="1476602" y="1334434"/>
            <a:ext cx="2180306" cy="332399"/>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PE" sz="1200" b="1" dirty="0">
                <a:solidFill>
                  <a:srgbClr val="EE4639"/>
                </a:solidFill>
                <a:latin typeface="Calibri"/>
                <a:ea typeface="Calibri"/>
                <a:cs typeface="Calibri"/>
                <a:sym typeface="Calibri"/>
              </a:rPr>
              <a:t>SITUACIÓN 1</a:t>
            </a:r>
            <a:endParaRPr dirty="0">
              <a:solidFill>
                <a:srgbClr val="EE4639"/>
              </a:solidFill>
            </a:endParaRPr>
          </a:p>
          <a:p>
            <a:pPr marL="139700" marR="0" lvl="0" indent="-139700" algn="l" rtl="0">
              <a:lnSpc>
                <a:spcPct val="90000"/>
              </a:lnSpc>
              <a:spcBef>
                <a:spcPts val="0"/>
              </a:spcBef>
              <a:spcAft>
                <a:spcPts val="0"/>
              </a:spcAft>
              <a:buClr>
                <a:schemeClr val="dk1"/>
              </a:buClr>
              <a:buSzPts val="1200"/>
              <a:buFont typeface="Arial"/>
              <a:buChar char="•"/>
            </a:pPr>
            <a:r>
              <a:rPr lang="es-PE" sz="1200" dirty="0">
                <a:solidFill>
                  <a:schemeClr val="dk1"/>
                </a:solidFill>
                <a:latin typeface="Calibri"/>
                <a:ea typeface="Calibri"/>
                <a:cs typeface="Calibri"/>
                <a:sym typeface="Calibri"/>
              </a:rPr>
              <a:t>Lo que se especificó</a:t>
            </a:r>
            <a:endParaRPr dirty="0"/>
          </a:p>
        </p:txBody>
      </p:sp>
      <p:sp>
        <p:nvSpPr>
          <p:cNvPr id="140" name="Google Shape;140;p11"/>
          <p:cNvSpPr/>
          <p:nvPr/>
        </p:nvSpPr>
        <p:spPr>
          <a:xfrm>
            <a:off x="495619" y="1973263"/>
            <a:ext cx="693587" cy="430887"/>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s-PE" sz="1400" b="1" dirty="0">
                <a:solidFill>
                  <a:schemeClr val="dk1"/>
                </a:solidFill>
                <a:latin typeface="Calibri"/>
                <a:ea typeface="Calibri"/>
                <a:cs typeface="Calibri"/>
                <a:sym typeface="Calibri"/>
              </a:rPr>
              <a:t>Puntero </a:t>
            </a:r>
          </a:p>
          <a:p>
            <a:pPr marL="0" marR="0" lvl="0" indent="0" rtl="0">
              <a:spcBef>
                <a:spcPts val="0"/>
              </a:spcBef>
              <a:spcAft>
                <a:spcPts val="0"/>
              </a:spcAft>
              <a:buNone/>
            </a:pPr>
            <a:r>
              <a:rPr lang="es-PE" sz="1400" b="1" dirty="0">
                <a:solidFill>
                  <a:schemeClr val="dk1"/>
                </a:solidFill>
                <a:latin typeface="Calibri"/>
                <a:ea typeface="Calibri"/>
                <a:cs typeface="Calibri"/>
                <a:sym typeface="Calibri"/>
              </a:rPr>
              <a:t>Láser</a:t>
            </a:r>
            <a:endParaRPr sz="1400" b="1" dirty="0">
              <a:solidFill>
                <a:schemeClr val="dk1"/>
              </a:solidFill>
              <a:latin typeface="Calibri"/>
              <a:ea typeface="Calibri"/>
              <a:cs typeface="Calibri"/>
              <a:sym typeface="Calibri"/>
            </a:endParaRPr>
          </a:p>
        </p:txBody>
      </p:sp>
      <p:sp>
        <p:nvSpPr>
          <p:cNvPr id="141" name="Google Shape;141;p11"/>
          <p:cNvSpPr/>
          <p:nvPr/>
        </p:nvSpPr>
        <p:spPr>
          <a:xfrm>
            <a:off x="1476602" y="3267870"/>
            <a:ext cx="1577676" cy="332399"/>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PE" sz="1200" b="1" dirty="0">
                <a:solidFill>
                  <a:srgbClr val="EE4639"/>
                </a:solidFill>
                <a:latin typeface="Calibri"/>
                <a:ea typeface="Calibri"/>
                <a:cs typeface="Calibri"/>
                <a:sym typeface="Calibri"/>
              </a:rPr>
              <a:t>SITUACIÓN 2</a:t>
            </a:r>
            <a:endParaRPr dirty="0">
              <a:solidFill>
                <a:srgbClr val="EE4639"/>
              </a:solidFill>
            </a:endParaRPr>
          </a:p>
          <a:p>
            <a:pPr marL="139700" marR="0" lvl="0" indent="-139700" algn="l" rtl="0">
              <a:lnSpc>
                <a:spcPct val="90000"/>
              </a:lnSpc>
              <a:spcBef>
                <a:spcPts val="0"/>
              </a:spcBef>
              <a:spcAft>
                <a:spcPts val="0"/>
              </a:spcAft>
              <a:buClr>
                <a:schemeClr val="dk1"/>
              </a:buClr>
              <a:buSzPts val="1200"/>
              <a:buFont typeface="Arial"/>
              <a:buChar char="•"/>
            </a:pPr>
            <a:r>
              <a:rPr lang="es-PE" sz="1200" dirty="0">
                <a:solidFill>
                  <a:schemeClr val="dk1"/>
                </a:solidFill>
                <a:latin typeface="Calibri"/>
                <a:ea typeface="Calibri"/>
                <a:cs typeface="Calibri"/>
                <a:sym typeface="Calibri"/>
              </a:rPr>
              <a:t>Lo que se especificó</a:t>
            </a:r>
            <a:endParaRPr dirty="0"/>
          </a:p>
        </p:txBody>
      </p:sp>
      <p:sp>
        <p:nvSpPr>
          <p:cNvPr id="142" name="Google Shape;142;p11"/>
          <p:cNvSpPr/>
          <p:nvPr/>
        </p:nvSpPr>
        <p:spPr>
          <a:xfrm>
            <a:off x="3884122" y="2406794"/>
            <a:ext cx="270531" cy="351183"/>
          </a:xfrm>
          <a:prstGeom prst="rightArrow">
            <a:avLst>
              <a:gd name="adj1" fmla="val 50000"/>
              <a:gd name="adj2" fmla="val 50000"/>
            </a:avLst>
          </a:prstGeom>
          <a:solidFill>
            <a:srgbClr val="00B1C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4" name="Google Shape;144;p11"/>
          <p:cNvSpPr/>
          <p:nvPr/>
        </p:nvSpPr>
        <p:spPr>
          <a:xfrm>
            <a:off x="4229035" y="1538062"/>
            <a:ext cx="2266810" cy="166199"/>
          </a:xfrm>
          <a:prstGeom prst="rect">
            <a:avLst/>
          </a:prstGeom>
          <a:noFill/>
          <a:ln>
            <a:noFill/>
          </a:ln>
        </p:spPr>
        <p:txBody>
          <a:bodyPr spcFirstLastPara="1" wrap="square" lIns="0" tIns="0" rIns="0" bIns="0" anchor="t" anchorCtr="0">
            <a:spAutoFit/>
          </a:bodyPr>
          <a:lstStyle/>
          <a:p>
            <a:pPr marL="134938" marR="0" lvl="0" indent="-125413" algn="l" rtl="0">
              <a:lnSpc>
                <a:spcPct val="90000"/>
              </a:lnSpc>
              <a:spcBef>
                <a:spcPts val="0"/>
              </a:spcBef>
              <a:spcAft>
                <a:spcPts val="0"/>
              </a:spcAft>
              <a:buClr>
                <a:schemeClr val="dk1"/>
              </a:buClr>
              <a:buSzPts val="1200"/>
              <a:buFont typeface="Arial"/>
              <a:buChar char="•"/>
            </a:pPr>
            <a:r>
              <a:rPr lang="es-PE" sz="1200" dirty="0">
                <a:solidFill>
                  <a:schemeClr val="dk1"/>
                </a:solidFill>
                <a:latin typeface="Calibri"/>
                <a:ea typeface="Calibri"/>
                <a:cs typeface="Calibri"/>
                <a:sym typeface="Calibri"/>
              </a:rPr>
              <a:t>Resultado del uso del producto</a:t>
            </a:r>
            <a:endParaRPr dirty="0"/>
          </a:p>
        </p:txBody>
      </p:sp>
      <p:sp>
        <p:nvSpPr>
          <p:cNvPr id="145" name="Google Shape;145;p11"/>
          <p:cNvSpPr/>
          <p:nvPr/>
        </p:nvSpPr>
        <p:spPr>
          <a:xfrm>
            <a:off x="4261119" y="3434070"/>
            <a:ext cx="2266810" cy="166199"/>
          </a:xfrm>
          <a:prstGeom prst="rect">
            <a:avLst/>
          </a:prstGeom>
          <a:noFill/>
          <a:ln>
            <a:noFill/>
          </a:ln>
        </p:spPr>
        <p:txBody>
          <a:bodyPr spcFirstLastPara="1" wrap="square" lIns="0" tIns="0" rIns="0" bIns="0" anchor="t" anchorCtr="0">
            <a:spAutoFit/>
          </a:bodyPr>
          <a:lstStyle/>
          <a:p>
            <a:pPr marL="134938" marR="0" lvl="0" indent="-125413" algn="l" rtl="0">
              <a:lnSpc>
                <a:spcPct val="90000"/>
              </a:lnSpc>
              <a:spcBef>
                <a:spcPts val="0"/>
              </a:spcBef>
              <a:spcAft>
                <a:spcPts val="0"/>
              </a:spcAft>
              <a:buClr>
                <a:schemeClr val="dk1"/>
              </a:buClr>
              <a:buSzPts val="1200"/>
              <a:buFont typeface="Arial"/>
              <a:buChar char="•"/>
            </a:pPr>
            <a:r>
              <a:rPr lang="es-PE" sz="1200" dirty="0">
                <a:solidFill>
                  <a:schemeClr val="dk1"/>
                </a:solidFill>
                <a:latin typeface="Calibri"/>
                <a:ea typeface="Calibri"/>
                <a:cs typeface="Calibri"/>
                <a:sym typeface="Calibri"/>
              </a:rPr>
              <a:t>Resultado del uso del producto</a:t>
            </a:r>
            <a:endParaRPr dirty="0"/>
          </a:p>
        </p:txBody>
      </p:sp>
      <p:sp>
        <p:nvSpPr>
          <p:cNvPr id="146" name="Google Shape;146;p11"/>
          <p:cNvSpPr/>
          <p:nvPr/>
        </p:nvSpPr>
        <p:spPr>
          <a:xfrm>
            <a:off x="6911975" y="1747656"/>
            <a:ext cx="1763713" cy="609398"/>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PE" sz="1100" b="1" dirty="0">
                <a:solidFill>
                  <a:schemeClr val="dk1"/>
                </a:solidFill>
                <a:latin typeface="Calibri"/>
                <a:ea typeface="Calibri"/>
                <a:cs typeface="Calibri"/>
                <a:sym typeface="Calibri"/>
              </a:rPr>
              <a:t>Correcta conformidad con lo especificado (o excedió) 🡪 Percepción objetiva de alta o buena calidad en el producto.</a:t>
            </a:r>
            <a:endParaRPr sz="1100" b="1" dirty="0">
              <a:solidFill>
                <a:schemeClr val="dk1"/>
              </a:solidFill>
              <a:latin typeface="Calibri"/>
              <a:ea typeface="Calibri"/>
              <a:cs typeface="Calibri"/>
              <a:sym typeface="Calibri"/>
            </a:endParaRPr>
          </a:p>
        </p:txBody>
      </p:sp>
      <p:sp>
        <p:nvSpPr>
          <p:cNvPr id="148" name="Google Shape;148;p11"/>
          <p:cNvSpPr/>
          <p:nvPr/>
        </p:nvSpPr>
        <p:spPr>
          <a:xfrm>
            <a:off x="6903205" y="3503906"/>
            <a:ext cx="1759259" cy="609398"/>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PE" sz="1100" b="1" dirty="0">
                <a:solidFill>
                  <a:schemeClr val="dk1"/>
                </a:solidFill>
                <a:latin typeface="Calibri"/>
                <a:ea typeface="Calibri"/>
                <a:cs typeface="Calibri"/>
                <a:sym typeface="Calibri"/>
              </a:rPr>
              <a:t>No hay conformidad con lo especificado 🡪 Percepción objetiva de baja o pobre calidad en el producto.</a:t>
            </a:r>
            <a:endParaRPr sz="1100" b="1" dirty="0">
              <a:solidFill>
                <a:schemeClr val="dk1"/>
              </a:solidFill>
              <a:latin typeface="Calibri"/>
              <a:ea typeface="Calibri"/>
              <a:cs typeface="Calibri"/>
              <a:sym typeface="Calibri"/>
            </a:endParaRPr>
          </a:p>
        </p:txBody>
      </p:sp>
      <p:pic>
        <p:nvPicPr>
          <p:cNvPr id="149" name="Google Shape;149;p11"/>
          <p:cNvPicPr preferRelativeResize="0"/>
          <p:nvPr/>
        </p:nvPicPr>
        <p:blipFill rotWithShape="1">
          <a:blip r:embed="rId5">
            <a:alphaModFix/>
          </a:blip>
          <a:srcRect/>
          <a:stretch/>
        </p:blipFill>
        <p:spPr>
          <a:xfrm>
            <a:off x="7383383" y="4219651"/>
            <a:ext cx="798901" cy="803062"/>
          </a:xfrm>
          <a:prstGeom prst="rect">
            <a:avLst/>
          </a:prstGeom>
          <a:noFill/>
          <a:ln>
            <a:noFill/>
          </a:ln>
        </p:spPr>
      </p:pic>
      <p:graphicFrame>
        <p:nvGraphicFramePr>
          <p:cNvPr id="152" name="Google Shape;152;p11"/>
          <p:cNvGraphicFramePr/>
          <p:nvPr>
            <p:extLst>
              <p:ext uri="{D42A27DB-BD31-4B8C-83A1-F6EECF244321}">
                <p14:modId xmlns:p14="http://schemas.microsoft.com/office/powerpoint/2010/main" val="1347296402"/>
              </p:ext>
            </p:extLst>
          </p:nvPr>
        </p:nvGraphicFramePr>
        <p:xfrm>
          <a:off x="4229035" y="1751434"/>
          <a:ext cx="2311400" cy="1409700"/>
        </p:xfrm>
        <a:graphic>
          <a:graphicData uri="http://schemas.openxmlformats.org/presentationml/2006/ole">
            <mc:AlternateContent xmlns:mc="http://schemas.openxmlformats.org/markup-compatibility/2006">
              <mc:Choice xmlns:v="urn:schemas-microsoft-com:vml" Requires="v">
                <p:oleObj spid="_x0000_s1030" name="Hoja de cálculo" r:id="rId6" imgW="2311400" imgH="1409700" progId="Excel.Sheet.12">
                  <p:embed/>
                </p:oleObj>
              </mc:Choice>
              <mc:Fallback>
                <p:oleObj name="Hoja de cálculo" r:id="rId6" imgW="2311400" imgH="1409700" progId="Excel.Sheet.12">
                  <p:embed/>
                  <p:pic>
                    <p:nvPicPr>
                      <p:cNvPr id="152" name="Google Shape;152;p11"/>
                      <p:cNvPicPr preferRelativeResize="0"/>
                      <p:nvPr/>
                    </p:nvPicPr>
                    <p:blipFill rotWithShape="1">
                      <a:blip r:embed="rId7">
                        <a:alphaModFix/>
                      </a:blip>
                      <a:srcRect/>
                      <a:stretch>
                        <a:fillRect/>
                      </a:stretch>
                    </p:blipFill>
                    <p:spPr>
                      <a:xfrm>
                        <a:off x="4229035" y="1751434"/>
                        <a:ext cx="2311400" cy="1409700"/>
                      </a:xfrm>
                      <a:prstGeom prst="rect">
                        <a:avLst/>
                      </a:prstGeom>
                      <a:noFill/>
                      <a:ln>
                        <a:noFill/>
                      </a:ln>
                    </p:spPr>
                  </p:pic>
                </p:oleObj>
              </mc:Fallback>
            </mc:AlternateContent>
          </a:graphicData>
        </a:graphic>
      </p:graphicFrame>
      <p:graphicFrame>
        <p:nvGraphicFramePr>
          <p:cNvPr id="153" name="Google Shape;153;p11"/>
          <p:cNvGraphicFramePr/>
          <p:nvPr>
            <p:extLst>
              <p:ext uri="{D42A27DB-BD31-4B8C-83A1-F6EECF244321}">
                <p14:modId xmlns:p14="http://schemas.microsoft.com/office/powerpoint/2010/main" val="2659684433"/>
              </p:ext>
            </p:extLst>
          </p:nvPr>
        </p:nvGraphicFramePr>
        <p:xfrm>
          <a:off x="1477980" y="1751434"/>
          <a:ext cx="2311400" cy="1409700"/>
        </p:xfrm>
        <a:graphic>
          <a:graphicData uri="http://schemas.openxmlformats.org/presentationml/2006/ole">
            <mc:AlternateContent xmlns:mc="http://schemas.openxmlformats.org/markup-compatibility/2006">
              <mc:Choice xmlns:v="urn:schemas-microsoft-com:vml" Requires="v">
                <p:oleObj spid="_x0000_s1031" name="Hoja de cálculo" r:id="rId8" imgW="2311400" imgH="1409700" progId="Excel.Sheet.12">
                  <p:embed/>
                </p:oleObj>
              </mc:Choice>
              <mc:Fallback>
                <p:oleObj name="Hoja de cálculo" r:id="rId8" imgW="2311400" imgH="1409700" progId="Excel.Sheet.12">
                  <p:embed/>
                  <p:pic>
                    <p:nvPicPr>
                      <p:cNvPr id="153" name="Google Shape;153;p11"/>
                      <p:cNvPicPr preferRelativeResize="0"/>
                      <p:nvPr/>
                    </p:nvPicPr>
                    <p:blipFill rotWithShape="1">
                      <a:blip r:embed="rId9">
                        <a:alphaModFix/>
                      </a:blip>
                      <a:srcRect/>
                      <a:stretch>
                        <a:fillRect/>
                      </a:stretch>
                    </p:blipFill>
                    <p:spPr>
                      <a:xfrm>
                        <a:off x="1477980" y="1751434"/>
                        <a:ext cx="2311400" cy="1409700"/>
                      </a:xfrm>
                      <a:prstGeom prst="rect">
                        <a:avLst/>
                      </a:prstGeom>
                      <a:noFill/>
                      <a:ln>
                        <a:noFill/>
                      </a:ln>
                    </p:spPr>
                  </p:pic>
                </p:oleObj>
              </mc:Fallback>
            </mc:AlternateContent>
          </a:graphicData>
        </a:graphic>
      </p:graphicFrame>
      <p:graphicFrame>
        <p:nvGraphicFramePr>
          <p:cNvPr id="154" name="Google Shape;154;p11"/>
          <p:cNvGraphicFramePr/>
          <p:nvPr>
            <p:extLst>
              <p:ext uri="{D42A27DB-BD31-4B8C-83A1-F6EECF244321}">
                <p14:modId xmlns:p14="http://schemas.microsoft.com/office/powerpoint/2010/main" val="2071884315"/>
              </p:ext>
            </p:extLst>
          </p:nvPr>
        </p:nvGraphicFramePr>
        <p:xfrm>
          <a:off x="1454264" y="3690747"/>
          <a:ext cx="2309812" cy="1409700"/>
        </p:xfrm>
        <a:graphic>
          <a:graphicData uri="http://schemas.openxmlformats.org/presentationml/2006/ole">
            <mc:AlternateContent xmlns:mc="http://schemas.openxmlformats.org/markup-compatibility/2006">
              <mc:Choice xmlns:v="urn:schemas-microsoft-com:vml" Requires="v">
                <p:oleObj spid="_x0000_s1032" name="Hoja de cálculo" r:id="rId10" imgW="2311400" imgH="1409700" progId="Excel.Sheet.12">
                  <p:embed/>
                </p:oleObj>
              </mc:Choice>
              <mc:Fallback>
                <p:oleObj name="Hoja de cálculo" r:id="rId10" imgW="2311400" imgH="1409700" progId="Excel.Sheet.12">
                  <p:embed/>
                  <p:pic>
                    <p:nvPicPr>
                      <p:cNvPr id="154" name="Google Shape;154;p11"/>
                      <p:cNvPicPr preferRelativeResize="0"/>
                      <p:nvPr/>
                    </p:nvPicPr>
                    <p:blipFill rotWithShape="1">
                      <a:blip r:embed="rId11">
                        <a:alphaModFix/>
                      </a:blip>
                      <a:srcRect/>
                      <a:stretch>
                        <a:fillRect/>
                      </a:stretch>
                    </p:blipFill>
                    <p:spPr>
                      <a:xfrm>
                        <a:off x="1454264" y="3690747"/>
                        <a:ext cx="2309812" cy="1409700"/>
                      </a:xfrm>
                      <a:prstGeom prst="rect">
                        <a:avLst/>
                      </a:prstGeom>
                      <a:noFill/>
                      <a:ln>
                        <a:noFill/>
                      </a:ln>
                    </p:spPr>
                  </p:pic>
                </p:oleObj>
              </mc:Fallback>
            </mc:AlternateContent>
          </a:graphicData>
        </a:graphic>
      </p:graphicFrame>
      <p:graphicFrame>
        <p:nvGraphicFramePr>
          <p:cNvPr id="155" name="Google Shape;155;p11"/>
          <p:cNvGraphicFramePr/>
          <p:nvPr>
            <p:extLst>
              <p:ext uri="{D42A27DB-BD31-4B8C-83A1-F6EECF244321}">
                <p14:modId xmlns:p14="http://schemas.microsoft.com/office/powerpoint/2010/main" val="1262803282"/>
              </p:ext>
            </p:extLst>
          </p:nvPr>
        </p:nvGraphicFramePr>
        <p:xfrm>
          <a:off x="4261119" y="3690747"/>
          <a:ext cx="2309813" cy="1409700"/>
        </p:xfrm>
        <a:graphic>
          <a:graphicData uri="http://schemas.openxmlformats.org/presentationml/2006/ole">
            <mc:AlternateContent xmlns:mc="http://schemas.openxmlformats.org/markup-compatibility/2006">
              <mc:Choice xmlns:v="urn:schemas-microsoft-com:vml" Requires="v">
                <p:oleObj spid="_x0000_s1033" name="Hoja de cálculo" r:id="rId12" imgW="2311400" imgH="1409700" progId="Excel.Sheet.12">
                  <p:embed/>
                </p:oleObj>
              </mc:Choice>
              <mc:Fallback>
                <p:oleObj name="Hoja de cálculo" r:id="rId12" imgW="2311400" imgH="1409700" progId="Excel.Sheet.12">
                  <p:embed/>
                  <p:pic>
                    <p:nvPicPr>
                      <p:cNvPr id="155" name="Google Shape;155;p11"/>
                      <p:cNvPicPr preferRelativeResize="0"/>
                      <p:nvPr/>
                    </p:nvPicPr>
                    <p:blipFill rotWithShape="1">
                      <a:blip r:embed="rId13">
                        <a:alphaModFix/>
                      </a:blip>
                      <a:srcRect/>
                      <a:stretch>
                        <a:fillRect/>
                      </a:stretch>
                    </p:blipFill>
                    <p:spPr>
                      <a:xfrm>
                        <a:off x="4261119" y="3690747"/>
                        <a:ext cx="2309813" cy="1409700"/>
                      </a:xfrm>
                      <a:prstGeom prst="rect">
                        <a:avLst/>
                      </a:prstGeom>
                      <a:noFill/>
                      <a:ln>
                        <a:noFill/>
                      </a:ln>
                    </p:spPr>
                  </p:pic>
                </p:oleObj>
              </mc:Fallback>
            </mc:AlternateContent>
          </a:graphicData>
        </a:graphic>
      </p:graphicFrame>
      <p:sp>
        <p:nvSpPr>
          <p:cNvPr id="22" name="Rectangle 5">
            <a:extLst>
              <a:ext uri="{FF2B5EF4-FFF2-40B4-BE49-F238E27FC236}">
                <a16:creationId xmlns:a16="http://schemas.microsoft.com/office/drawing/2014/main" id="{242EA163-A4A5-8345-8323-D55D27730345}"/>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CONCEPTOS Y DEFINICIONES BÁSICAS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23" name="Google Shape;142;p11">
            <a:extLst>
              <a:ext uri="{FF2B5EF4-FFF2-40B4-BE49-F238E27FC236}">
                <a16:creationId xmlns:a16="http://schemas.microsoft.com/office/drawing/2014/main" id="{10A09C01-E6D3-F642-9557-6090308296BB}"/>
              </a:ext>
            </a:extLst>
          </p:cNvPr>
          <p:cNvSpPr/>
          <p:nvPr/>
        </p:nvSpPr>
        <p:spPr>
          <a:xfrm>
            <a:off x="6636466" y="2406794"/>
            <a:ext cx="270531" cy="351183"/>
          </a:xfrm>
          <a:prstGeom prst="rightArrow">
            <a:avLst>
              <a:gd name="adj1" fmla="val 50000"/>
              <a:gd name="adj2" fmla="val 50000"/>
            </a:avLst>
          </a:prstGeom>
          <a:solidFill>
            <a:srgbClr val="00B1C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 name="Google Shape;142;p11">
            <a:extLst>
              <a:ext uri="{FF2B5EF4-FFF2-40B4-BE49-F238E27FC236}">
                <a16:creationId xmlns:a16="http://schemas.microsoft.com/office/drawing/2014/main" id="{1BEC8462-8F0F-5B40-B8BB-5A86C280AF7D}"/>
              </a:ext>
            </a:extLst>
          </p:cNvPr>
          <p:cNvSpPr/>
          <p:nvPr/>
        </p:nvSpPr>
        <p:spPr>
          <a:xfrm>
            <a:off x="3884122" y="4381898"/>
            <a:ext cx="270531" cy="351183"/>
          </a:xfrm>
          <a:prstGeom prst="rightArrow">
            <a:avLst>
              <a:gd name="adj1" fmla="val 50000"/>
              <a:gd name="adj2" fmla="val 50000"/>
            </a:avLst>
          </a:prstGeom>
          <a:solidFill>
            <a:srgbClr val="00B1C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 name="Google Shape;142;p11">
            <a:extLst>
              <a:ext uri="{FF2B5EF4-FFF2-40B4-BE49-F238E27FC236}">
                <a16:creationId xmlns:a16="http://schemas.microsoft.com/office/drawing/2014/main" id="{FA355223-36DD-1940-BC95-8A1C26260431}"/>
              </a:ext>
            </a:extLst>
          </p:cNvPr>
          <p:cNvSpPr/>
          <p:nvPr/>
        </p:nvSpPr>
        <p:spPr>
          <a:xfrm>
            <a:off x="6636466" y="4381898"/>
            <a:ext cx="270531" cy="351183"/>
          </a:xfrm>
          <a:prstGeom prst="rightArrow">
            <a:avLst>
              <a:gd name="adj1" fmla="val 50000"/>
              <a:gd name="adj2" fmla="val 50000"/>
            </a:avLst>
          </a:prstGeom>
          <a:solidFill>
            <a:srgbClr val="00B1C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 name="Imagen 2">
            <a:extLst>
              <a:ext uri="{FF2B5EF4-FFF2-40B4-BE49-F238E27FC236}">
                <a16:creationId xmlns:a16="http://schemas.microsoft.com/office/drawing/2014/main" id="{C1487D92-2B3B-734A-9F65-F73E946ECEF4}"/>
              </a:ext>
            </a:extLst>
          </p:cNvPr>
          <p:cNvPicPr>
            <a:picLocks noChangeAspect="1"/>
          </p:cNvPicPr>
          <p:nvPr/>
        </p:nvPicPr>
        <p:blipFill rotWithShape="1">
          <a:blip r:embed="rId14"/>
          <a:srcRect l="32700" t="18276"/>
          <a:stretch/>
        </p:blipFill>
        <p:spPr>
          <a:xfrm>
            <a:off x="7316601" y="2404150"/>
            <a:ext cx="932463" cy="84894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5" name="Google Shape;165;p12"/>
          <p:cNvSpPr/>
          <p:nvPr/>
        </p:nvSpPr>
        <p:spPr>
          <a:xfrm>
            <a:off x="503238" y="1199752"/>
            <a:ext cx="8172451" cy="24622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b="1" dirty="0">
                <a:solidFill>
                  <a:schemeClr val="dk1"/>
                </a:solidFill>
                <a:latin typeface="Calibri"/>
                <a:ea typeface="Calibri"/>
                <a:cs typeface="Calibri"/>
                <a:sym typeface="Calibri"/>
              </a:rPr>
              <a:t>DEFINICIÓN DE CALIDAD DE SW</a:t>
            </a:r>
            <a:endParaRPr sz="1600" b="1" dirty="0">
              <a:solidFill>
                <a:schemeClr val="dk1"/>
              </a:solidFill>
              <a:latin typeface="Calibri"/>
              <a:ea typeface="Calibri"/>
              <a:cs typeface="Calibri"/>
              <a:sym typeface="Calibri"/>
            </a:endParaRPr>
          </a:p>
        </p:txBody>
      </p:sp>
      <p:sp>
        <p:nvSpPr>
          <p:cNvPr id="8" name="Rectangle 5">
            <a:extLst>
              <a:ext uri="{FF2B5EF4-FFF2-40B4-BE49-F238E27FC236}">
                <a16:creationId xmlns:a16="http://schemas.microsoft.com/office/drawing/2014/main" id="{CC519E58-49EE-1E47-B84E-727C48BC0F95}"/>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CONCEPTOS Y DEFINICIONES BÁSICAS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9" name="Rectángulo redondeado 8">
            <a:extLst>
              <a:ext uri="{FF2B5EF4-FFF2-40B4-BE49-F238E27FC236}">
                <a16:creationId xmlns:a16="http://schemas.microsoft.com/office/drawing/2014/main" id="{98BA16C6-CC76-634D-A52D-3697ED72EABD}"/>
              </a:ext>
            </a:extLst>
          </p:cNvPr>
          <p:cNvSpPr/>
          <p:nvPr/>
        </p:nvSpPr>
        <p:spPr>
          <a:xfrm>
            <a:off x="1668789" y="1709152"/>
            <a:ext cx="5806422" cy="735748"/>
          </a:xfrm>
          <a:prstGeom prst="roundRect">
            <a:avLst>
              <a:gd name="adj" fmla="val 16033"/>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spcBef>
                <a:spcPts val="0"/>
              </a:spcBef>
              <a:spcAft>
                <a:spcPts val="0"/>
              </a:spcAft>
              <a:buNone/>
            </a:pPr>
            <a:r>
              <a:rPr lang="es-PE" sz="1600" b="1" dirty="0">
                <a:solidFill>
                  <a:srgbClr val="FFFFFF"/>
                </a:solidFill>
                <a:latin typeface="Calibri"/>
                <a:ea typeface="Calibri"/>
                <a:cs typeface="Calibri"/>
                <a:sym typeface="Calibri"/>
              </a:rPr>
              <a:t>¿QUÉ ES CALIDAD DE SOFTWARE?</a:t>
            </a:r>
            <a:endParaRPr lang="es-PE" sz="1600" dirty="0"/>
          </a:p>
        </p:txBody>
      </p:sp>
      <p:sp>
        <p:nvSpPr>
          <p:cNvPr id="10" name="Rectángulo redondeado 9">
            <a:extLst>
              <a:ext uri="{FF2B5EF4-FFF2-40B4-BE49-F238E27FC236}">
                <a16:creationId xmlns:a16="http://schemas.microsoft.com/office/drawing/2014/main" id="{949EE485-3DED-3B4F-B241-3C31A97E1A7A}"/>
              </a:ext>
            </a:extLst>
          </p:cNvPr>
          <p:cNvSpPr/>
          <p:nvPr/>
        </p:nvSpPr>
        <p:spPr>
          <a:xfrm>
            <a:off x="1668789" y="2950409"/>
            <a:ext cx="5806422" cy="1402561"/>
          </a:xfrm>
          <a:prstGeom prst="roundRect">
            <a:avLst>
              <a:gd name="adj" fmla="val 11469"/>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4150" marR="0" lvl="0" indent="-184150" algn="l" rtl="0">
              <a:spcBef>
                <a:spcPts val="0"/>
              </a:spcBef>
              <a:spcAft>
                <a:spcPts val="0"/>
              </a:spcAft>
              <a:buClr>
                <a:schemeClr val="lt1"/>
              </a:buClr>
              <a:buSzPts val="1600"/>
              <a:buFont typeface="Arial"/>
              <a:buChar char="•"/>
            </a:pPr>
            <a:r>
              <a:rPr lang="es-PE" sz="1600" b="1" dirty="0">
                <a:solidFill>
                  <a:schemeClr val="lt1"/>
                </a:solidFill>
                <a:latin typeface="Calibri"/>
                <a:ea typeface="Calibri"/>
                <a:cs typeface="Calibri"/>
                <a:sym typeface="Calibri"/>
              </a:rPr>
              <a:t>Que la Funcionalidad</a:t>
            </a:r>
            <a:r>
              <a:rPr lang="es-PE" sz="1600" dirty="0">
                <a:solidFill>
                  <a:schemeClr val="lt1"/>
                </a:solidFill>
                <a:latin typeface="Calibri"/>
                <a:ea typeface="Calibri"/>
                <a:cs typeface="Calibri"/>
                <a:sym typeface="Calibri"/>
              </a:rPr>
              <a:t> y </a:t>
            </a:r>
            <a:r>
              <a:rPr lang="es-PE" sz="1600" b="1" dirty="0">
                <a:solidFill>
                  <a:schemeClr val="lt1"/>
                </a:solidFill>
                <a:latin typeface="Calibri"/>
                <a:ea typeface="Calibri"/>
                <a:cs typeface="Calibri"/>
                <a:sym typeface="Calibri"/>
              </a:rPr>
              <a:t>rendimiento</a:t>
            </a:r>
            <a:r>
              <a:rPr lang="es-PE" sz="1600" dirty="0">
                <a:solidFill>
                  <a:schemeClr val="lt1"/>
                </a:solidFill>
                <a:latin typeface="Calibri"/>
                <a:ea typeface="Calibri"/>
                <a:cs typeface="Calibri"/>
                <a:sym typeface="Calibri"/>
              </a:rPr>
              <a:t> del Software desarrollado esté </a:t>
            </a:r>
            <a:r>
              <a:rPr lang="es-PE" sz="1600" b="1" dirty="0">
                <a:solidFill>
                  <a:schemeClr val="lt1"/>
                </a:solidFill>
                <a:latin typeface="Calibri"/>
                <a:ea typeface="Calibri"/>
                <a:cs typeface="Calibri"/>
                <a:sym typeface="Calibri"/>
              </a:rPr>
              <a:t>conforme</a:t>
            </a:r>
            <a:r>
              <a:rPr lang="es-PE" sz="1600" dirty="0">
                <a:solidFill>
                  <a:schemeClr val="lt1"/>
                </a:solidFill>
                <a:latin typeface="Calibri"/>
                <a:ea typeface="Calibri"/>
                <a:cs typeface="Calibri"/>
                <a:sym typeface="Calibri"/>
              </a:rPr>
              <a:t> a lo </a:t>
            </a:r>
            <a:r>
              <a:rPr lang="es-PE" sz="1600" b="1" dirty="0">
                <a:solidFill>
                  <a:schemeClr val="lt1"/>
                </a:solidFill>
                <a:latin typeface="Calibri"/>
                <a:ea typeface="Calibri"/>
                <a:cs typeface="Calibri"/>
                <a:sym typeface="Calibri"/>
              </a:rPr>
              <a:t>formalmente</a:t>
            </a:r>
            <a:r>
              <a:rPr lang="es-PE" sz="1600" dirty="0">
                <a:solidFill>
                  <a:schemeClr val="lt1"/>
                </a:solidFill>
                <a:latin typeface="Calibri"/>
                <a:ea typeface="Calibri"/>
                <a:cs typeface="Calibri"/>
                <a:sym typeface="Calibri"/>
              </a:rPr>
              <a:t> </a:t>
            </a:r>
            <a:r>
              <a:rPr lang="es-PE" sz="1600" b="1" dirty="0">
                <a:solidFill>
                  <a:schemeClr val="lt1"/>
                </a:solidFill>
                <a:latin typeface="Calibri"/>
                <a:ea typeface="Calibri"/>
                <a:cs typeface="Calibri"/>
                <a:sym typeface="Calibri"/>
              </a:rPr>
              <a:t>especificado</a:t>
            </a:r>
            <a:r>
              <a:rPr lang="es-PE" sz="1600" dirty="0">
                <a:solidFill>
                  <a:schemeClr val="lt1"/>
                </a:solidFill>
                <a:latin typeface="Calibri"/>
                <a:ea typeface="Calibri"/>
                <a:cs typeface="Calibri"/>
                <a:sym typeface="Calibri"/>
              </a:rPr>
              <a:t> o </a:t>
            </a:r>
            <a:r>
              <a:rPr lang="es-PE" sz="1600" b="1" dirty="0">
                <a:solidFill>
                  <a:schemeClr val="lt1"/>
                </a:solidFill>
                <a:latin typeface="Calibri"/>
                <a:ea typeface="Calibri"/>
                <a:cs typeface="Calibri"/>
                <a:sym typeface="Calibri"/>
              </a:rPr>
              <a:t>requerido</a:t>
            </a:r>
            <a:r>
              <a:rPr lang="es-PE" sz="1600" dirty="0">
                <a:solidFill>
                  <a:schemeClr val="lt1"/>
                </a:solidFill>
                <a:latin typeface="Calibri"/>
                <a:ea typeface="Calibri"/>
                <a:cs typeface="Calibri"/>
                <a:sym typeface="Calibri"/>
              </a:rPr>
              <a:t>. Cuanta mayor conformidad, mayor calidad.</a:t>
            </a:r>
            <a:endParaRPr lang="es-PE" sz="1600" dirty="0"/>
          </a:p>
        </p:txBody>
      </p:sp>
      <p:cxnSp>
        <p:nvCxnSpPr>
          <p:cNvPr id="11" name="Google Shape;162;p12">
            <a:extLst>
              <a:ext uri="{FF2B5EF4-FFF2-40B4-BE49-F238E27FC236}">
                <a16:creationId xmlns:a16="http://schemas.microsoft.com/office/drawing/2014/main" id="{C3D249CA-EE41-F640-B6F2-0EAD51897FE2}"/>
              </a:ext>
            </a:extLst>
          </p:cNvPr>
          <p:cNvCxnSpPr>
            <a:cxnSpLocks/>
          </p:cNvCxnSpPr>
          <p:nvPr/>
        </p:nvCxnSpPr>
        <p:spPr>
          <a:xfrm>
            <a:off x="4574666" y="2438619"/>
            <a:ext cx="0" cy="500364"/>
          </a:xfrm>
          <a:prstGeom prst="straightConnector1">
            <a:avLst/>
          </a:prstGeom>
          <a:noFill/>
          <a:ln w="38100" cap="flat" cmpd="sng">
            <a:solidFill>
              <a:srgbClr val="808799"/>
            </a:solidFill>
            <a:prstDash val="solid"/>
            <a:round/>
            <a:headEnd type="none" w="sm" len="sm"/>
            <a:tailEnd type="triangle"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1" name="Google Shape;171;p13"/>
          <p:cNvSpPr/>
          <p:nvPr/>
        </p:nvSpPr>
        <p:spPr>
          <a:xfrm>
            <a:off x="503238" y="939135"/>
            <a:ext cx="8172450" cy="24622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b="1" dirty="0">
                <a:solidFill>
                  <a:schemeClr val="dk1"/>
                </a:solidFill>
                <a:latin typeface="Calibri"/>
                <a:ea typeface="Calibri"/>
                <a:cs typeface="Calibri"/>
                <a:sym typeface="Calibri"/>
              </a:rPr>
              <a:t>DEFINICIÓN DE CALIDAD DE SOFTWARE</a:t>
            </a:r>
            <a:endParaRPr sz="1600" b="1" dirty="0">
              <a:solidFill>
                <a:schemeClr val="dk1"/>
              </a:solidFill>
              <a:latin typeface="Calibri"/>
              <a:ea typeface="Calibri"/>
              <a:cs typeface="Calibri"/>
              <a:sym typeface="Calibri"/>
            </a:endParaRPr>
          </a:p>
        </p:txBody>
      </p:sp>
      <p:grpSp>
        <p:nvGrpSpPr>
          <p:cNvPr id="2" name="Grupo 1">
            <a:extLst>
              <a:ext uri="{FF2B5EF4-FFF2-40B4-BE49-F238E27FC236}">
                <a16:creationId xmlns:a16="http://schemas.microsoft.com/office/drawing/2014/main" id="{C6CB9010-2813-FC4B-9C02-8F0B96F95433}"/>
              </a:ext>
            </a:extLst>
          </p:cNvPr>
          <p:cNvGrpSpPr/>
          <p:nvPr/>
        </p:nvGrpSpPr>
        <p:grpSpPr>
          <a:xfrm>
            <a:off x="1275291" y="1829216"/>
            <a:ext cx="6593417" cy="2324910"/>
            <a:chOff x="1155451" y="1609760"/>
            <a:chExt cx="6593417" cy="2324910"/>
          </a:xfrm>
        </p:grpSpPr>
        <p:cxnSp>
          <p:nvCxnSpPr>
            <p:cNvPr id="175" name="Google Shape;175;p13"/>
            <p:cNvCxnSpPr/>
            <p:nvPr/>
          </p:nvCxnSpPr>
          <p:spPr>
            <a:xfrm rot="10800000" flipH="1">
              <a:off x="3793787" y="2018322"/>
              <a:ext cx="1021404" cy="690663"/>
            </a:xfrm>
            <a:prstGeom prst="straightConnector1">
              <a:avLst/>
            </a:prstGeom>
            <a:noFill/>
            <a:ln w="38100" cap="flat" cmpd="sng">
              <a:solidFill>
                <a:srgbClr val="808799"/>
              </a:solidFill>
              <a:prstDash val="solid"/>
              <a:round/>
              <a:headEnd type="none" w="sm" len="sm"/>
              <a:tailEnd type="triangle" w="med" len="med"/>
            </a:ln>
          </p:spPr>
        </p:cxnSp>
        <p:cxnSp>
          <p:nvCxnSpPr>
            <p:cNvPr id="176" name="Google Shape;176;p13"/>
            <p:cNvCxnSpPr/>
            <p:nvPr/>
          </p:nvCxnSpPr>
          <p:spPr>
            <a:xfrm>
              <a:off x="3793787" y="2825717"/>
              <a:ext cx="1021404" cy="690664"/>
            </a:xfrm>
            <a:prstGeom prst="straightConnector1">
              <a:avLst/>
            </a:prstGeom>
            <a:noFill/>
            <a:ln w="38100" cap="flat" cmpd="sng">
              <a:solidFill>
                <a:srgbClr val="808799"/>
              </a:solidFill>
              <a:prstDash val="solid"/>
              <a:round/>
              <a:headEnd type="none" w="sm" len="sm"/>
              <a:tailEnd type="triangle" w="med" len="med"/>
            </a:ln>
          </p:spPr>
        </p:cxnSp>
        <p:sp>
          <p:nvSpPr>
            <p:cNvPr id="172" name="Google Shape;172;p13"/>
            <p:cNvSpPr/>
            <p:nvPr/>
          </p:nvSpPr>
          <p:spPr>
            <a:xfrm>
              <a:off x="1155451" y="2353926"/>
              <a:ext cx="2655651" cy="817123"/>
            </a:xfrm>
            <a:prstGeom prst="roundRect">
              <a:avLst>
                <a:gd name="adj" fmla="val 10267"/>
              </a:avLst>
            </a:prstGeom>
            <a:solidFill>
              <a:srgbClr val="7150A0"/>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PE" sz="1600">
                  <a:solidFill>
                    <a:schemeClr val="lt1"/>
                  </a:solidFill>
                  <a:latin typeface="Calibri"/>
                  <a:ea typeface="Calibri"/>
                  <a:cs typeface="Calibri"/>
                  <a:sym typeface="Calibri"/>
                </a:rPr>
                <a:t>El mundo de Calidad de Software tiene que ver con:</a:t>
              </a:r>
              <a:endParaRPr/>
            </a:p>
          </p:txBody>
        </p:sp>
        <p:sp>
          <p:nvSpPr>
            <p:cNvPr id="173" name="Google Shape;173;p13"/>
            <p:cNvSpPr/>
            <p:nvPr/>
          </p:nvSpPr>
          <p:spPr>
            <a:xfrm>
              <a:off x="4842623" y="1609760"/>
              <a:ext cx="2906245" cy="817123"/>
            </a:xfrm>
            <a:prstGeom prst="roundRect">
              <a:avLst>
                <a:gd name="adj" fmla="val 10267"/>
              </a:avLst>
            </a:prstGeom>
            <a:solidFill>
              <a:srgbClr val="00B1C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dirty="0">
                  <a:solidFill>
                    <a:schemeClr val="lt1"/>
                  </a:solidFill>
                  <a:latin typeface="Calibri"/>
                  <a:ea typeface="Calibri"/>
                  <a:cs typeface="Calibri"/>
                  <a:sym typeface="Calibri"/>
                </a:rPr>
                <a:t>Aseguramiento de Calidad </a:t>
              </a:r>
              <a:br>
                <a:rPr lang="es-PE" sz="1600" dirty="0">
                  <a:solidFill>
                    <a:schemeClr val="lt1"/>
                  </a:solidFill>
                  <a:latin typeface="Calibri"/>
                  <a:ea typeface="Calibri"/>
                  <a:cs typeface="Calibri"/>
                  <a:sym typeface="Calibri"/>
                </a:rPr>
              </a:br>
              <a:r>
                <a:rPr lang="es-PE" sz="1600" dirty="0">
                  <a:solidFill>
                    <a:schemeClr val="lt1"/>
                  </a:solidFill>
                  <a:latin typeface="Calibri"/>
                  <a:ea typeface="Calibri"/>
                  <a:cs typeface="Calibri"/>
                  <a:sym typeface="Calibri"/>
                </a:rPr>
                <a:t>de Software (SQA)</a:t>
              </a:r>
              <a:endParaRPr dirty="0"/>
            </a:p>
          </p:txBody>
        </p:sp>
        <p:sp>
          <p:nvSpPr>
            <p:cNvPr id="174" name="Google Shape;174;p13"/>
            <p:cNvSpPr/>
            <p:nvPr/>
          </p:nvSpPr>
          <p:spPr>
            <a:xfrm>
              <a:off x="4842623" y="3117547"/>
              <a:ext cx="2906245" cy="817123"/>
            </a:xfrm>
            <a:prstGeom prst="roundRect">
              <a:avLst>
                <a:gd name="adj" fmla="val 10267"/>
              </a:avLst>
            </a:prstGeom>
            <a:solidFill>
              <a:srgbClr val="00B1C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a:solidFill>
                    <a:schemeClr val="lt1"/>
                  </a:solidFill>
                  <a:latin typeface="Calibri"/>
                  <a:ea typeface="Calibri"/>
                  <a:cs typeface="Calibri"/>
                  <a:sym typeface="Calibri"/>
                </a:rPr>
                <a:t>Control de Calidad de Software o Pruebas de Software (QC)</a:t>
              </a:r>
              <a:endParaRPr/>
            </a:p>
          </p:txBody>
        </p:sp>
      </p:grpSp>
      <p:sp>
        <p:nvSpPr>
          <p:cNvPr id="177" name="Google Shape;177;p13"/>
          <p:cNvSpPr txBox="1"/>
          <p:nvPr/>
        </p:nvSpPr>
        <p:spPr>
          <a:xfrm>
            <a:off x="684213" y="4954536"/>
            <a:ext cx="7795552" cy="21544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438AD7"/>
              </a:buClr>
              <a:buSzPts val="1400"/>
              <a:buFont typeface="Calibri"/>
              <a:buNone/>
            </a:pPr>
            <a:r>
              <a:rPr lang="es-PE" sz="1400" i="0" u="none" strike="noStrike" cap="none" dirty="0">
                <a:solidFill>
                  <a:srgbClr val="00B1C2"/>
                </a:solidFill>
                <a:latin typeface="Calibri"/>
                <a:ea typeface="Calibri"/>
                <a:cs typeface="Calibri"/>
                <a:sym typeface="Calibri"/>
              </a:rPr>
              <a:t>Nota: </a:t>
            </a:r>
            <a:r>
              <a:rPr lang="es-PE" sz="1400" b="0" i="0" u="none" strike="noStrike" cap="none" dirty="0">
                <a:solidFill>
                  <a:srgbClr val="00B1C2"/>
                </a:solidFill>
                <a:latin typeface="Calibri"/>
                <a:ea typeface="Calibri"/>
                <a:cs typeface="Calibri"/>
                <a:sym typeface="Calibri"/>
              </a:rPr>
              <a:t>En este curso hablaremos indistintamente de “Pruebas de Software” o de “Testing de Software”.</a:t>
            </a:r>
            <a:endParaRPr dirty="0">
              <a:solidFill>
                <a:srgbClr val="00B1C2"/>
              </a:solidFill>
            </a:endParaRPr>
          </a:p>
        </p:txBody>
      </p:sp>
      <p:sp>
        <p:nvSpPr>
          <p:cNvPr id="10" name="Rectangle 5">
            <a:extLst>
              <a:ext uri="{FF2B5EF4-FFF2-40B4-BE49-F238E27FC236}">
                <a16:creationId xmlns:a16="http://schemas.microsoft.com/office/drawing/2014/main" id="{D12DA359-D831-2346-90A3-C70441A291C1}"/>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CONCEPTOS Y DEFINICIONES BÁSICAS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3" name="Google Shape;183;p14"/>
          <p:cNvSpPr/>
          <p:nvPr/>
        </p:nvSpPr>
        <p:spPr>
          <a:xfrm>
            <a:off x="503238" y="920414"/>
            <a:ext cx="8172449" cy="24622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b="1" dirty="0">
                <a:solidFill>
                  <a:schemeClr val="dk1"/>
                </a:solidFill>
                <a:latin typeface="Calibri"/>
                <a:ea typeface="Calibri"/>
                <a:cs typeface="Calibri"/>
                <a:sym typeface="Calibri"/>
              </a:rPr>
              <a:t>CALIDAD DEL SOFTWARE</a:t>
            </a:r>
            <a:endParaRPr sz="1600" b="1" dirty="0">
              <a:solidFill>
                <a:schemeClr val="dk1"/>
              </a:solidFill>
              <a:latin typeface="Calibri"/>
              <a:ea typeface="Calibri"/>
              <a:cs typeface="Calibri"/>
              <a:sym typeface="Calibri"/>
            </a:endParaRPr>
          </a:p>
        </p:txBody>
      </p:sp>
      <p:sp>
        <p:nvSpPr>
          <p:cNvPr id="31" name="Rectangle 5">
            <a:extLst>
              <a:ext uri="{FF2B5EF4-FFF2-40B4-BE49-F238E27FC236}">
                <a16:creationId xmlns:a16="http://schemas.microsoft.com/office/drawing/2014/main" id="{AAB2538E-7B5C-064D-AA48-E1A6CC75EBF2}"/>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CONCEPTOS Y DEFINICIONES BÁSICAS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14" name="Grupo 13">
            <a:extLst>
              <a:ext uri="{FF2B5EF4-FFF2-40B4-BE49-F238E27FC236}">
                <a16:creationId xmlns:a16="http://schemas.microsoft.com/office/drawing/2014/main" id="{8910AB04-9C6C-5849-A7F9-295580AF7D60}"/>
              </a:ext>
            </a:extLst>
          </p:cNvPr>
          <p:cNvGrpSpPr/>
          <p:nvPr/>
        </p:nvGrpSpPr>
        <p:grpSpPr>
          <a:xfrm>
            <a:off x="2745675" y="1389315"/>
            <a:ext cx="3687574" cy="3779014"/>
            <a:chOff x="2773393" y="1347733"/>
            <a:chExt cx="3687574" cy="3779014"/>
          </a:xfrm>
        </p:grpSpPr>
        <p:cxnSp>
          <p:nvCxnSpPr>
            <p:cNvPr id="43" name="Conector recto 42">
              <a:extLst>
                <a:ext uri="{FF2B5EF4-FFF2-40B4-BE49-F238E27FC236}">
                  <a16:creationId xmlns:a16="http://schemas.microsoft.com/office/drawing/2014/main" id="{AB4AD76A-7AD4-5E4B-BF1D-6D6EAB55E275}"/>
                </a:ext>
              </a:extLst>
            </p:cNvPr>
            <p:cNvCxnSpPr/>
            <p:nvPr/>
          </p:nvCxnSpPr>
          <p:spPr>
            <a:xfrm>
              <a:off x="4572000" y="3773196"/>
              <a:ext cx="0" cy="286348"/>
            </a:xfrm>
            <a:prstGeom prst="line">
              <a:avLst/>
            </a:prstGeom>
            <a:ln w="19050">
              <a:solidFill>
                <a:srgbClr val="808799"/>
              </a:solidFill>
            </a:ln>
          </p:spPr>
          <p:style>
            <a:lnRef idx="1">
              <a:schemeClr val="accent1"/>
            </a:lnRef>
            <a:fillRef idx="0">
              <a:schemeClr val="accent1"/>
            </a:fillRef>
            <a:effectRef idx="0">
              <a:schemeClr val="accent1"/>
            </a:effectRef>
            <a:fontRef idx="minor">
              <a:schemeClr val="tx1"/>
            </a:fontRef>
          </p:style>
        </p:cxnSp>
        <p:cxnSp>
          <p:nvCxnSpPr>
            <p:cNvPr id="4" name="Conector recto 3">
              <a:extLst>
                <a:ext uri="{FF2B5EF4-FFF2-40B4-BE49-F238E27FC236}">
                  <a16:creationId xmlns:a16="http://schemas.microsoft.com/office/drawing/2014/main" id="{3D0B4194-7E01-EA47-AC7B-D40FA5E87E28}"/>
                </a:ext>
              </a:extLst>
            </p:cNvPr>
            <p:cNvCxnSpPr>
              <a:stCxn id="2" idx="4"/>
            </p:cNvCxnSpPr>
            <p:nvPr/>
          </p:nvCxnSpPr>
          <p:spPr>
            <a:xfrm>
              <a:off x="4572000" y="2511563"/>
              <a:ext cx="0" cy="286348"/>
            </a:xfrm>
            <a:prstGeom prst="line">
              <a:avLst/>
            </a:prstGeom>
            <a:ln w="19050">
              <a:solidFill>
                <a:srgbClr val="808799"/>
              </a:solidFill>
            </a:ln>
          </p:spPr>
          <p:style>
            <a:lnRef idx="1">
              <a:schemeClr val="accent1"/>
            </a:lnRef>
            <a:fillRef idx="0">
              <a:schemeClr val="accent1"/>
            </a:fillRef>
            <a:effectRef idx="0">
              <a:schemeClr val="accent1"/>
            </a:effectRef>
            <a:fontRef idx="minor">
              <a:schemeClr val="tx1"/>
            </a:fontRef>
          </p:style>
        </p:cxnSp>
        <p:sp>
          <p:nvSpPr>
            <p:cNvPr id="2" name="Elipse 1">
              <a:extLst>
                <a:ext uri="{FF2B5EF4-FFF2-40B4-BE49-F238E27FC236}">
                  <a16:creationId xmlns:a16="http://schemas.microsoft.com/office/drawing/2014/main" id="{98705C8C-659D-924F-B4C7-790070839F43}"/>
                </a:ext>
              </a:extLst>
            </p:cNvPr>
            <p:cNvSpPr/>
            <p:nvPr/>
          </p:nvSpPr>
          <p:spPr>
            <a:xfrm>
              <a:off x="3990085" y="1347733"/>
              <a:ext cx="1163830" cy="1163830"/>
            </a:xfrm>
            <a:prstGeom prst="ellips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100" b="1" dirty="0">
                  <a:latin typeface="Calibri" panose="020F0502020204030204" pitchFamily="34" charset="0"/>
                  <a:cs typeface="Calibri" panose="020F0502020204030204" pitchFamily="34" charset="0"/>
                </a:rPr>
                <a:t>Funcionalidad</a:t>
              </a:r>
            </a:p>
          </p:txBody>
        </p:sp>
        <p:sp>
          <p:nvSpPr>
            <p:cNvPr id="34" name="Elipse 33">
              <a:extLst>
                <a:ext uri="{FF2B5EF4-FFF2-40B4-BE49-F238E27FC236}">
                  <a16:creationId xmlns:a16="http://schemas.microsoft.com/office/drawing/2014/main" id="{4C74BE8A-5528-1F47-82FE-754C797F1DAF}"/>
                </a:ext>
              </a:extLst>
            </p:cNvPr>
            <p:cNvSpPr/>
            <p:nvPr/>
          </p:nvSpPr>
          <p:spPr>
            <a:xfrm>
              <a:off x="3990085" y="3962917"/>
              <a:ext cx="1163830" cy="1163830"/>
            </a:xfrm>
            <a:prstGeom prst="ellipse">
              <a:avLst/>
            </a:prstGeom>
            <a:solidFill>
              <a:srgbClr val="FDC21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200" b="1" dirty="0">
                  <a:latin typeface="Calibri" panose="020F0502020204030204" pitchFamily="34" charset="0"/>
                  <a:cs typeface="Calibri" panose="020F0502020204030204" pitchFamily="34" charset="0"/>
                </a:rPr>
                <a:t>Seguridad</a:t>
              </a:r>
            </a:p>
          </p:txBody>
        </p:sp>
        <p:sp>
          <p:nvSpPr>
            <p:cNvPr id="38" name="Elipse 37">
              <a:extLst>
                <a:ext uri="{FF2B5EF4-FFF2-40B4-BE49-F238E27FC236}">
                  <a16:creationId xmlns:a16="http://schemas.microsoft.com/office/drawing/2014/main" id="{9F2187F7-2952-1E43-9AC8-2F3EE92017D2}"/>
                </a:ext>
              </a:extLst>
            </p:cNvPr>
            <p:cNvSpPr/>
            <p:nvPr/>
          </p:nvSpPr>
          <p:spPr>
            <a:xfrm>
              <a:off x="5297137" y="3171884"/>
              <a:ext cx="1163830" cy="1163830"/>
            </a:xfrm>
            <a:prstGeom prst="ellipse">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200" b="1" dirty="0">
                  <a:latin typeface="Calibri" panose="020F0502020204030204" pitchFamily="34" charset="0"/>
                  <a:cs typeface="Calibri" panose="020F0502020204030204" pitchFamily="34" charset="0"/>
                </a:rPr>
                <a:t>Regresión</a:t>
              </a:r>
            </a:p>
          </p:txBody>
        </p:sp>
        <p:cxnSp>
          <p:nvCxnSpPr>
            <p:cNvPr id="42" name="Conector recto 41">
              <a:extLst>
                <a:ext uri="{FF2B5EF4-FFF2-40B4-BE49-F238E27FC236}">
                  <a16:creationId xmlns:a16="http://schemas.microsoft.com/office/drawing/2014/main" id="{2482D2F2-DD44-764B-A6F3-A5F8DBA87980}"/>
                </a:ext>
              </a:extLst>
            </p:cNvPr>
            <p:cNvCxnSpPr/>
            <p:nvPr/>
          </p:nvCxnSpPr>
          <p:spPr>
            <a:xfrm>
              <a:off x="4572000" y="2895372"/>
              <a:ext cx="0" cy="286348"/>
            </a:xfrm>
            <a:prstGeom prst="line">
              <a:avLst/>
            </a:prstGeom>
            <a:ln w="19050">
              <a:solidFill>
                <a:srgbClr val="808799"/>
              </a:solidFill>
            </a:ln>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5CE7CF5D-CA4E-8147-AD8E-0C3D7CBAA08E}"/>
                </a:ext>
              </a:extLst>
            </p:cNvPr>
            <p:cNvCxnSpPr>
              <a:cxnSpLocks/>
            </p:cNvCxnSpPr>
            <p:nvPr/>
          </p:nvCxnSpPr>
          <p:spPr>
            <a:xfrm flipV="1">
              <a:off x="3846864" y="2654738"/>
              <a:ext cx="1703544" cy="831686"/>
            </a:xfrm>
            <a:prstGeom prst="line">
              <a:avLst/>
            </a:prstGeom>
            <a:ln w="19050">
              <a:solidFill>
                <a:srgbClr val="808799"/>
              </a:solidFill>
            </a:ln>
          </p:spPr>
          <p:style>
            <a:lnRef idx="1">
              <a:schemeClr val="accent1"/>
            </a:lnRef>
            <a:fillRef idx="0">
              <a:schemeClr val="accent1"/>
            </a:fillRef>
            <a:effectRef idx="0">
              <a:schemeClr val="accent1"/>
            </a:effectRef>
            <a:fontRef idx="minor">
              <a:schemeClr val="tx1"/>
            </a:fontRef>
          </p:style>
        </p:cxnSp>
        <p:sp>
          <p:nvSpPr>
            <p:cNvPr id="36" name="Elipse 35">
              <a:extLst>
                <a:ext uri="{FF2B5EF4-FFF2-40B4-BE49-F238E27FC236}">
                  <a16:creationId xmlns:a16="http://schemas.microsoft.com/office/drawing/2014/main" id="{A8F06CCF-553A-F541-AB0D-122BD9B96D12}"/>
                </a:ext>
              </a:extLst>
            </p:cNvPr>
            <p:cNvSpPr/>
            <p:nvPr/>
          </p:nvSpPr>
          <p:spPr>
            <a:xfrm>
              <a:off x="2773393" y="3171884"/>
              <a:ext cx="1163830" cy="1163830"/>
            </a:xfrm>
            <a:prstGeom prst="ellipse">
              <a:avLst/>
            </a:prstGeom>
            <a:solidFill>
              <a:srgbClr val="92C14E">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200" b="1" dirty="0">
                  <a:latin typeface="Calibri" panose="020F0502020204030204" pitchFamily="34" charset="0"/>
                  <a:cs typeface="Calibri" panose="020F0502020204030204" pitchFamily="34" charset="0"/>
                </a:rPr>
                <a:t>Interface Gráfica</a:t>
              </a:r>
            </a:p>
          </p:txBody>
        </p:sp>
        <p:sp>
          <p:nvSpPr>
            <p:cNvPr id="37" name="Elipse 36">
              <a:extLst>
                <a:ext uri="{FF2B5EF4-FFF2-40B4-BE49-F238E27FC236}">
                  <a16:creationId xmlns:a16="http://schemas.microsoft.com/office/drawing/2014/main" id="{20EF8328-731C-304A-9658-61BDFFC12271}"/>
                </a:ext>
              </a:extLst>
            </p:cNvPr>
            <p:cNvSpPr/>
            <p:nvPr/>
          </p:nvSpPr>
          <p:spPr>
            <a:xfrm>
              <a:off x="5297137" y="1864292"/>
              <a:ext cx="1163830" cy="1163830"/>
            </a:xfrm>
            <a:prstGeom prst="ellipse">
              <a:avLst/>
            </a:prstGeom>
            <a:solidFill>
              <a:srgbClr val="FE782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200" b="1" dirty="0">
                  <a:latin typeface="Calibri" panose="020F0502020204030204" pitchFamily="34" charset="0"/>
                  <a:cs typeface="Calibri" panose="020F0502020204030204" pitchFamily="34" charset="0"/>
                </a:rPr>
                <a:t>Aceptación</a:t>
              </a:r>
            </a:p>
            <a:p>
              <a:pPr algn="ctr"/>
              <a:r>
                <a:rPr lang="es-ES_tradnl" sz="1200" b="1" dirty="0">
                  <a:latin typeface="Calibri" panose="020F0502020204030204" pitchFamily="34" charset="0"/>
                  <a:cs typeface="Calibri" panose="020F0502020204030204" pitchFamily="34" charset="0"/>
                </a:rPr>
                <a:t>Usuaria</a:t>
              </a:r>
            </a:p>
          </p:txBody>
        </p:sp>
        <p:cxnSp>
          <p:nvCxnSpPr>
            <p:cNvPr id="48" name="Conector recto 47">
              <a:extLst>
                <a:ext uri="{FF2B5EF4-FFF2-40B4-BE49-F238E27FC236}">
                  <a16:creationId xmlns:a16="http://schemas.microsoft.com/office/drawing/2014/main" id="{04CD22DD-C2D4-214A-B7F1-6129B93DFCF6}"/>
                </a:ext>
              </a:extLst>
            </p:cNvPr>
            <p:cNvCxnSpPr>
              <a:cxnSpLocks/>
            </p:cNvCxnSpPr>
            <p:nvPr/>
          </p:nvCxnSpPr>
          <p:spPr>
            <a:xfrm>
              <a:off x="3659381" y="2700208"/>
              <a:ext cx="1758911" cy="888149"/>
            </a:xfrm>
            <a:prstGeom prst="line">
              <a:avLst/>
            </a:prstGeom>
            <a:ln w="19050">
              <a:solidFill>
                <a:srgbClr val="808799"/>
              </a:solidFill>
            </a:ln>
          </p:spPr>
          <p:style>
            <a:lnRef idx="1">
              <a:schemeClr val="accent1"/>
            </a:lnRef>
            <a:fillRef idx="0">
              <a:schemeClr val="accent1"/>
            </a:fillRef>
            <a:effectRef idx="0">
              <a:schemeClr val="accent1"/>
            </a:effectRef>
            <a:fontRef idx="minor">
              <a:schemeClr val="tx1"/>
            </a:fontRef>
          </p:style>
        </p:cxnSp>
        <p:sp>
          <p:nvSpPr>
            <p:cNvPr id="33" name="Elipse 32">
              <a:extLst>
                <a:ext uri="{FF2B5EF4-FFF2-40B4-BE49-F238E27FC236}">
                  <a16:creationId xmlns:a16="http://schemas.microsoft.com/office/drawing/2014/main" id="{D3D216C0-C5BF-AE4F-83F3-2706D4A46248}"/>
                </a:ext>
              </a:extLst>
            </p:cNvPr>
            <p:cNvSpPr/>
            <p:nvPr/>
          </p:nvSpPr>
          <p:spPr>
            <a:xfrm>
              <a:off x="3990085" y="2664469"/>
              <a:ext cx="1163830" cy="1163830"/>
            </a:xfrm>
            <a:prstGeom prst="ellips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b="1" dirty="0">
                  <a:latin typeface="Calibri" panose="020F0502020204030204" pitchFamily="34" charset="0"/>
                  <a:cs typeface="Calibri" panose="020F0502020204030204" pitchFamily="34" charset="0"/>
                </a:rPr>
                <a:t>TESTING</a:t>
              </a:r>
            </a:p>
          </p:txBody>
        </p:sp>
        <p:sp>
          <p:nvSpPr>
            <p:cNvPr id="35" name="Elipse 34">
              <a:extLst>
                <a:ext uri="{FF2B5EF4-FFF2-40B4-BE49-F238E27FC236}">
                  <a16:creationId xmlns:a16="http://schemas.microsoft.com/office/drawing/2014/main" id="{D89F261F-E7AC-D24A-990F-9F72E671DFD1}"/>
                </a:ext>
              </a:extLst>
            </p:cNvPr>
            <p:cNvSpPr/>
            <p:nvPr/>
          </p:nvSpPr>
          <p:spPr>
            <a:xfrm>
              <a:off x="2773393" y="1864292"/>
              <a:ext cx="1163830" cy="1163830"/>
            </a:xfrm>
            <a:prstGeom prst="ellipse">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200" b="1" dirty="0">
                  <a:latin typeface="Calibri" panose="020F0502020204030204" pitchFamily="34" charset="0"/>
                  <a:cs typeface="Calibri" panose="020F0502020204030204" pitchFamily="34" charset="0"/>
                </a:rPr>
                <a:t>Performance</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5" name="Rectangle 5">
            <a:extLst>
              <a:ext uri="{FF2B5EF4-FFF2-40B4-BE49-F238E27FC236}">
                <a16:creationId xmlns:a16="http://schemas.microsoft.com/office/drawing/2014/main" id="{56E02479-AC36-7E4F-90BF-7F0FF9C4C238}"/>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CONCEPTOS Y DEFINICIONES BÁSICAS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6" name="Rectángulo 5">
            <a:extLst>
              <a:ext uri="{FF2B5EF4-FFF2-40B4-BE49-F238E27FC236}">
                <a16:creationId xmlns:a16="http://schemas.microsoft.com/office/drawing/2014/main" id="{FE74FF1E-973D-6541-8017-DD0423D78AAF}"/>
              </a:ext>
            </a:extLst>
          </p:cNvPr>
          <p:cNvSpPr/>
          <p:nvPr/>
        </p:nvSpPr>
        <p:spPr>
          <a:xfrm>
            <a:off x="503238" y="916472"/>
            <a:ext cx="8172450" cy="877163"/>
          </a:xfrm>
          <a:prstGeom prst="rect">
            <a:avLst/>
          </a:prstGeom>
        </p:spPr>
        <p:txBody>
          <a:bodyPr wrap="square" lIns="0" tIns="0" rIns="0" bIns="0">
            <a:spAutoFit/>
          </a:bodyPr>
          <a:lstStyle/>
          <a:p>
            <a:pPr lvl="0">
              <a:spcAft>
                <a:spcPts val="600"/>
              </a:spcAft>
            </a:pPr>
            <a:r>
              <a:rPr lang="es-ES" sz="2000" b="1" dirty="0">
                <a:solidFill>
                  <a:srgbClr val="EE4639"/>
                </a:solidFill>
                <a:latin typeface="Graphik Bold" panose="020B0503030202060203" pitchFamily="34" charset="77"/>
                <a:cs typeface="Calibri" charset="0"/>
              </a:rPr>
              <a:t>+ 02.</a:t>
            </a:r>
            <a:br>
              <a:rPr lang="es-ES" sz="1600" b="1" dirty="0">
                <a:solidFill>
                  <a:srgbClr val="EE4639"/>
                </a:solidFill>
                <a:latin typeface="Calibri" charset="0"/>
                <a:cs typeface="Calibri" charset="0"/>
              </a:rPr>
            </a:br>
            <a:r>
              <a:rPr lang="es-ES" sz="1600" b="1" dirty="0">
                <a:solidFill>
                  <a:srgbClr val="EE4639"/>
                </a:solidFill>
                <a:latin typeface="Calibri" charset="0"/>
                <a:cs typeface="Calibri" charset="0"/>
              </a:rPr>
              <a:t>ERROR, DEFECTO Y FALLO</a:t>
            </a:r>
            <a:endParaRPr lang="es-PE" sz="1600" b="1" dirty="0">
              <a:solidFill>
                <a:srgbClr val="EE4639"/>
              </a:solidFill>
              <a:latin typeface="Calibri" charset="0"/>
              <a:cs typeface="Calibri" charset="0"/>
            </a:endParaRPr>
          </a:p>
          <a:p>
            <a:pPr marL="139700" marR="0" lvl="0" indent="-139700"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Un </a:t>
            </a:r>
            <a:r>
              <a:rPr lang="es-PE" sz="1600" b="1" dirty="0">
                <a:solidFill>
                  <a:schemeClr val="dk1"/>
                </a:solidFill>
                <a:latin typeface="Calibri"/>
                <a:ea typeface="Calibri"/>
                <a:cs typeface="Calibri"/>
                <a:sym typeface="Calibri"/>
              </a:rPr>
              <a:t>error</a:t>
            </a:r>
            <a:r>
              <a:rPr lang="es-PE" sz="1600" dirty="0">
                <a:solidFill>
                  <a:schemeClr val="dk1"/>
                </a:solidFill>
                <a:latin typeface="Calibri"/>
                <a:ea typeface="Calibri"/>
                <a:cs typeface="Calibri"/>
                <a:sym typeface="Calibri"/>
              </a:rPr>
              <a:t> lleva a un </a:t>
            </a:r>
            <a:r>
              <a:rPr lang="es-PE" sz="1600" b="1" dirty="0">
                <a:solidFill>
                  <a:schemeClr val="dk1"/>
                </a:solidFill>
                <a:latin typeface="Calibri"/>
                <a:ea typeface="Calibri"/>
                <a:cs typeface="Calibri"/>
                <a:sym typeface="Calibri"/>
              </a:rPr>
              <a:t>defecto</a:t>
            </a:r>
            <a:r>
              <a:rPr lang="es-PE" sz="1600" dirty="0">
                <a:solidFill>
                  <a:schemeClr val="dk1"/>
                </a:solidFill>
                <a:latin typeface="Calibri"/>
                <a:ea typeface="Calibri"/>
                <a:cs typeface="Calibri"/>
                <a:sym typeface="Calibri"/>
              </a:rPr>
              <a:t>, el cual puede causar un </a:t>
            </a:r>
            <a:r>
              <a:rPr lang="es-PE" sz="1600" b="1" dirty="0">
                <a:solidFill>
                  <a:schemeClr val="dk1"/>
                </a:solidFill>
                <a:latin typeface="Calibri"/>
                <a:ea typeface="Calibri"/>
                <a:cs typeface="Calibri"/>
                <a:sym typeface="Calibri"/>
              </a:rPr>
              <a:t>fallo</a:t>
            </a:r>
            <a:r>
              <a:rPr lang="es-PE" sz="1600" dirty="0">
                <a:solidFill>
                  <a:schemeClr val="dk1"/>
                </a:solidFill>
                <a:latin typeface="Calibri"/>
                <a:ea typeface="Calibri"/>
                <a:cs typeface="Calibri"/>
                <a:sym typeface="Calibri"/>
              </a:rPr>
              <a:t> observable.</a:t>
            </a:r>
            <a:endParaRPr lang="es-PE" sz="1600" dirty="0"/>
          </a:p>
        </p:txBody>
      </p:sp>
      <p:grpSp>
        <p:nvGrpSpPr>
          <p:cNvPr id="3" name="Grupo 2">
            <a:extLst>
              <a:ext uri="{FF2B5EF4-FFF2-40B4-BE49-F238E27FC236}">
                <a16:creationId xmlns:a16="http://schemas.microsoft.com/office/drawing/2014/main" id="{8806748D-18DC-BD41-8780-6D259956506A}"/>
              </a:ext>
            </a:extLst>
          </p:cNvPr>
          <p:cNvGrpSpPr/>
          <p:nvPr/>
        </p:nvGrpSpPr>
        <p:grpSpPr>
          <a:xfrm>
            <a:off x="1515189" y="2305105"/>
            <a:ext cx="6156631" cy="2316254"/>
            <a:chOff x="1515189" y="2305105"/>
            <a:chExt cx="6156631" cy="2316254"/>
          </a:xfrm>
        </p:grpSpPr>
        <p:pic>
          <p:nvPicPr>
            <p:cNvPr id="218" name="Google Shape;218;p15" descr="http://gxfactory.co/wp-content/uploads/2015/09/relacion_error_defecto_fallo.jpg"/>
            <p:cNvPicPr preferRelativeResize="0"/>
            <p:nvPr/>
          </p:nvPicPr>
          <p:blipFill rotWithShape="1">
            <a:blip r:embed="rId3">
              <a:alphaModFix/>
            </a:blip>
            <a:srcRect b="15459"/>
            <a:stretch/>
          </p:blipFill>
          <p:spPr>
            <a:xfrm>
              <a:off x="1515190" y="2305105"/>
              <a:ext cx="6113619" cy="2020008"/>
            </a:xfrm>
            <a:prstGeom prst="rect">
              <a:avLst/>
            </a:prstGeom>
            <a:noFill/>
            <a:ln>
              <a:noFill/>
            </a:ln>
          </p:spPr>
        </p:pic>
        <p:sp>
          <p:nvSpPr>
            <p:cNvPr id="7" name="Rectángulo 6">
              <a:extLst>
                <a:ext uri="{FF2B5EF4-FFF2-40B4-BE49-F238E27FC236}">
                  <a16:creationId xmlns:a16="http://schemas.microsoft.com/office/drawing/2014/main" id="{15E6C659-6D6E-2D40-916C-214AED86FE94}"/>
                </a:ext>
              </a:extLst>
            </p:cNvPr>
            <p:cNvSpPr/>
            <p:nvPr/>
          </p:nvSpPr>
          <p:spPr>
            <a:xfrm>
              <a:off x="1515189" y="4405915"/>
              <a:ext cx="2023539" cy="215444"/>
            </a:xfrm>
            <a:prstGeom prst="rect">
              <a:avLst/>
            </a:prstGeom>
          </p:spPr>
          <p:txBody>
            <a:bodyPr wrap="square" lIns="0" tIns="0" rIns="0" bIns="0">
              <a:spAutoFit/>
            </a:bodyPr>
            <a:lstStyle/>
            <a:p>
              <a:pPr marR="0" lvl="0" algn="ctr" rtl="0">
                <a:spcBef>
                  <a:spcPts val="0"/>
                </a:spcBef>
                <a:spcAft>
                  <a:spcPts val="0"/>
                </a:spcAft>
                <a:buClr>
                  <a:schemeClr val="dk1"/>
                </a:buClr>
                <a:buSzPts val="1600"/>
              </a:pPr>
              <a:r>
                <a:rPr lang="es-PE" b="1" dirty="0">
                  <a:solidFill>
                    <a:srgbClr val="006394"/>
                  </a:solidFill>
                  <a:latin typeface="Calibri"/>
                  <a:ea typeface="Calibri"/>
                  <a:cs typeface="Calibri"/>
                  <a:sym typeface="Calibri"/>
                </a:rPr>
                <a:t>del programador</a:t>
              </a:r>
              <a:endParaRPr lang="es-PE" b="1" dirty="0">
                <a:solidFill>
                  <a:srgbClr val="006394"/>
                </a:solidFill>
              </a:endParaRPr>
            </a:p>
          </p:txBody>
        </p:sp>
        <p:sp>
          <p:nvSpPr>
            <p:cNvPr id="8" name="Rectángulo 7">
              <a:extLst>
                <a:ext uri="{FF2B5EF4-FFF2-40B4-BE49-F238E27FC236}">
                  <a16:creationId xmlns:a16="http://schemas.microsoft.com/office/drawing/2014/main" id="{70D46415-1EE0-F147-8139-467764F9A08B}"/>
                </a:ext>
              </a:extLst>
            </p:cNvPr>
            <p:cNvSpPr/>
            <p:nvPr/>
          </p:nvSpPr>
          <p:spPr>
            <a:xfrm>
              <a:off x="3581735" y="4405915"/>
              <a:ext cx="2023539" cy="215444"/>
            </a:xfrm>
            <a:prstGeom prst="rect">
              <a:avLst/>
            </a:prstGeom>
          </p:spPr>
          <p:txBody>
            <a:bodyPr wrap="square" lIns="0" tIns="0" rIns="0" bIns="0">
              <a:spAutoFit/>
            </a:bodyPr>
            <a:lstStyle/>
            <a:p>
              <a:pPr marR="0" lvl="0" algn="ctr" rtl="0">
                <a:spcBef>
                  <a:spcPts val="0"/>
                </a:spcBef>
                <a:spcAft>
                  <a:spcPts val="0"/>
                </a:spcAft>
                <a:buClr>
                  <a:schemeClr val="dk1"/>
                </a:buClr>
                <a:buSzPts val="1600"/>
              </a:pPr>
              <a:r>
                <a:rPr lang="es-PE" b="1" dirty="0">
                  <a:solidFill>
                    <a:srgbClr val="FFAE01"/>
                  </a:solidFill>
                  <a:latin typeface="Calibri"/>
                  <a:ea typeface="Calibri"/>
                  <a:cs typeface="Calibri"/>
                  <a:sym typeface="Calibri"/>
                </a:rPr>
                <a:t>en el software</a:t>
              </a:r>
              <a:endParaRPr lang="es-PE" b="1" dirty="0">
                <a:solidFill>
                  <a:srgbClr val="FFAE01"/>
                </a:solidFill>
              </a:endParaRPr>
            </a:p>
          </p:txBody>
        </p:sp>
        <p:sp>
          <p:nvSpPr>
            <p:cNvPr id="9" name="Rectángulo 8">
              <a:extLst>
                <a:ext uri="{FF2B5EF4-FFF2-40B4-BE49-F238E27FC236}">
                  <a16:creationId xmlns:a16="http://schemas.microsoft.com/office/drawing/2014/main" id="{031E44B8-FB2B-714B-B95E-AE341D6D9C22}"/>
                </a:ext>
              </a:extLst>
            </p:cNvPr>
            <p:cNvSpPr/>
            <p:nvPr/>
          </p:nvSpPr>
          <p:spPr>
            <a:xfrm>
              <a:off x="5648281" y="4405915"/>
              <a:ext cx="2023539" cy="215444"/>
            </a:xfrm>
            <a:prstGeom prst="rect">
              <a:avLst/>
            </a:prstGeom>
          </p:spPr>
          <p:txBody>
            <a:bodyPr wrap="square" lIns="0" tIns="0" rIns="0" bIns="0">
              <a:spAutoFit/>
            </a:bodyPr>
            <a:lstStyle/>
            <a:p>
              <a:pPr marR="0" lvl="0" algn="ctr" rtl="0">
                <a:spcBef>
                  <a:spcPts val="0"/>
                </a:spcBef>
                <a:spcAft>
                  <a:spcPts val="0"/>
                </a:spcAft>
                <a:buClr>
                  <a:schemeClr val="dk1"/>
                </a:buClr>
                <a:buSzPts val="1600"/>
              </a:pPr>
              <a:r>
                <a:rPr lang="es-PE" b="1" dirty="0">
                  <a:solidFill>
                    <a:srgbClr val="006394"/>
                  </a:solidFill>
                  <a:latin typeface="Calibri"/>
                  <a:ea typeface="Calibri"/>
                  <a:cs typeface="Calibri"/>
                  <a:sym typeface="Calibri"/>
                </a:rPr>
                <a:t>depende del sistema</a:t>
              </a:r>
              <a:endParaRPr lang="es-PE" b="1" dirty="0">
                <a:solidFill>
                  <a:srgbClr val="006394"/>
                </a:solidFill>
              </a:endParaRPr>
            </a:p>
          </p:txBody>
        </p:sp>
        <p:sp>
          <p:nvSpPr>
            <p:cNvPr id="11" name="Rectángulo 10">
              <a:extLst>
                <a:ext uri="{FF2B5EF4-FFF2-40B4-BE49-F238E27FC236}">
                  <a16:creationId xmlns:a16="http://schemas.microsoft.com/office/drawing/2014/main" id="{28D63D7E-CFAC-224A-80AD-C2E336A110DB}"/>
                </a:ext>
              </a:extLst>
            </p:cNvPr>
            <p:cNvSpPr/>
            <p:nvPr/>
          </p:nvSpPr>
          <p:spPr>
            <a:xfrm>
              <a:off x="1635660" y="3939532"/>
              <a:ext cx="1782596" cy="246221"/>
            </a:xfrm>
            <a:prstGeom prst="rect">
              <a:avLst/>
            </a:prstGeom>
            <a:solidFill>
              <a:srgbClr val="006494"/>
            </a:solidFill>
          </p:spPr>
          <p:txBody>
            <a:bodyPr wrap="square" lIns="0" tIns="0" rIns="0" bIns="0">
              <a:spAutoFit/>
            </a:bodyPr>
            <a:lstStyle/>
            <a:p>
              <a:pPr marR="0" lvl="0" algn="ctr" rtl="0">
                <a:spcBef>
                  <a:spcPts val="0"/>
                </a:spcBef>
                <a:spcAft>
                  <a:spcPts val="0"/>
                </a:spcAft>
                <a:buClr>
                  <a:schemeClr val="dk1"/>
                </a:buClr>
                <a:buSzPts val="1600"/>
              </a:pPr>
              <a:r>
                <a:rPr lang="es-PE" sz="1600" b="1" dirty="0">
                  <a:solidFill>
                    <a:schemeClr val="bg1"/>
                  </a:solidFill>
                  <a:latin typeface="Graphik Bold" panose="020B0503030202060203" pitchFamily="34" charset="77"/>
                  <a:ea typeface="Calibri"/>
                  <a:cs typeface="Calibri"/>
                  <a:sym typeface="Calibri"/>
                </a:rPr>
                <a:t>ERROR</a:t>
              </a:r>
              <a:endParaRPr lang="es-PE" sz="1600" b="1" dirty="0">
                <a:solidFill>
                  <a:schemeClr val="bg1"/>
                </a:solidFill>
                <a:latin typeface="Graphik Bold" panose="020B0503030202060203" pitchFamily="34" charset="77"/>
              </a:endParaRPr>
            </a:p>
          </p:txBody>
        </p:sp>
        <p:sp>
          <p:nvSpPr>
            <p:cNvPr id="12" name="Rectángulo 11">
              <a:extLst>
                <a:ext uri="{FF2B5EF4-FFF2-40B4-BE49-F238E27FC236}">
                  <a16:creationId xmlns:a16="http://schemas.microsoft.com/office/drawing/2014/main" id="{7E66CEF0-CB94-3B43-A82B-6D82D18E87A4}"/>
                </a:ext>
              </a:extLst>
            </p:cNvPr>
            <p:cNvSpPr/>
            <p:nvPr/>
          </p:nvSpPr>
          <p:spPr>
            <a:xfrm>
              <a:off x="3698165" y="3939532"/>
              <a:ext cx="1782596" cy="246221"/>
            </a:xfrm>
            <a:prstGeom prst="rect">
              <a:avLst/>
            </a:prstGeom>
            <a:solidFill>
              <a:srgbClr val="FEAD03"/>
            </a:solidFill>
          </p:spPr>
          <p:txBody>
            <a:bodyPr wrap="square" lIns="0" tIns="0" rIns="0" bIns="0">
              <a:spAutoFit/>
            </a:bodyPr>
            <a:lstStyle/>
            <a:p>
              <a:pPr marR="0" lvl="0" algn="ctr" rtl="0">
                <a:spcBef>
                  <a:spcPts val="0"/>
                </a:spcBef>
                <a:spcAft>
                  <a:spcPts val="0"/>
                </a:spcAft>
                <a:buClr>
                  <a:schemeClr val="dk1"/>
                </a:buClr>
                <a:buSzPts val="1600"/>
              </a:pPr>
              <a:r>
                <a:rPr lang="es-PE" sz="1600" b="1" dirty="0">
                  <a:solidFill>
                    <a:schemeClr val="bg1"/>
                  </a:solidFill>
                  <a:latin typeface="Graphik Bold" panose="020B0503030202060203" pitchFamily="34" charset="77"/>
                  <a:ea typeface="Calibri"/>
                  <a:cs typeface="Calibri"/>
                  <a:sym typeface="Calibri"/>
                </a:rPr>
                <a:t>DEFECTO</a:t>
              </a:r>
              <a:endParaRPr lang="es-PE" sz="1600" b="1" dirty="0">
                <a:solidFill>
                  <a:schemeClr val="bg1"/>
                </a:solidFill>
                <a:latin typeface="Graphik Bold" panose="020B0503030202060203" pitchFamily="34" charset="77"/>
              </a:endParaRPr>
            </a:p>
          </p:txBody>
        </p:sp>
        <p:sp>
          <p:nvSpPr>
            <p:cNvPr id="13" name="Rectángulo 12">
              <a:extLst>
                <a:ext uri="{FF2B5EF4-FFF2-40B4-BE49-F238E27FC236}">
                  <a16:creationId xmlns:a16="http://schemas.microsoft.com/office/drawing/2014/main" id="{E5914F6F-268D-864F-9D5B-80D69C1A9AB8}"/>
                </a:ext>
              </a:extLst>
            </p:cNvPr>
            <p:cNvSpPr/>
            <p:nvPr/>
          </p:nvSpPr>
          <p:spPr>
            <a:xfrm>
              <a:off x="5725744" y="3939532"/>
              <a:ext cx="1782596" cy="246221"/>
            </a:xfrm>
            <a:prstGeom prst="rect">
              <a:avLst/>
            </a:prstGeom>
            <a:solidFill>
              <a:srgbClr val="007DAB"/>
            </a:solidFill>
          </p:spPr>
          <p:txBody>
            <a:bodyPr wrap="square" lIns="0" tIns="0" rIns="0" bIns="0">
              <a:spAutoFit/>
            </a:bodyPr>
            <a:lstStyle/>
            <a:p>
              <a:pPr marR="0" lvl="0" algn="ctr" rtl="0">
                <a:spcBef>
                  <a:spcPts val="0"/>
                </a:spcBef>
                <a:spcAft>
                  <a:spcPts val="0"/>
                </a:spcAft>
                <a:buClr>
                  <a:schemeClr val="dk1"/>
                </a:buClr>
                <a:buSzPts val="1600"/>
              </a:pPr>
              <a:r>
                <a:rPr lang="es-PE" sz="1600" b="1" dirty="0">
                  <a:solidFill>
                    <a:schemeClr val="bg1"/>
                  </a:solidFill>
                  <a:latin typeface="Graphik Bold" panose="020B0503030202060203" pitchFamily="34" charset="77"/>
                  <a:ea typeface="Calibri"/>
                  <a:cs typeface="Calibri"/>
                  <a:sym typeface="Calibri"/>
                </a:rPr>
                <a:t>FALLO</a:t>
              </a:r>
              <a:endParaRPr lang="es-PE" sz="1600" b="1" dirty="0">
                <a:solidFill>
                  <a:schemeClr val="bg1"/>
                </a:solidFill>
                <a:latin typeface="Graphik Bold" panose="020B0503030202060203" pitchFamily="34" charset="77"/>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6"/>
          <p:cNvSpPr txBox="1"/>
          <p:nvPr/>
        </p:nvSpPr>
        <p:spPr>
          <a:xfrm>
            <a:off x="1541657" y="2857500"/>
            <a:ext cx="2052005" cy="738664"/>
          </a:xfrm>
          <a:prstGeom prst="rect">
            <a:avLst/>
          </a:prstGeom>
          <a:noFill/>
          <a:ln>
            <a:noFill/>
          </a:ln>
        </p:spPr>
        <p:txBody>
          <a:bodyPr spcFirstLastPara="1" wrap="square" lIns="0" tIns="0" rIns="0" bIns="0" anchor="t" anchorCtr="0">
            <a:spAutoFit/>
          </a:bodyPr>
          <a:lstStyle/>
          <a:p>
            <a:pPr marL="11725" marR="0" lvl="0" indent="0" algn="l" rtl="0">
              <a:spcBef>
                <a:spcPts val="0"/>
              </a:spcBef>
              <a:spcAft>
                <a:spcPts val="0"/>
              </a:spcAft>
              <a:buNone/>
            </a:pPr>
            <a:r>
              <a:rPr lang="es-PE" sz="1600" b="1" dirty="0">
                <a:solidFill>
                  <a:schemeClr val="dk1"/>
                </a:solidFill>
                <a:latin typeface="Calibri"/>
                <a:ea typeface="Calibri"/>
                <a:cs typeface="Calibri"/>
                <a:sym typeface="Calibri"/>
              </a:rPr>
              <a:t>FALLOS DEL SOFTWARE</a:t>
            </a:r>
            <a:endParaRPr dirty="0"/>
          </a:p>
          <a:p>
            <a:pPr marL="180975" marR="0" lvl="0" indent="-169863"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Explosión del cohete Ariane 5</a:t>
            </a:r>
            <a:endParaRPr dirty="0"/>
          </a:p>
        </p:txBody>
      </p:sp>
      <p:pic>
        <p:nvPicPr>
          <p:cNvPr id="226" name="Google Shape;226;p16" descr="http://www.esa.int/esapub/bulletin/bullet91/images/cred91f1.gif"/>
          <p:cNvPicPr preferRelativeResize="0"/>
          <p:nvPr/>
        </p:nvPicPr>
        <p:blipFill rotWithShape="1">
          <a:blip r:embed="rId3">
            <a:alphaModFix/>
          </a:blip>
          <a:srcRect/>
          <a:stretch/>
        </p:blipFill>
        <p:spPr>
          <a:xfrm>
            <a:off x="4392612" y="887953"/>
            <a:ext cx="3350065" cy="4346030"/>
          </a:xfrm>
          <a:prstGeom prst="rect">
            <a:avLst/>
          </a:prstGeom>
          <a:noFill/>
          <a:ln>
            <a:noFill/>
          </a:ln>
        </p:spPr>
      </p:pic>
      <p:sp>
        <p:nvSpPr>
          <p:cNvPr id="5" name="Rectangle 5">
            <a:extLst>
              <a:ext uri="{FF2B5EF4-FFF2-40B4-BE49-F238E27FC236}">
                <a16:creationId xmlns:a16="http://schemas.microsoft.com/office/drawing/2014/main" id="{1640F9BE-7936-5C4E-8D41-D900C4F4E890}"/>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CONCEPTOS Y DEFINICIONES BÁSICAS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2" name="Grupo 1">
            <a:extLst>
              <a:ext uri="{FF2B5EF4-FFF2-40B4-BE49-F238E27FC236}">
                <a16:creationId xmlns:a16="http://schemas.microsoft.com/office/drawing/2014/main" id="{2B3A7A7A-88BE-C94A-B5BF-C8B641565293}"/>
              </a:ext>
            </a:extLst>
          </p:cNvPr>
          <p:cNvGrpSpPr/>
          <p:nvPr/>
        </p:nvGrpSpPr>
        <p:grpSpPr>
          <a:xfrm rot="5400000">
            <a:off x="3291254" y="2887232"/>
            <a:ext cx="1434147" cy="408847"/>
            <a:chOff x="6441885" y="4133143"/>
            <a:chExt cx="1434147" cy="408847"/>
          </a:xfrm>
        </p:grpSpPr>
        <p:cxnSp>
          <p:nvCxnSpPr>
            <p:cNvPr id="6" name="Conector recto 5">
              <a:extLst>
                <a:ext uri="{FF2B5EF4-FFF2-40B4-BE49-F238E27FC236}">
                  <a16:creationId xmlns:a16="http://schemas.microsoft.com/office/drawing/2014/main" id="{18CA8779-7BBB-7848-A12B-5762ABBD4B8A}"/>
                </a:ext>
              </a:extLst>
            </p:cNvPr>
            <p:cNvCxnSpPr>
              <a:cxnSpLocks/>
            </p:cNvCxnSpPr>
            <p:nvPr/>
          </p:nvCxnSpPr>
          <p:spPr>
            <a:xfrm flipH="1" flipV="1">
              <a:off x="7158074" y="4133143"/>
              <a:ext cx="884" cy="408847"/>
            </a:xfrm>
            <a:prstGeom prst="line">
              <a:avLst/>
            </a:prstGeom>
            <a:ln w="19050">
              <a:solidFill>
                <a:srgbClr val="EE4639"/>
              </a:solidFill>
              <a:tailEnd type="oval"/>
            </a:ln>
          </p:spPr>
          <p:style>
            <a:lnRef idx="1">
              <a:schemeClr val="dk1"/>
            </a:lnRef>
            <a:fillRef idx="0">
              <a:schemeClr val="dk1"/>
            </a:fillRef>
            <a:effectRef idx="0">
              <a:schemeClr val="dk1"/>
            </a:effectRef>
            <a:fontRef idx="minor">
              <a:schemeClr val="tx1"/>
            </a:fontRef>
          </p:style>
        </p:cxnSp>
        <p:cxnSp>
          <p:nvCxnSpPr>
            <p:cNvPr id="7" name="Conector recto 6">
              <a:extLst>
                <a:ext uri="{FF2B5EF4-FFF2-40B4-BE49-F238E27FC236}">
                  <a16:creationId xmlns:a16="http://schemas.microsoft.com/office/drawing/2014/main" id="{F0F2B019-5A9F-2744-9368-5AB642BCF874}"/>
                </a:ext>
              </a:extLst>
            </p:cNvPr>
            <p:cNvCxnSpPr/>
            <p:nvPr/>
          </p:nvCxnSpPr>
          <p:spPr>
            <a:xfrm>
              <a:off x="6441885" y="4541990"/>
              <a:ext cx="1434147" cy="0"/>
            </a:xfrm>
            <a:prstGeom prst="line">
              <a:avLst/>
            </a:prstGeom>
            <a:ln w="19050">
              <a:solidFill>
                <a:srgbClr val="EE4639"/>
              </a:solidFill>
            </a:ln>
          </p:spPr>
          <p:style>
            <a:lnRef idx="1">
              <a:schemeClr val="dk1"/>
            </a:lnRef>
            <a:fillRef idx="0">
              <a:schemeClr val="dk1"/>
            </a:fillRef>
            <a:effectRef idx="0">
              <a:schemeClr val="dk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7"/>
          <p:cNvSpPr txBox="1"/>
          <p:nvPr/>
        </p:nvSpPr>
        <p:spPr>
          <a:xfrm>
            <a:off x="6117767" y="2488168"/>
            <a:ext cx="2034284" cy="738664"/>
          </a:xfrm>
          <a:prstGeom prst="rect">
            <a:avLst/>
          </a:prstGeom>
          <a:noFill/>
          <a:ln>
            <a:noFill/>
          </a:ln>
        </p:spPr>
        <p:txBody>
          <a:bodyPr spcFirstLastPara="1" wrap="square" lIns="0" tIns="0" rIns="0" bIns="0" anchor="t" anchorCtr="0">
            <a:spAutoFit/>
          </a:bodyPr>
          <a:lstStyle/>
          <a:p>
            <a:pPr marL="11725" marR="0" lvl="0" indent="0" algn="l" rtl="0">
              <a:spcBef>
                <a:spcPts val="0"/>
              </a:spcBef>
              <a:spcAft>
                <a:spcPts val="0"/>
              </a:spcAft>
              <a:buNone/>
            </a:pPr>
            <a:r>
              <a:rPr lang="es-PE" sz="1600" b="1" dirty="0">
                <a:solidFill>
                  <a:schemeClr val="dk1"/>
                </a:solidFill>
                <a:latin typeface="Calibri"/>
                <a:ea typeface="Calibri"/>
                <a:cs typeface="Calibri"/>
                <a:sym typeface="Calibri"/>
              </a:rPr>
              <a:t>FALLOS DEL SOFTWARE</a:t>
            </a:r>
            <a:endParaRPr dirty="0"/>
          </a:p>
          <a:p>
            <a:pPr marL="139700" marR="0" lvl="0" indent="-139700"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Víctimas del Terac-25</a:t>
            </a:r>
            <a:endParaRPr dirty="0"/>
          </a:p>
          <a:p>
            <a:pPr marL="0" marR="0" lvl="0" indent="139700" algn="l" rtl="0">
              <a:spcBef>
                <a:spcPts val="0"/>
              </a:spcBef>
              <a:spcAft>
                <a:spcPts val="0"/>
              </a:spcAft>
              <a:buNone/>
            </a:pPr>
            <a:r>
              <a:rPr lang="es-PE" sz="1600" dirty="0">
                <a:solidFill>
                  <a:schemeClr val="dk1"/>
                </a:solidFill>
                <a:latin typeface="Calibri"/>
                <a:ea typeface="Calibri"/>
                <a:cs typeface="Calibri"/>
                <a:sym typeface="Calibri"/>
              </a:rPr>
              <a:t>(1985-1987)</a:t>
            </a:r>
            <a:endParaRPr dirty="0"/>
          </a:p>
        </p:txBody>
      </p:sp>
      <p:pic>
        <p:nvPicPr>
          <p:cNvPr id="234" name="Google Shape;234;p17" descr="https://fracasosdesoftware.files.wordpress.com/2012/05/21367-radiation_therapy.jpg"/>
          <p:cNvPicPr preferRelativeResize="0"/>
          <p:nvPr/>
        </p:nvPicPr>
        <p:blipFill rotWithShape="1">
          <a:blip r:embed="rId3">
            <a:alphaModFix/>
          </a:blip>
          <a:srcRect/>
          <a:stretch/>
        </p:blipFill>
        <p:spPr>
          <a:xfrm>
            <a:off x="468313" y="1000630"/>
            <a:ext cx="5015024" cy="3713740"/>
          </a:xfrm>
          <a:prstGeom prst="rect">
            <a:avLst/>
          </a:prstGeom>
          <a:noFill/>
          <a:ln>
            <a:noFill/>
          </a:ln>
        </p:spPr>
      </p:pic>
      <p:sp>
        <p:nvSpPr>
          <p:cNvPr id="5" name="Rectangle 5">
            <a:extLst>
              <a:ext uri="{FF2B5EF4-FFF2-40B4-BE49-F238E27FC236}">
                <a16:creationId xmlns:a16="http://schemas.microsoft.com/office/drawing/2014/main" id="{224C3CA9-627F-EA45-B721-0AF78C45E057}"/>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CONCEPTOS Y DEFINICIONES BÁSICAS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6" name="Grupo 5">
            <a:extLst>
              <a:ext uri="{FF2B5EF4-FFF2-40B4-BE49-F238E27FC236}">
                <a16:creationId xmlns:a16="http://schemas.microsoft.com/office/drawing/2014/main" id="{FBBDBED9-501A-7E4E-81BC-4CEF98F3F1CD}"/>
              </a:ext>
            </a:extLst>
          </p:cNvPr>
          <p:cNvGrpSpPr/>
          <p:nvPr/>
        </p:nvGrpSpPr>
        <p:grpSpPr>
          <a:xfrm rot="16200000">
            <a:off x="5083478" y="2653076"/>
            <a:ext cx="1434147" cy="408847"/>
            <a:chOff x="6441885" y="4133143"/>
            <a:chExt cx="1434147" cy="408847"/>
          </a:xfrm>
        </p:grpSpPr>
        <p:cxnSp>
          <p:nvCxnSpPr>
            <p:cNvPr id="7" name="Conector recto 6">
              <a:extLst>
                <a:ext uri="{FF2B5EF4-FFF2-40B4-BE49-F238E27FC236}">
                  <a16:creationId xmlns:a16="http://schemas.microsoft.com/office/drawing/2014/main" id="{1878E89D-40C0-6349-B7D0-A6F81490D614}"/>
                </a:ext>
              </a:extLst>
            </p:cNvPr>
            <p:cNvCxnSpPr>
              <a:cxnSpLocks/>
            </p:cNvCxnSpPr>
            <p:nvPr/>
          </p:nvCxnSpPr>
          <p:spPr>
            <a:xfrm flipH="1" flipV="1">
              <a:off x="7158074" y="4133143"/>
              <a:ext cx="884" cy="408847"/>
            </a:xfrm>
            <a:prstGeom prst="line">
              <a:avLst/>
            </a:prstGeom>
            <a:ln w="19050">
              <a:solidFill>
                <a:srgbClr val="EE4639"/>
              </a:solidFill>
              <a:tailEnd type="oval"/>
            </a:ln>
          </p:spPr>
          <p:style>
            <a:lnRef idx="1">
              <a:schemeClr val="dk1"/>
            </a:lnRef>
            <a:fillRef idx="0">
              <a:schemeClr val="dk1"/>
            </a:fillRef>
            <a:effectRef idx="0">
              <a:schemeClr val="dk1"/>
            </a:effectRef>
            <a:fontRef idx="minor">
              <a:schemeClr val="tx1"/>
            </a:fontRef>
          </p:style>
        </p:cxnSp>
        <p:cxnSp>
          <p:nvCxnSpPr>
            <p:cNvPr id="8" name="Conector recto 7">
              <a:extLst>
                <a:ext uri="{FF2B5EF4-FFF2-40B4-BE49-F238E27FC236}">
                  <a16:creationId xmlns:a16="http://schemas.microsoft.com/office/drawing/2014/main" id="{B3B836A6-F866-814D-8722-A320323FD78A}"/>
                </a:ext>
              </a:extLst>
            </p:cNvPr>
            <p:cNvCxnSpPr/>
            <p:nvPr/>
          </p:nvCxnSpPr>
          <p:spPr>
            <a:xfrm>
              <a:off x="6441885" y="4541990"/>
              <a:ext cx="1434147" cy="0"/>
            </a:xfrm>
            <a:prstGeom prst="line">
              <a:avLst/>
            </a:prstGeom>
            <a:ln w="19050">
              <a:solidFill>
                <a:srgbClr val="EE4639"/>
              </a:solidFill>
            </a:ln>
          </p:spPr>
          <p:style>
            <a:lnRef idx="1">
              <a:schemeClr val="dk1"/>
            </a:lnRef>
            <a:fillRef idx="0">
              <a:schemeClr val="dk1"/>
            </a:fillRef>
            <a:effectRef idx="0">
              <a:schemeClr val="dk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40" name="Google Shape;240;p18"/>
          <p:cNvSpPr/>
          <p:nvPr/>
        </p:nvSpPr>
        <p:spPr>
          <a:xfrm>
            <a:off x="503238" y="925888"/>
            <a:ext cx="3889375" cy="815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CONSECUENCIAS DE LAS FALLAS EN EL SOFTWARE</a:t>
            </a:r>
            <a:endParaRPr dirty="0"/>
          </a:p>
          <a:p>
            <a:pPr marL="180975" marR="0" lvl="0" indent="-180975"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Las fallas en el Software pueden llevar a:</a:t>
            </a:r>
            <a:endParaRPr dirty="0"/>
          </a:p>
        </p:txBody>
      </p:sp>
      <p:sp>
        <p:nvSpPr>
          <p:cNvPr id="4" name="Rectangle 5">
            <a:extLst>
              <a:ext uri="{FF2B5EF4-FFF2-40B4-BE49-F238E27FC236}">
                <a16:creationId xmlns:a16="http://schemas.microsoft.com/office/drawing/2014/main" id="{778D67B2-57E0-DF46-98AD-3B7D3701C582}"/>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CONCEPTOS Y DEFINICIONES BÁSICAS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7" name="Rectángulo 6">
            <a:extLst>
              <a:ext uri="{FF2B5EF4-FFF2-40B4-BE49-F238E27FC236}">
                <a16:creationId xmlns:a16="http://schemas.microsoft.com/office/drawing/2014/main" id="{BC4E5BEC-0DDD-2E4C-A1A4-8256C3378287}"/>
              </a:ext>
            </a:extLst>
          </p:cNvPr>
          <p:cNvSpPr/>
          <p:nvPr/>
        </p:nvSpPr>
        <p:spPr>
          <a:xfrm>
            <a:off x="974957" y="1870018"/>
            <a:ext cx="3417656" cy="215444"/>
          </a:xfrm>
          <a:prstGeom prst="rect">
            <a:avLst/>
          </a:prstGeom>
        </p:spPr>
        <p:txBody>
          <a:bodyPr wrap="square" lIns="0" tIns="0" rIns="0" bIns="0">
            <a:spAutoFit/>
          </a:bodyPr>
          <a:lstStyle/>
          <a:p>
            <a:pPr marR="0" lvl="1" algn="l" rtl="0">
              <a:spcBef>
                <a:spcPts val="0"/>
              </a:spcBef>
              <a:spcAft>
                <a:spcPts val="0"/>
              </a:spcAft>
              <a:buClr>
                <a:schemeClr val="dk1"/>
              </a:buClr>
              <a:buSzPts val="1600"/>
            </a:pPr>
            <a:r>
              <a:rPr lang="es-PE" sz="1400" b="0" i="0" u="none" strike="noStrike" cap="none" dirty="0">
                <a:solidFill>
                  <a:schemeClr val="dk1"/>
                </a:solidFill>
                <a:latin typeface="Calibri"/>
                <a:ea typeface="Calibri"/>
                <a:cs typeface="Calibri"/>
                <a:sym typeface="Calibri"/>
              </a:rPr>
              <a:t>Pérdida de dinero</a:t>
            </a:r>
            <a:endParaRPr lang="es-PE" dirty="0"/>
          </a:p>
        </p:txBody>
      </p:sp>
      <p:cxnSp>
        <p:nvCxnSpPr>
          <p:cNvPr id="8" name="Conector recto 7">
            <a:extLst>
              <a:ext uri="{FF2B5EF4-FFF2-40B4-BE49-F238E27FC236}">
                <a16:creationId xmlns:a16="http://schemas.microsoft.com/office/drawing/2014/main" id="{767C8414-5362-2747-A37B-E3EB62E27201}"/>
              </a:ext>
            </a:extLst>
          </p:cNvPr>
          <p:cNvCxnSpPr>
            <a:cxnSpLocks/>
          </p:cNvCxnSpPr>
          <p:nvPr/>
        </p:nvCxnSpPr>
        <p:spPr>
          <a:xfrm>
            <a:off x="760555" y="2072889"/>
            <a:ext cx="0" cy="295407"/>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
        <p:nvSpPr>
          <p:cNvPr id="9" name="Rectángulo 8">
            <a:extLst>
              <a:ext uri="{FF2B5EF4-FFF2-40B4-BE49-F238E27FC236}">
                <a16:creationId xmlns:a16="http://schemas.microsoft.com/office/drawing/2014/main" id="{B208918D-3929-D74F-A272-2FE3F1326B04}"/>
              </a:ext>
            </a:extLst>
          </p:cNvPr>
          <p:cNvSpPr/>
          <p:nvPr/>
        </p:nvSpPr>
        <p:spPr>
          <a:xfrm>
            <a:off x="974956" y="2408711"/>
            <a:ext cx="3417657" cy="215444"/>
          </a:xfrm>
          <a:prstGeom prst="rect">
            <a:avLst/>
          </a:prstGeom>
        </p:spPr>
        <p:txBody>
          <a:bodyPr wrap="square" lIns="0" tIns="0" rIns="0" bIns="0">
            <a:spAutoFit/>
          </a:bodyPr>
          <a:lstStyle/>
          <a:p>
            <a:pPr marR="0" lvl="1" algn="l" rtl="0">
              <a:spcBef>
                <a:spcPts val="0"/>
              </a:spcBef>
              <a:spcAft>
                <a:spcPts val="0"/>
              </a:spcAft>
              <a:buClr>
                <a:schemeClr val="dk1"/>
              </a:buClr>
              <a:buSzPts val="1600"/>
            </a:pPr>
            <a:r>
              <a:rPr lang="es-PE" sz="1400" b="0" i="0" u="none" strike="noStrike" cap="none" dirty="0">
                <a:solidFill>
                  <a:schemeClr val="dk1"/>
                </a:solidFill>
                <a:latin typeface="Calibri"/>
                <a:ea typeface="Calibri"/>
                <a:cs typeface="Calibri"/>
                <a:sym typeface="Calibri"/>
              </a:rPr>
              <a:t>Pérdida de tiempo</a:t>
            </a:r>
            <a:endParaRPr lang="es-PE" dirty="0"/>
          </a:p>
        </p:txBody>
      </p:sp>
      <p:sp>
        <p:nvSpPr>
          <p:cNvPr id="10" name="Rectángulo 9">
            <a:extLst>
              <a:ext uri="{FF2B5EF4-FFF2-40B4-BE49-F238E27FC236}">
                <a16:creationId xmlns:a16="http://schemas.microsoft.com/office/drawing/2014/main" id="{14A46CC9-8247-C748-9628-AD22D79AF92C}"/>
              </a:ext>
            </a:extLst>
          </p:cNvPr>
          <p:cNvSpPr/>
          <p:nvPr/>
        </p:nvSpPr>
        <p:spPr>
          <a:xfrm>
            <a:off x="974956" y="2910426"/>
            <a:ext cx="3417657" cy="215444"/>
          </a:xfrm>
          <a:prstGeom prst="rect">
            <a:avLst/>
          </a:prstGeom>
        </p:spPr>
        <p:txBody>
          <a:bodyPr wrap="square" lIns="0" tIns="0" rIns="0" bIns="0">
            <a:spAutoFit/>
          </a:bodyPr>
          <a:lstStyle/>
          <a:p>
            <a:pPr marR="0" lvl="1" algn="l" rtl="0">
              <a:spcBef>
                <a:spcPts val="0"/>
              </a:spcBef>
              <a:spcAft>
                <a:spcPts val="0"/>
              </a:spcAft>
              <a:buClr>
                <a:schemeClr val="dk1"/>
              </a:buClr>
              <a:buSzPts val="1600"/>
            </a:pPr>
            <a:r>
              <a:rPr lang="es-PE" sz="1400" b="0" i="0" u="none" strike="noStrike" cap="none" dirty="0">
                <a:solidFill>
                  <a:schemeClr val="dk1"/>
                </a:solidFill>
                <a:latin typeface="Calibri"/>
                <a:ea typeface="Calibri"/>
                <a:cs typeface="Calibri"/>
                <a:sym typeface="Calibri"/>
              </a:rPr>
              <a:t>Pérdida de reputación en los negocios</a:t>
            </a:r>
            <a:endParaRPr lang="es-PE" dirty="0"/>
          </a:p>
        </p:txBody>
      </p:sp>
      <p:sp>
        <p:nvSpPr>
          <p:cNvPr id="11" name="Más 10">
            <a:extLst>
              <a:ext uri="{FF2B5EF4-FFF2-40B4-BE49-F238E27FC236}">
                <a16:creationId xmlns:a16="http://schemas.microsoft.com/office/drawing/2014/main" id="{AA7E0C1F-4027-7C42-81F1-9C3AE143DF49}"/>
              </a:ext>
            </a:extLst>
          </p:cNvPr>
          <p:cNvSpPr/>
          <p:nvPr/>
        </p:nvSpPr>
        <p:spPr>
          <a:xfrm>
            <a:off x="684213" y="1879791"/>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cxnSp>
        <p:nvCxnSpPr>
          <p:cNvPr id="12" name="Conector recto 11">
            <a:extLst>
              <a:ext uri="{FF2B5EF4-FFF2-40B4-BE49-F238E27FC236}">
                <a16:creationId xmlns:a16="http://schemas.microsoft.com/office/drawing/2014/main" id="{178BAD74-DD49-D34A-A640-A7A674951E1F}"/>
              </a:ext>
            </a:extLst>
          </p:cNvPr>
          <p:cNvCxnSpPr>
            <a:cxnSpLocks/>
          </p:cNvCxnSpPr>
          <p:nvPr/>
        </p:nvCxnSpPr>
        <p:spPr>
          <a:xfrm>
            <a:off x="760555" y="2602348"/>
            <a:ext cx="0" cy="278012"/>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
        <p:nvSpPr>
          <p:cNvPr id="13" name="Más 12">
            <a:extLst>
              <a:ext uri="{FF2B5EF4-FFF2-40B4-BE49-F238E27FC236}">
                <a16:creationId xmlns:a16="http://schemas.microsoft.com/office/drawing/2014/main" id="{393C6B57-63BD-3A45-A5F8-FFEC5C7CC016}"/>
              </a:ext>
            </a:extLst>
          </p:cNvPr>
          <p:cNvSpPr/>
          <p:nvPr/>
        </p:nvSpPr>
        <p:spPr>
          <a:xfrm>
            <a:off x="684213" y="2419599"/>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4" name="Más 13">
            <a:extLst>
              <a:ext uri="{FF2B5EF4-FFF2-40B4-BE49-F238E27FC236}">
                <a16:creationId xmlns:a16="http://schemas.microsoft.com/office/drawing/2014/main" id="{53DFBF07-5C35-5D46-B4E5-F7549017D40A}"/>
              </a:ext>
            </a:extLst>
          </p:cNvPr>
          <p:cNvSpPr/>
          <p:nvPr/>
        </p:nvSpPr>
        <p:spPr>
          <a:xfrm>
            <a:off x="684213" y="2910426"/>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7" name="Rectángulo 16">
            <a:extLst>
              <a:ext uri="{FF2B5EF4-FFF2-40B4-BE49-F238E27FC236}">
                <a16:creationId xmlns:a16="http://schemas.microsoft.com/office/drawing/2014/main" id="{F621E046-208F-394D-92FD-54FF6207B164}"/>
              </a:ext>
            </a:extLst>
          </p:cNvPr>
          <p:cNvSpPr/>
          <p:nvPr/>
        </p:nvSpPr>
        <p:spPr>
          <a:xfrm>
            <a:off x="974956" y="3385914"/>
            <a:ext cx="3417657" cy="215444"/>
          </a:xfrm>
          <a:prstGeom prst="rect">
            <a:avLst/>
          </a:prstGeom>
        </p:spPr>
        <p:txBody>
          <a:bodyPr wrap="square" lIns="0" tIns="0" rIns="0" bIns="0">
            <a:spAutoFit/>
          </a:bodyPr>
          <a:lstStyle/>
          <a:p>
            <a:pPr marR="0" lvl="1" algn="l" rtl="0">
              <a:spcBef>
                <a:spcPts val="0"/>
              </a:spcBef>
              <a:spcAft>
                <a:spcPts val="0"/>
              </a:spcAft>
              <a:buClr>
                <a:schemeClr val="dk1"/>
              </a:buClr>
              <a:buSzPts val="1600"/>
            </a:pPr>
            <a:r>
              <a:rPr lang="es-PE" sz="1400" b="0" i="0" u="none" strike="noStrike" cap="none" dirty="0">
                <a:solidFill>
                  <a:schemeClr val="dk1"/>
                </a:solidFill>
                <a:latin typeface="Calibri"/>
                <a:ea typeface="Calibri"/>
                <a:cs typeface="Calibri"/>
                <a:sym typeface="Calibri"/>
              </a:rPr>
              <a:t>Heridas/Lesiones</a:t>
            </a:r>
            <a:endParaRPr lang="es-PE" dirty="0"/>
          </a:p>
        </p:txBody>
      </p:sp>
      <p:cxnSp>
        <p:nvCxnSpPr>
          <p:cNvPr id="18" name="Conector recto 17">
            <a:extLst>
              <a:ext uri="{FF2B5EF4-FFF2-40B4-BE49-F238E27FC236}">
                <a16:creationId xmlns:a16="http://schemas.microsoft.com/office/drawing/2014/main" id="{AE554E31-3ACD-FB49-86E0-D7D1AA5F6F3F}"/>
              </a:ext>
            </a:extLst>
          </p:cNvPr>
          <p:cNvCxnSpPr>
            <a:cxnSpLocks/>
          </p:cNvCxnSpPr>
          <p:nvPr/>
        </p:nvCxnSpPr>
        <p:spPr>
          <a:xfrm>
            <a:off x="760555" y="3077836"/>
            <a:ext cx="0" cy="278012"/>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
        <p:nvSpPr>
          <p:cNvPr id="19" name="Más 18">
            <a:extLst>
              <a:ext uri="{FF2B5EF4-FFF2-40B4-BE49-F238E27FC236}">
                <a16:creationId xmlns:a16="http://schemas.microsoft.com/office/drawing/2014/main" id="{C1667815-94CD-CF40-9F8F-97347E96AA01}"/>
              </a:ext>
            </a:extLst>
          </p:cNvPr>
          <p:cNvSpPr/>
          <p:nvPr/>
        </p:nvSpPr>
        <p:spPr>
          <a:xfrm>
            <a:off x="684213" y="3385914"/>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20" name="Rectángulo 19">
            <a:extLst>
              <a:ext uri="{FF2B5EF4-FFF2-40B4-BE49-F238E27FC236}">
                <a16:creationId xmlns:a16="http://schemas.microsoft.com/office/drawing/2014/main" id="{5C391F14-E47B-3542-BB32-A46E53A9FCEA}"/>
              </a:ext>
            </a:extLst>
          </p:cNvPr>
          <p:cNvSpPr/>
          <p:nvPr/>
        </p:nvSpPr>
        <p:spPr>
          <a:xfrm>
            <a:off x="974956" y="3852258"/>
            <a:ext cx="3417657" cy="215444"/>
          </a:xfrm>
          <a:prstGeom prst="rect">
            <a:avLst/>
          </a:prstGeom>
        </p:spPr>
        <p:txBody>
          <a:bodyPr wrap="square" lIns="0" tIns="0" rIns="0" bIns="0">
            <a:spAutoFit/>
          </a:bodyPr>
          <a:lstStyle/>
          <a:p>
            <a:pPr marR="0" lvl="1" algn="l" rtl="0">
              <a:spcBef>
                <a:spcPts val="0"/>
              </a:spcBef>
              <a:spcAft>
                <a:spcPts val="0"/>
              </a:spcAft>
              <a:buClr>
                <a:schemeClr val="dk1"/>
              </a:buClr>
              <a:buSzPts val="1600"/>
            </a:pPr>
            <a:r>
              <a:rPr lang="es-PE" sz="1400" b="0" i="0" u="none" strike="noStrike" cap="none" dirty="0">
                <a:solidFill>
                  <a:schemeClr val="dk1"/>
                </a:solidFill>
                <a:latin typeface="Calibri"/>
                <a:ea typeface="Calibri"/>
                <a:cs typeface="Calibri"/>
                <a:sym typeface="Calibri"/>
              </a:rPr>
              <a:t>Muerte</a:t>
            </a:r>
            <a:endParaRPr lang="es-ES_tradnl" dirty="0"/>
          </a:p>
        </p:txBody>
      </p:sp>
      <p:cxnSp>
        <p:nvCxnSpPr>
          <p:cNvPr id="21" name="Conector recto 20">
            <a:extLst>
              <a:ext uri="{FF2B5EF4-FFF2-40B4-BE49-F238E27FC236}">
                <a16:creationId xmlns:a16="http://schemas.microsoft.com/office/drawing/2014/main" id="{940F7414-ADA6-0C4F-96B1-211857563B19}"/>
              </a:ext>
            </a:extLst>
          </p:cNvPr>
          <p:cNvCxnSpPr>
            <a:cxnSpLocks/>
          </p:cNvCxnSpPr>
          <p:nvPr/>
        </p:nvCxnSpPr>
        <p:spPr>
          <a:xfrm>
            <a:off x="760555" y="3544180"/>
            <a:ext cx="0" cy="278012"/>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
        <p:nvSpPr>
          <p:cNvPr id="22" name="Más 21">
            <a:extLst>
              <a:ext uri="{FF2B5EF4-FFF2-40B4-BE49-F238E27FC236}">
                <a16:creationId xmlns:a16="http://schemas.microsoft.com/office/drawing/2014/main" id="{BD99D988-3BA0-C340-981D-F3E4D677DF3A}"/>
              </a:ext>
            </a:extLst>
          </p:cNvPr>
          <p:cNvSpPr/>
          <p:nvPr/>
        </p:nvSpPr>
        <p:spPr>
          <a:xfrm>
            <a:off x="684213" y="3852258"/>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16" name="Imagen 15">
            <a:extLst>
              <a:ext uri="{FF2B5EF4-FFF2-40B4-BE49-F238E27FC236}">
                <a16:creationId xmlns:a16="http://schemas.microsoft.com/office/drawing/2014/main" id="{2E821431-C4E7-5F4C-93A6-2A22C7BA7C5D}"/>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751387" y="0"/>
            <a:ext cx="4392613" cy="5715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19"/>
          <p:cNvSpPr txBox="1"/>
          <p:nvPr/>
        </p:nvSpPr>
        <p:spPr>
          <a:xfrm>
            <a:off x="503239" y="1872211"/>
            <a:ext cx="8172449" cy="24622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b="1" dirty="0">
                <a:solidFill>
                  <a:schemeClr val="dk1"/>
                </a:solidFill>
                <a:latin typeface="Calibri"/>
                <a:ea typeface="Calibri"/>
                <a:cs typeface="Calibri"/>
                <a:sym typeface="Calibri"/>
              </a:rPr>
              <a:t>BREVE HISTORIA DE LAS PRUEBAS DE SOFTWARE </a:t>
            </a:r>
            <a:endParaRPr dirty="0"/>
          </a:p>
        </p:txBody>
      </p:sp>
      <p:sp>
        <p:nvSpPr>
          <p:cNvPr id="248" name="Google Shape;248;p19"/>
          <p:cNvSpPr/>
          <p:nvPr/>
        </p:nvSpPr>
        <p:spPr>
          <a:xfrm>
            <a:off x="503239" y="3048493"/>
            <a:ext cx="1528761" cy="487680"/>
          </a:xfrm>
          <a:prstGeom prst="roundRect">
            <a:avLst>
              <a:gd name="adj" fmla="val 12821"/>
            </a:avLst>
          </a:prstGeom>
          <a:solidFill>
            <a:srgbClr val="D1EFF4"/>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PE" sz="1600" b="1" dirty="0">
                <a:solidFill>
                  <a:schemeClr val="tx1"/>
                </a:solidFill>
                <a:latin typeface="Calibri"/>
                <a:ea typeface="Calibri"/>
                <a:cs typeface="Calibri"/>
                <a:sym typeface="Calibri"/>
              </a:rPr>
              <a:t>Hasta</a:t>
            </a:r>
            <a:r>
              <a:rPr lang="es-PE" dirty="0">
                <a:solidFill>
                  <a:schemeClr val="tx1"/>
                </a:solidFill>
                <a:ea typeface="Calibri"/>
              </a:rPr>
              <a:t> </a:t>
            </a:r>
            <a:r>
              <a:rPr lang="es-PE" sz="1600" b="1" dirty="0">
                <a:solidFill>
                  <a:schemeClr val="tx1"/>
                </a:solidFill>
                <a:latin typeface="Calibri"/>
                <a:ea typeface="Calibri"/>
                <a:cs typeface="Calibri"/>
                <a:sym typeface="Calibri"/>
              </a:rPr>
              <a:t>1956</a:t>
            </a:r>
            <a:endParaRPr dirty="0">
              <a:solidFill>
                <a:schemeClr val="tx1"/>
              </a:solidFill>
            </a:endParaRPr>
          </a:p>
        </p:txBody>
      </p:sp>
      <p:sp>
        <p:nvSpPr>
          <p:cNvPr id="249" name="Google Shape;249;p19"/>
          <p:cNvSpPr/>
          <p:nvPr/>
        </p:nvSpPr>
        <p:spPr>
          <a:xfrm>
            <a:off x="503239" y="2520173"/>
            <a:ext cx="1528761" cy="406400"/>
          </a:xfrm>
          <a:prstGeom prst="roundRect">
            <a:avLst>
              <a:gd name="adj" fmla="val 12821"/>
            </a:avLst>
          </a:prstGeom>
          <a:solidFill>
            <a:srgbClr val="00B1C2"/>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PE" sz="1600" b="1">
                <a:solidFill>
                  <a:schemeClr val="lt1"/>
                </a:solidFill>
                <a:latin typeface="Calibri"/>
                <a:ea typeface="Calibri"/>
                <a:cs typeface="Calibri"/>
                <a:sym typeface="Calibri"/>
              </a:rPr>
              <a:t>Depuración</a:t>
            </a:r>
            <a:endParaRPr/>
          </a:p>
        </p:txBody>
      </p:sp>
      <p:sp>
        <p:nvSpPr>
          <p:cNvPr id="250" name="Google Shape;250;p19"/>
          <p:cNvSpPr/>
          <p:nvPr/>
        </p:nvSpPr>
        <p:spPr>
          <a:xfrm>
            <a:off x="2159319" y="3048493"/>
            <a:ext cx="1528761" cy="487680"/>
          </a:xfrm>
          <a:prstGeom prst="roundRect">
            <a:avLst>
              <a:gd name="adj" fmla="val 12821"/>
            </a:avLst>
          </a:prstGeom>
          <a:solidFill>
            <a:srgbClr val="E3DCED"/>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PE" sz="1600" b="1" dirty="0">
                <a:solidFill>
                  <a:schemeClr val="tx1"/>
                </a:solidFill>
                <a:latin typeface="Calibri"/>
                <a:ea typeface="Calibri"/>
                <a:cs typeface="Calibri"/>
                <a:sym typeface="Calibri"/>
              </a:rPr>
              <a:t>1957 a</a:t>
            </a:r>
            <a:r>
              <a:rPr lang="es-PE" dirty="0">
                <a:solidFill>
                  <a:schemeClr val="tx1"/>
                </a:solidFill>
                <a:ea typeface="Calibri"/>
              </a:rPr>
              <a:t> </a:t>
            </a:r>
            <a:r>
              <a:rPr lang="es-PE" sz="1600" b="1" dirty="0">
                <a:solidFill>
                  <a:schemeClr val="tx1"/>
                </a:solidFill>
                <a:latin typeface="Calibri"/>
                <a:ea typeface="Calibri"/>
                <a:cs typeface="Calibri"/>
                <a:sym typeface="Calibri"/>
              </a:rPr>
              <a:t>1978</a:t>
            </a:r>
            <a:endParaRPr dirty="0">
              <a:solidFill>
                <a:schemeClr val="tx1"/>
              </a:solidFill>
            </a:endParaRPr>
          </a:p>
        </p:txBody>
      </p:sp>
      <p:sp>
        <p:nvSpPr>
          <p:cNvPr id="251" name="Google Shape;251;p19"/>
          <p:cNvSpPr/>
          <p:nvPr/>
        </p:nvSpPr>
        <p:spPr>
          <a:xfrm>
            <a:off x="2159319" y="2520173"/>
            <a:ext cx="1528761" cy="406400"/>
          </a:xfrm>
          <a:prstGeom prst="roundRect">
            <a:avLst>
              <a:gd name="adj" fmla="val 12821"/>
            </a:avLst>
          </a:prstGeom>
          <a:solidFill>
            <a:srgbClr val="7150A0"/>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PE" sz="1600" b="1">
                <a:solidFill>
                  <a:schemeClr val="lt1"/>
                </a:solidFill>
                <a:latin typeface="Calibri"/>
                <a:ea typeface="Calibri"/>
                <a:cs typeface="Calibri"/>
                <a:sym typeface="Calibri"/>
              </a:rPr>
              <a:t>Demostración</a:t>
            </a:r>
            <a:endParaRPr/>
          </a:p>
        </p:txBody>
      </p:sp>
      <p:sp>
        <p:nvSpPr>
          <p:cNvPr id="252" name="Google Shape;252;p19"/>
          <p:cNvSpPr/>
          <p:nvPr/>
        </p:nvSpPr>
        <p:spPr>
          <a:xfrm>
            <a:off x="3815399" y="3048493"/>
            <a:ext cx="1528761" cy="487680"/>
          </a:xfrm>
          <a:prstGeom prst="roundRect">
            <a:avLst>
              <a:gd name="adj" fmla="val 12821"/>
            </a:avLst>
          </a:prstGeom>
          <a:solidFill>
            <a:srgbClr val="DDEEC8"/>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PE" sz="1600" b="1">
                <a:solidFill>
                  <a:schemeClr val="tx1"/>
                </a:solidFill>
                <a:latin typeface="Calibri"/>
                <a:ea typeface="Calibri"/>
                <a:cs typeface="Calibri"/>
                <a:sym typeface="Calibri"/>
              </a:rPr>
              <a:t>1979 a 1982</a:t>
            </a:r>
            <a:endParaRPr>
              <a:solidFill>
                <a:schemeClr val="tx1"/>
              </a:solidFill>
            </a:endParaRPr>
          </a:p>
        </p:txBody>
      </p:sp>
      <p:sp>
        <p:nvSpPr>
          <p:cNvPr id="253" name="Google Shape;253;p19"/>
          <p:cNvSpPr/>
          <p:nvPr/>
        </p:nvSpPr>
        <p:spPr>
          <a:xfrm>
            <a:off x="3815399" y="2520173"/>
            <a:ext cx="1528761" cy="406400"/>
          </a:xfrm>
          <a:prstGeom prst="roundRect">
            <a:avLst>
              <a:gd name="adj" fmla="val 12821"/>
            </a:avLst>
          </a:prstGeom>
          <a:solidFill>
            <a:srgbClr val="92C14E"/>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PE" sz="1600" b="1">
                <a:solidFill>
                  <a:schemeClr val="lt1"/>
                </a:solidFill>
                <a:latin typeface="Calibri"/>
                <a:ea typeface="Calibri"/>
                <a:cs typeface="Calibri"/>
                <a:sym typeface="Calibri"/>
              </a:rPr>
              <a:t>Destrucción</a:t>
            </a:r>
            <a:endParaRPr/>
          </a:p>
        </p:txBody>
      </p:sp>
      <p:sp>
        <p:nvSpPr>
          <p:cNvPr id="254" name="Google Shape;254;p19"/>
          <p:cNvSpPr/>
          <p:nvPr/>
        </p:nvSpPr>
        <p:spPr>
          <a:xfrm>
            <a:off x="5471479" y="3048493"/>
            <a:ext cx="1528761" cy="487680"/>
          </a:xfrm>
          <a:prstGeom prst="roundRect">
            <a:avLst>
              <a:gd name="adj" fmla="val 12821"/>
            </a:avLst>
          </a:prstGeom>
          <a:solidFill>
            <a:srgbClr val="FFEBB3"/>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PE" sz="1600" b="1">
                <a:solidFill>
                  <a:schemeClr val="tx1"/>
                </a:solidFill>
                <a:latin typeface="Calibri"/>
                <a:ea typeface="Calibri"/>
                <a:cs typeface="Calibri"/>
                <a:sym typeface="Calibri"/>
              </a:rPr>
              <a:t>1983 a 1987</a:t>
            </a:r>
            <a:endParaRPr>
              <a:solidFill>
                <a:schemeClr val="tx1"/>
              </a:solidFill>
            </a:endParaRPr>
          </a:p>
        </p:txBody>
      </p:sp>
      <p:sp>
        <p:nvSpPr>
          <p:cNvPr id="255" name="Google Shape;255;p19"/>
          <p:cNvSpPr/>
          <p:nvPr/>
        </p:nvSpPr>
        <p:spPr>
          <a:xfrm>
            <a:off x="5471479" y="2520173"/>
            <a:ext cx="1528761" cy="406400"/>
          </a:xfrm>
          <a:prstGeom prst="roundRect">
            <a:avLst>
              <a:gd name="adj" fmla="val 12821"/>
            </a:avLst>
          </a:prstGeom>
          <a:solidFill>
            <a:srgbClr val="FEC211"/>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PE" sz="1600" b="1">
                <a:solidFill>
                  <a:schemeClr val="lt1"/>
                </a:solidFill>
                <a:latin typeface="Calibri"/>
                <a:ea typeface="Calibri"/>
                <a:cs typeface="Calibri"/>
                <a:sym typeface="Calibri"/>
              </a:rPr>
              <a:t>Evaluación</a:t>
            </a:r>
            <a:endParaRPr/>
          </a:p>
        </p:txBody>
      </p:sp>
      <p:sp>
        <p:nvSpPr>
          <p:cNvPr id="256" name="Google Shape;256;p19"/>
          <p:cNvSpPr/>
          <p:nvPr/>
        </p:nvSpPr>
        <p:spPr>
          <a:xfrm>
            <a:off x="7127559" y="3048493"/>
            <a:ext cx="1528761" cy="487680"/>
          </a:xfrm>
          <a:prstGeom prst="roundRect">
            <a:avLst>
              <a:gd name="adj" fmla="val 12821"/>
            </a:avLst>
          </a:prstGeom>
          <a:solidFill>
            <a:srgbClr val="FFD8D4"/>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PE" sz="1600" b="1">
                <a:solidFill>
                  <a:schemeClr val="tx1"/>
                </a:solidFill>
                <a:latin typeface="Calibri"/>
                <a:ea typeface="Calibri"/>
                <a:cs typeface="Calibri"/>
                <a:sym typeface="Calibri"/>
              </a:rPr>
              <a:t>1988</a:t>
            </a:r>
            <a:endParaRPr>
              <a:solidFill>
                <a:schemeClr val="tx1"/>
              </a:solidFill>
            </a:endParaRPr>
          </a:p>
        </p:txBody>
      </p:sp>
      <p:sp>
        <p:nvSpPr>
          <p:cNvPr id="257" name="Google Shape;257;p19"/>
          <p:cNvSpPr/>
          <p:nvPr/>
        </p:nvSpPr>
        <p:spPr>
          <a:xfrm>
            <a:off x="7127559" y="2520173"/>
            <a:ext cx="1528761" cy="406400"/>
          </a:xfrm>
          <a:prstGeom prst="roundRect">
            <a:avLst>
              <a:gd name="adj" fmla="val 12821"/>
            </a:avLst>
          </a:prstGeom>
          <a:solidFill>
            <a:srgbClr val="EE4639"/>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PE" sz="1600" b="1">
                <a:solidFill>
                  <a:schemeClr val="lt1"/>
                </a:solidFill>
                <a:latin typeface="Calibri"/>
                <a:ea typeface="Calibri"/>
                <a:cs typeface="Calibri"/>
                <a:sym typeface="Calibri"/>
              </a:rPr>
              <a:t>Prevención</a:t>
            </a:r>
            <a:endParaRPr/>
          </a:p>
        </p:txBody>
      </p:sp>
      <p:sp>
        <p:nvSpPr>
          <p:cNvPr id="15" name="Rectangle 5">
            <a:extLst>
              <a:ext uri="{FF2B5EF4-FFF2-40B4-BE49-F238E27FC236}">
                <a16:creationId xmlns:a16="http://schemas.microsoft.com/office/drawing/2014/main" id="{C7827426-8A25-0C4E-A7CC-E4E87F1D5C79}"/>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CONCEPTOS Y DEFINICIONES BÁSICAS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16" name="Rectángulo 15">
            <a:extLst>
              <a:ext uri="{FF2B5EF4-FFF2-40B4-BE49-F238E27FC236}">
                <a16:creationId xmlns:a16="http://schemas.microsoft.com/office/drawing/2014/main" id="{1D95BD91-5A96-E14C-BC84-4C34A35DEB9D}"/>
              </a:ext>
            </a:extLst>
          </p:cNvPr>
          <p:cNvSpPr/>
          <p:nvPr/>
        </p:nvSpPr>
        <p:spPr>
          <a:xfrm>
            <a:off x="503238" y="916472"/>
            <a:ext cx="8172450" cy="553998"/>
          </a:xfrm>
          <a:prstGeom prst="rect">
            <a:avLst/>
          </a:prstGeom>
        </p:spPr>
        <p:txBody>
          <a:bodyPr wrap="square" lIns="0" tIns="0" rIns="0" bIns="0">
            <a:spAutoFit/>
          </a:bodyPr>
          <a:lstStyle/>
          <a:p>
            <a:pPr>
              <a:spcAft>
                <a:spcPts val="600"/>
              </a:spcAft>
            </a:pPr>
            <a:r>
              <a:rPr lang="es-ES" sz="2000" b="1" dirty="0">
                <a:solidFill>
                  <a:srgbClr val="EE4639"/>
                </a:solidFill>
                <a:latin typeface="Graphik Bold" panose="020B0503030202060203" pitchFamily="34" charset="77"/>
                <a:cs typeface="Calibri" charset="0"/>
              </a:rPr>
              <a:t>+ 03.</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FUNDAMENTOS DE LAS PRUEBAS</a:t>
            </a:r>
            <a:endParaRPr lang="es-PE" sz="16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5" name="Rectangle 5">
            <a:extLst>
              <a:ext uri="{FF2B5EF4-FFF2-40B4-BE49-F238E27FC236}">
                <a16:creationId xmlns:a16="http://schemas.microsoft.com/office/drawing/2014/main" id="{F3F8516E-BEFF-9246-BF0A-C6F9009F9C41}"/>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CONCEPTOS Y DEFINICIONES BÁSICAS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6" name="Rectángulo 5">
            <a:extLst>
              <a:ext uri="{FF2B5EF4-FFF2-40B4-BE49-F238E27FC236}">
                <a16:creationId xmlns:a16="http://schemas.microsoft.com/office/drawing/2014/main" id="{573D3FB7-7981-D544-A589-9DED725D5EBE}"/>
              </a:ext>
            </a:extLst>
          </p:cNvPr>
          <p:cNvSpPr/>
          <p:nvPr/>
        </p:nvSpPr>
        <p:spPr>
          <a:xfrm>
            <a:off x="503238" y="916472"/>
            <a:ext cx="8172450" cy="877163"/>
          </a:xfrm>
          <a:prstGeom prst="rect">
            <a:avLst/>
          </a:prstGeom>
        </p:spPr>
        <p:txBody>
          <a:bodyPr wrap="square" lIns="0" tIns="0" rIns="0" bIns="0">
            <a:spAutoFit/>
          </a:bodyPr>
          <a:lstStyle/>
          <a:p>
            <a:pPr>
              <a:spcAft>
                <a:spcPts val="600"/>
              </a:spcAft>
            </a:pPr>
            <a:r>
              <a:rPr lang="es-ES" sz="2000" b="1" dirty="0">
                <a:solidFill>
                  <a:srgbClr val="EE4639"/>
                </a:solidFill>
                <a:latin typeface="Graphik Bold" panose="020B0503030202060203" pitchFamily="34" charset="77"/>
                <a:cs typeface="Calibri" charset="0"/>
              </a:rPr>
              <a:t>+ 03.</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FUNDAMENTOS DE LAS PRUEBAS</a:t>
            </a:r>
          </a:p>
          <a:p>
            <a:pPr>
              <a:spcAft>
                <a:spcPts val="600"/>
              </a:spcAft>
            </a:pPr>
            <a:r>
              <a:rPr lang="es-PE" sz="1600" dirty="0">
                <a:solidFill>
                  <a:schemeClr val="dk1"/>
                </a:solidFill>
                <a:latin typeface="Calibri"/>
                <a:ea typeface="Calibri"/>
                <a:cs typeface="Calibri"/>
                <a:sym typeface="Calibri"/>
              </a:rPr>
              <a:t>¿Qué son las Pruebas? - Norma ISTQB</a:t>
            </a:r>
          </a:p>
        </p:txBody>
      </p:sp>
      <p:sp>
        <p:nvSpPr>
          <p:cNvPr id="7" name="Rectángulo redondeado 6">
            <a:extLst>
              <a:ext uri="{FF2B5EF4-FFF2-40B4-BE49-F238E27FC236}">
                <a16:creationId xmlns:a16="http://schemas.microsoft.com/office/drawing/2014/main" id="{D194383A-CDD8-7444-9ABF-1E42DB9C1E99}"/>
              </a:ext>
            </a:extLst>
          </p:cNvPr>
          <p:cNvSpPr/>
          <p:nvPr/>
        </p:nvSpPr>
        <p:spPr>
          <a:xfrm>
            <a:off x="1362631" y="2367220"/>
            <a:ext cx="6455489" cy="2339788"/>
          </a:xfrm>
          <a:prstGeom prst="roundRect">
            <a:avLst>
              <a:gd name="adj" fmla="val 5987"/>
            </a:avLst>
          </a:prstGeom>
          <a:solidFill>
            <a:srgbClr val="00B1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8" name="Imagen 7">
            <a:extLst>
              <a:ext uri="{FF2B5EF4-FFF2-40B4-BE49-F238E27FC236}">
                <a16:creationId xmlns:a16="http://schemas.microsoft.com/office/drawing/2014/main" id="{3DD58A64-6B92-424A-A5BB-61FD7FCB27FE}"/>
              </a:ext>
            </a:extLst>
          </p:cNvPr>
          <p:cNvPicPr>
            <a:picLocks noChangeAspect="1"/>
          </p:cNvPicPr>
          <p:nvPr/>
        </p:nvPicPr>
        <p:blipFill rotWithShape="1">
          <a:blip r:embed="rId3"/>
          <a:srcRect l="30026" r="24147" b="47890"/>
          <a:stretch/>
        </p:blipFill>
        <p:spPr>
          <a:xfrm>
            <a:off x="1640542" y="1894739"/>
            <a:ext cx="546847" cy="920717"/>
          </a:xfrm>
          <a:prstGeom prst="rect">
            <a:avLst/>
          </a:prstGeom>
        </p:spPr>
      </p:pic>
      <p:sp>
        <p:nvSpPr>
          <p:cNvPr id="9" name="object 7">
            <a:extLst>
              <a:ext uri="{FF2B5EF4-FFF2-40B4-BE49-F238E27FC236}">
                <a16:creationId xmlns:a16="http://schemas.microsoft.com/office/drawing/2014/main" id="{B84C9B02-4AFE-E849-B6F6-E09AD20CDD41}"/>
              </a:ext>
            </a:extLst>
          </p:cNvPr>
          <p:cNvSpPr txBox="1"/>
          <p:nvPr/>
        </p:nvSpPr>
        <p:spPr>
          <a:xfrm>
            <a:off x="1754368" y="2887534"/>
            <a:ext cx="5811844" cy="1723549"/>
          </a:xfrm>
          <a:prstGeom prst="rect">
            <a:avLst/>
          </a:prstGeom>
        </p:spPr>
        <p:txBody>
          <a:bodyPr vert="horz" wrap="square" lIns="0" tIns="0" rIns="0" bIns="0" rtlCol="0">
            <a:spAutoFit/>
          </a:bodyPr>
          <a:lstStyle/>
          <a:p>
            <a:pPr marL="96837" marR="0" lvl="0" algn="l" rtl="0">
              <a:spcBef>
                <a:spcPts val="0"/>
              </a:spcBef>
              <a:spcAft>
                <a:spcPts val="0"/>
              </a:spcAft>
              <a:buClr>
                <a:srgbClr val="DEA535"/>
              </a:buClr>
              <a:buSzPts val="1600"/>
            </a:pPr>
            <a:r>
              <a:rPr lang="es-PE" sz="1600" dirty="0">
                <a:solidFill>
                  <a:srgbClr val="FEC211"/>
                </a:solidFill>
                <a:latin typeface="Calibri" panose="020F0502020204030204" pitchFamily="34" charset="0"/>
                <a:ea typeface="Calibri"/>
                <a:cs typeface="Calibri" panose="020F0502020204030204" pitchFamily="34" charset="0"/>
                <a:sym typeface="Calibri"/>
              </a:rPr>
              <a:t>“P</a:t>
            </a:r>
            <a:r>
              <a:rPr lang="es-PE" sz="1600" b="1" dirty="0">
                <a:solidFill>
                  <a:srgbClr val="FEC211"/>
                </a:solidFill>
                <a:latin typeface="Calibri" panose="020F0502020204030204" pitchFamily="34" charset="0"/>
                <a:ea typeface="Calibri"/>
                <a:cs typeface="Calibri" panose="020F0502020204030204" pitchFamily="34" charset="0"/>
                <a:sym typeface="Calibri"/>
              </a:rPr>
              <a:t>roceso</a:t>
            </a:r>
            <a:r>
              <a:rPr lang="es-PE" sz="1600" dirty="0">
                <a:solidFill>
                  <a:srgbClr val="FEC211"/>
                </a:solidFill>
                <a:latin typeface="Calibri" panose="020F0502020204030204" pitchFamily="34" charset="0"/>
                <a:ea typeface="Calibri"/>
                <a:cs typeface="Calibri" panose="020F0502020204030204" pitchFamily="34" charset="0"/>
                <a:sym typeface="Calibri"/>
              </a:rPr>
              <a:t> </a:t>
            </a:r>
            <a:r>
              <a:rPr lang="es-PE" sz="1600" dirty="0">
                <a:solidFill>
                  <a:schemeClr val="lt1"/>
                </a:solidFill>
                <a:latin typeface="Calibri" panose="020F0502020204030204" pitchFamily="34" charset="0"/>
                <a:ea typeface="Calibri"/>
                <a:cs typeface="Calibri" panose="020F0502020204030204" pitchFamily="34" charset="0"/>
                <a:sym typeface="Calibri"/>
              </a:rPr>
              <a:t>que consiste en </a:t>
            </a:r>
            <a:r>
              <a:rPr lang="es-PE" sz="1600" b="1" dirty="0">
                <a:solidFill>
                  <a:schemeClr val="lt1"/>
                </a:solidFill>
                <a:latin typeface="Calibri" panose="020F0502020204030204" pitchFamily="34" charset="0"/>
                <a:ea typeface="Calibri"/>
                <a:cs typeface="Calibri" panose="020F0502020204030204" pitchFamily="34" charset="0"/>
                <a:sym typeface="Calibri"/>
              </a:rPr>
              <a:t>todas las </a:t>
            </a:r>
            <a:r>
              <a:rPr lang="es-PE" sz="1600" b="1" dirty="0">
                <a:solidFill>
                  <a:srgbClr val="FEC211"/>
                </a:solidFill>
                <a:latin typeface="Calibri" panose="020F0502020204030204" pitchFamily="34" charset="0"/>
                <a:ea typeface="Calibri"/>
                <a:cs typeface="Calibri" panose="020F0502020204030204" pitchFamily="34" charset="0"/>
                <a:sym typeface="Calibri"/>
              </a:rPr>
              <a:t>actividades del ciclo de vida</a:t>
            </a:r>
            <a:r>
              <a:rPr lang="es-PE" sz="1600" dirty="0">
                <a:solidFill>
                  <a:srgbClr val="FEC211"/>
                </a:solidFill>
                <a:latin typeface="Calibri" panose="020F0502020204030204" pitchFamily="34" charset="0"/>
                <a:ea typeface="Calibri"/>
                <a:cs typeface="Calibri" panose="020F0502020204030204" pitchFamily="34" charset="0"/>
                <a:sym typeface="Calibri"/>
              </a:rPr>
              <a:t>, </a:t>
            </a:r>
            <a:r>
              <a:rPr lang="es-PE" sz="1600" dirty="0">
                <a:solidFill>
                  <a:schemeClr val="lt1"/>
                </a:solidFill>
                <a:latin typeface="Calibri" panose="020F0502020204030204" pitchFamily="34" charset="0"/>
                <a:ea typeface="Calibri"/>
                <a:cs typeface="Calibri" panose="020F0502020204030204" pitchFamily="34" charset="0"/>
                <a:sym typeface="Calibri"/>
              </a:rPr>
              <a:t>tanto </a:t>
            </a:r>
            <a:r>
              <a:rPr lang="es-PE" sz="1600" b="1" dirty="0">
                <a:solidFill>
                  <a:srgbClr val="FEC211"/>
                </a:solidFill>
                <a:latin typeface="Calibri" panose="020F0502020204030204" pitchFamily="34" charset="0"/>
                <a:ea typeface="Calibri"/>
                <a:cs typeface="Calibri" panose="020F0502020204030204" pitchFamily="34" charset="0"/>
                <a:sym typeface="Calibri"/>
              </a:rPr>
              <a:t>estáticas como dinámicas</a:t>
            </a:r>
            <a:r>
              <a:rPr lang="es-PE" sz="1600" dirty="0">
                <a:solidFill>
                  <a:srgbClr val="FEC211"/>
                </a:solidFill>
                <a:latin typeface="Calibri" panose="020F0502020204030204" pitchFamily="34" charset="0"/>
                <a:ea typeface="Calibri"/>
                <a:cs typeface="Calibri" panose="020F0502020204030204" pitchFamily="34" charset="0"/>
                <a:sym typeface="Calibri"/>
              </a:rPr>
              <a:t> </a:t>
            </a:r>
            <a:r>
              <a:rPr lang="es-PE" sz="1600" dirty="0">
                <a:solidFill>
                  <a:schemeClr val="lt1"/>
                </a:solidFill>
                <a:latin typeface="Calibri" panose="020F0502020204030204" pitchFamily="34" charset="0"/>
                <a:ea typeface="Calibri"/>
                <a:cs typeface="Calibri" panose="020F0502020204030204" pitchFamily="34" charset="0"/>
                <a:sym typeface="Calibri"/>
              </a:rPr>
              <a:t>relacionadas con la </a:t>
            </a:r>
            <a:r>
              <a:rPr lang="es-PE" sz="1600" b="1" dirty="0">
                <a:solidFill>
                  <a:srgbClr val="FEC211"/>
                </a:solidFill>
                <a:latin typeface="Calibri" panose="020F0502020204030204" pitchFamily="34" charset="0"/>
                <a:ea typeface="Calibri"/>
                <a:cs typeface="Calibri" panose="020F0502020204030204" pitchFamily="34" charset="0"/>
                <a:sym typeface="Calibri"/>
              </a:rPr>
              <a:t>planificación</a:t>
            </a:r>
            <a:r>
              <a:rPr lang="es-PE" sz="1600" b="1" dirty="0">
                <a:solidFill>
                  <a:schemeClr val="lt1"/>
                </a:solidFill>
                <a:latin typeface="Calibri" panose="020F0502020204030204" pitchFamily="34" charset="0"/>
                <a:ea typeface="Calibri"/>
                <a:cs typeface="Calibri" panose="020F0502020204030204" pitchFamily="34" charset="0"/>
                <a:sym typeface="Calibri"/>
              </a:rPr>
              <a:t>, </a:t>
            </a:r>
            <a:r>
              <a:rPr lang="es-PE" sz="1600" b="1" dirty="0">
                <a:solidFill>
                  <a:srgbClr val="FEC211"/>
                </a:solidFill>
                <a:latin typeface="Calibri" panose="020F0502020204030204" pitchFamily="34" charset="0"/>
                <a:ea typeface="Calibri"/>
                <a:cs typeface="Calibri" panose="020F0502020204030204" pitchFamily="34" charset="0"/>
                <a:sym typeface="Calibri"/>
              </a:rPr>
              <a:t>preparación</a:t>
            </a:r>
            <a:r>
              <a:rPr lang="es-PE" sz="1600" b="1" dirty="0">
                <a:solidFill>
                  <a:schemeClr val="lt1"/>
                </a:solidFill>
                <a:latin typeface="Calibri" panose="020F0502020204030204" pitchFamily="34" charset="0"/>
                <a:ea typeface="Calibri"/>
                <a:cs typeface="Calibri" panose="020F0502020204030204" pitchFamily="34" charset="0"/>
                <a:sym typeface="Calibri"/>
              </a:rPr>
              <a:t> y </a:t>
            </a:r>
            <a:r>
              <a:rPr lang="es-PE" sz="1600" b="1" dirty="0">
                <a:solidFill>
                  <a:srgbClr val="FEC211"/>
                </a:solidFill>
                <a:latin typeface="Calibri" panose="020F0502020204030204" pitchFamily="34" charset="0"/>
                <a:ea typeface="Calibri"/>
                <a:cs typeface="Calibri" panose="020F0502020204030204" pitchFamily="34" charset="0"/>
                <a:sym typeface="Calibri"/>
              </a:rPr>
              <a:t>evaluación</a:t>
            </a:r>
            <a:r>
              <a:rPr lang="es-PE" sz="1600" b="1" dirty="0">
                <a:solidFill>
                  <a:schemeClr val="lt1"/>
                </a:solidFill>
                <a:latin typeface="Calibri" panose="020F0502020204030204" pitchFamily="34" charset="0"/>
                <a:ea typeface="Calibri"/>
                <a:cs typeface="Calibri" panose="020F0502020204030204" pitchFamily="34" charset="0"/>
                <a:sym typeface="Calibri"/>
              </a:rPr>
              <a:t> de </a:t>
            </a:r>
            <a:r>
              <a:rPr lang="es-PE" sz="1600" b="1" dirty="0">
                <a:solidFill>
                  <a:srgbClr val="FEC211"/>
                </a:solidFill>
                <a:latin typeface="Calibri" panose="020F0502020204030204" pitchFamily="34" charset="0"/>
                <a:ea typeface="Calibri"/>
                <a:cs typeface="Calibri" panose="020F0502020204030204" pitchFamily="34" charset="0"/>
                <a:sym typeface="Calibri"/>
              </a:rPr>
              <a:t>productos</a:t>
            </a:r>
            <a:r>
              <a:rPr lang="es-PE" sz="1600" dirty="0">
                <a:solidFill>
                  <a:srgbClr val="FEC211"/>
                </a:solidFill>
                <a:latin typeface="Calibri" panose="020F0502020204030204" pitchFamily="34" charset="0"/>
                <a:ea typeface="Calibri"/>
                <a:cs typeface="Calibri" panose="020F0502020204030204" pitchFamily="34" charset="0"/>
                <a:sym typeface="Calibri"/>
              </a:rPr>
              <a:t> </a:t>
            </a:r>
            <a:r>
              <a:rPr lang="es-PE" sz="1600" b="1" dirty="0">
                <a:solidFill>
                  <a:srgbClr val="FEC211"/>
                </a:solidFill>
                <a:latin typeface="Calibri" panose="020F0502020204030204" pitchFamily="34" charset="0"/>
                <a:ea typeface="Calibri"/>
                <a:cs typeface="Calibri" panose="020F0502020204030204" pitchFamily="34" charset="0"/>
                <a:sym typeface="Calibri"/>
              </a:rPr>
              <a:t>de software</a:t>
            </a:r>
            <a:r>
              <a:rPr lang="es-PE" sz="1600" dirty="0">
                <a:solidFill>
                  <a:srgbClr val="FEC211"/>
                </a:solidFill>
                <a:latin typeface="Calibri" panose="020F0502020204030204" pitchFamily="34" charset="0"/>
                <a:ea typeface="Calibri"/>
                <a:cs typeface="Calibri" panose="020F0502020204030204" pitchFamily="34" charset="0"/>
                <a:sym typeface="Calibri"/>
              </a:rPr>
              <a:t> </a:t>
            </a:r>
            <a:r>
              <a:rPr lang="es-PE" sz="1600" dirty="0">
                <a:solidFill>
                  <a:schemeClr val="lt1"/>
                </a:solidFill>
                <a:latin typeface="Calibri" panose="020F0502020204030204" pitchFamily="34" charset="0"/>
                <a:ea typeface="Calibri"/>
                <a:cs typeface="Calibri" panose="020F0502020204030204" pitchFamily="34" charset="0"/>
                <a:sym typeface="Calibri"/>
              </a:rPr>
              <a:t>y productos relacionados con el trabajo para </a:t>
            </a:r>
            <a:r>
              <a:rPr lang="es-PE" sz="1600" b="1" dirty="0">
                <a:solidFill>
                  <a:schemeClr val="lt1"/>
                </a:solidFill>
                <a:latin typeface="Calibri" panose="020F0502020204030204" pitchFamily="34" charset="0"/>
                <a:ea typeface="Calibri"/>
                <a:cs typeface="Calibri" panose="020F0502020204030204" pitchFamily="34" charset="0"/>
                <a:sym typeface="Calibri"/>
              </a:rPr>
              <a:t>determinar que </a:t>
            </a:r>
            <a:r>
              <a:rPr lang="es-PE" sz="1600" b="1" dirty="0">
                <a:solidFill>
                  <a:srgbClr val="FEC211"/>
                </a:solidFill>
                <a:latin typeface="Calibri" panose="020F0502020204030204" pitchFamily="34" charset="0"/>
                <a:ea typeface="Calibri"/>
                <a:cs typeface="Calibri" panose="020F0502020204030204" pitchFamily="34" charset="0"/>
                <a:sym typeface="Calibri"/>
              </a:rPr>
              <a:t>cumplen los requisitos especificados</a:t>
            </a:r>
            <a:r>
              <a:rPr lang="es-PE" sz="1600" dirty="0">
                <a:solidFill>
                  <a:schemeClr val="lt1"/>
                </a:solidFill>
                <a:latin typeface="Calibri" panose="020F0502020204030204" pitchFamily="34" charset="0"/>
                <a:ea typeface="Calibri"/>
                <a:cs typeface="Calibri" panose="020F0502020204030204" pitchFamily="34" charset="0"/>
                <a:sym typeface="Calibri"/>
              </a:rPr>
              <a:t>, para </a:t>
            </a:r>
            <a:r>
              <a:rPr lang="es-PE" sz="1600" b="1" dirty="0">
                <a:solidFill>
                  <a:srgbClr val="FEC211"/>
                </a:solidFill>
                <a:latin typeface="Calibri" panose="020F0502020204030204" pitchFamily="34" charset="0"/>
                <a:ea typeface="Calibri"/>
                <a:cs typeface="Calibri" panose="020F0502020204030204" pitchFamily="34" charset="0"/>
                <a:sym typeface="Calibri"/>
              </a:rPr>
              <a:t>demostrar que son aptos</a:t>
            </a:r>
            <a:r>
              <a:rPr lang="es-PE" sz="1600" dirty="0">
                <a:solidFill>
                  <a:srgbClr val="FEC211"/>
                </a:solidFill>
                <a:latin typeface="Calibri" panose="020F0502020204030204" pitchFamily="34" charset="0"/>
                <a:ea typeface="Calibri"/>
                <a:cs typeface="Calibri" panose="020F0502020204030204" pitchFamily="34" charset="0"/>
                <a:sym typeface="Calibri"/>
              </a:rPr>
              <a:t> </a:t>
            </a:r>
            <a:r>
              <a:rPr lang="es-PE" sz="1600" dirty="0">
                <a:solidFill>
                  <a:schemeClr val="lt1"/>
                </a:solidFill>
                <a:latin typeface="Calibri" panose="020F0502020204030204" pitchFamily="34" charset="0"/>
                <a:ea typeface="Calibri"/>
                <a:cs typeface="Calibri" panose="020F0502020204030204" pitchFamily="34" charset="0"/>
                <a:sym typeface="Calibri"/>
              </a:rPr>
              <a:t>para el propósito y para </a:t>
            </a:r>
            <a:r>
              <a:rPr lang="es-PE" sz="1600" b="1" dirty="0">
                <a:solidFill>
                  <a:srgbClr val="FEC211"/>
                </a:solidFill>
                <a:latin typeface="Calibri" panose="020F0502020204030204" pitchFamily="34" charset="0"/>
                <a:ea typeface="Calibri"/>
                <a:cs typeface="Calibri" panose="020F0502020204030204" pitchFamily="34" charset="0"/>
                <a:sym typeface="Calibri"/>
              </a:rPr>
              <a:t>detectar defectos”</a:t>
            </a:r>
            <a:r>
              <a:rPr lang="es-PE" sz="1600" dirty="0">
                <a:solidFill>
                  <a:srgbClr val="FEC211"/>
                </a:solidFill>
                <a:latin typeface="Calibri" panose="020F0502020204030204" pitchFamily="34" charset="0"/>
                <a:ea typeface="Calibri"/>
                <a:cs typeface="Calibri" panose="020F0502020204030204" pitchFamily="34" charset="0"/>
                <a:sym typeface="Calibri"/>
              </a:rPr>
              <a:t>.</a:t>
            </a:r>
            <a:endParaRPr lang="es-PE" sz="1600" dirty="0">
              <a:solidFill>
                <a:srgbClr val="FEC211"/>
              </a:solidFill>
              <a:latin typeface="Calibri" panose="020F0502020204030204" pitchFamily="34" charset="0"/>
              <a:cs typeface="Calibri" panose="020F0502020204030204" pitchFamily="34" charset="0"/>
            </a:endParaRPr>
          </a:p>
          <a:p>
            <a:pPr marL="96837" marR="0" lvl="0" indent="0" algn="r" rtl="0">
              <a:spcBef>
                <a:spcPts val="0"/>
              </a:spcBef>
              <a:spcAft>
                <a:spcPts val="0"/>
              </a:spcAft>
            </a:pPr>
            <a:r>
              <a:rPr lang="es-PE" b="1" dirty="0">
                <a:solidFill>
                  <a:srgbClr val="FEC211"/>
                </a:solidFill>
                <a:latin typeface="Calibri" panose="020F0502020204030204" pitchFamily="34" charset="0"/>
                <a:ea typeface="Calibri"/>
                <a:cs typeface="Calibri" panose="020F0502020204030204" pitchFamily="34" charset="0"/>
                <a:sym typeface="Calibri"/>
              </a:rPr>
              <a:t>oa.upm.es</a:t>
            </a:r>
            <a:endParaRPr lang="es-PE" b="1" dirty="0">
              <a:solidFill>
                <a:srgbClr val="FEC211"/>
              </a:solidFill>
              <a:latin typeface="Calibri" panose="020F0502020204030204" pitchFamily="34" charset="0"/>
              <a:ea typeface="Calibri" charset="0"/>
              <a:cs typeface="Calibri" panose="020F050202020403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10" name="Rectangle 5">
            <a:extLst>
              <a:ext uri="{FF2B5EF4-FFF2-40B4-BE49-F238E27FC236}">
                <a16:creationId xmlns:a16="http://schemas.microsoft.com/office/drawing/2014/main" id="{9B8BFF52-E6CA-194D-9B02-1C05A1864FDB}"/>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CONCEPTOS Y DEFINICIONES BÁSICAS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3" name="Grupo 2">
            <a:extLst>
              <a:ext uri="{FF2B5EF4-FFF2-40B4-BE49-F238E27FC236}">
                <a16:creationId xmlns:a16="http://schemas.microsoft.com/office/drawing/2014/main" id="{6B3ED117-BA31-5D4E-A5EC-9D9FDAB9D619}"/>
              </a:ext>
            </a:extLst>
          </p:cNvPr>
          <p:cNvGrpSpPr/>
          <p:nvPr/>
        </p:nvGrpSpPr>
        <p:grpSpPr>
          <a:xfrm>
            <a:off x="1685713" y="1792713"/>
            <a:ext cx="5772574" cy="2822517"/>
            <a:chOff x="1607498" y="1929873"/>
            <a:chExt cx="5772574" cy="2822517"/>
          </a:xfrm>
        </p:grpSpPr>
        <p:sp>
          <p:nvSpPr>
            <p:cNvPr id="279" name="Google Shape;279;p21"/>
            <p:cNvSpPr/>
            <p:nvPr/>
          </p:nvSpPr>
          <p:spPr>
            <a:xfrm>
              <a:off x="5525846" y="3175931"/>
              <a:ext cx="1854226"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800" b="1" dirty="0">
                  <a:solidFill>
                    <a:schemeClr val="dk1"/>
                  </a:solidFill>
                  <a:latin typeface="Calibri"/>
                  <a:ea typeface="Calibri"/>
                  <a:cs typeface="Calibri"/>
                  <a:sym typeface="Calibri"/>
                </a:rPr>
                <a:t>EN EL PRODUCTO</a:t>
              </a:r>
              <a:endParaRPr dirty="0"/>
            </a:p>
          </p:txBody>
        </p:sp>
        <p:sp>
          <p:nvSpPr>
            <p:cNvPr id="11" name="Rectángulo redondeado 10">
              <a:extLst>
                <a:ext uri="{FF2B5EF4-FFF2-40B4-BE49-F238E27FC236}">
                  <a16:creationId xmlns:a16="http://schemas.microsoft.com/office/drawing/2014/main" id="{ABC6333F-C84F-D441-96F5-9E754589B5F9}"/>
                </a:ext>
              </a:extLst>
            </p:cNvPr>
            <p:cNvSpPr/>
            <p:nvPr/>
          </p:nvSpPr>
          <p:spPr>
            <a:xfrm>
              <a:off x="1607498" y="1929873"/>
              <a:ext cx="3409066" cy="582237"/>
            </a:xfrm>
            <a:prstGeom prst="roundRect">
              <a:avLst>
                <a:gd name="adj" fmla="val 17954"/>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100000"/>
                </a:lnSpc>
                <a:spcBef>
                  <a:spcPts val="0"/>
                </a:spcBef>
                <a:spcAft>
                  <a:spcPts val="0"/>
                </a:spcAft>
                <a:buClr>
                  <a:srgbClr val="F2F2F2"/>
                </a:buClr>
                <a:buSzPts val="1600"/>
                <a:buFont typeface="Calibri"/>
                <a:buNone/>
              </a:pPr>
              <a:r>
                <a:rPr lang="es-PE" sz="1400" b="1" i="0" u="none" strike="noStrike" cap="none" dirty="0">
                  <a:solidFill>
                    <a:srgbClr val="F2F2F2"/>
                  </a:solidFill>
                  <a:latin typeface="Calibri"/>
                  <a:ea typeface="Calibri"/>
                  <a:cs typeface="Calibri"/>
                  <a:sym typeface="Calibri"/>
                </a:rPr>
                <a:t>Detectar no conformidades</a:t>
              </a:r>
              <a:endParaRPr lang="es-PE" sz="1600" dirty="0"/>
            </a:p>
          </p:txBody>
        </p:sp>
        <p:sp>
          <p:nvSpPr>
            <p:cNvPr id="14" name="Rectángulo redondeado 13">
              <a:extLst>
                <a:ext uri="{FF2B5EF4-FFF2-40B4-BE49-F238E27FC236}">
                  <a16:creationId xmlns:a16="http://schemas.microsoft.com/office/drawing/2014/main" id="{E1890190-61B9-9947-84B0-6295A26C1950}"/>
                </a:ext>
              </a:extLst>
            </p:cNvPr>
            <p:cNvSpPr/>
            <p:nvPr/>
          </p:nvSpPr>
          <p:spPr>
            <a:xfrm>
              <a:off x="1607498" y="2661393"/>
              <a:ext cx="3409066" cy="582237"/>
            </a:xfrm>
            <a:prstGeom prst="roundRect">
              <a:avLst>
                <a:gd name="adj" fmla="val 17954"/>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100000"/>
                </a:lnSpc>
                <a:spcBef>
                  <a:spcPts val="0"/>
                </a:spcBef>
                <a:spcAft>
                  <a:spcPts val="0"/>
                </a:spcAft>
                <a:buClr>
                  <a:srgbClr val="F2F2F2"/>
                </a:buClr>
                <a:buSzPts val="1600"/>
                <a:buFont typeface="Calibri"/>
                <a:buNone/>
              </a:pPr>
              <a:r>
                <a:rPr lang="es-PE" sz="1400" b="1" i="0" u="none" strike="noStrike" cap="none" dirty="0">
                  <a:solidFill>
                    <a:srgbClr val="F2F2F2"/>
                  </a:solidFill>
                  <a:latin typeface="Calibri"/>
                  <a:ea typeface="Calibri"/>
                  <a:cs typeface="Calibri"/>
                  <a:sym typeface="Calibri"/>
                </a:rPr>
                <a:t>Garantizar la aceptación</a:t>
              </a:r>
              <a:endParaRPr lang="es-PE" dirty="0"/>
            </a:p>
          </p:txBody>
        </p:sp>
        <p:sp>
          <p:nvSpPr>
            <p:cNvPr id="15" name="Rectángulo redondeado 14">
              <a:extLst>
                <a:ext uri="{FF2B5EF4-FFF2-40B4-BE49-F238E27FC236}">
                  <a16:creationId xmlns:a16="http://schemas.microsoft.com/office/drawing/2014/main" id="{83BB67CA-DC59-7547-8A0B-83718EA07FE4}"/>
                </a:ext>
              </a:extLst>
            </p:cNvPr>
            <p:cNvSpPr/>
            <p:nvPr/>
          </p:nvSpPr>
          <p:spPr>
            <a:xfrm>
              <a:off x="1607498" y="3411201"/>
              <a:ext cx="3409066" cy="582237"/>
            </a:xfrm>
            <a:prstGeom prst="roundRect">
              <a:avLst>
                <a:gd name="adj" fmla="val 17954"/>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100000"/>
                </a:lnSpc>
                <a:spcBef>
                  <a:spcPts val="0"/>
                </a:spcBef>
                <a:spcAft>
                  <a:spcPts val="0"/>
                </a:spcAft>
                <a:buClr>
                  <a:srgbClr val="F2F2F2"/>
                </a:buClr>
                <a:buSzPts val="1600"/>
                <a:buFont typeface="Calibri"/>
                <a:buNone/>
              </a:pPr>
              <a:r>
                <a:rPr lang="es-PE" sz="1400" b="1" i="0" u="none" strike="noStrike" cap="none" dirty="0">
                  <a:solidFill>
                    <a:srgbClr val="F2F2F2"/>
                  </a:solidFill>
                  <a:latin typeface="Calibri"/>
                  <a:ea typeface="Calibri"/>
                  <a:cs typeface="Calibri"/>
                  <a:sym typeface="Calibri"/>
                </a:rPr>
                <a:t>Asegurar que el Desarrollo</a:t>
              </a:r>
              <a:endParaRPr lang="es-PE" dirty="0"/>
            </a:p>
          </p:txBody>
        </p:sp>
        <p:sp>
          <p:nvSpPr>
            <p:cNvPr id="16" name="Rectángulo redondeado 15">
              <a:extLst>
                <a:ext uri="{FF2B5EF4-FFF2-40B4-BE49-F238E27FC236}">
                  <a16:creationId xmlns:a16="http://schemas.microsoft.com/office/drawing/2014/main" id="{8B080EDF-1256-C640-BA53-57C13EE0ABDD}"/>
                </a:ext>
              </a:extLst>
            </p:cNvPr>
            <p:cNvSpPr/>
            <p:nvPr/>
          </p:nvSpPr>
          <p:spPr>
            <a:xfrm>
              <a:off x="1607498" y="4170153"/>
              <a:ext cx="3409066" cy="582237"/>
            </a:xfrm>
            <a:prstGeom prst="roundRect">
              <a:avLst>
                <a:gd name="adj" fmla="val 17954"/>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100000"/>
                </a:lnSpc>
                <a:spcBef>
                  <a:spcPts val="0"/>
                </a:spcBef>
                <a:spcAft>
                  <a:spcPts val="0"/>
                </a:spcAft>
                <a:buClr>
                  <a:srgbClr val="F2F2F2"/>
                </a:buClr>
                <a:buSzPts val="1600"/>
                <a:buFont typeface="Calibri"/>
                <a:buNone/>
              </a:pPr>
              <a:r>
                <a:rPr lang="es-PE" sz="1400" b="1" i="0" u="none" strike="noStrike" cap="none" dirty="0">
                  <a:solidFill>
                    <a:srgbClr val="F2F2F2"/>
                  </a:solidFill>
                  <a:latin typeface="Calibri"/>
                  <a:ea typeface="Calibri"/>
                  <a:cs typeface="Calibri"/>
                  <a:sym typeface="Calibri"/>
                </a:rPr>
                <a:t>Correcto Funcionamiento</a:t>
              </a:r>
              <a:endParaRPr lang="es-PE" dirty="0"/>
            </a:p>
          </p:txBody>
        </p:sp>
        <p:sp>
          <p:nvSpPr>
            <p:cNvPr id="17" name="Abrir llave 16">
              <a:extLst>
                <a:ext uri="{FF2B5EF4-FFF2-40B4-BE49-F238E27FC236}">
                  <a16:creationId xmlns:a16="http://schemas.microsoft.com/office/drawing/2014/main" id="{D204EE42-0398-9D47-A0D7-2ECE06A5BB86}"/>
                </a:ext>
              </a:extLst>
            </p:cNvPr>
            <p:cNvSpPr/>
            <p:nvPr/>
          </p:nvSpPr>
          <p:spPr>
            <a:xfrm rot="10800000">
              <a:off x="5195590" y="1968804"/>
              <a:ext cx="263377" cy="2783585"/>
            </a:xfrm>
            <a:prstGeom prst="leftBrace">
              <a:avLst>
                <a:gd name="adj1" fmla="val 338"/>
                <a:gd name="adj2" fmla="val 50283"/>
              </a:avLst>
            </a:prstGeom>
            <a:ln w="19050">
              <a:solidFill>
                <a:srgbClr val="8087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dirty="0">
                <a:latin typeface="Calibri" panose="020F0502020204030204" pitchFamily="34" charset="0"/>
              </a:endParaRPr>
            </a:p>
          </p:txBody>
        </p:sp>
      </p:grpSp>
      <p:sp>
        <p:nvSpPr>
          <p:cNvPr id="18" name="Rectángulo 17">
            <a:extLst>
              <a:ext uri="{FF2B5EF4-FFF2-40B4-BE49-F238E27FC236}">
                <a16:creationId xmlns:a16="http://schemas.microsoft.com/office/drawing/2014/main" id="{4582088D-0164-7D46-B16B-7C2CA5B636F4}"/>
              </a:ext>
            </a:extLst>
          </p:cNvPr>
          <p:cNvSpPr/>
          <p:nvPr/>
        </p:nvSpPr>
        <p:spPr>
          <a:xfrm>
            <a:off x="503238" y="916472"/>
            <a:ext cx="8172450" cy="553998"/>
          </a:xfrm>
          <a:prstGeom prst="rect">
            <a:avLst/>
          </a:prstGeom>
        </p:spPr>
        <p:txBody>
          <a:bodyPr wrap="square" lIns="0" tIns="0" rIns="0" bIns="0">
            <a:spAutoFit/>
          </a:bodyPr>
          <a:lstStyle/>
          <a:p>
            <a:pPr>
              <a:spcAft>
                <a:spcPts val="600"/>
              </a:spcAft>
            </a:pPr>
            <a:r>
              <a:rPr lang="es-ES" sz="2000" b="1" dirty="0">
                <a:solidFill>
                  <a:srgbClr val="EE4639"/>
                </a:solidFill>
                <a:latin typeface="Graphik Bold" panose="020B0503030202060203" pitchFamily="34" charset="77"/>
                <a:cs typeface="Calibri" charset="0"/>
              </a:rPr>
              <a:t>+ 04.</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OBJETIVOS DE LAS PRUEBAS DE SOFTWARE</a:t>
            </a:r>
            <a:endParaRPr lang="es-PE" sz="1600" dirty="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10" name="Rectangle 5">
            <a:extLst>
              <a:ext uri="{FF2B5EF4-FFF2-40B4-BE49-F238E27FC236}">
                <a16:creationId xmlns:a16="http://schemas.microsoft.com/office/drawing/2014/main" id="{54EB2930-35F2-3D46-9C26-DC3DCA101D52}"/>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CONCEPTOS Y DEFINICIONES BÁSICAS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11" name="Grupo 10">
            <a:extLst>
              <a:ext uri="{FF2B5EF4-FFF2-40B4-BE49-F238E27FC236}">
                <a16:creationId xmlns:a16="http://schemas.microsoft.com/office/drawing/2014/main" id="{DF3F04DB-8571-544B-8D0A-F8C1C3078807}"/>
              </a:ext>
            </a:extLst>
          </p:cNvPr>
          <p:cNvGrpSpPr/>
          <p:nvPr/>
        </p:nvGrpSpPr>
        <p:grpSpPr>
          <a:xfrm>
            <a:off x="1685713" y="1792713"/>
            <a:ext cx="5772574" cy="2822517"/>
            <a:chOff x="1607498" y="1929873"/>
            <a:chExt cx="5772574" cy="2822517"/>
          </a:xfrm>
        </p:grpSpPr>
        <p:sp>
          <p:nvSpPr>
            <p:cNvPr id="12" name="Google Shape;279;p21">
              <a:extLst>
                <a:ext uri="{FF2B5EF4-FFF2-40B4-BE49-F238E27FC236}">
                  <a16:creationId xmlns:a16="http://schemas.microsoft.com/office/drawing/2014/main" id="{ED1CA384-820C-EA41-B386-7F0F11D186B4}"/>
                </a:ext>
              </a:extLst>
            </p:cNvPr>
            <p:cNvSpPr/>
            <p:nvPr/>
          </p:nvSpPr>
          <p:spPr>
            <a:xfrm>
              <a:off x="5525846" y="3083598"/>
              <a:ext cx="1854226"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800" b="1" dirty="0">
                  <a:solidFill>
                    <a:schemeClr val="dk1"/>
                  </a:solidFill>
                  <a:latin typeface="Calibri"/>
                  <a:ea typeface="Calibri"/>
                  <a:cs typeface="Calibri"/>
                  <a:sym typeface="Calibri"/>
                </a:rPr>
                <a:t>EN EL EQUIPO </a:t>
              </a:r>
              <a:endParaRPr lang="es-PE" sz="1800" dirty="0"/>
            </a:p>
            <a:p>
              <a:pPr marL="0" marR="0" lvl="0" indent="0" algn="l" rtl="0">
                <a:spcBef>
                  <a:spcPts val="0"/>
                </a:spcBef>
                <a:spcAft>
                  <a:spcPts val="0"/>
                </a:spcAft>
                <a:buNone/>
              </a:pPr>
              <a:r>
                <a:rPr lang="es-PE" sz="1800" b="1" dirty="0">
                  <a:solidFill>
                    <a:schemeClr val="dk1"/>
                  </a:solidFill>
                  <a:latin typeface="Calibri"/>
                  <a:ea typeface="Calibri"/>
                  <a:cs typeface="Calibri"/>
                  <a:sym typeface="Calibri"/>
                </a:rPr>
                <a:t>DE DESARROLLO</a:t>
              </a:r>
              <a:endParaRPr lang="es-PE" sz="1800" dirty="0"/>
            </a:p>
          </p:txBody>
        </p:sp>
        <p:sp>
          <p:nvSpPr>
            <p:cNvPr id="13" name="Rectángulo redondeado 12">
              <a:extLst>
                <a:ext uri="{FF2B5EF4-FFF2-40B4-BE49-F238E27FC236}">
                  <a16:creationId xmlns:a16="http://schemas.microsoft.com/office/drawing/2014/main" id="{03FA16E9-E09A-B643-8557-8CAD1904F963}"/>
                </a:ext>
              </a:extLst>
            </p:cNvPr>
            <p:cNvSpPr/>
            <p:nvPr/>
          </p:nvSpPr>
          <p:spPr>
            <a:xfrm>
              <a:off x="1607498" y="1929873"/>
              <a:ext cx="3409066" cy="582237"/>
            </a:xfrm>
            <a:prstGeom prst="roundRect">
              <a:avLst>
                <a:gd name="adj" fmla="val 17954"/>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spcBef>
                  <a:spcPts val="0"/>
                </a:spcBef>
                <a:spcAft>
                  <a:spcPts val="0"/>
                </a:spcAft>
                <a:buNone/>
              </a:pPr>
              <a:r>
                <a:rPr lang="es-PE" sz="1400" b="1" dirty="0">
                  <a:solidFill>
                    <a:schemeClr val="lt1"/>
                  </a:solidFill>
                  <a:latin typeface="Calibri"/>
                  <a:ea typeface="Calibri"/>
                  <a:cs typeface="Calibri"/>
                  <a:sym typeface="Calibri"/>
                </a:rPr>
                <a:t>Disminuir los reprocesos</a:t>
              </a:r>
              <a:endParaRPr lang="es-PE" dirty="0"/>
            </a:p>
          </p:txBody>
        </p:sp>
        <p:sp>
          <p:nvSpPr>
            <p:cNvPr id="14" name="Rectángulo redondeado 13">
              <a:extLst>
                <a:ext uri="{FF2B5EF4-FFF2-40B4-BE49-F238E27FC236}">
                  <a16:creationId xmlns:a16="http://schemas.microsoft.com/office/drawing/2014/main" id="{7DDDB182-2F1F-2D4A-A5D6-3AD90FF23230}"/>
                </a:ext>
              </a:extLst>
            </p:cNvPr>
            <p:cNvSpPr/>
            <p:nvPr/>
          </p:nvSpPr>
          <p:spPr>
            <a:xfrm>
              <a:off x="1607498" y="2661393"/>
              <a:ext cx="3409066" cy="582237"/>
            </a:xfrm>
            <a:prstGeom prst="roundRect">
              <a:avLst>
                <a:gd name="adj" fmla="val 17954"/>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spcBef>
                  <a:spcPts val="0"/>
                </a:spcBef>
                <a:spcAft>
                  <a:spcPts val="0"/>
                </a:spcAft>
                <a:buNone/>
              </a:pPr>
              <a:r>
                <a:rPr lang="es-PE" sz="1400" b="1" dirty="0">
                  <a:solidFill>
                    <a:schemeClr val="lt1"/>
                  </a:solidFill>
                  <a:latin typeface="Calibri"/>
                  <a:ea typeface="Calibri"/>
                  <a:cs typeface="Calibri"/>
                  <a:sym typeface="Calibri"/>
                </a:rPr>
                <a:t>Cultura de la Calidad</a:t>
              </a:r>
              <a:endParaRPr lang="es-PE" dirty="0"/>
            </a:p>
          </p:txBody>
        </p:sp>
        <p:sp>
          <p:nvSpPr>
            <p:cNvPr id="15" name="Rectángulo redondeado 14">
              <a:extLst>
                <a:ext uri="{FF2B5EF4-FFF2-40B4-BE49-F238E27FC236}">
                  <a16:creationId xmlns:a16="http://schemas.microsoft.com/office/drawing/2014/main" id="{A29CDF57-7522-C64F-95AE-A90E4B2C8E1F}"/>
                </a:ext>
              </a:extLst>
            </p:cNvPr>
            <p:cNvSpPr/>
            <p:nvPr/>
          </p:nvSpPr>
          <p:spPr>
            <a:xfrm>
              <a:off x="1607498" y="3411201"/>
              <a:ext cx="3409066" cy="582237"/>
            </a:xfrm>
            <a:prstGeom prst="roundRect">
              <a:avLst>
                <a:gd name="adj" fmla="val 17954"/>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spcBef>
                  <a:spcPts val="0"/>
                </a:spcBef>
                <a:spcAft>
                  <a:spcPts val="0"/>
                </a:spcAft>
                <a:buNone/>
              </a:pPr>
              <a:r>
                <a:rPr lang="es-PE" sz="1400" b="1" dirty="0">
                  <a:solidFill>
                    <a:schemeClr val="lt1"/>
                  </a:solidFill>
                  <a:latin typeface="Calibri"/>
                  <a:ea typeface="Calibri"/>
                  <a:cs typeface="Calibri"/>
                  <a:sym typeface="Calibri"/>
                </a:rPr>
                <a:t>Personal Idóneo</a:t>
              </a:r>
              <a:endParaRPr lang="es-PE" dirty="0"/>
            </a:p>
          </p:txBody>
        </p:sp>
        <p:sp>
          <p:nvSpPr>
            <p:cNvPr id="16" name="Rectángulo redondeado 15">
              <a:extLst>
                <a:ext uri="{FF2B5EF4-FFF2-40B4-BE49-F238E27FC236}">
                  <a16:creationId xmlns:a16="http://schemas.microsoft.com/office/drawing/2014/main" id="{2C725E80-0B11-8D48-9228-01CAE8877EFF}"/>
                </a:ext>
              </a:extLst>
            </p:cNvPr>
            <p:cNvSpPr/>
            <p:nvPr/>
          </p:nvSpPr>
          <p:spPr>
            <a:xfrm>
              <a:off x="1607498" y="4170153"/>
              <a:ext cx="3409066" cy="582237"/>
            </a:xfrm>
            <a:prstGeom prst="roundRect">
              <a:avLst>
                <a:gd name="adj" fmla="val 17954"/>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spcBef>
                  <a:spcPts val="0"/>
                </a:spcBef>
                <a:spcAft>
                  <a:spcPts val="0"/>
                </a:spcAft>
                <a:buNone/>
              </a:pPr>
              <a:r>
                <a:rPr lang="es-PE" sz="1400" b="1" dirty="0">
                  <a:solidFill>
                    <a:schemeClr val="lt1"/>
                  </a:solidFill>
                  <a:latin typeface="Calibri"/>
                  <a:ea typeface="Calibri"/>
                  <a:cs typeface="Calibri"/>
                  <a:sym typeface="Calibri"/>
                </a:rPr>
                <a:t>Documentación</a:t>
              </a:r>
              <a:endParaRPr lang="es-PE" dirty="0"/>
            </a:p>
          </p:txBody>
        </p:sp>
        <p:sp>
          <p:nvSpPr>
            <p:cNvPr id="17" name="Abrir llave 16">
              <a:extLst>
                <a:ext uri="{FF2B5EF4-FFF2-40B4-BE49-F238E27FC236}">
                  <a16:creationId xmlns:a16="http://schemas.microsoft.com/office/drawing/2014/main" id="{7BD7573A-5089-A647-8610-04061FC68438}"/>
                </a:ext>
              </a:extLst>
            </p:cNvPr>
            <p:cNvSpPr/>
            <p:nvPr/>
          </p:nvSpPr>
          <p:spPr>
            <a:xfrm rot="10800000">
              <a:off x="5195590" y="1968804"/>
              <a:ext cx="263377" cy="2783585"/>
            </a:xfrm>
            <a:prstGeom prst="leftBrace">
              <a:avLst>
                <a:gd name="adj1" fmla="val 338"/>
                <a:gd name="adj2" fmla="val 50283"/>
              </a:avLst>
            </a:prstGeom>
            <a:ln w="19050">
              <a:solidFill>
                <a:srgbClr val="8087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dirty="0">
                <a:latin typeface="Calibri" panose="020F0502020204030204" pitchFamily="34" charset="0"/>
              </a:endParaRPr>
            </a:p>
          </p:txBody>
        </p:sp>
      </p:grpSp>
      <p:sp>
        <p:nvSpPr>
          <p:cNvPr id="18" name="Rectángulo 17">
            <a:extLst>
              <a:ext uri="{FF2B5EF4-FFF2-40B4-BE49-F238E27FC236}">
                <a16:creationId xmlns:a16="http://schemas.microsoft.com/office/drawing/2014/main" id="{43C1C26E-2FA3-8141-9EC3-F69EFEE66264}"/>
              </a:ext>
            </a:extLst>
          </p:cNvPr>
          <p:cNvSpPr/>
          <p:nvPr/>
        </p:nvSpPr>
        <p:spPr>
          <a:xfrm>
            <a:off x="503238" y="916472"/>
            <a:ext cx="8172450" cy="553998"/>
          </a:xfrm>
          <a:prstGeom prst="rect">
            <a:avLst/>
          </a:prstGeom>
        </p:spPr>
        <p:txBody>
          <a:bodyPr wrap="square" lIns="0" tIns="0" rIns="0" bIns="0">
            <a:spAutoFit/>
          </a:bodyPr>
          <a:lstStyle/>
          <a:p>
            <a:pPr>
              <a:spcAft>
                <a:spcPts val="600"/>
              </a:spcAft>
            </a:pPr>
            <a:r>
              <a:rPr lang="es-ES" sz="2000" b="1" dirty="0">
                <a:solidFill>
                  <a:srgbClr val="EE4639"/>
                </a:solidFill>
                <a:latin typeface="Graphik Bold" panose="020B0503030202060203" pitchFamily="34" charset="77"/>
                <a:cs typeface="Calibri" charset="0"/>
              </a:rPr>
              <a:t>+ 04.</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OBJETIVOS DE LAS PRUEBAS DE SOFTWARE</a:t>
            </a:r>
            <a:endParaRPr lang="es-PE" sz="1600" dirty="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pic>
        <p:nvPicPr>
          <p:cNvPr id="300" name="Google Shape;300;p23"/>
          <p:cNvPicPr preferRelativeResize="0"/>
          <p:nvPr/>
        </p:nvPicPr>
        <p:blipFill rotWithShape="1">
          <a:blip r:embed="rId3">
            <a:alphaModFix/>
          </a:blip>
          <a:srcRect l="13255" r="13086"/>
          <a:stretch/>
        </p:blipFill>
        <p:spPr>
          <a:xfrm>
            <a:off x="5322574" y="1932606"/>
            <a:ext cx="3353114" cy="3036390"/>
          </a:xfrm>
          <a:prstGeom prst="rect">
            <a:avLst/>
          </a:prstGeom>
          <a:noFill/>
          <a:ln>
            <a:noFill/>
          </a:ln>
        </p:spPr>
      </p:pic>
      <p:sp>
        <p:nvSpPr>
          <p:cNvPr id="301" name="Google Shape;301;p23"/>
          <p:cNvSpPr/>
          <p:nvPr/>
        </p:nvSpPr>
        <p:spPr>
          <a:xfrm>
            <a:off x="444903" y="2004548"/>
            <a:ext cx="1291807" cy="40011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1400"/>
              <a:buFont typeface="Calibri"/>
              <a:buNone/>
            </a:pPr>
            <a:r>
              <a:rPr lang="es-PE" sz="1300" b="1" dirty="0">
                <a:solidFill>
                  <a:schemeClr val="dk1"/>
                </a:solidFill>
                <a:latin typeface="Calibri"/>
                <a:ea typeface="Calibri"/>
                <a:cs typeface="Calibri"/>
                <a:sym typeface="Calibri"/>
              </a:rPr>
              <a:t>Incrementar la Productividad</a:t>
            </a:r>
            <a:endParaRPr sz="1300" dirty="0"/>
          </a:p>
        </p:txBody>
      </p:sp>
      <p:pic>
        <p:nvPicPr>
          <p:cNvPr id="302" name="Google Shape;302;p23" descr="http://gxfactory.co/wp-content/uploads/2015/09/icono_productividad.png"/>
          <p:cNvPicPr preferRelativeResize="0"/>
          <p:nvPr/>
        </p:nvPicPr>
        <p:blipFill rotWithShape="1">
          <a:blip r:embed="rId4">
            <a:alphaModFix/>
          </a:blip>
          <a:srcRect/>
          <a:stretch/>
        </p:blipFill>
        <p:spPr>
          <a:xfrm>
            <a:off x="491284" y="2498151"/>
            <a:ext cx="1245426" cy="1223053"/>
          </a:xfrm>
          <a:prstGeom prst="rect">
            <a:avLst/>
          </a:prstGeom>
          <a:noFill/>
          <a:ln>
            <a:noFill/>
          </a:ln>
        </p:spPr>
      </p:pic>
      <p:pic>
        <p:nvPicPr>
          <p:cNvPr id="303" name="Google Shape;303;p23" descr="http://gxfactory.co/wp-content/uploads/2015/09/icono_deteccion.png"/>
          <p:cNvPicPr preferRelativeResize="0"/>
          <p:nvPr/>
        </p:nvPicPr>
        <p:blipFill rotWithShape="1">
          <a:blip r:embed="rId5">
            <a:alphaModFix/>
          </a:blip>
          <a:srcRect/>
          <a:stretch/>
        </p:blipFill>
        <p:spPr>
          <a:xfrm>
            <a:off x="1629351" y="3160342"/>
            <a:ext cx="1285252" cy="1264688"/>
          </a:xfrm>
          <a:prstGeom prst="rect">
            <a:avLst/>
          </a:prstGeom>
          <a:noFill/>
          <a:ln>
            <a:noFill/>
          </a:ln>
        </p:spPr>
      </p:pic>
      <p:sp>
        <p:nvSpPr>
          <p:cNvPr id="304" name="Google Shape;304;p23"/>
          <p:cNvSpPr/>
          <p:nvPr/>
        </p:nvSpPr>
        <p:spPr>
          <a:xfrm>
            <a:off x="1622796" y="4493969"/>
            <a:ext cx="1291807" cy="40011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1400"/>
              <a:buFont typeface="Calibri"/>
              <a:buNone/>
            </a:pPr>
            <a:r>
              <a:rPr lang="es-PE" sz="1300" b="1" dirty="0">
                <a:solidFill>
                  <a:schemeClr val="dk1"/>
                </a:solidFill>
                <a:latin typeface="Calibri"/>
                <a:ea typeface="Calibri"/>
                <a:cs typeface="Calibri"/>
                <a:sym typeface="Calibri"/>
              </a:rPr>
              <a:t>Facilitar la Detección</a:t>
            </a:r>
            <a:endParaRPr sz="1300" dirty="0"/>
          </a:p>
        </p:txBody>
      </p:sp>
      <p:sp>
        <p:nvSpPr>
          <p:cNvPr id="305" name="Google Shape;305;p23"/>
          <p:cNvSpPr/>
          <p:nvPr/>
        </p:nvSpPr>
        <p:spPr>
          <a:xfrm>
            <a:off x="2777173" y="1732551"/>
            <a:ext cx="1420987" cy="40011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1400"/>
              <a:buFont typeface="Calibri"/>
              <a:buNone/>
            </a:pPr>
            <a:r>
              <a:rPr lang="es-PE" sz="1300" b="1" dirty="0">
                <a:solidFill>
                  <a:schemeClr val="dk1"/>
                </a:solidFill>
                <a:latin typeface="Calibri"/>
                <a:ea typeface="Calibri"/>
                <a:cs typeface="Calibri"/>
                <a:sym typeface="Calibri"/>
              </a:rPr>
              <a:t>Asegurar los Requerimientos</a:t>
            </a:r>
            <a:endParaRPr sz="1300" dirty="0"/>
          </a:p>
        </p:txBody>
      </p:sp>
      <p:pic>
        <p:nvPicPr>
          <p:cNvPr id="306" name="Google Shape;306;p23" descr="http://gxfactory.co/wp-content/uploads/2015/09/icono_asegurar_requerimientos.png"/>
          <p:cNvPicPr preferRelativeResize="0"/>
          <p:nvPr/>
        </p:nvPicPr>
        <p:blipFill rotWithShape="1">
          <a:blip r:embed="rId6">
            <a:alphaModFix/>
          </a:blip>
          <a:srcRect/>
          <a:stretch/>
        </p:blipFill>
        <p:spPr>
          <a:xfrm>
            <a:off x="1831460" y="1937288"/>
            <a:ext cx="1245427" cy="1223054"/>
          </a:xfrm>
          <a:prstGeom prst="rect">
            <a:avLst/>
          </a:prstGeom>
          <a:noFill/>
          <a:ln>
            <a:noFill/>
          </a:ln>
        </p:spPr>
      </p:pic>
      <p:pic>
        <p:nvPicPr>
          <p:cNvPr id="307" name="Google Shape;307;p23" descr="http://gxfactory.co/wp-content/uploads/2015/09/icono_evaluacion.png"/>
          <p:cNvPicPr preferRelativeResize="0"/>
          <p:nvPr/>
        </p:nvPicPr>
        <p:blipFill rotWithShape="1">
          <a:blip r:embed="rId7">
            <a:alphaModFix/>
          </a:blip>
          <a:srcRect/>
          <a:stretch/>
        </p:blipFill>
        <p:spPr>
          <a:xfrm>
            <a:off x="2939345" y="2498151"/>
            <a:ext cx="1315584" cy="1294535"/>
          </a:xfrm>
          <a:prstGeom prst="rect">
            <a:avLst/>
          </a:prstGeom>
          <a:noFill/>
          <a:ln>
            <a:noFill/>
          </a:ln>
        </p:spPr>
      </p:pic>
      <p:sp>
        <p:nvSpPr>
          <p:cNvPr id="308" name="Google Shape;308;p23"/>
          <p:cNvSpPr/>
          <p:nvPr/>
        </p:nvSpPr>
        <p:spPr>
          <a:xfrm>
            <a:off x="4184772" y="2873646"/>
            <a:ext cx="1058826" cy="40011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1400"/>
              <a:buFont typeface="Calibri"/>
              <a:buNone/>
            </a:pPr>
            <a:r>
              <a:rPr lang="es-PE" sz="1300" b="1" dirty="0">
                <a:solidFill>
                  <a:schemeClr val="dk1"/>
                </a:solidFill>
                <a:latin typeface="Calibri"/>
                <a:ea typeface="Calibri"/>
                <a:cs typeface="Calibri"/>
                <a:sym typeface="Calibri"/>
              </a:rPr>
              <a:t>Evaluación Objetiva</a:t>
            </a:r>
            <a:endParaRPr sz="1300" dirty="0"/>
          </a:p>
        </p:txBody>
      </p:sp>
      <p:sp>
        <p:nvSpPr>
          <p:cNvPr id="13" name="Rectangle 5">
            <a:extLst>
              <a:ext uri="{FF2B5EF4-FFF2-40B4-BE49-F238E27FC236}">
                <a16:creationId xmlns:a16="http://schemas.microsoft.com/office/drawing/2014/main" id="{A56237E8-B26A-C04C-B477-35D587D4AFCD}"/>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CONCEPTOS Y DEFINICIONES BÁSICAS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14" name="Rectángulo 13">
            <a:extLst>
              <a:ext uri="{FF2B5EF4-FFF2-40B4-BE49-F238E27FC236}">
                <a16:creationId xmlns:a16="http://schemas.microsoft.com/office/drawing/2014/main" id="{8F8CE835-105B-FD41-926A-29CF590DD796}"/>
              </a:ext>
            </a:extLst>
          </p:cNvPr>
          <p:cNvSpPr/>
          <p:nvPr/>
        </p:nvSpPr>
        <p:spPr>
          <a:xfrm>
            <a:off x="503238" y="916472"/>
            <a:ext cx="8172450" cy="553998"/>
          </a:xfrm>
          <a:prstGeom prst="rect">
            <a:avLst/>
          </a:prstGeom>
        </p:spPr>
        <p:txBody>
          <a:bodyPr wrap="square" lIns="0" tIns="0" rIns="0" bIns="0">
            <a:spAutoFit/>
          </a:bodyPr>
          <a:lstStyle/>
          <a:p>
            <a:pPr>
              <a:spcAft>
                <a:spcPts val="600"/>
              </a:spcAft>
            </a:pPr>
            <a:r>
              <a:rPr lang="es-ES" sz="2000" b="1" dirty="0">
                <a:solidFill>
                  <a:srgbClr val="EE4639"/>
                </a:solidFill>
                <a:latin typeface="Graphik Bold" panose="020B0503030202060203" pitchFamily="34" charset="77"/>
                <a:cs typeface="Calibri" charset="0"/>
              </a:rPr>
              <a:t>+ 05.</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BENEFICIOS DE LAS PRUEBAS DE SOFTWARE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4" name="Rectángulo 3">
            <a:extLst>
              <a:ext uri="{FF2B5EF4-FFF2-40B4-BE49-F238E27FC236}">
                <a16:creationId xmlns:a16="http://schemas.microsoft.com/office/drawing/2014/main" id="{FDDE0C33-F05A-064F-A5BF-86A4018F88AA}"/>
              </a:ext>
            </a:extLst>
          </p:cNvPr>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5" name="CuadroTexto 4">
            <a:extLst>
              <a:ext uri="{FF2B5EF4-FFF2-40B4-BE49-F238E27FC236}">
                <a16:creationId xmlns:a16="http://schemas.microsoft.com/office/drawing/2014/main" id="{7561E9FA-43E2-E041-A782-8665380F8FDB}"/>
              </a:ext>
            </a:extLst>
          </p:cNvPr>
          <p:cNvSpPr txBox="1"/>
          <p:nvPr/>
        </p:nvSpPr>
        <p:spPr>
          <a:xfrm>
            <a:off x="1008063" y="3169972"/>
            <a:ext cx="5993558" cy="775597"/>
          </a:xfrm>
          <a:prstGeom prst="rect">
            <a:avLst/>
          </a:prstGeom>
          <a:noFill/>
        </p:spPr>
        <p:txBody>
          <a:bodyPr wrap="square" lIns="0" tIns="0" rIns="0" bIns="0" rtlCol="0">
            <a:spAutoFit/>
          </a:bodyPr>
          <a:lstStyle/>
          <a:p>
            <a:pPr>
              <a:lnSpc>
                <a:spcPct val="90000"/>
              </a:lnSpc>
              <a:spcBef>
                <a:spcPts val="1000"/>
              </a:spcBef>
              <a:defRPr/>
            </a:pPr>
            <a:r>
              <a:rPr lang="es-PE" sz="2800" dirty="0">
                <a:solidFill>
                  <a:schemeClr val="bg1"/>
                </a:solidFill>
                <a:latin typeface="Graphik Regular" charset="0"/>
                <a:ea typeface="Graphik Regular" charset="0"/>
                <a:cs typeface="Graphik Regular" charset="0"/>
              </a:rPr>
              <a:t>PRINCIPIOS GENERALES</a:t>
            </a:r>
            <a:br>
              <a:rPr lang="es-PE" sz="2800" b="1" dirty="0">
                <a:solidFill>
                  <a:schemeClr val="bg1"/>
                </a:solidFill>
                <a:latin typeface="Calibri"/>
                <a:cs typeface="Calibri"/>
              </a:rPr>
            </a:br>
            <a:r>
              <a:rPr lang="es-PE" sz="2800" b="1" dirty="0">
                <a:solidFill>
                  <a:schemeClr val="bg1"/>
                </a:solidFill>
                <a:latin typeface="Graphik Bold" charset="0"/>
                <a:ea typeface="Graphik Bold" charset="0"/>
                <a:cs typeface="Graphik Bold" charset="0"/>
              </a:rPr>
              <a:t>DE PRUEBAS</a:t>
            </a:r>
          </a:p>
        </p:txBody>
      </p:sp>
      <p:pic>
        <p:nvPicPr>
          <p:cNvPr id="6" name="Imagen 5">
            <a:extLst>
              <a:ext uri="{FF2B5EF4-FFF2-40B4-BE49-F238E27FC236}">
                <a16:creationId xmlns:a16="http://schemas.microsoft.com/office/drawing/2014/main" id="{F7F3691E-4BB8-2E46-A16D-0FE871099AB4}"/>
              </a:ext>
            </a:extLst>
          </p:cNvPr>
          <p:cNvPicPr>
            <a:picLocks noChangeAspect="1"/>
          </p:cNvPicPr>
          <p:nvPr/>
        </p:nvPicPr>
        <p:blipFill>
          <a:blip r:embed="rId3"/>
          <a:stretch>
            <a:fillRect/>
          </a:stretch>
        </p:blipFill>
        <p:spPr>
          <a:xfrm>
            <a:off x="1008063" y="2869612"/>
            <a:ext cx="195423" cy="20125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26" name="Rectangle 5">
            <a:extLst>
              <a:ext uri="{FF2B5EF4-FFF2-40B4-BE49-F238E27FC236}">
                <a16:creationId xmlns:a16="http://schemas.microsoft.com/office/drawing/2014/main" id="{E32677B2-5394-E54C-97AD-565AE5438992}"/>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PRINCIPIOS GENERALES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27" name="Rectángulo redondeado 26">
            <a:extLst>
              <a:ext uri="{FF2B5EF4-FFF2-40B4-BE49-F238E27FC236}">
                <a16:creationId xmlns:a16="http://schemas.microsoft.com/office/drawing/2014/main" id="{87A38B65-8A0F-F74F-9B1C-00E831F44EB6}"/>
              </a:ext>
            </a:extLst>
          </p:cNvPr>
          <p:cNvSpPr/>
          <p:nvPr/>
        </p:nvSpPr>
        <p:spPr>
          <a:xfrm>
            <a:off x="1647809" y="1220396"/>
            <a:ext cx="5848382" cy="425524"/>
          </a:xfrm>
          <a:prstGeom prst="roundRect">
            <a:avLst>
              <a:gd name="adj" fmla="val 21784"/>
            </a:avLst>
          </a:prstGeom>
          <a:solidFill>
            <a:srgbClr val="FFD8D4"/>
          </a:solidFill>
          <a:ln w="38100">
            <a:solidFill>
              <a:srgbClr val="EE4639"/>
            </a:solidFill>
          </a:ln>
        </p:spPr>
        <p:style>
          <a:lnRef idx="2">
            <a:schemeClr val="accent1">
              <a:shade val="50000"/>
            </a:schemeClr>
          </a:lnRef>
          <a:fillRef idx="1">
            <a:schemeClr val="accent1"/>
          </a:fillRef>
          <a:effectRef idx="0">
            <a:schemeClr val="accent1"/>
          </a:effectRef>
          <a:fontRef idx="minor">
            <a:schemeClr val="lt1"/>
          </a:fontRef>
        </p:style>
        <p:txBody>
          <a:bodyPr lIns="180000" tIns="72000" rIns="36000" rtlCol="0" anchor="t"/>
          <a:lstStyle/>
          <a:p>
            <a:pPr marL="0" marR="0" lvl="0" indent="0" algn="l" rtl="0">
              <a:lnSpc>
                <a:spcPct val="90000"/>
              </a:lnSpc>
              <a:spcBef>
                <a:spcPts val="0"/>
              </a:spcBef>
              <a:spcAft>
                <a:spcPts val="0"/>
              </a:spcAft>
              <a:buClr>
                <a:schemeClr val="lt1"/>
              </a:buClr>
              <a:buSzPts val="1600"/>
              <a:buFont typeface="Calibri"/>
              <a:buNone/>
            </a:pPr>
            <a:r>
              <a:rPr lang="es-PE" sz="1500" b="1" dirty="0">
                <a:solidFill>
                  <a:schemeClr val="tx1"/>
                </a:solidFill>
                <a:latin typeface="Calibri"/>
                <a:ea typeface="Calibri"/>
                <a:cs typeface="Calibri"/>
                <a:sym typeface="Calibri"/>
              </a:rPr>
              <a:t>Las pruebas revelan la presencia de defectos</a:t>
            </a:r>
          </a:p>
        </p:txBody>
      </p:sp>
      <p:sp>
        <p:nvSpPr>
          <p:cNvPr id="28" name="Rectángulo redondeado 27">
            <a:extLst>
              <a:ext uri="{FF2B5EF4-FFF2-40B4-BE49-F238E27FC236}">
                <a16:creationId xmlns:a16="http://schemas.microsoft.com/office/drawing/2014/main" id="{4A1A6D3E-6ADE-A340-94BB-0A1D28FBA458}"/>
              </a:ext>
            </a:extLst>
          </p:cNvPr>
          <p:cNvSpPr/>
          <p:nvPr/>
        </p:nvSpPr>
        <p:spPr>
          <a:xfrm>
            <a:off x="1647809" y="1759892"/>
            <a:ext cx="5848382" cy="425524"/>
          </a:xfrm>
          <a:prstGeom prst="roundRect">
            <a:avLst>
              <a:gd name="adj" fmla="val 21784"/>
            </a:avLst>
          </a:prstGeom>
          <a:solidFill>
            <a:srgbClr val="DDEEC7"/>
          </a:solidFill>
          <a:ln w="38100">
            <a:solidFill>
              <a:srgbClr val="8FC53F"/>
            </a:solidFill>
          </a:ln>
        </p:spPr>
        <p:style>
          <a:lnRef idx="2">
            <a:schemeClr val="accent1">
              <a:shade val="50000"/>
            </a:schemeClr>
          </a:lnRef>
          <a:fillRef idx="1">
            <a:schemeClr val="accent1"/>
          </a:fillRef>
          <a:effectRef idx="0">
            <a:schemeClr val="accent1"/>
          </a:effectRef>
          <a:fontRef idx="minor">
            <a:schemeClr val="lt1"/>
          </a:fontRef>
        </p:style>
        <p:txBody>
          <a:bodyPr lIns="180000" tIns="72000" rIns="36000" rtlCol="0" anchor="t"/>
          <a:lstStyle/>
          <a:p>
            <a:pPr marL="0" marR="0" lvl="0" indent="0" algn="l" rtl="0">
              <a:lnSpc>
                <a:spcPct val="90000"/>
              </a:lnSpc>
              <a:spcBef>
                <a:spcPts val="0"/>
              </a:spcBef>
              <a:spcAft>
                <a:spcPts val="0"/>
              </a:spcAft>
              <a:buClr>
                <a:schemeClr val="lt1"/>
              </a:buClr>
              <a:buSzPts val="1600"/>
              <a:buFont typeface="Calibri"/>
              <a:buNone/>
            </a:pPr>
            <a:r>
              <a:rPr lang="es-PE" sz="1500" b="1" dirty="0">
                <a:solidFill>
                  <a:schemeClr val="tx1"/>
                </a:solidFill>
                <a:latin typeface="Calibri"/>
                <a:ea typeface="Calibri"/>
                <a:cs typeface="Calibri"/>
                <a:sym typeface="Calibri"/>
              </a:rPr>
              <a:t>La imposibilidad de pruebas exhaustivas</a:t>
            </a:r>
          </a:p>
        </p:txBody>
      </p:sp>
      <p:sp>
        <p:nvSpPr>
          <p:cNvPr id="29" name="Rectángulo redondeado 28">
            <a:extLst>
              <a:ext uri="{FF2B5EF4-FFF2-40B4-BE49-F238E27FC236}">
                <a16:creationId xmlns:a16="http://schemas.microsoft.com/office/drawing/2014/main" id="{AA41F5FD-F164-E240-A9CD-EE7801802FE7}"/>
              </a:ext>
            </a:extLst>
          </p:cNvPr>
          <p:cNvSpPr/>
          <p:nvPr/>
        </p:nvSpPr>
        <p:spPr>
          <a:xfrm>
            <a:off x="1647809" y="2308532"/>
            <a:ext cx="5848382" cy="425524"/>
          </a:xfrm>
          <a:prstGeom prst="roundRect">
            <a:avLst>
              <a:gd name="adj" fmla="val 21784"/>
            </a:avLst>
          </a:prstGeom>
          <a:solidFill>
            <a:srgbClr val="E3DCED"/>
          </a:solidFill>
          <a:ln w="38100">
            <a:solidFill>
              <a:srgbClr val="7150A0"/>
            </a:solidFill>
          </a:ln>
        </p:spPr>
        <p:style>
          <a:lnRef idx="2">
            <a:schemeClr val="accent1">
              <a:shade val="50000"/>
            </a:schemeClr>
          </a:lnRef>
          <a:fillRef idx="1">
            <a:schemeClr val="accent1"/>
          </a:fillRef>
          <a:effectRef idx="0">
            <a:schemeClr val="accent1"/>
          </a:effectRef>
          <a:fontRef idx="minor">
            <a:schemeClr val="lt1"/>
          </a:fontRef>
        </p:style>
        <p:txBody>
          <a:bodyPr lIns="180000" tIns="72000" rIns="36000" rtlCol="0" anchor="t"/>
          <a:lstStyle/>
          <a:p>
            <a:pPr marL="0" marR="0" lvl="0" indent="0" algn="l" rtl="0">
              <a:lnSpc>
                <a:spcPct val="90000"/>
              </a:lnSpc>
              <a:spcBef>
                <a:spcPts val="0"/>
              </a:spcBef>
              <a:spcAft>
                <a:spcPts val="0"/>
              </a:spcAft>
              <a:buClr>
                <a:schemeClr val="lt1"/>
              </a:buClr>
              <a:buSzPts val="1600"/>
              <a:buFont typeface="Calibri"/>
              <a:buNone/>
            </a:pPr>
            <a:r>
              <a:rPr lang="es-PE" sz="1500" b="1" dirty="0">
                <a:solidFill>
                  <a:schemeClr val="tx1"/>
                </a:solidFill>
                <a:latin typeface="Calibri"/>
                <a:ea typeface="Calibri"/>
                <a:cs typeface="Calibri"/>
                <a:sym typeface="Calibri"/>
              </a:rPr>
              <a:t>Los beneficios de las pruebas tempranas</a:t>
            </a:r>
          </a:p>
        </p:txBody>
      </p:sp>
      <p:sp>
        <p:nvSpPr>
          <p:cNvPr id="30" name="Rectángulo redondeado 29">
            <a:extLst>
              <a:ext uri="{FF2B5EF4-FFF2-40B4-BE49-F238E27FC236}">
                <a16:creationId xmlns:a16="http://schemas.microsoft.com/office/drawing/2014/main" id="{D7ADAEC5-9CC4-6044-8DAF-AEAC2E2F6918}"/>
              </a:ext>
            </a:extLst>
          </p:cNvPr>
          <p:cNvSpPr/>
          <p:nvPr/>
        </p:nvSpPr>
        <p:spPr>
          <a:xfrm>
            <a:off x="1647809" y="2857172"/>
            <a:ext cx="5848382" cy="425524"/>
          </a:xfrm>
          <a:prstGeom prst="roundRect">
            <a:avLst>
              <a:gd name="adj" fmla="val 21784"/>
            </a:avLst>
          </a:prstGeom>
          <a:solidFill>
            <a:srgbClr val="D1EFF4"/>
          </a:solidFill>
          <a:ln w="38100">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lIns="180000" tIns="72000" rIns="36000" rtlCol="0" anchor="t"/>
          <a:lstStyle/>
          <a:p>
            <a:pPr marL="0" marR="0" lvl="0" indent="0" algn="l" rtl="0">
              <a:lnSpc>
                <a:spcPct val="90000"/>
              </a:lnSpc>
              <a:spcBef>
                <a:spcPts val="0"/>
              </a:spcBef>
              <a:spcAft>
                <a:spcPts val="0"/>
              </a:spcAft>
              <a:buClr>
                <a:schemeClr val="lt1"/>
              </a:buClr>
              <a:buSzPts val="1600"/>
              <a:buFont typeface="Calibri"/>
              <a:buNone/>
            </a:pPr>
            <a:r>
              <a:rPr lang="es-PE" sz="1500" b="1" dirty="0">
                <a:solidFill>
                  <a:schemeClr val="tx1"/>
                </a:solidFill>
                <a:latin typeface="Calibri"/>
                <a:ea typeface="Calibri"/>
                <a:cs typeface="Calibri"/>
                <a:sym typeface="Calibri"/>
              </a:rPr>
              <a:t>El agrupamiento de defectos</a:t>
            </a:r>
            <a:endParaRPr lang="es-PE" sz="1500" dirty="0">
              <a:solidFill>
                <a:schemeClr val="tx1"/>
              </a:solidFill>
            </a:endParaRPr>
          </a:p>
        </p:txBody>
      </p:sp>
      <p:sp>
        <p:nvSpPr>
          <p:cNvPr id="31" name="Rectángulo redondeado 30">
            <a:extLst>
              <a:ext uri="{FF2B5EF4-FFF2-40B4-BE49-F238E27FC236}">
                <a16:creationId xmlns:a16="http://schemas.microsoft.com/office/drawing/2014/main" id="{A4C2FDE1-5BD3-D547-8E3C-94573D104F98}"/>
              </a:ext>
            </a:extLst>
          </p:cNvPr>
          <p:cNvSpPr/>
          <p:nvPr/>
        </p:nvSpPr>
        <p:spPr>
          <a:xfrm>
            <a:off x="1647809" y="3414956"/>
            <a:ext cx="5848382" cy="425524"/>
          </a:xfrm>
          <a:prstGeom prst="roundRect">
            <a:avLst>
              <a:gd name="adj" fmla="val 21784"/>
            </a:avLst>
          </a:prstGeom>
          <a:solidFill>
            <a:srgbClr val="FFEBB3"/>
          </a:solidFill>
          <a:ln w="38100">
            <a:solidFill>
              <a:srgbClr val="FEC211"/>
            </a:solidFill>
          </a:ln>
        </p:spPr>
        <p:style>
          <a:lnRef idx="2">
            <a:schemeClr val="accent1">
              <a:shade val="50000"/>
            </a:schemeClr>
          </a:lnRef>
          <a:fillRef idx="1">
            <a:schemeClr val="accent1"/>
          </a:fillRef>
          <a:effectRef idx="0">
            <a:schemeClr val="accent1"/>
          </a:effectRef>
          <a:fontRef idx="minor">
            <a:schemeClr val="lt1"/>
          </a:fontRef>
        </p:style>
        <p:txBody>
          <a:bodyPr lIns="180000" tIns="72000" rIns="36000" rtlCol="0" anchor="t"/>
          <a:lstStyle/>
          <a:p>
            <a:pPr marL="0" marR="0" lvl="0" indent="0" algn="l" rtl="0">
              <a:lnSpc>
                <a:spcPct val="90000"/>
              </a:lnSpc>
              <a:spcBef>
                <a:spcPts val="0"/>
              </a:spcBef>
              <a:spcAft>
                <a:spcPts val="0"/>
              </a:spcAft>
              <a:buClr>
                <a:schemeClr val="lt1"/>
              </a:buClr>
              <a:buSzPts val="1600"/>
              <a:buFont typeface="Calibri"/>
              <a:buNone/>
            </a:pPr>
            <a:r>
              <a:rPr lang="es-PE" sz="1500" b="1" dirty="0">
                <a:solidFill>
                  <a:schemeClr val="tx1"/>
                </a:solidFill>
                <a:latin typeface="Calibri"/>
                <a:ea typeface="Calibri"/>
                <a:cs typeface="Calibri"/>
                <a:sym typeface="Calibri"/>
              </a:rPr>
              <a:t>La paradoja del pesticida</a:t>
            </a:r>
          </a:p>
        </p:txBody>
      </p:sp>
      <p:sp>
        <p:nvSpPr>
          <p:cNvPr id="32" name="Rectángulo redondeado 31">
            <a:extLst>
              <a:ext uri="{FF2B5EF4-FFF2-40B4-BE49-F238E27FC236}">
                <a16:creationId xmlns:a16="http://schemas.microsoft.com/office/drawing/2014/main" id="{B1B2A529-FC19-5948-B9AA-275E5676A677}"/>
              </a:ext>
            </a:extLst>
          </p:cNvPr>
          <p:cNvSpPr/>
          <p:nvPr/>
        </p:nvSpPr>
        <p:spPr>
          <a:xfrm>
            <a:off x="1647809" y="3972740"/>
            <a:ext cx="5848382" cy="425524"/>
          </a:xfrm>
          <a:prstGeom prst="roundRect">
            <a:avLst>
              <a:gd name="adj" fmla="val 21784"/>
            </a:avLst>
          </a:prstGeom>
          <a:solidFill>
            <a:srgbClr val="FFD7C1"/>
          </a:solidFill>
          <a:ln w="38100">
            <a:solidFill>
              <a:srgbClr val="FE7828"/>
            </a:solidFill>
          </a:ln>
        </p:spPr>
        <p:style>
          <a:lnRef idx="2">
            <a:schemeClr val="accent1">
              <a:shade val="50000"/>
            </a:schemeClr>
          </a:lnRef>
          <a:fillRef idx="1">
            <a:schemeClr val="accent1"/>
          </a:fillRef>
          <a:effectRef idx="0">
            <a:schemeClr val="accent1"/>
          </a:effectRef>
          <a:fontRef idx="minor">
            <a:schemeClr val="lt1"/>
          </a:fontRef>
        </p:style>
        <p:txBody>
          <a:bodyPr lIns="180000" tIns="72000" rIns="36000" rtlCol="0" anchor="t"/>
          <a:lstStyle/>
          <a:p>
            <a:pPr marL="0" marR="0" lvl="0" indent="0" algn="l" rtl="0">
              <a:lnSpc>
                <a:spcPct val="90000"/>
              </a:lnSpc>
              <a:spcBef>
                <a:spcPts val="0"/>
              </a:spcBef>
              <a:spcAft>
                <a:spcPts val="0"/>
              </a:spcAft>
              <a:buClr>
                <a:schemeClr val="lt1"/>
              </a:buClr>
              <a:buSzPts val="1600"/>
              <a:buFont typeface="Calibri"/>
              <a:buNone/>
            </a:pPr>
            <a:r>
              <a:rPr lang="es-PE" sz="1500" b="1" dirty="0">
                <a:solidFill>
                  <a:schemeClr val="tx1"/>
                </a:solidFill>
                <a:latin typeface="Calibri"/>
                <a:ea typeface="Calibri"/>
                <a:cs typeface="Calibri"/>
                <a:sym typeface="Calibri"/>
              </a:rPr>
              <a:t>Las pruebas deberían adaptarse a necesidades específicas</a:t>
            </a:r>
          </a:p>
        </p:txBody>
      </p:sp>
      <p:sp>
        <p:nvSpPr>
          <p:cNvPr id="33" name="Rectángulo redondeado 32">
            <a:extLst>
              <a:ext uri="{FF2B5EF4-FFF2-40B4-BE49-F238E27FC236}">
                <a16:creationId xmlns:a16="http://schemas.microsoft.com/office/drawing/2014/main" id="{EA88FAB1-9DF2-104E-BE04-F923A1422C0E}"/>
              </a:ext>
            </a:extLst>
          </p:cNvPr>
          <p:cNvSpPr/>
          <p:nvPr/>
        </p:nvSpPr>
        <p:spPr>
          <a:xfrm>
            <a:off x="1647809" y="4530524"/>
            <a:ext cx="5848382" cy="425524"/>
          </a:xfrm>
          <a:prstGeom prst="roundRect">
            <a:avLst>
              <a:gd name="adj" fmla="val 21784"/>
            </a:avLst>
          </a:prstGeom>
          <a:solidFill>
            <a:srgbClr val="D8D8D8"/>
          </a:solidFill>
          <a:ln w="38100">
            <a:solidFill>
              <a:srgbClr val="808799"/>
            </a:solidFill>
          </a:ln>
        </p:spPr>
        <p:style>
          <a:lnRef idx="2">
            <a:schemeClr val="accent1">
              <a:shade val="50000"/>
            </a:schemeClr>
          </a:lnRef>
          <a:fillRef idx="1">
            <a:schemeClr val="accent1"/>
          </a:fillRef>
          <a:effectRef idx="0">
            <a:schemeClr val="accent1"/>
          </a:effectRef>
          <a:fontRef idx="minor">
            <a:schemeClr val="lt1"/>
          </a:fontRef>
        </p:style>
        <p:txBody>
          <a:bodyPr lIns="180000" tIns="72000" rIns="36000" rtlCol="0" anchor="t"/>
          <a:lstStyle/>
          <a:p>
            <a:pPr marL="0" marR="0" lvl="0" indent="0" algn="l" rtl="0">
              <a:lnSpc>
                <a:spcPct val="90000"/>
              </a:lnSpc>
              <a:spcBef>
                <a:spcPts val="0"/>
              </a:spcBef>
              <a:spcAft>
                <a:spcPts val="0"/>
              </a:spcAft>
              <a:buClr>
                <a:schemeClr val="lt1"/>
              </a:buClr>
              <a:buSzPts val="1600"/>
              <a:buFont typeface="Calibri"/>
              <a:buNone/>
            </a:pPr>
            <a:r>
              <a:rPr lang="es-PE" sz="1500" b="1" dirty="0">
                <a:solidFill>
                  <a:schemeClr val="tx1"/>
                </a:solidFill>
                <a:latin typeface="Calibri"/>
                <a:ea typeface="Calibri"/>
                <a:cs typeface="Calibri"/>
                <a:sym typeface="Calibri"/>
              </a:rPr>
              <a:t>La falacia de la ausencia de errores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50" name="Google Shape;350;p26"/>
          <p:cNvSpPr/>
          <p:nvPr/>
        </p:nvSpPr>
        <p:spPr>
          <a:xfrm>
            <a:off x="540228" y="912813"/>
            <a:ext cx="3852385" cy="352404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LAS PRUEBAS REVELAN LA PRESENCIA DE DEFECTOS</a:t>
            </a:r>
            <a:endParaRPr dirty="0"/>
          </a:p>
          <a:p>
            <a:pPr marL="136525" marR="0" lvl="0" indent="-127000"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“Las pruebas pueden demostrar que hay defectos, pero no pueden probar que no </a:t>
            </a:r>
            <a:br>
              <a:rPr lang="es-PE" sz="1600" dirty="0">
                <a:solidFill>
                  <a:schemeClr val="dk1"/>
                </a:solidFill>
                <a:latin typeface="Calibri"/>
                <a:ea typeface="Calibri"/>
                <a:cs typeface="Calibri"/>
                <a:sym typeface="Calibri"/>
              </a:rPr>
            </a:br>
            <a:r>
              <a:rPr lang="es-PE" sz="1600" dirty="0">
                <a:solidFill>
                  <a:schemeClr val="dk1"/>
                </a:solidFill>
                <a:latin typeface="Calibri"/>
                <a:ea typeface="Calibri"/>
                <a:cs typeface="Calibri"/>
                <a:sym typeface="Calibri"/>
              </a:rPr>
              <a:t>los hay”.</a:t>
            </a:r>
            <a:endParaRPr dirty="0"/>
          </a:p>
          <a:p>
            <a:pPr marL="136525" marR="0" lvl="0" indent="-25400"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136525" marR="0" lvl="0" indent="-127000"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“Las pruebas reducen la probabilidad de que haya defectos ocultos en el software, pero, aunque no se detecte ningún defecto, no constituye evidencia de corrección”.</a:t>
            </a:r>
            <a:endParaRPr sz="1600" dirty="0">
              <a:solidFill>
                <a:schemeClr val="dk1"/>
              </a:solidFill>
              <a:latin typeface="Calibri"/>
              <a:ea typeface="Calibri"/>
              <a:cs typeface="Calibri"/>
              <a:sym typeface="Calibri"/>
            </a:endParaRPr>
          </a:p>
          <a:p>
            <a:pPr marL="136525" marR="0" lvl="0" indent="-25400"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136525" marR="0" lvl="0" indent="-127000"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Un sitio web podría no tener defectos funcionales y aun fallar debido a problemas no-funcionales</a:t>
            </a:r>
            <a:r>
              <a:rPr lang="es-PE" sz="1600" b="1" dirty="0">
                <a:solidFill>
                  <a:schemeClr val="dk1"/>
                </a:solidFill>
                <a:latin typeface="Calibri"/>
                <a:ea typeface="Calibri"/>
                <a:cs typeface="Calibri"/>
                <a:sym typeface="Calibri"/>
              </a:rPr>
              <a:t>.</a:t>
            </a:r>
            <a:endParaRPr sz="1600" dirty="0">
              <a:solidFill>
                <a:schemeClr val="dk1"/>
              </a:solidFill>
              <a:latin typeface="Calibri"/>
              <a:ea typeface="Calibri"/>
              <a:cs typeface="Calibri"/>
              <a:sym typeface="Calibri"/>
            </a:endParaRPr>
          </a:p>
        </p:txBody>
      </p:sp>
      <p:sp>
        <p:nvSpPr>
          <p:cNvPr id="351" name="Google Shape;351;p26"/>
          <p:cNvSpPr txBox="1"/>
          <p:nvPr/>
        </p:nvSpPr>
        <p:spPr>
          <a:xfrm>
            <a:off x="3043714" y="4648299"/>
            <a:ext cx="1348899" cy="153888"/>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PE" sz="1000" dirty="0">
                <a:solidFill>
                  <a:schemeClr val="bg1">
                    <a:lumMod val="50000"/>
                  </a:schemeClr>
                </a:solidFill>
                <a:latin typeface="Calibri"/>
                <a:ea typeface="Calibri"/>
                <a:cs typeface="Calibri"/>
                <a:sym typeface="Calibri"/>
              </a:rPr>
              <a:t>es.scribd.com</a:t>
            </a:r>
            <a:endParaRPr dirty="0">
              <a:solidFill>
                <a:schemeClr val="bg1">
                  <a:lumMod val="50000"/>
                </a:schemeClr>
              </a:solidFill>
            </a:endParaRPr>
          </a:p>
        </p:txBody>
      </p:sp>
      <p:sp>
        <p:nvSpPr>
          <p:cNvPr id="5" name="Rectangle 5">
            <a:extLst>
              <a:ext uri="{FF2B5EF4-FFF2-40B4-BE49-F238E27FC236}">
                <a16:creationId xmlns:a16="http://schemas.microsoft.com/office/drawing/2014/main" id="{E6433163-2856-9949-90EE-43C23BCF8A09}"/>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PRINCIPIOS GENERALES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pic>
        <p:nvPicPr>
          <p:cNvPr id="3" name="Imagen 2">
            <a:extLst>
              <a:ext uri="{FF2B5EF4-FFF2-40B4-BE49-F238E27FC236}">
                <a16:creationId xmlns:a16="http://schemas.microsoft.com/office/drawing/2014/main" id="{024266D4-E3B3-7A47-87CD-6CC5AE2C852D}"/>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751388" y="912812"/>
            <a:ext cx="4392612" cy="432117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8" name="Google Shape;358;p27"/>
          <p:cNvSpPr/>
          <p:nvPr/>
        </p:nvSpPr>
        <p:spPr>
          <a:xfrm>
            <a:off x="503238" y="912813"/>
            <a:ext cx="8172450" cy="3524042"/>
          </a:xfrm>
          <a:prstGeom prst="rect">
            <a:avLst/>
          </a:prstGeom>
          <a:noFill/>
          <a:ln>
            <a:noFill/>
          </a:ln>
        </p:spPr>
        <p:txBody>
          <a:bodyPr spcFirstLastPara="1" wrap="square" lIns="0" tIns="0" rIns="0" bIns="0" anchor="t" anchorCtr="0">
            <a:spAutoFit/>
          </a:bodyPr>
          <a:lstStyle/>
          <a:p>
            <a:pPr marL="9525" marR="0" lvl="0" indent="0" algn="l" rtl="0">
              <a:spcBef>
                <a:spcPts val="0"/>
              </a:spcBef>
              <a:spcAft>
                <a:spcPts val="600"/>
              </a:spcAft>
              <a:buNone/>
            </a:pPr>
            <a:r>
              <a:rPr lang="es-PE" sz="1600" b="1" dirty="0">
                <a:solidFill>
                  <a:schemeClr val="dk1"/>
                </a:solidFill>
                <a:latin typeface="Calibri"/>
                <a:ea typeface="Calibri"/>
                <a:cs typeface="Calibri"/>
                <a:sym typeface="Calibri"/>
              </a:rPr>
              <a:t>LAS PRUEBAS EXHAUSTIVAS NO EXISTEN</a:t>
            </a:r>
            <a:endParaRPr dirty="0"/>
          </a:p>
          <a:p>
            <a:pPr marL="179388" marR="0" lvl="0" indent="-169863"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Consideremos un escenario en el que se mueve un archivo desde la carpeta A hasta la carpeta B.</a:t>
            </a:r>
            <a:endParaRPr dirty="0"/>
          </a:p>
          <a:p>
            <a:pPr marL="179388" marR="0" lvl="0" indent="-68263"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179388" marR="0" lvl="0" indent="-169863"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Pensemos en todas las maneras posibles de probar:</a:t>
            </a:r>
            <a:endParaRPr dirty="0"/>
          </a:p>
          <a:p>
            <a:pPr marL="358775" marR="0" lvl="1" indent="-179387"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Tratar de mover el archivo cuando está abierto.</a:t>
            </a:r>
            <a:endParaRPr dirty="0"/>
          </a:p>
          <a:p>
            <a:pPr marL="358775" marR="0" lvl="1" indent="-179387"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No se tienen los derechos de seguridad para pegar el archivo en la carpeta de la carpeta destino.</a:t>
            </a:r>
            <a:endParaRPr dirty="0"/>
          </a:p>
          <a:p>
            <a:pPr marL="358775" marR="0" lvl="1" indent="-179387"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La unidad compartida y su capacidad de almacenamiento está llena.</a:t>
            </a:r>
            <a:endParaRPr dirty="0"/>
          </a:p>
          <a:p>
            <a:pPr marL="358775" marR="0" lvl="1" indent="-179387"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La carpeta B ya tiene un archivo con el mismo nombre.</a:t>
            </a:r>
            <a:endParaRPr dirty="0"/>
          </a:p>
          <a:p>
            <a:pPr marL="179387" marR="0" lvl="1" indent="0" algn="l" rtl="0">
              <a:spcBef>
                <a:spcPts val="0"/>
              </a:spcBef>
              <a:spcAft>
                <a:spcPts val="0"/>
              </a:spcAft>
              <a:buNone/>
            </a:pPr>
            <a:endParaRPr sz="1600" b="0" i="0" u="none" strike="noStrike" cap="none" dirty="0">
              <a:solidFill>
                <a:schemeClr val="dk1"/>
              </a:solidFill>
              <a:latin typeface="Calibri"/>
              <a:ea typeface="Calibri"/>
              <a:cs typeface="Calibri"/>
              <a:sym typeface="Calibri"/>
            </a:endParaRPr>
          </a:p>
          <a:p>
            <a:pPr marL="179387" marR="0" lvl="1" indent="0" algn="l" rtl="0">
              <a:spcBef>
                <a:spcPts val="0"/>
              </a:spcBef>
              <a:spcAft>
                <a:spcPts val="0"/>
              </a:spcAft>
              <a:buNone/>
            </a:pPr>
            <a:r>
              <a:rPr lang="es-PE" sz="1600" dirty="0">
                <a:solidFill>
                  <a:schemeClr val="dk1"/>
                </a:solidFill>
                <a:latin typeface="Calibri"/>
                <a:ea typeface="Calibri"/>
                <a:cs typeface="Calibri"/>
                <a:sym typeface="Calibri"/>
              </a:rPr>
              <a:t>… D</a:t>
            </a:r>
            <a:r>
              <a:rPr lang="es-PE" sz="1600" b="0" i="0" u="none" strike="noStrike" cap="none" dirty="0">
                <a:solidFill>
                  <a:schemeClr val="dk1"/>
                </a:solidFill>
                <a:latin typeface="Calibri"/>
                <a:ea typeface="Calibri"/>
                <a:cs typeface="Calibri"/>
                <a:sym typeface="Calibri"/>
              </a:rPr>
              <a:t>e hecho, la lista es interminable.</a:t>
            </a:r>
            <a:endParaRPr dirty="0"/>
          </a:p>
          <a:p>
            <a:pPr marL="179387" marR="0" lvl="1" indent="0" algn="l" rtl="0">
              <a:spcBef>
                <a:spcPts val="0"/>
              </a:spcBef>
              <a:spcAft>
                <a:spcPts val="0"/>
              </a:spcAft>
              <a:buNone/>
            </a:pPr>
            <a:endParaRPr sz="1600" b="0" i="0" u="none" strike="noStrike" cap="none" dirty="0">
              <a:solidFill>
                <a:schemeClr val="dk1"/>
              </a:solidFill>
              <a:latin typeface="Calibri"/>
              <a:ea typeface="Calibri"/>
              <a:cs typeface="Calibri"/>
              <a:sym typeface="Calibri"/>
            </a:endParaRPr>
          </a:p>
          <a:p>
            <a:pPr marL="179387" marR="0" lvl="1" indent="0" algn="l" rtl="0">
              <a:spcBef>
                <a:spcPts val="0"/>
              </a:spcBef>
              <a:spcAft>
                <a:spcPts val="0"/>
              </a:spcAft>
              <a:buNone/>
            </a:pPr>
            <a:r>
              <a:rPr lang="es-PE" sz="1600" b="0" i="0" u="none" strike="noStrike" cap="none" dirty="0">
                <a:solidFill>
                  <a:schemeClr val="dk1"/>
                </a:solidFill>
                <a:latin typeface="Calibri"/>
                <a:ea typeface="Calibri"/>
                <a:cs typeface="Calibri"/>
                <a:sym typeface="Calibri"/>
              </a:rPr>
              <a:t>Probar todas las combinaciones de entradas y condiciones es imposible (salvo en casos triviales). En vez de intentar probar todo, debemos enfocar las pruebas en base a riesgos y prioridades.</a:t>
            </a:r>
            <a:endParaRPr dirty="0"/>
          </a:p>
        </p:txBody>
      </p:sp>
      <p:sp>
        <p:nvSpPr>
          <p:cNvPr id="4" name="Rectangle 5">
            <a:extLst>
              <a:ext uri="{FF2B5EF4-FFF2-40B4-BE49-F238E27FC236}">
                <a16:creationId xmlns:a16="http://schemas.microsoft.com/office/drawing/2014/main" id="{BC8434B7-7C10-9845-A99E-1A5FBA0A260A}"/>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PRINCIPIOS GENERALES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5" name="Google Shape;365;p28"/>
          <p:cNvSpPr/>
          <p:nvPr/>
        </p:nvSpPr>
        <p:spPr>
          <a:xfrm>
            <a:off x="503238" y="922875"/>
            <a:ext cx="8172449" cy="815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LAS PRUEBAS EXHAUSTIVAS NO EXISTEN</a:t>
            </a:r>
            <a:endParaRPr dirty="0"/>
          </a:p>
          <a:p>
            <a:pPr marL="180975" marR="0" lvl="0" indent="-180975" algn="l" rtl="0">
              <a:spcBef>
                <a:spcPts val="0"/>
              </a:spcBef>
              <a:spcAft>
                <a:spcPts val="0"/>
              </a:spcAft>
              <a:buClr>
                <a:srgbClr val="7150A0"/>
              </a:buClr>
              <a:buSzPts val="1600"/>
              <a:buFont typeface="Arial"/>
              <a:buChar char="•"/>
            </a:pPr>
            <a:r>
              <a:rPr lang="es-PE" sz="1600" dirty="0">
                <a:solidFill>
                  <a:srgbClr val="7150A0"/>
                </a:solidFill>
                <a:latin typeface="Calibri"/>
                <a:ea typeface="Calibri"/>
                <a:cs typeface="Calibri"/>
                <a:sym typeface="Calibri"/>
              </a:rPr>
              <a:t>Supongamos que tenemos 15 campos de entrada para poner a prueba, cada uno teniendo cinco posibles valores.</a:t>
            </a:r>
            <a:endParaRPr dirty="0">
              <a:solidFill>
                <a:srgbClr val="7150A0"/>
              </a:solidFill>
            </a:endParaRPr>
          </a:p>
        </p:txBody>
      </p:sp>
      <p:sp>
        <p:nvSpPr>
          <p:cNvPr id="366" name="Google Shape;366;p28"/>
          <p:cNvSpPr/>
          <p:nvPr/>
        </p:nvSpPr>
        <p:spPr>
          <a:xfrm>
            <a:off x="575331" y="2038705"/>
            <a:ext cx="82367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100" b="1">
                <a:solidFill>
                  <a:schemeClr val="dk1"/>
                </a:solidFill>
                <a:latin typeface="Calibri"/>
                <a:ea typeface="Calibri"/>
                <a:cs typeface="Calibri"/>
                <a:sym typeface="Calibri"/>
              </a:rPr>
              <a:t>Campo 01</a:t>
            </a:r>
            <a:endParaRPr/>
          </a:p>
        </p:txBody>
      </p:sp>
      <p:sp>
        <p:nvSpPr>
          <p:cNvPr id="367" name="Google Shape;367;p28"/>
          <p:cNvSpPr/>
          <p:nvPr/>
        </p:nvSpPr>
        <p:spPr>
          <a:xfrm>
            <a:off x="1363425" y="2039488"/>
            <a:ext cx="735395" cy="245853"/>
          </a:xfrm>
          <a:prstGeom prst="roundRect">
            <a:avLst>
              <a:gd name="adj" fmla="val 16667"/>
            </a:avLst>
          </a:prstGeom>
          <a:solidFill>
            <a:schemeClr val="lt1"/>
          </a:solidFill>
          <a:ln w="28575"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dk1"/>
              </a:solidFill>
              <a:latin typeface="Calibri"/>
              <a:ea typeface="Calibri"/>
              <a:cs typeface="Calibri"/>
              <a:sym typeface="Calibri"/>
            </a:endParaRPr>
          </a:p>
        </p:txBody>
      </p:sp>
      <p:sp>
        <p:nvSpPr>
          <p:cNvPr id="368" name="Google Shape;368;p28"/>
          <p:cNvSpPr/>
          <p:nvPr/>
        </p:nvSpPr>
        <p:spPr>
          <a:xfrm>
            <a:off x="575331" y="2515084"/>
            <a:ext cx="82367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100" b="1">
                <a:solidFill>
                  <a:schemeClr val="dk1"/>
                </a:solidFill>
                <a:latin typeface="Calibri"/>
                <a:ea typeface="Calibri"/>
                <a:cs typeface="Calibri"/>
                <a:sym typeface="Calibri"/>
              </a:rPr>
              <a:t>Campo 02</a:t>
            </a:r>
            <a:endParaRPr/>
          </a:p>
        </p:txBody>
      </p:sp>
      <p:sp>
        <p:nvSpPr>
          <p:cNvPr id="369" name="Google Shape;369;p28"/>
          <p:cNvSpPr/>
          <p:nvPr/>
        </p:nvSpPr>
        <p:spPr>
          <a:xfrm>
            <a:off x="1363425" y="2515867"/>
            <a:ext cx="735395" cy="245853"/>
          </a:xfrm>
          <a:prstGeom prst="roundRect">
            <a:avLst>
              <a:gd name="adj" fmla="val 16667"/>
            </a:avLst>
          </a:prstGeom>
          <a:solidFill>
            <a:schemeClr val="lt1"/>
          </a:solidFill>
          <a:ln w="28575"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dk1"/>
              </a:solidFill>
              <a:latin typeface="Calibri"/>
              <a:ea typeface="Calibri"/>
              <a:cs typeface="Calibri"/>
              <a:sym typeface="Calibri"/>
            </a:endParaRPr>
          </a:p>
        </p:txBody>
      </p:sp>
      <p:sp>
        <p:nvSpPr>
          <p:cNvPr id="370" name="Google Shape;370;p28"/>
          <p:cNvSpPr/>
          <p:nvPr/>
        </p:nvSpPr>
        <p:spPr>
          <a:xfrm>
            <a:off x="575331" y="2978821"/>
            <a:ext cx="82367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100" b="1">
                <a:solidFill>
                  <a:schemeClr val="dk1"/>
                </a:solidFill>
                <a:latin typeface="Calibri"/>
                <a:ea typeface="Calibri"/>
                <a:cs typeface="Calibri"/>
                <a:sym typeface="Calibri"/>
              </a:rPr>
              <a:t>Campo 03</a:t>
            </a:r>
            <a:endParaRPr/>
          </a:p>
        </p:txBody>
      </p:sp>
      <p:sp>
        <p:nvSpPr>
          <p:cNvPr id="371" name="Google Shape;371;p28"/>
          <p:cNvSpPr/>
          <p:nvPr/>
        </p:nvSpPr>
        <p:spPr>
          <a:xfrm>
            <a:off x="1363425" y="2979604"/>
            <a:ext cx="735395" cy="245853"/>
          </a:xfrm>
          <a:prstGeom prst="roundRect">
            <a:avLst>
              <a:gd name="adj" fmla="val 16667"/>
            </a:avLst>
          </a:prstGeom>
          <a:solidFill>
            <a:schemeClr val="lt1"/>
          </a:solidFill>
          <a:ln w="28575"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dk1"/>
              </a:solidFill>
              <a:latin typeface="Calibri"/>
              <a:ea typeface="Calibri"/>
              <a:cs typeface="Calibri"/>
              <a:sym typeface="Calibri"/>
            </a:endParaRPr>
          </a:p>
        </p:txBody>
      </p:sp>
      <p:sp>
        <p:nvSpPr>
          <p:cNvPr id="372" name="Google Shape;372;p28"/>
          <p:cNvSpPr/>
          <p:nvPr/>
        </p:nvSpPr>
        <p:spPr>
          <a:xfrm>
            <a:off x="575331" y="3444689"/>
            <a:ext cx="82367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100" b="1">
                <a:solidFill>
                  <a:schemeClr val="dk1"/>
                </a:solidFill>
                <a:latin typeface="Calibri"/>
                <a:ea typeface="Calibri"/>
                <a:cs typeface="Calibri"/>
                <a:sym typeface="Calibri"/>
              </a:rPr>
              <a:t>Campo 04</a:t>
            </a:r>
            <a:endParaRPr/>
          </a:p>
        </p:txBody>
      </p:sp>
      <p:sp>
        <p:nvSpPr>
          <p:cNvPr id="373" name="Google Shape;373;p28"/>
          <p:cNvSpPr/>
          <p:nvPr/>
        </p:nvSpPr>
        <p:spPr>
          <a:xfrm>
            <a:off x="1363425" y="3445472"/>
            <a:ext cx="735395" cy="245853"/>
          </a:xfrm>
          <a:prstGeom prst="roundRect">
            <a:avLst>
              <a:gd name="adj" fmla="val 16667"/>
            </a:avLst>
          </a:prstGeom>
          <a:solidFill>
            <a:schemeClr val="lt1"/>
          </a:solidFill>
          <a:ln w="28575"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dk1"/>
              </a:solidFill>
              <a:latin typeface="Calibri"/>
              <a:ea typeface="Calibri"/>
              <a:cs typeface="Calibri"/>
              <a:sym typeface="Calibri"/>
            </a:endParaRPr>
          </a:p>
        </p:txBody>
      </p:sp>
      <p:sp>
        <p:nvSpPr>
          <p:cNvPr id="374" name="Google Shape;374;p28"/>
          <p:cNvSpPr/>
          <p:nvPr/>
        </p:nvSpPr>
        <p:spPr>
          <a:xfrm>
            <a:off x="575331" y="3903255"/>
            <a:ext cx="82367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100" b="1">
                <a:solidFill>
                  <a:schemeClr val="dk1"/>
                </a:solidFill>
                <a:latin typeface="Calibri"/>
                <a:ea typeface="Calibri"/>
                <a:cs typeface="Calibri"/>
                <a:sym typeface="Calibri"/>
              </a:rPr>
              <a:t>Campo 05</a:t>
            </a:r>
            <a:endParaRPr/>
          </a:p>
        </p:txBody>
      </p:sp>
      <p:sp>
        <p:nvSpPr>
          <p:cNvPr id="375" name="Google Shape;375;p28"/>
          <p:cNvSpPr/>
          <p:nvPr/>
        </p:nvSpPr>
        <p:spPr>
          <a:xfrm>
            <a:off x="1363425" y="3904038"/>
            <a:ext cx="735395" cy="245853"/>
          </a:xfrm>
          <a:prstGeom prst="roundRect">
            <a:avLst>
              <a:gd name="adj" fmla="val 16667"/>
            </a:avLst>
          </a:prstGeom>
          <a:solidFill>
            <a:schemeClr val="lt1"/>
          </a:solidFill>
          <a:ln w="28575"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dk1"/>
              </a:solidFill>
              <a:latin typeface="Calibri"/>
              <a:ea typeface="Calibri"/>
              <a:cs typeface="Calibri"/>
              <a:sym typeface="Calibri"/>
            </a:endParaRPr>
          </a:p>
        </p:txBody>
      </p:sp>
      <p:sp>
        <p:nvSpPr>
          <p:cNvPr id="376" name="Google Shape;376;p28"/>
          <p:cNvSpPr/>
          <p:nvPr/>
        </p:nvSpPr>
        <p:spPr>
          <a:xfrm>
            <a:off x="2171741" y="2038705"/>
            <a:ext cx="82367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100" b="1">
                <a:solidFill>
                  <a:schemeClr val="dk1"/>
                </a:solidFill>
                <a:latin typeface="Calibri"/>
                <a:ea typeface="Calibri"/>
                <a:cs typeface="Calibri"/>
                <a:sym typeface="Calibri"/>
              </a:rPr>
              <a:t>Campo 01</a:t>
            </a:r>
            <a:endParaRPr/>
          </a:p>
        </p:txBody>
      </p:sp>
      <p:sp>
        <p:nvSpPr>
          <p:cNvPr id="377" name="Google Shape;377;p28"/>
          <p:cNvSpPr/>
          <p:nvPr/>
        </p:nvSpPr>
        <p:spPr>
          <a:xfrm>
            <a:off x="2983128" y="2039488"/>
            <a:ext cx="735395" cy="245853"/>
          </a:xfrm>
          <a:prstGeom prst="roundRect">
            <a:avLst>
              <a:gd name="adj" fmla="val 16667"/>
            </a:avLst>
          </a:prstGeom>
          <a:solidFill>
            <a:schemeClr val="lt1"/>
          </a:solidFill>
          <a:ln w="28575"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dk1"/>
              </a:solidFill>
              <a:latin typeface="Calibri"/>
              <a:ea typeface="Calibri"/>
              <a:cs typeface="Calibri"/>
              <a:sym typeface="Calibri"/>
            </a:endParaRPr>
          </a:p>
        </p:txBody>
      </p:sp>
      <p:sp>
        <p:nvSpPr>
          <p:cNvPr id="378" name="Google Shape;378;p28"/>
          <p:cNvSpPr/>
          <p:nvPr/>
        </p:nvSpPr>
        <p:spPr>
          <a:xfrm>
            <a:off x="2171741" y="2515084"/>
            <a:ext cx="82367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100" b="1">
                <a:solidFill>
                  <a:schemeClr val="dk1"/>
                </a:solidFill>
                <a:latin typeface="Calibri"/>
                <a:ea typeface="Calibri"/>
                <a:cs typeface="Calibri"/>
                <a:sym typeface="Calibri"/>
              </a:rPr>
              <a:t>Campo 02</a:t>
            </a:r>
            <a:endParaRPr/>
          </a:p>
        </p:txBody>
      </p:sp>
      <p:sp>
        <p:nvSpPr>
          <p:cNvPr id="379" name="Google Shape;379;p28"/>
          <p:cNvSpPr/>
          <p:nvPr/>
        </p:nvSpPr>
        <p:spPr>
          <a:xfrm>
            <a:off x="2983128" y="2515867"/>
            <a:ext cx="735395" cy="245853"/>
          </a:xfrm>
          <a:prstGeom prst="roundRect">
            <a:avLst>
              <a:gd name="adj" fmla="val 16667"/>
            </a:avLst>
          </a:prstGeom>
          <a:solidFill>
            <a:schemeClr val="lt1"/>
          </a:solidFill>
          <a:ln w="28575"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dk1"/>
              </a:solidFill>
              <a:latin typeface="Calibri"/>
              <a:ea typeface="Calibri"/>
              <a:cs typeface="Calibri"/>
              <a:sym typeface="Calibri"/>
            </a:endParaRPr>
          </a:p>
        </p:txBody>
      </p:sp>
      <p:sp>
        <p:nvSpPr>
          <p:cNvPr id="380" name="Google Shape;380;p28"/>
          <p:cNvSpPr/>
          <p:nvPr/>
        </p:nvSpPr>
        <p:spPr>
          <a:xfrm>
            <a:off x="2171741" y="2978821"/>
            <a:ext cx="82367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100" b="1">
                <a:solidFill>
                  <a:schemeClr val="dk1"/>
                </a:solidFill>
                <a:latin typeface="Calibri"/>
                <a:ea typeface="Calibri"/>
                <a:cs typeface="Calibri"/>
                <a:sym typeface="Calibri"/>
              </a:rPr>
              <a:t>Campo 03</a:t>
            </a:r>
            <a:endParaRPr/>
          </a:p>
        </p:txBody>
      </p:sp>
      <p:sp>
        <p:nvSpPr>
          <p:cNvPr id="381" name="Google Shape;381;p28"/>
          <p:cNvSpPr/>
          <p:nvPr/>
        </p:nvSpPr>
        <p:spPr>
          <a:xfrm>
            <a:off x="2983128" y="2979604"/>
            <a:ext cx="735395" cy="245853"/>
          </a:xfrm>
          <a:prstGeom prst="roundRect">
            <a:avLst>
              <a:gd name="adj" fmla="val 16667"/>
            </a:avLst>
          </a:prstGeom>
          <a:solidFill>
            <a:schemeClr val="lt1"/>
          </a:solidFill>
          <a:ln w="28575"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dk1"/>
              </a:solidFill>
              <a:latin typeface="Calibri"/>
              <a:ea typeface="Calibri"/>
              <a:cs typeface="Calibri"/>
              <a:sym typeface="Calibri"/>
            </a:endParaRPr>
          </a:p>
        </p:txBody>
      </p:sp>
      <p:sp>
        <p:nvSpPr>
          <p:cNvPr id="382" name="Google Shape;382;p28"/>
          <p:cNvSpPr/>
          <p:nvPr/>
        </p:nvSpPr>
        <p:spPr>
          <a:xfrm>
            <a:off x="2171741" y="3444689"/>
            <a:ext cx="82367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100" b="1">
                <a:solidFill>
                  <a:schemeClr val="dk1"/>
                </a:solidFill>
                <a:latin typeface="Calibri"/>
                <a:ea typeface="Calibri"/>
                <a:cs typeface="Calibri"/>
                <a:sym typeface="Calibri"/>
              </a:rPr>
              <a:t>Campo 04</a:t>
            </a:r>
            <a:endParaRPr/>
          </a:p>
        </p:txBody>
      </p:sp>
      <p:sp>
        <p:nvSpPr>
          <p:cNvPr id="383" name="Google Shape;383;p28"/>
          <p:cNvSpPr/>
          <p:nvPr/>
        </p:nvSpPr>
        <p:spPr>
          <a:xfrm>
            <a:off x="2983128" y="3445472"/>
            <a:ext cx="735395" cy="245853"/>
          </a:xfrm>
          <a:prstGeom prst="roundRect">
            <a:avLst>
              <a:gd name="adj" fmla="val 16667"/>
            </a:avLst>
          </a:prstGeom>
          <a:solidFill>
            <a:schemeClr val="lt1"/>
          </a:solidFill>
          <a:ln w="28575"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dk1"/>
              </a:solidFill>
              <a:latin typeface="Calibri"/>
              <a:ea typeface="Calibri"/>
              <a:cs typeface="Calibri"/>
              <a:sym typeface="Calibri"/>
            </a:endParaRPr>
          </a:p>
        </p:txBody>
      </p:sp>
      <p:sp>
        <p:nvSpPr>
          <p:cNvPr id="384" name="Google Shape;384;p28"/>
          <p:cNvSpPr/>
          <p:nvPr/>
        </p:nvSpPr>
        <p:spPr>
          <a:xfrm>
            <a:off x="2171741" y="3903255"/>
            <a:ext cx="82367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100" b="1">
                <a:solidFill>
                  <a:schemeClr val="dk1"/>
                </a:solidFill>
                <a:latin typeface="Calibri"/>
                <a:ea typeface="Calibri"/>
                <a:cs typeface="Calibri"/>
                <a:sym typeface="Calibri"/>
              </a:rPr>
              <a:t>Campo 05</a:t>
            </a:r>
            <a:endParaRPr/>
          </a:p>
        </p:txBody>
      </p:sp>
      <p:sp>
        <p:nvSpPr>
          <p:cNvPr id="385" name="Google Shape;385;p28"/>
          <p:cNvSpPr/>
          <p:nvPr/>
        </p:nvSpPr>
        <p:spPr>
          <a:xfrm>
            <a:off x="2983128" y="3904038"/>
            <a:ext cx="735395" cy="245853"/>
          </a:xfrm>
          <a:prstGeom prst="roundRect">
            <a:avLst>
              <a:gd name="adj" fmla="val 16667"/>
            </a:avLst>
          </a:prstGeom>
          <a:solidFill>
            <a:schemeClr val="lt1"/>
          </a:solidFill>
          <a:ln w="28575"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dk1"/>
              </a:solidFill>
              <a:latin typeface="Calibri"/>
              <a:ea typeface="Calibri"/>
              <a:cs typeface="Calibri"/>
              <a:sym typeface="Calibri"/>
            </a:endParaRPr>
          </a:p>
        </p:txBody>
      </p:sp>
      <p:sp>
        <p:nvSpPr>
          <p:cNvPr id="386" name="Google Shape;386;p28"/>
          <p:cNvSpPr/>
          <p:nvPr/>
        </p:nvSpPr>
        <p:spPr>
          <a:xfrm>
            <a:off x="3806799" y="2022917"/>
            <a:ext cx="82367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100" b="1">
                <a:solidFill>
                  <a:schemeClr val="dk1"/>
                </a:solidFill>
                <a:latin typeface="Calibri"/>
                <a:ea typeface="Calibri"/>
                <a:cs typeface="Calibri"/>
                <a:sym typeface="Calibri"/>
              </a:rPr>
              <a:t>Campo 01</a:t>
            </a:r>
            <a:endParaRPr/>
          </a:p>
        </p:txBody>
      </p:sp>
      <p:sp>
        <p:nvSpPr>
          <p:cNvPr id="387" name="Google Shape;387;p28"/>
          <p:cNvSpPr/>
          <p:nvPr/>
        </p:nvSpPr>
        <p:spPr>
          <a:xfrm>
            <a:off x="4621309" y="2023700"/>
            <a:ext cx="735395" cy="245853"/>
          </a:xfrm>
          <a:prstGeom prst="roundRect">
            <a:avLst>
              <a:gd name="adj" fmla="val 16667"/>
            </a:avLst>
          </a:prstGeom>
          <a:solidFill>
            <a:schemeClr val="lt1"/>
          </a:solidFill>
          <a:ln w="28575"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dk1"/>
              </a:solidFill>
              <a:latin typeface="Calibri"/>
              <a:ea typeface="Calibri"/>
              <a:cs typeface="Calibri"/>
              <a:sym typeface="Calibri"/>
            </a:endParaRPr>
          </a:p>
        </p:txBody>
      </p:sp>
      <p:sp>
        <p:nvSpPr>
          <p:cNvPr id="388" name="Google Shape;388;p28"/>
          <p:cNvSpPr/>
          <p:nvPr/>
        </p:nvSpPr>
        <p:spPr>
          <a:xfrm>
            <a:off x="3806799" y="2499296"/>
            <a:ext cx="82367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100" b="1">
                <a:solidFill>
                  <a:schemeClr val="dk1"/>
                </a:solidFill>
                <a:latin typeface="Calibri"/>
                <a:ea typeface="Calibri"/>
                <a:cs typeface="Calibri"/>
                <a:sym typeface="Calibri"/>
              </a:rPr>
              <a:t>Campo 02</a:t>
            </a:r>
            <a:endParaRPr/>
          </a:p>
        </p:txBody>
      </p:sp>
      <p:sp>
        <p:nvSpPr>
          <p:cNvPr id="389" name="Google Shape;389;p28"/>
          <p:cNvSpPr/>
          <p:nvPr/>
        </p:nvSpPr>
        <p:spPr>
          <a:xfrm>
            <a:off x="4621309" y="2500079"/>
            <a:ext cx="735395" cy="245853"/>
          </a:xfrm>
          <a:prstGeom prst="roundRect">
            <a:avLst>
              <a:gd name="adj" fmla="val 16667"/>
            </a:avLst>
          </a:prstGeom>
          <a:solidFill>
            <a:schemeClr val="lt1"/>
          </a:solidFill>
          <a:ln w="28575"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dk1"/>
              </a:solidFill>
              <a:latin typeface="Calibri"/>
              <a:ea typeface="Calibri"/>
              <a:cs typeface="Calibri"/>
              <a:sym typeface="Calibri"/>
            </a:endParaRPr>
          </a:p>
        </p:txBody>
      </p:sp>
      <p:sp>
        <p:nvSpPr>
          <p:cNvPr id="390" name="Google Shape;390;p28"/>
          <p:cNvSpPr/>
          <p:nvPr/>
        </p:nvSpPr>
        <p:spPr>
          <a:xfrm>
            <a:off x="3806799" y="2963033"/>
            <a:ext cx="82367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100" b="1">
                <a:solidFill>
                  <a:schemeClr val="dk1"/>
                </a:solidFill>
                <a:latin typeface="Calibri"/>
                <a:ea typeface="Calibri"/>
                <a:cs typeface="Calibri"/>
                <a:sym typeface="Calibri"/>
              </a:rPr>
              <a:t>Campo 03</a:t>
            </a:r>
            <a:endParaRPr/>
          </a:p>
        </p:txBody>
      </p:sp>
      <p:sp>
        <p:nvSpPr>
          <p:cNvPr id="391" name="Google Shape;391;p28"/>
          <p:cNvSpPr/>
          <p:nvPr/>
        </p:nvSpPr>
        <p:spPr>
          <a:xfrm>
            <a:off x="4621309" y="2963816"/>
            <a:ext cx="735395" cy="245853"/>
          </a:xfrm>
          <a:prstGeom prst="roundRect">
            <a:avLst>
              <a:gd name="adj" fmla="val 16667"/>
            </a:avLst>
          </a:prstGeom>
          <a:solidFill>
            <a:schemeClr val="lt1"/>
          </a:solidFill>
          <a:ln w="28575"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dk1"/>
              </a:solidFill>
              <a:latin typeface="Calibri"/>
              <a:ea typeface="Calibri"/>
              <a:cs typeface="Calibri"/>
              <a:sym typeface="Calibri"/>
            </a:endParaRPr>
          </a:p>
        </p:txBody>
      </p:sp>
      <p:sp>
        <p:nvSpPr>
          <p:cNvPr id="392" name="Google Shape;392;p28"/>
          <p:cNvSpPr/>
          <p:nvPr/>
        </p:nvSpPr>
        <p:spPr>
          <a:xfrm>
            <a:off x="3806799" y="3428901"/>
            <a:ext cx="82367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100" b="1">
                <a:solidFill>
                  <a:schemeClr val="dk1"/>
                </a:solidFill>
                <a:latin typeface="Calibri"/>
                <a:ea typeface="Calibri"/>
                <a:cs typeface="Calibri"/>
                <a:sym typeface="Calibri"/>
              </a:rPr>
              <a:t>Campo 04</a:t>
            </a:r>
            <a:endParaRPr/>
          </a:p>
        </p:txBody>
      </p:sp>
      <p:sp>
        <p:nvSpPr>
          <p:cNvPr id="393" name="Google Shape;393;p28"/>
          <p:cNvSpPr/>
          <p:nvPr/>
        </p:nvSpPr>
        <p:spPr>
          <a:xfrm>
            <a:off x="4621309" y="3429684"/>
            <a:ext cx="735395" cy="245853"/>
          </a:xfrm>
          <a:prstGeom prst="roundRect">
            <a:avLst>
              <a:gd name="adj" fmla="val 16667"/>
            </a:avLst>
          </a:prstGeom>
          <a:solidFill>
            <a:schemeClr val="lt1"/>
          </a:solidFill>
          <a:ln w="28575"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dk1"/>
              </a:solidFill>
              <a:latin typeface="Calibri"/>
              <a:ea typeface="Calibri"/>
              <a:cs typeface="Calibri"/>
              <a:sym typeface="Calibri"/>
            </a:endParaRPr>
          </a:p>
        </p:txBody>
      </p:sp>
      <p:sp>
        <p:nvSpPr>
          <p:cNvPr id="394" name="Google Shape;394;p28"/>
          <p:cNvSpPr/>
          <p:nvPr/>
        </p:nvSpPr>
        <p:spPr>
          <a:xfrm>
            <a:off x="3806799" y="3887467"/>
            <a:ext cx="82367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100" b="1">
                <a:solidFill>
                  <a:schemeClr val="dk1"/>
                </a:solidFill>
                <a:latin typeface="Calibri"/>
                <a:ea typeface="Calibri"/>
                <a:cs typeface="Calibri"/>
                <a:sym typeface="Calibri"/>
              </a:rPr>
              <a:t>Campo 05</a:t>
            </a:r>
            <a:endParaRPr/>
          </a:p>
        </p:txBody>
      </p:sp>
      <p:sp>
        <p:nvSpPr>
          <p:cNvPr id="395" name="Google Shape;395;p28"/>
          <p:cNvSpPr/>
          <p:nvPr/>
        </p:nvSpPr>
        <p:spPr>
          <a:xfrm>
            <a:off x="4621309" y="3888250"/>
            <a:ext cx="735395" cy="245853"/>
          </a:xfrm>
          <a:prstGeom prst="roundRect">
            <a:avLst>
              <a:gd name="adj" fmla="val 16667"/>
            </a:avLst>
          </a:prstGeom>
          <a:solidFill>
            <a:schemeClr val="lt1"/>
          </a:solidFill>
          <a:ln w="28575"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dk1"/>
              </a:solidFill>
              <a:latin typeface="Calibri"/>
              <a:ea typeface="Calibri"/>
              <a:cs typeface="Calibri"/>
              <a:sym typeface="Calibri"/>
            </a:endParaRPr>
          </a:p>
        </p:txBody>
      </p:sp>
      <p:sp>
        <p:nvSpPr>
          <p:cNvPr id="396" name="Google Shape;396;p28"/>
          <p:cNvSpPr/>
          <p:nvPr/>
        </p:nvSpPr>
        <p:spPr>
          <a:xfrm>
            <a:off x="5467852" y="2022917"/>
            <a:ext cx="82367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100" b="1">
                <a:solidFill>
                  <a:schemeClr val="dk1"/>
                </a:solidFill>
                <a:latin typeface="Calibri"/>
                <a:ea typeface="Calibri"/>
                <a:cs typeface="Calibri"/>
                <a:sym typeface="Calibri"/>
              </a:rPr>
              <a:t>Campo 01</a:t>
            </a:r>
            <a:endParaRPr/>
          </a:p>
        </p:txBody>
      </p:sp>
      <p:sp>
        <p:nvSpPr>
          <p:cNvPr id="397" name="Google Shape;397;p28"/>
          <p:cNvSpPr/>
          <p:nvPr/>
        </p:nvSpPr>
        <p:spPr>
          <a:xfrm>
            <a:off x="6279239" y="2023700"/>
            <a:ext cx="735395" cy="245853"/>
          </a:xfrm>
          <a:prstGeom prst="roundRect">
            <a:avLst>
              <a:gd name="adj" fmla="val 16667"/>
            </a:avLst>
          </a:prstGeom>
          <a:solidFill>
            <a:schemeClr val="lt1"/>
          </a:solidFill>
          <a:ln w="28575"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dk1"/>
              </a:solidFill>
              <a:latin typeface="Calibri"/>
              <a:ea typeface="Calibri"/>
              <a:cs typeface="Calibri"/>
              <a:sym typeface="Calibri"/>
            </a:endParaRPr>
          </a:p>
        </p:txBody>
      </p:sp>
      <p:sp>
        <p:nvSpPr>
          <p:cNvPr id="398" name="Google Shape;398;p28"/>
          <p:cNvSpPr/>
          <p:nvPr/>
        </p:nvSpPr>
        <p:spPr>
          <a:xfrm>
            <a:off x="5467852" y="2499296"/>
            <a:ext cx="82367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100" b="1">
                <a:solidFill>
                  <a:schemeClr val="dk1"/>
                </a:solidFill>
                <a:latin typeface="Calibri"/>
                <a:ea typeface="Calibri"/>
                <a:cs typeface="Calibri"/>
                <a:sym typeface="Calibri"/>
              </a:rPr>
              <a:t>Campo 02</a:t>
            </a:r>
            <a:endParaRPr/>
          </a:p>
        </p:txBody>
      </p:sp>
      <p:sp>
        <p:nvSpPr>
          <p:cNvPr id="399" name="Google Shape;399;p28"/>
          <p:cNvSpPr/>
          <p:nvPr/>
        </p:nvSpPr>
        <p:spPr>
          <a:xfrm>
            <a:off x="6279239" y="2500079"/>
            <a:ext cx="735395" cy="245853"/>
          </a:xfrm>
          <a:prstGeom prst="roundRect">
            <a:avLst>
              <a:gd name="adj" fmla="val 16667"/>
            </a:avLst>
          </a:prstGeom>
          <a:solidFill>
            <a:schemeClr val="lt1"/>
          </a:solidFill>
          <a:ln w="28575"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dk1"/>
              </a:solidFill>
              <a:latin typeface="Calibri"/>
              <a:ea typeface="Calibri"/>
              <a:cs typeface="Calibri"/>
              <a:sym typeface="Calibri"/>
            </a:endParaRPr>
          </a:p>
        </p:txBody>
      </p:sp>
      <p:sp>
        <p:nvSpPr>
          <p:cNvPr id="400" name="Google Shape;400;p28"/>
          <p:cNvSpPr/>
          <p:nvPr/>
        </p:nvSpPr>
        <p:spPr>
          <a:xfrm>
            <a:off x="5467852" y="2963033"/>
            <a:ext cx="82367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100" b="1">
                <a:solidFill>
                  <a:schemeClr val="dk1"/>
                </a:solidFill>
                <a:latin typeface="Calibri"/>
                <a:ea typeface="Calibri"/>
                <a:cs typeface="Calibri"/>
                <a:sym typeface="Calibri"/>
              </a:rPr>
              <a:t>Campo 03</a:t>
            </a:r>
            <a:endParaRPr/>
          </a:p>
        </p:txBody>
      </p:sp>
      <p:sp>
        <p:nvSpPr>
          <p:cNvPr id="401" name="Google Shape;401;p28"/>
          <p:cNvSpPr/>
          <p:nvPr/>
        </p:nvSpPr>
        <p:spPr>
          <a:xfrm>
            <a:off x="6279239" y="2963816"/>
            <a:ext cx="735395" cy="245853"/>
          </a:xfrm>
          <a:prstGeom prst="roundRect">
            <a:avLst>
              <a:gd name="adj" fmla="val 16667"/>
            </a:avLst>
          </a:prstGeom>
          <a:solidFill>
            <a:schemeClr val="lt1"/>
          </a:solidFill>
          <a:ln w="28575"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dk1"/>
              </a:solidFill>
              <a:latin typeface="Calibri"/>
              <a:ea typeface="Calibri"/>
              <a:cs typeface="Calibri"/>
              <a:sym typeface="Calibri"/>
            </a:endParaRPr>
          </a:p>
        </p:txBody>
      </p:sp>
      <p:sp>
        <p:nvSpPr>
          <p:cNvPr id="402" name="Google Shape;402;p28"/>
          <p:cNvSpPr/>
          <p:nvPr/>
        </p:nvSpPr>
        <p:spPr>
          <a:xfrm>
            <a:off x="5467852" y="3428901"/>
            <a:ext cx="82367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100" b="1">
                <a:solidFill>
                  <a:schemeClr val="dk1"/>
                </a:solidFill>
                <a:latin typeface="Calibri"/>
                <a:ea typeface="Calibri"/>
                <a:cs typeface="Calibri"/>
                <a:sym typeface="Calibri"/>
              </a:rPr>
              <a:t>Campo 04</a:t>
            </a:r>
            <a:endParaRPr/>
          </a:p>
        </p:txBody>
      </p:sp>
      <p:sp>
        <p:nvSpPr>
          <p:cNvPr id="403" name="Google Shape;403;p28"/>
          <p:cNvSpPr/>
          <p:nvPr/>
        </p:nvSpPr>
        <p:spPr>
          <a:xfrm>
            <a:off x="6279239" y="3429684"/>
            <a:ext cx="735395" cy="245853"/>
          </a:xfrm>
          <a:prstGeom prst="roundRect">
            <a:avLst>
              <a:gd name="adj" fmla="val 16667"/>
            </a:avLst>
          </a:prstGeom>
          <a:solidFill>
            <a:schemeClr val="lt1"/>
          </a:solidFill>
          <a:ln w="28575"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dk1"/>
              </a:solidFill>
              <a:latin typeface="Calibri"/>
              <a:ea typeface="Calibri"/>
              <a:cs typeface="Calibri"/>
              <a:sym typeface="Calibri"/>
            </a:endParaRPr>
          </a:p>
        </p:txBody>
      </p:sp>
      <p:sp>
        <p:nvSpPr>
          <p:cNvPr id="404" name="Google Shape;404;p28"/>
          <p:cNvSpPr/>
          <p:nvPr/>
        </p:nvSpPr>
        <p:spPr>
          <a:xfrm>
            <a:off x="5467852" y="3887467"/>
            <a:ext cx="82367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100" b="1">
                <a:solidFill>
                  <a:schemeClr val="dk1"/>
                </a:solidFill>
                <a:latin typeface="Calibri"/>
                <a:ea typeface="Calibri"/>
                <a:cs typeface="Calibri"/>
                <a:sym typeface="Calibri"/>
              </a:rPr>
              <a:t>Campo 05</a:t>
            </a:r>
            <a:endParaRPr/>
          </a:p>
        </p:txBody>
      </p:sp>
      <p:sp>
        <p:nvSpPr>
          <p:cNvPr id="405" name="Google Shape;405;p28"/>
          <p:cNvSpPr/>
          <p:nvPr/>
        </p:nvSpPr>
        <p:spPr>
          <a:xfrm>
            <a:off x="6279239" y="3888250"/>
            <a:ext cx="735395" cy="245853"/>
          </a:xfrm>
          <a:prstGeom prst="roundRect">
            <a:avLst>
              <a:gd name="adj" fmla="val 16667"/>
            </a:avLst>
          </a:prstGeom>
          <a:solidFill>
            <a:schemeClr val="lt1"/>
          </a:solidFill>
          <a:ln w="28575"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dk1"/>
              </a:solidFill>
              <a:latin typeface="Calibri"/>
              <a:ea typeface="Calibri"/>
              <a:cs typeface="Calibri"/>
              <a:sym typeface="Calibri"/>
            </a:endParaRPr>
          </a:p>
        </p:txBody>
      </p:sp>
      <p:sp>
        <p:nvSpPr>
          <p:cNvPr id="406" name="Google Shape;406;p28"/>
          <p:cNvSpPr/>
          <p:nvPr/>
        </p:nvSpPr>
        <p:spPr>
          <a:xfrm>
            <a:off x="7128905" y="2022917"/>
            <a:ext cx="82367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100" b="1">
                <a:solidFill>
                  <a:schemeClr val="dk1"/>
                </a:solidFill>
                <a:latin typeface="Calibri"/>
                <a:ea typeface="Calibri"/>
                <a:cs typeface="Calibri"/>
                <a:sym typeface="Calibri"/>
              </a:rPr>
              <a:t>Campo 01</a:t>
            </a:r>
            <a:endParaRPr/>
          </a:p>
        </p:txBody>
      </p:sp>
      <p:sp>
        <p:nvSpPr>
          <p:cNvPr id="407" name="Google Shape;407;p28"/>
          <p:cNvSpPr/>
          <p:nvPr/>
        </p:nvSpPr>
        <p:spPr>
          <a:xfrm>
            <a:off x="7940292" y="2023700"/>
            <a:ext cx="735395" cy="245853"/>
          </a:xfrm>
          <a:prstGeom prst="roundRect">
            <a:avLst>
              <a:gd name="adj" fmla="val 16667"/>
            </a:avLst>
          </a:prstGeom>
          <a:solidFill>
            <a:schemeClr val="lt1"/>
          </a:solidFill>
          <a:ln w="28575"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dk1"/>
              </a:solidFill>
              <a:latin typeface="Calibri"/>
              <a:ea typeface="Calibri"/>
              <a:cs typeface="Calibri"/>
              <a:sym typeface="Calibri"/>
            </a:endParaRPr>
          </a:p>
        </p:txBody>
      </p:sp>
      <p:sp>
        <p:nvSpPr>
          <p:cNvPr id="408" name="Google Shape;408;p28"/>
          <p:cNvSpPr/>
          <p:nvPr/>
        </p:nvSpPr>
        <p:spPr>
          <a:xfrm>
            <a:off x="7128905" y="2499296"/>
            <a:ext cx="82367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100" b="1">
                <a:solidFill>
                  <a:schemeClr val="dk1"/>
                </a:solidFill>
                <a:latin typeface="Calibri"/>
                <a:ea typeface="Calibri"/>
                <a:cs typeface="Calibri"/>
                <a:sym typeface="Calibri"/>
              </a:rPr>
              <a:t>Campo 02</a:t>
            </a:r>
            <a:endParaRPr/>
          </a:p>
        </p:txBody>
      </p:sp>
      <p:sp>
        <p:nvSpPr>
          <p:cNvPr id="409" name="Google Shape;409;p28"/>
          <p:cNvSpPr/>
          <p:nvPr/>
        </p:nvSpPr>
        <p:spPr>
          <a:xfrm>
            <a:off x="7940292" y="2500079"/>
            <a:ext cx="735395" cy="245853"/>
          </a:xfrm>
          <a:prstGeom prst="roundRect">
            <a:avLst>
              <a:gd name="adj" fmla="val 16667"/>
            </a:avLst>
          </a:prstGeom>
          <a:solidFill>
            <a:schemeClr val="lt1"/>
          </a:solidFill>
          <a:ln w="28575"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dk1"/>
              </a:solidFill>
              <a:latin typeface="Calibri"/>
              <a:ea typeface="Calibri"/>
              <a:cs typeface="Calibri"/>
              <a:sym typeface="Calibri"/>
            </a:endParaRPr>
          </a:p>
        </p:txBody>
      </p:sp>
      <p:sp>
        <p:nvSpPr>
          <p:cNvPr id="410" name="Google Shape;410;p28"/>
          <p:cNvSpPr/>
          <p:nvPr/>
        </p:nvSpPr>
        <p:spPr>
          <a:xfrm>
            <a:off x="7128905" y="2963033"/>
            <a:ext cx="82367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100" b="1">
                <a:solidFill>
                  <a:schemeClr val="dk1"/>
                </a:solidFill>
                <a:latin typeface="Calibri"/>
                <a:ea typeface="Calibri"/>
                <a:cs typeface="Calibri"/>
                <a:sym typeface="Calibri"/>
              </a:rPr>
              <a:t>Campo 03</a:t>
            </a:r>
            <a:endParaRPr/>
          </a:p>
        </p:txBody>
      </p:sp>
      <p:sp>
        <p:nvSpPr>
          <p:cNvPr id="411" name="Google Shape;411;p28"/>
          <p:cNvSpPr/>
          <p:nvPr/>
        </p:nvSpPr>
        <p:spPr>
          <a:xfrm>
            <a:off x="7940292" y="2963816"/>
            <a:ext cx="735395" cy="245853"/>
          </a:xfrm>
          <a:prstGeom prst="roundRect">
            <a:avLst>
              <a:gd name="adj" fmla="val 16667"/>
            </a:avLst>
          </a:prstGeom>
          <a:solidFill>
            <a:schemeClr val="lt1"/>
          </a:solidFill>
          <a:ln w="28575"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dk1"/>
              </a:solidFill>
              <a:latin typeface="Calibri"/>
              <a:ea typeface="Calibri"/>
              <a:cs typeface="Calibri"/>
              <a:sym typeface="Calibri"/>
            </a:endParaRPr>
          </a:p>
        </p:txBody>
      </p:sp>
      <p:sp>
        <p:nvSpPr>
          <p:cNvPr id="412" name="Google Shape;412;p28"/>
          <p:cNvSpPr/>
          <p:nvPr/>
        </p:nvSpPr>
        <p:spPr>
          <a:xfrm>
            <a:off x="7128905" y="3428901"/>
            <a:ext cx="82367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100" b="1">
                <a:solidFill>
                  <a:schemeClr val="dk1"/>
                </a:solidFill>
                <a:latin typeface="Calibri"/>
                <a:ea typeface="Calibri"/>
                <a:cs typeface="Calibri"/>
                <a:sym typeface="Calibri"/>
              </a:rPr>
              <a:t>Campo 04</a:t>
            </a:r>
            <a:endParaRPr/>
          </a:p>
        </p:txBody>
      </p:sp>
      <p:sp>
        <p:nvSpPr>
          <p:cNvPr id="413" name="Google Shape;413;p28"/>
          <p:cNvSpPr/>
          <p:nvPr/>
        </p:nvSpPr>
        <p:spPr>
          <a:xfrm>
            <a:off x="7940292" y="3429684"/>
            <a:ext cx="735395" cy="245853"/>
          </a:xfrm>
          <a:prstGeom prst="roundRect">
            <a:avLst>
              <a:gd name="adj" fmla="val 16667"/>
            </a:avLst>
          </a:prstGeom>
          <a:solidFill>
            <a:schemeClr val="lt1"/>
          </a:solidFill>
          <a:ln w="28575"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dk1"/>
              </a:solidFill>
              <a:latin typeface="Calibri"/>
              <a:ea typeface="Calibri"/>
              <a:cs typeface="Calibri"/>
              <a:sym typeface="Calibri"/>
            </a:endParaRPr>
          </a:p>
        </p:txBody>
      </p:sp>
      <p:sp>
        <p:nvSpPr>
          <p:cNvPr id="414" name="Google Shape;414;p28"/>
          <p:cNvSpPr/>
          <p:nvPr/>
        </p:nvSpPr>
        <p:spPr>
          <a:xfrm>
            <a:off x="7128905" y="3887467"/>
            <a:ext cx="82367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100" b="1">
                <a:solidFill>
                  <a:schemeClr val="dk1"/>
                </a:solidFill>
                <a:latin typeface="Calibri"/>
                <a:ea typeface="Calibri"/>
                <a:cs typeface="Calibri"/>
                <a:sym typeface="Calibri"/>
              </a:rPr>
              <a:t>Campo 05</a:t>
            </a:r>
            <a:endParaRPr/>
          </a:p>
        </p:txBody>
      </p:sp>
      <p:sp>
        <p:nvSpPr>
          <p:cNvPr id="415" name="Google Shape;415;p28"/>
          <p:cNvSpPr/>
          <p:nvPr/>
        </p:nvSpPr>
        <p:spPr>
          <a:xfrm>
            <a:off x="7940292" y="3888250"/>
            <a:ext cx="735395" cy="245853"/>
          </a:xfrm>
          <a:prstGeom prst="roundRect">
            <a:avLst>
              <a:gd name="adj" fmla="val 16667"/>
            </a:avLst>
          </a:prstGeom>
          <a:solidFill>
            <a:schemeClr val="lt1"/>
          </a:solidFill>
          <a:ln w="28575"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dk1"/>
              </a:solidFill>
              <a:latin typeface="Calibri"/>
              <a:ea typeface="Calibri"/>
              <a:cs typeface="Calibri"/>
              <a:sym typeface="Calibri"/>
            </a:endParaRPr>
          </a:p>
        </p:txBody>
      </p:sp>
      <p:sp>
        <p:nvSpPr>
          <p:cNvPr id="416" name="Google Shape;416;p28"/>
          <p:cNvSpPr/>
          <p:nvPr/>
        </p:nvSpPr>
        <p:spPr>
          <a:xfrm>
            <a:off x="487402" y="4545904"/>
            <a:ext cx="8267814" cy="246221"/>
          </a:xfrm>
          <a:prstGeom prst="rect">
            <a:avLst/>
          </a:prstGeom>
          <a:noFill/>
          <a:ln>
            <a:noFill/>
          </a:ln>
        </p:spPr>
        <p:txBody>
          <a:bodyPr spcFirstLastPara="1" wrap="square" lIns="0" tIns="0" rIns="0" bIns="0" anchor="t" anchorCtr="0">
            <a:spAutoFit/>
          </a:bodyPr>
          <a:lstStyle/>
          <a:p>
            <a:pPr marL="225425" marR="0" lvl="0" indent="-225425" algn="l" rtl="0">
              <a:spcBef>
                <a:spcPts val="0"/>
              </a:spcBef>
              <a:spcAft>
                <a:spcPts val="0"/>
              </a:spcAft>
              <a:buClr>
                <a:srgbClr val="7150A0"/>
              </a:buClr>
              <a:buSzPts val="1600"/>
              <a:buFont typeface="Arial"/>
              <a:buChar char="•"/>
            </a:pPr>
            <a:r>
              <a:rPr lang="es-PE" sz="1600" dirty="0">
                <a:solidFill>
                  <a:srgbClr val="7150A0"/>
                </a:solidFill>
                <a:latin typeface="Calibri"/>
                <a:ea typeface="Calibri"/>
                <a:cs typeface="Calibri"/>
                <a:sym typeface="Calibri"/>
              </a:rPr>
              <a:t>El número de combinaciones a probar sería 5 a la 15 = 30,517,718,125</a:t>
            </a:r>
            <a:endParaRPr dirty="0">
              <a:solidFill>
                <a:srgbClr val="7150A0"/>
              </a:solidFill>
            </a:endParaRPr>
          </a:p>
        </p:txBody>
      </p:sp>
      <p:sp>
        <p:nvSpPr>
          <p:cNvPr id="55" name="Rectangle 5">
            <a:extLst>
              <a:ext uri="{FF2B5EF4-FFF2-40B4-BE49-F238E27FC236}">
                <a16:creationId xmlns:a16="http://schemas.microsoft.com/office/drawing/2014/main" id="{375EB31D-E7F5-DE42-96AE-DF6FF489EFB9}"/>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PRINCIPIOS GENERALES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3" name="Google Shape;423;p29"/>
          <p:cNvSpPr/>
          <p:nvPr/>
        </p:nvSpPr>
        <p:spPr>
          <a:xfrm>
            <a:off x="503238" y="912813"/>
            <a:ext cx="7857498" cy="263144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PRUEBAS TEMPRANAS</a:t>
            </a:r>
            <a:endParaRPr dirty="0"/>
          </a:p>
          <a:p>
            <a:pPr marL="180975" marR="0" lvl="0" indent="-171450"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“Para identificar los defectos en una etapa temprana, las actividades de pruebas se iniciarán lo antes posible en el ciclo de vida del software o del desarrollo del sistema, debiendo centrarse en los objetivos definidos”. </a:t>
            </a:r>
            <a:endParaRPr dirty="0"/>
          </a:p>
          <a:p>
            <a:pPr marL="180975" marR="0" lvl="0" indent="-171450"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180975" marR="0" lvl="0" indent="-171450"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A medida que la fecha de despliegue se acerca, la presión del tiempo puede incrementarse dramáticamente.</a:t>
            </a:r>
            <a:endParaRPr dirty="0"/>
          </a:p>
          <a:p>
            <a:pPr marL="180975" marR="0" lvl="0" indent="-171450"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180975" marR="0" lvl="0" indent="-171450"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Cuanto más temprano se inicie la actividad de pruebas, habrá mayor tiempo disponible. Los probadores no tienen que esperar hasta que el software esté disponible para probarlo.</a:t>
            </a:r>
            <a:endParaRPr dirty="0"/>
          </a:p>
        </p:txBody>
      </p:sp>
      <p:sp>
        <p:nvSpPr>
          <p:cNvPr id="424" name="Google Shape;424;p29"/>
          <p:cNvSpPr txBox="1"/>
          <p:nvPr/>
        </p:nvSpPr>
        <p:spPr>
          <a:xfrm>
            <a:off x="7038343" y="3771448"/>
            <a:ext cx="1640465" cy="153888"/>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PE" sz="1000" dirty="0">
                <a:solidFill>
                  <a:schemeClr val="bg1">
                    <a:lumMod val="50000"/>
                  </a:schemeClr>
                </a:solidFill>
                <a:latin typeface="Calibri"/>
                <a:ea typeface="Calibri"/>
                <a:cs typeface="Calibri"/>
                <a:sym typeface="Calibri"/>
              </a:rPr>
              <a:t>es.scribd.com</a:t>
            </a:r>
            <a:endParaRPr dirty="0">
              <a:solidFill>
                <a:schemeClr val="bg1">
                  <a:lumMod val="50000"/>
                </a:schemeClr>
              </a:solidFill>
            </a:endParaRPr>
          </a:p>
        </p:txBody>
      </p:sp>
      <p:sp>
        <p:nvSpPr>
          <p:cNvPr id="5" name="Rectangle 5">
            <a:extLst>
              <a:ext uri="{FF2B5EF4-FFF2-40B4-BE49-F238E27FC236}">
                <a16:creationId xmlns:a16="http://schemas.microsoft.com/office/drawing/2014/main" id="{200B85D7-8425-A54E-8A2F-CE1E3B66E239}"/>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PRINCIPIOS GENERALES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1" name="Google Shape;431;p30"/>
          <p:cNvSpPr/>
          <p:nvPr/>
        </p:nvSpPr>
        <p:spPr>
          <a:xfrm>
            <a:off x="503238" y="922713"/>
            <a:ext cx="7896153" cy="815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PRUEBAS TEMPRANAS</a:t>
            </a:r>
            <a:endParaRPr dirty="0"/>
          </a:p>
          <a:p>
            <a:pPr marL="180975" marR="0" lvl="0" indent="-171450" algn="l" rtl="0">
              <a:spcBef>
                <a:spcPts val="0"/>
              </a:spcBef>
              <a:spcAft>
                <a:spcPts val="0"/>
              </a:spcAft>
              <a:buClr>
                <a:srgbClr val="000000"/>
              </a:buClr>
              <a:buSzPts val="1600"/>
              <a:buFont typeface="Arial"/>
              <a:buChar char="•"/>
            </a:pPr>
            <a:r>
              <a:rPr lang="es-PE" sz="1600" dirty="0">
                <a:solidFill>
                  <a:srgbClr val="000000"/>
                </a:solidFill>
                <a:latin typeface="Calibri"/>
                <a:ea typeface="Calibri"/>
                <a:cs typeface="Calibri"/>
                <a:sym typeface="Calibri"/>
              </a:rPr>
              <a:t>Muchos problemas en los sistemas de software se originan en requerimientos incompletos o incorrectos.</a:t>
            </a:r>
            <a:endParaRPr dirty="0"/>
          </a:p>
        </p:txBody>
      </p:sp>
      <p:graphicFrame>
        <p:nvGraphicFramePr>
          <p:cNvPr id="432" name="Google Shape;432;p30"/>
          <p:cNvGraphicFramePr/>
          <p:nvPr>
            <p:extLst>
              <p:ext uri="{D42A27DB-BD31-4B8C-83A1-F6EECF244321}">
                <p14:modId xmlns:p14="http://schemas.microsoft.com/office/powerpoint/2010/main" val="3230526478"/>
              </p:ext>
            </p:extLst>
          </p:nvPr>
        </p:nvGraphicFramePr>
        <p:xfrm>
          <a:off x="407876" y="2349005"/>
          <a:ext cx="3536804" cy="2357869"/>
        </p:xfrm>
        <a:graphic>
          <a:graphicData uri="http://schemas.openxmlformats.org/drawingml/2006/chart">
            <c:chart xmlns:c="http://schemas.openxmlformats.org/drawingml/2006/chart" xmlns:r="http://schemas.openxmlformats.org/officeDocument/2006/relationships" r:id="rId3"/>
          </a:graphicData>
        </a:graphic>
      </p:graphicFrame>
      <p:sp>
        <p:nvSpPr>
          <p:cNvPr id="433" name="Google Shape;433;p30"/>
          <p:cNvSpPr txBox="1"/>
          <p:nvPr/>
        </p:nvSpPr>
        <p:spPr>
          <a:xfrm>
            <a:off x="2860405" y="2058676"/>
            <a:ext cx="1041991"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400" b="1" dirty="0">
                <a:solidFill>
                  <a:schemeClr val="dk1"/>
                </a:solidFill>
                <a:latin typeface="Calibri"/>
                <a:ea typeface="Calibri"/>
                <a:cs typeface="Calibri"/>
                <a:sym typeface="Calibri"/>
              </a:rPr>
              <a:t>DESIGN </a:t>
            </a:r>
            <a:endParaRPr dirty="0"/>
          </a:p>
          <a:p>
            <a:pPr marL="0" marR="0" lvl="0" indent="0" algn="ctr" rtl="0">
              <a:spcBef>
                <a:spcPts val="0"/>
              </a:spcBef>
              <a:spcAft>
                <a:spcPts val="0"/>
              </a:spcAft>
              <a:buNone/>
            </a:pPr>
            <a:r>
              <a:rPr lang="es-PE" sz="1400" b="1" dirty="0">
                <a:solidFill>
                  <a:schemeClr val="dk1"/>
                </a:solidFill>
                <a:latin typeface="Calibri"/>
                <a:ea typeface="Calibri"/>
                <a:cs typeface="Calibri"/>
                <a:sym typeface="Calibri"/>
              </a:rPr>
              <a:t>27%</a:t>
            </a:r>
            <a:endParaRPr dirty="0"/>
          </a:p>
        </p:txBody>
      </p:sp>
      <p:sp>
        <p:nvSpPr>
          <p:cNvPr id="434" name="Google Shape;434;p30"/>
          <p:cNvSpPr txBox="1"/>
          <p:nvPr/>
        </p:nvSpPr>
        <p:spPr>
          <a:xfrm>
            <a:off x="3548095" y="3189500"/>
            <a:ext cx="1041991"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400" b="1" dirty="0">
                <a:solidFill>
                  <a:schemeClr val="dk1"/>
                </a:solidFill>
                <a:latin typeface="Calibri"/>
                <a:ea typeface="Calibri"/>
                <a:cs typeface="Calibri"/>
                <a:sym typeface="Calibri"/>
              </a:rPr>
              <a:t>CODE</a:t>
            </a:r>
            <a:endParaRPr dirty="0"/>
          </a:p>
          <a:p>
            <a:pPr marL="0" marR="0" lvl="0" indent="0" algn="ctr" rtl="0">
              <a:spcBef>
                <a:spcPts val="0"/>
              </a:spcBef>
              <a:spcAft>
                <a:spcPts val="0"/>
              </a:spcAft>
              <a:buNone/>
            </a:pPr>
            <a:r>
              <a:rPr lang="es-PE" sz="1400" b="1" dirty="0">
                <a:solidFill>
                  <a:schemeClr val="dk1"/>
                </a:solidFill>
                <a:latin typeface="Calibri"/>
                <a:ea typeface="Calibri"/>
                <a:cs typeface="Calibri"/>
                <a:sym typeface="Calibri"/>
              </a:rPr>
              <a:t>7%</a:t>
            </a:r>
            <a:endParaRPr dirty="0"/>
          </a:p>
        </p:txBody>
      </p:sp>
      <p:sp>
        <p:nvSpPr>
          <p:cNvPr id="435" name="Google Shape;435;p30"/>
          <p:cNvSpPr txBox="1"/>
          <p:nvPr/>
        </p:nvSpPr>
        <p:spPr>
          <a:xfrm>
            <a:off x="3073139" y="4012006"/>
            <a:ext cx="1041991"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400" b="1" dirty="0">
                <a:solidFill>
                  <a:schemeClr val="dk1"/>
                </a:solidFill>
                <a:latin typeface="Calibri"/>
                <a:ea typeface="Calibri"/>
                <a:cs typeface="Calibri"/>
                <a:sym typeface="Calibri"/>
              </a:rPr>
              <a:t>OTHER</a:t>
            </a:r>
            <a:endParaRPr dirty="0"/>
          </a:p>
          <a:p>
            <a:pPr marL="0" marR="0" lvl="0" indent="0" algn="ctr" rtl="0">
              <a:spcBef>
                <a:spcPts val="0"/>
              </a:spcBef>
              <a:spcAft>
                <a:spcPts val="0"/>
              </a:spcAft>
              <a:buNone/>
            </a:pPr>
            <a:r>
              <a:rPr lang="es-PE" sz="1400" b="1" dirty="0">
                <a:solidFill>
                  <a:schemeClr val="dk1"/>
                </a:solidFill>
                <a:latin typeface="Calibri"/>
                <a:ea typeface="Calibri"/>
                <a:cs typeface="Calibri"/>
                <a:sym typeface="Calibri"/>
              </a:rPr>
              <a:t>10%</a:t>
            </a:r>
            <a:endParaRPr dirty="0"/>
          </a:p>
        </p:txBody>
      </p:sp>
      <p:sp>
        <p:nvSpPr>
          <p:cNvPr id="436" name="Google Shape;436;p30"/>
          <p:cNvSpPr txBox="1"/>
          <p:nvPr/>
        </p:nvSpPr>
        <p:spPr>
          <a:xfrm>
            <a:off x="684213" y="2058676"/>
            <a:ext cx="1041991"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400" b="1" dirty="0">
                <a:solidFill>
                  <a:schemeClr val="dk1"/>
                </a:solidFill>
                <a:latin typeface="Calibri"/>
                <a:ea typeface="Calibri"/>
                <a:cs typeface="Calibri"/>
                <a:sym typeface="Calibri"/>
              </a:rPr>
              <a:t>REQ’S</a:t>
            </a:r>
            <a:endParaRPr dirty="0"/>
          </a:p>
          <a:p>
            <a:pPr marL="0" marR="0" lvl="0" indent="0" algn="ctr" rtl="0">
              <a:spcBef>
                <a:spcPts val="0"/>
              </a:spcBef>
              <a:spcAft>
                <a:spcPts val="0"/>
              </a:spcAft>
              <a:buNone/>
            </a:pPr>
            <a:r>
              <a:rPr lang="es-PE" sz="1400" b="1" dirty="0">
                <a:solidFill>
                  <a:schemeClr val="dk1"/>
                </a:solidFill>
                <a:latin typeface="Calibri"/>
                <a:ea typeface="Calibri"/>
                <a:cs typeface="Calibri"/>
                <a:sym typeface="Calibri"/>
              </a:rPr>
              <a:t>56%</a:t>
            </a:r>
            <a:endParaRPr dirty="0"/>
          </a:p>
        </p:txBody>
      </p:sp>
      <p:sp>
        <p:nvSpPr>
          <p:cNvPr id="10" name="Rectangle 5">
            <a:extLst>
              <a:ext uri="{FF2B5EF4-FFF2-40B4-BE49-F238E27FC236}">
                <a16:creationId xmlns:a16="http://schemas.microsoft.com/office/drawing/2014/main" id="{84E62D38-FBFE-7F46-88D8-96F2949ACC51}"/>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PRINCIPIOS GENERALES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2" name="Grupo 1">
            <a:extLst>
              <a:ext uri="{FF2B5EF4-FFF2-40B4-BE49-F238E27FC236}">
                <a16:creationId xmlns:a16="http://schemas.microsoft.com/office/drawing/2014/main" id="{AC04FC3B-A5A1-B943-98AF-CF6D1B83CFA0}"/>
              </a:ext>
            </a:extLst>
          </p:cNvPr>
          <p:cNvGrpSpPr/>
          <p:nvPr/>
        </p:nvGrpSpPr>
        <p:grpSpPr>
          <a:xfrm>
            <a:off x="4824139" y="2274119"/>
            <a:ext cx="3708224" cy="2030274"/>
            <a:chOff x="4824139" y="2274119"/>
            <a:chExt cx="3708224" cy="2030274"/>
          </a:xfrm>
        </p:grpSpPr>
        <p:pic>
          <p:nvPicPr>
            <p:cNvPr id="437" name="Google Shape;437;p30"/>
            <p:cNvPicPr preferRelativeResize="0"/>
            <p:nvPr/>
          </p:nvPicPr>
          <p:blipFill rotWithShape="1">
            <a:blip r:embed="rId4">
              <a:alphaModFix/>
            </a:blip>
            <a:srcRect l="5795" b="7986"/>
            <a:stretch/>
          </p:blipFill>
          <p:spPr>
            <a:xfrm>
              <a:off x="5078881" y="2274119"/>
              <a:ext cx="3453482" cy="1888526"/>
            </a:xfrm>
            <a:prstGeom prst="rect">
              <a:avLst/>
            </a:prstGeom>
            <a:noFill/>
            <a:ln>
              <a:noFill/>
            </a:ln>
          </p:spPr>
        </p:pic>
        <p:sp>
          <p:nvSpPr>
            <p:cNvPr id="11" name="Google Shape;433;p30">
              <a:extLst>
                <a:ext uri="{FF2B5EF4-FFF2-40B4-BE49-F238E27FC236}">
                  <a16:creationId xmlns:a16="http://schemas.microsoft.com/office/drawing/2014/main" id="{9518ADD0-D170-F543-9CF5-DBBDD43CEBA0}"/>
                </a:ext>
              </a:extLst>
            </p:cNvPr>
            <p:cNvSpPr txBox="1"/>
            <p:nvPr/>
          </p:nvSpPr>
          <p:spPr>
            <a:xfrm>
              <a:off x="4824139" y="2489563"/>
              <a:ext cx="240696" cy="123111"/>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ES" sz="800" dirty="0">
                  <a:solidFill>
                    <a:schemeClr val="dk1"/>
                  </a:solidFill>
                  <a:latin typeface="Calibri"/>
                  <a:ea typeface="Calibri"/>
                  <a:cs typeface="Calibri"/>
                  <a:sym typeface="Calibri"/>
                </a:rPr>
                <a:t>100</a:t>
              </a:r>
              <a:endParaRPr sz="800" dirty="0"/>
            </a:p>
          </p:txBody>
        </p:sp>
        <p:sp>
          <p:nvSpPr>
            <p:cNvPr id="12" name="Google Shape;433;p30">
              <a:extLst>
                <a:ext uri="{FF2B5EF4-FFF2-40B4-BE49-F238E27FC236}">
                  <a16:creationId xmlns:a16="http://schemas.microsoft.com/office/drawing/2014/main" id="{BB6A5CAD-6602-8E43-9457-4FDEB2916E2D}"/>
                </a:ext>
              </a:extLst>
            </p:cNvPr>
            <p:cNvSpPr txBox="1"/>
            <p:nvPr/>
          </p:nvSpPr>
          <p:spPr>
            <a:xfrm>
              <a:off x="4824139" y="2645380"/>
              <a:ext cx="240696" cy="123111"/>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ES" sz="800" dirty="0">
                  <a:solidFill>
                    <a:schemeClr val="dk1"/>
                  </a:solidFill>
                  <a:latin typeface="Calibri"/>
                  <a:ea typeface="Calibri"/>
                  <a:cs typeface="Calibri"/>
                  <a:sym typeface="Calibri"/>
                </a:rPr>
                <a:t>90</a:t>
              </a:r>
              <a:endParaRPr sz="800" dirty="0"/>
            </a:p>
          </p:txBody>
        </p:sp>
        <p:sp>
          <p:nvSpPr>
            <p:cNvPr id="15" name="Google Shape;433;p30">
              <a:extLst>
                <a:ext uri="{FF2B5EF4-FFF2-40B4-BE49-F238E27FC236}">
                  <a16:creationId xmlns:a16="http://schemas.microsoft.com/office/drawing/2014/main" id="{8C180BB8-90A1-BE48-AB80-03804E8D0E84}"/>
                </a:ext>
              </a:extLst>
            </p:cNvPr>
            <p:cNvSpPr txBox="1"/>
            <p:nvPr/>
          </p:nvSpPr>
          <p:spPr>
            <a:xfrm>
              <a:off x="4824139" y="2801197"/>
              <a:ext cx="240696" cy="123111"/>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ES" sz="800" dirty="0">
                  <a:solidFill>
                    <a:schemeClr val="dk1"/>
                  </a:solidFill>
                  <a:latin typeface="Calibri"/>
                  <a:ea typeface="Calibri"/>
                  <a:cs typeface="Calibri"/>
                  <a:sym typeface="Calibri"/>
                </a:rPr>
                <a:t>80</a:t>
              </a:r>
              <a:endParaRPr sz="800" dirty="0"/>
            </a:p>
          </p:txBody>
        </p:sp>
        <p:sp>
          <p:nvSpPr>
            <p:cNvPr id="16" name="Google Shape;433;p30">
              <a:extLst>
                <a:ext uri="{FF2B5EF4-FFF2-40B4-BE49-F238E27FC236}">
                  <a16:creationId xmlns:a16="http://schemas.microsoft.com/office/drawing/2014/main" id="{E766D7A1-EFB4-4146-AF27-22B118685FB9}"/>
                </a:ext>
              </a:extLst>
            </p:cNvPr>
            <p:cNvSpPr txBox="1"/>
            <p:nvPr/>
          </p:nvSpPr>
          <p:spPr>
            <a:xfrm>
              <a:off x="4824139" y="2961115"/>
              <a:ext cx="240696" cy="123111"/>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ES" sz="800" dirty="0">
                  <a:solidFill>
                    <a:schemeClr val="dk1"/>
                  </a:solidFill>
                  <a:latin typeface="Calibri"/>
                  <a:ea typeface="Calibri"/>
                  <a:cs typeface="Calibri"/>
                  <a:sym typeface="Calibri"/>
                </a:rPr>
                <a:t>70</a:t>
              </a:r>
              <a:endParaRPr sz="800" dirty="0"/>
            </a:p>
          </p:txBody>
        </p:sp>
        <p:sp>
          <p:nvSpPr>
            <p:cNvPr id="17" name="Google Shape;433;p30">
              <a:extLst>
                <a:ext uri="{FF2B5EF4-FFF2-40B4-BE49-F238E27FC236}">
                  <a16:creationId xmlns:a16="http://schemas.microsoft.com/office/drawing/2014/main" id="{224429BF-A045-0244-A75B-0D247E334BF1}"/>
                </a:ext>
              </a:extLst>
            </p:cNvPr>
            <p:cNvSpPr txBox="1"/>
            <p:nvPr/>
          </p:nvSpPr>
          <p:spPr>
            <a:xfrm>
              <a:off x="4824139" y="3116932"/>
              <a:ext cx="240696" cy="123111"/>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ES" sz="800" dirty="0">
                  <a:solidFill>
                    <a:schemeClr val="dk1"/>
                  </a:solidFill>
                  <a:latin typeface="Calibri"/>
                  <a:ea typeface="Calibri"/>
                  <a:cs typeface="Calibri"/>
                  <a:sym typeface="Calibri"/>
                </a:rPr>
                <a:t>60</a:t>
              </a:r>
              <a:endParaRPr sz="800" dirty="0"/>
            </a:p>
          </p:txBody>
        </p:sp>
        <p:sp>
          <p:nvSpPr>
            <p:cNvPr id="18" name="Google Shape;433;p30">
              <a:extLst>
                <a:ext uri="{FF2B5EF4-FFF2-40B4-BE49-F238E27FC236}">
                  <a16:creationId xmlns:a16="http://schemas.microsoft.com/office/drawing/2014/main" id="{4E33D899-BD2B-DC4A-949D-54C7E0E3B421}"/>
                </a:ext>
              </a:extLst>
            </p:cNvPr>
            <p:cNvSpPr txBox="1"/>
            <p:nvPr/>
          </p:nvSpPr>
          <p:spPr>
            <a:xfrm>
              <a:off x="4824139" y="3264549"/>
              <a:ext cx="240696" cy="123111"/>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ES" sz="800" dirty="0">
                  <a:solidFill>
                    <a:schemeClr val="dk1"/>
                  </a:solidFill>
                  <a:latin typeface="Calibri"/>
                  <a:ea typeface="Calibri"/>
                  <a:cs typeface="Calibri"/>
                  <a:sym typeface="Calibri"/>
                </a:rPr>
                <a:t>50</a:t>
              </a:r>
              <a:endParaRPr sz="800" dirty="0"/>
            </a:p>
          </p:txBody>
        </p:sp>
        <p:sp>
          <p:nvSpPr>
            <p:cNvPr id="19" name="Google Shape;433;p30">
              <a:extLst>
                <a:ext uri="{FF2B5EF4-FFF2-40B4-BE49-F238E27FC236}">
                  <a16:creationId xmlns:a16="http://schemas.microsoft.com/office/drawing/2014/main" id="{077B7B5A-7289-3342-B899-091F8C8F5948}"/>
                </a:ext>
              </a:extLst>
            </p:cNvPr>
            <p:cNvSpPr txBox="1"/>
            <p:nvPr/>
          </p:nvSpPr>
          <p:spPr>
            <a:xfrm>
              <a:off x="4824139" y="3424467"/>
              <a:ext cx="240696" cy="123111"/>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ES" sz="800" dirty="0">
                  <a:solidFill>
                    <a:schemeClr val="dk1"/>
                  </a:solidFill>
                  <a:latin typeface="Calibri"/>
                  <a:ea typeface="Calibri"/>
                  <a:cs typeface="Calibri"/>
                  <a:sym typeface="Calibri"/>
                </a:rPr>
                <a:t>40</a:t>
              </a:r>
              <a:endParaRPr sz="800" dirty="0"/>
            </a:p>
          </p:txBody>
        </p:sp>
        <p:sp>
          <p:nvSpPr>
            <p:cNvPr id="20" name="Google Shape;433;p30">
              <a:extLst>
                <a:ext uri="{FF2B5EF4-FFF2-40B4-BE49-F238E27FC236}">
                  <a16:creationId xmlns:a16="http://schemas.microsoft.com/office/drawing/2014/main" id="{728A5336-B9AB-4C45-9120-4F9E2FCA13F9}"/>
                </a:ext>
              </a:extLst>
            </p:cNvPr>
            <p:cNvSpPr txBox="1"/>
            <p:nvPr/>
          </p:nvSpPr>
          <p:spPr>
            <a:xfrm>
              <a:off x="4824139" y="3576183"/>
              <a:ext cx="240696" cy="123111"/>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ES" sz="800" dirty="0">
                  <a:solidFill>
                    <a:schemeClr val="dk1"/>
                  </a:solidFill>
                  <a:latin typeface="Calibri"/>
                  <a:ea typeface="Calibri"/>
                  <a:cs typeface="Calibri"/>
                  <a:sym typeface="Calibri"/>
                </a:rPr>
                <a:t>30</a:t>
              </a:r>
              <a:endParaRPr sz="800" dirty="0"/>
            </a:p>
          </p:txBody>
        </p:sp>
        <p:sp>
          <p:nvSpPr>
            <p:cNvPr id="21" name="Google Shape;433;p30">
              <a:extLst>
                <a:ext uri="{FF2B5EF4-FFF2-40B4-BE49-F238E27FC236}">
                  <a16:creationId xmlns:a16="http://schemas.microsoft.com/office/drawing/2014/main" id="{9EA98282-2016-1D46-A657-8888F2D28C47}"/>
                </a:ext>
              </a:extLst>
            </p:cNvPr>
            <p:cNvSpPr txBox="1"/>
            <p:nvPr/>
          </p:nvSpPr>
          <p:spPr>
            <a:xfrm>
              <a:off x="4824139" y="3736101"/>
              <a:ext cx="240696" cy="123111"/>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ES" sz="800" dirty="0">
                  <a:solidFill>
                    <a:schemeClr val="dk1"/>
                  </a:solidFill>
                  <a:latin typeface="Calibri"/>
                  <a:ea typeface="Calibri"/>
                  <a:cs typeface="Calibri"/>
                  <a:sym typeface="Calibri"/>
                </a:rPr>
                <a:t>20</a:t>
              </a:r>
              <a:endParaRPr sz="800" dirty="0"/>
            </a:p>
          </p:txBody>
        </p:sp>
        <p:sp>
          <p:nvSpPr>
            <p:cNvPr id="22" name="Google Shape;433;p30">
              <a:extLst>
                <a:ext uri="{FF2B5EF4-FFF2-40B4-BE49-F238E27FC236}">
                  <a16:creationId xmlns:a16="http://schemas.microsoft.com/office/drawing/2014/main" id="{9A26BE7D-DEB2-D247-8079-1A33A6838DCD}"/>
                </a:ext>
              </a:extLst>
            </p:cNvPr>
            <p:cNvSpPr txBox="1"/>
            <p:nvPr/>
          </p:nvSpPr>
          <p:spPr>
            <a:xfrm>
              <a:off x="4824139" y="3883717"/>
              <a:ext cx="240696" cy="123111"/>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ES" sz="800" dirty="0">
                  <a:solidFill>
                    <a:schemeClr val="dk1"/>
                  </a:solidFill>
                  <a:latin typeface="Calibri"/>
                  <a:ea typeface="Calibri"/>
                  <a:cs typeface="Calibri"/>
                  <a:sym typeface="Calibri"/>
                </a:rPr>
                <a:t>10</a:t>
              </a:r>
              <a:endParaRPr sz="800" dirty="0"/>
            </a:p>
          </p:txBody>
        </p:sp>
        <p:sp>
          <p:nvSpPr>
            <p:cNvPr id="23" name="Google Shape;433;p30">
              <a:extLst>
                <a:ext uri="{FF2B5EF4-FFF2-40B4-BE49-F238E27FC236}">
                  <a16:creationId xmlns:a16="http://schemas.microsoft.com/office/drawing/2014/main" id="{9AB0DE80-7F7F-DE4D-B56C-04B78B0E5229}"/>
                </a:ext>
              </a:extLst>
            </p:cNvPr>
            <p:cNvSpPr txBox="1"/>
            <p:nvPr/>
          </p:nvSpPr>
          <p:spPr>
            <a:xfrm>
              <a:off x="4824139" y="4039534"/>
              <a:ext cx="240696" cy="123111"/>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ES" sz="800" dirty="0">
                  <a:solidFill>
                    <a:schemeClr val="dk1"/>
                  </a:solidFill>
                  <a:latin typeface="Calibri"/>
                  <a:ea typeface="Calibri"/>
                  <a:cs typeface="Calibri"/>
                  <a:sym typeface="Calibri"/>
                </a:rPr>
                <a:t>0</a:t>
              </a:r>
              <a:endParaRPr sz="800" dirty="0"/>
            </a:p>
          </p:txBody>
        </p:sp>
        <p:sp>
          <p:nvSpPr>
            <p:cNvPr id="24" name="Google Shape;433;p30">
              <a:extLst>
                <a:ext uri="{FF2B5EF4-FFF2-40B4-BE49-F238E27FC236}">
                  <a16:creationId xmlns:a16="http://schemas.microsoft.com/office/drawing/2014/main" id="{BF26C501-89C3-324D-9977-08C105A8FF7B}"/>
                </a:ext>
              </a:extLst>
            </p:cNvPr>
            <p:cNvSpPr txBox="1"/>
            <p:nvPr/>
          </p:nvSpPr>
          <p:spPr>
            <a:xfrm>
              <a:off x="5230693" y="4150505"/>
              <a:ext cx="412134"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ES" sz="1000" b="1" dirty="0" err="1">
                  <a:solidFill>
                    <a:schemeClr val="dk1"/>
                  </a:solidFill>
                  <a:latin typeface="Calibri"/>
                  <a:ea typeface="Calibri"/>
                  <a:cs typeface="Calibri"/>
                  <a:sym typeface="Calibri"/>
                </a:rPr>
                <a:t>Req`s</a:t>
              </a:r>
              <a:endParaRPr sz="1000" b="1" dirty="0"/>
            </a:p>
          </p:txBody>
        </p:sp>
        <p:sp>
          <p:nvSpPr>
            <p:cNvPr id="25" name="Google Shape;433;p30">
              <a:extLst>
                <a:ext uri="{FF2B5EF4-FFF2-40B4-BE49-F238E27FC236}">
                  <a16:creationId xmlns:a16="http://schemas.microsoft.com/office/drawing/2014/main" id="{9DE1959F-1019-E047-8730-CD80028D2957}"/>
                </a:ext>
              </a:extLst>
            </p:cNvPr>
            <p:cNvSpPr txBox="1"/>
            <p:nvPr/>
          </p:nvSpPr>
          <p:spPr>
            <a:xfrm>
              <a:off x="5853961" y="4150505"/>
              <a:ext cx="412134"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ES" sz="1000" b="1" dirty="0" err="1">
                  <a:solidFill>
                    <a:schemeClr val="dk1"/>
                  </a:solidFill>
                  <a:latin typeface="Calibri"/>
                  <a:ea typeface="Calibri"/>
                  <a:cs typeface="Calibri"/>
                  <a:sym typeface="Calibri"/>
                </a:rPr>
                <a:t>Design</a:t>
              </a:r>
              <a:endParaRPr sz="1000" b="1" dirty="0"/>
            </a:p>
          </p:txBody>
        </p:sp>
        <p:sp>
          <p:nvSpPr>
            <p:cNvPr id="26" name="Google Shape;433;p30">
              <a:extLst>
                <a:ext uri="{FF2B5EF4-FFF2-40B4-BE49-F238E27FC236}">
                  <a16:creationId xmlns:a16="http://schemas.microsoft.com/office/drawing/2014/main" id="{AF8D0FCD-FFAD-0441-95B0-EF563DC98F1F}"/>
                </a:ext>
              </a:extLst>
            </p:cNvPr>
            <p:cNvSpPr txBox="1"/>
            <p:nvPr/>
          </p:nvSpPr>
          <p:spPr>
            <a:xfrm>
              <a:off x="6477229" y="4150505"/>
              <a:ext cx="412134"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ES" sz="1000" b="1" dirty="0" err="1">
                  <a:solidFill>
                    <a:schemeClr val="dk1"/>
                  </a:solidFill>
                  <a:latin typeface="Calibri"/>
                  <a:ea typeface="Calibri"/>
                  <a:cs typeface="Calibri"/>
                  <a:sym typeface="Calibri"/>
                </a:rPr>
                <a:t>Code</a:t>
              </a:r>
              <a:endParaRPr sz="1000" b="1" dirty="0"/>
            </a:p>
          </p:txBody>
        </p:sp>
        <p:sp>
          <p:nvSpPr>
            <p:cNvPr id="27" name="Google Shape;433;p30">
              <a:extLst>
                <a:ext uri="{FF2B5EF4-FFF2-40B4-BE49-F238E27FC236}">
                  <a16:creationId xmlns:a16="http://schemas.microsoft.com/office/drawing/2014/main" id="{1D161743-901C-1845-A501-B960AE73A017}"/>
                </a:ext>
              </a:extLst>
            </p:cNvPr>
            <p:cNvSpPr txBox="1"/>
            <p:nvPr/>
          </p:nvSpPr>
          <p:spPr>
            <a:xfrm>
              <a:off x="7081702" y="4150505"/>
              <a:ext cx="412134"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ES" sz="1000" b="1" dirty="0">
                  <a:solidFill>
                    <a:schemeClr val="dk1"/>
                  </a:solidFill>
                  <a:latin typeface="Calibri"/>
                  <a:ea typeface="Calibri"/>
                  <a:cs typeface="Calibri"/>
                  <a:sym typeface="Calibri"/>
                </a:rPr>
                <a:t>Test</a:t>
              </a:r>
              <a:endParaRPr sz="1000" b="1" dirty="0"/>
            </a:p>
          </p:txBody>
        </p:sp>
        <p:sp>
          <p:nvSpPr>
            <p:cNvPr id="28" name="Google Shape;433;p30">
              <a:extLst>
                <a:ext uri="{FF2B5EF4-FFF2-40B4-BE49-F238E27FC236}">
                  <a16:creationId xmlns:a16="http://schemas.microsoft.com/office/drawing/2014/main" id="{BE5CCE84-FF06-8F4E-A719-0874F57914D1}"/>
                </a:ext>
              </a:extLst>
            </p:cNvPr>
            <p:cNvSpPr txBox="1"/>
            <p:nvPr/>
          </p:nvSpPr>
          <p:spPr>
            <a:xfrm>
              <a:off x="7729573" y="4150505"/>
              <a:ext cx="412134"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ES" sz="1000" b="1" dirty="0" err="1">
                  <a:solidFill>
                    <a:schemeClr val="dk1"/>
                  </a:solidFill>
                  <a:latin typeface="Calibri"/>
                  <a:ea typeface="Calibri"/>
                  <a:cs typeface="Calibri"/>
                  <a:sym typeface="Calibri"/>
                </a:rPr>
                <a:t>Prod</a:t>
              </a:r>
              <a:endParaRPr sz="1000" b="1" dirty="0"/>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4" name="Google Shape;444;p31"/>
          <p:cNvSpPr/>
          <p:nvPr/>
        </p:nvSpPr>
        <p:spPr>
          <a:xfrm>
            <a:off x="513648" y="912813"/>
            <a:ext cx="3878965" cy="377026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AGRUPACIÓN DE DEFECTOS</a:t>
            </a:r>
            <a:endParaRPr dirty="0"/>
          </a:p>
          <a:p>
            <a:pPr marL="179388" marR="0" lvl="0" indent="-179388"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Las pruebas deben concentrarse de manera proporcional en la esperada, y más tarde observada, de los defectos de los módulos.</a:t>
            </a:r>
            <a:endParaRPr dirty="0"/>
          </a:p>
          <a:p>
            <a:pPr marL="179388" marR="0" lvl="0" indent="-77788"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179388" marR="0" lvl="0" indent="-179388"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Normalmente, la mayor parte de los defectos detectados durante las pruebas previas al lanzamiento y la mayoría de los fallos operativos se concentran en un número reducido de módulos.</a:t>
            </a:r>
            <a:endParaRPr dirty="0"/>
          </a:p>
          <a:p>
            <a:pPr marL="179388" marR="0" lvl="0" indent="-77788"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179388" marR="0" lvl="0" indent="-179388"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Aplicación del principio de Pareto a las pruebas de software: aproximadamente el 80% de los problemas se encuentra en alrededor del 20% de los módulos.</a:t>
            </a:r>
            <a:endParaRPr dirty="0"/>
          </a:p>
        </p:txBody>
      </p:sp>
      <p:sp>
        <p:nvSpPr>
          <p:cNvPr id="4" name="Rectangle 5">
            <a:extLst>
              <a:ext uri="{FF2B5EF4-FFF2-40B4-BE49-F238E27FC236}">
                <a16:creationId xmlns:a16="http://schemas.microsoft.com/office/drawing/2014/main" id="{06D0C605-03BB-AC4D-BE0C-363168D2C740}"/>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PRINCIPIOS GENERALES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pic>
        <p:nvPicPr>
          <p:cNvPr id="3" name="Imagen 2">
            <a:extLst>
              <a:ext uri="{FF2B5EF4-FFF2-40B4-BE49-F238E27FC236}">
                <a16:creationId xmlns:a16="http://schemas.microsoft.com/office/drawing/2014/main" id="{1FB60443-A60E-7843-A46D-582FC2A3E4F9}"/>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751388" y="912812"/>
            <a:ext cx="4392612" cy="432117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32"/>
          <p:cNvSpPr/>
          <p:nvPr/>
        </p:nvSpPr>
        <p:spPr>
          <a:xfrm>
            <a:off x="503239" y="912813"/>
            <a:ext cx="8073834" cy="180049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PARADOJA DEL PESTICIDA</a:t>
            </a:r>
            <a:endParaRPr dirty="0"/>
          </a:p>
          <a:p>
            <a:pPr marL="180975" marR="0" lvl="0" indent="-180975"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Si repetimos las mismas pruebas una y otra vez, eventualmente la misma serie de casos de prueba dejará de encontrar defectos nuevos.</a:t>
            </a:r>
            <a:endParaRPr dirty="0"/>
          </a:p>
          <a:p>
            <a:pPr marL="180975" marR="0" lvl="0" indent="-180975"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180975" marR="0" lvl="0" indent="-180975"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Para superar esta “paradoja del pesticida”, los casos de prueba deben revisarse periódicamente y deben escribirse pruebas nuevas y diferentes para ejercitar distintas partes del software o del sistema con vistas a poder detectar más defectos.  </a:t>
            </a:r>
            <a:endParaRPr sz="1600" dirty="0">
              <a:solidFill>
                <a:schemeClr val="dk1"/>
              </a:solidFill>
              <a:latin typeface="Calibri"/>
              <a:ea typeface="Calibri"/>
              <a:cs typeface="Calibri"/>
              <a:sym typeface="Calibri"/>
            </a:endParaRPr>
          </a:p>
        </p:txBody>
      </p:sp>
      <p:sp>
        <p:nvSpPr>
          <p:cNvPr id="4" name="Rectangle 5">
            <a:extLst>
              <a:ext uri="{FF2B5EF4-FFF2-40B4-BE49-F238E27FC236}">
                <a16:creationId xmlns:a16="http://schemas.microsoft.com/office/drawing/2014/main" id="{C847C98F-9A80-7C44-B322-840AA5503BB1}"/>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PRINCIPIOS GENERALES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8" name="Google Shape;458;p33"/>
          <p:cNvSpPr/>
          <p:nvPr/>
        </p:nvSpPr>
        <p:spPr>
          <a:xfrm>
            <a:off x="503238" y="912813"/>
            <a:ext cx="3889375" cy="253915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LAS PRUEBAS DEPENDEN DEL CONTEXTO</a:t>
            </a:r>
            <a:endParaRPr dirty="0"/>
          </a:p>
          <a:p>
            <a:pPr marL="180975" marR="0" lvl="0" indent="-176213"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Las pruebas se llevan a cabo de manera diferente según el contexto.</a:t>
            </a:r>
            <a:endParaRPr dirty="0"/>
          </a:p>
          <a:p>
            <a:pPr marL="180975" marR="0" lvl="0" indent="-176213"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180975" marR="0" lvl="0" indent="-176213"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Diferentes pruebas son necesarias en circunstancias distintas</a:t>
            </a:r>
            <a:endParaRPr dirty="0"/>
          </a:p>
          <a:p>
            <a:pPr marL="180975" marR="0" lvl="0" indent="-176213"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180975" marR="0" lvl="0" indent="-176213"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A mayor posibilidad de pérdida, más necesitamos invertir en las pruebas de software antes de que sea implementado.</a:t>
            </a:r>
            <a:endParaRPr dirty="0"/>
          </a:p>
        </p:txBody>
      </p:sp>
      <p:sp>
        <p:nvSpPr>
          <p:cNvPr id="4" name="Rectangle 5">
            <a:extLst>
              <a:ext uri="{FF2B5EF4-FFF2-40B4-BE49-F238E27FC236}">
                <a16:creationId xmlns:a16="http://schemas.microsoft.com/office/drawing/2014/main" id="{97FA021B-20F0-9D4C-B0A2-5B5F833ED1CA}"/>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PRINCIPIOS GENERALES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pic>
        <p:nvPicPr>
          <p:cNvPr id="3" name="Imagen 2">
            <a:extLst>
              <a:ext uri="{FF2B5EF4-FFF2-40B4-BE49-F238E27FC236}">
                <a16:creationId xmlns:a16="http://schemas.microsoft.com/office/drawing/2014/main" id="{4FFDD21A-740D-5C42-81A2-253F5D2273F4}"/>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751389" y="0"/>
            <a:ext cx="4392612" cy="5715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5" name="Google Shape;465;p34"/>
          <p:cNvSpPr/>
          <p:nvPr/>
        </p:nvSpPr>
        <p:spPr>
          <a:xfrm>
            <a:off x="503238" y="911226"/>
            <a:ext cx="8055641" cy="204671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FALACIA DE AUSENCIA DE ERRORES</a:t>
            </a:r>
            <a:endParaRPr dirty="0"/>
          </a:p>
          <a:p>
            <a:pPr marL="179388" marR="0" lvl="0" indent="-169863"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La detección y corrección de defectos no servirá de nada si el sistema construido no es usable y no cumple las expectativas y necesidades de los usuarios.</a:t>
            </a:r>
            <a:endParaRPr dirty="0"/>
          </a:p>
          <a:p>
            <a:pPr marL="179388" marR="0" lvl="0" indent="-68263"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179388" marR="0" lvl="0" indent="-169863"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El software sin errores conocidos no está necesariamente listo para ser liberado.</a:t>
            </a:r>
            <a:endParaRPr dirty="0"/>
          </a:p>
          <a:p>
            <a:pPr marL="179388" marR="0" lvl="0" indent="-68263"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361950" marR="0" lvl="1" indent="-180975"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¿La aplicación bajo prueba coincide con las necesidades y expectativas de los usuarios?</a:t>
            </a:r>
            <a:endParaRPr dirty="0"/>
          </a:p>
          <a:p>
            <a:pPr marL="361950" marR="0" lvl="1" indent="-180975"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El hecho de que no haya defectos visibles no es una buena razón para liberar el software.</a:t>
            </a:r>
            <a:endParaRPr dirty="0"/>
          </a:p>
        </p:txBody>
      </p:sp>
      <p:sp>
        <p:nvSpPr>
          <p:cNvPr id="4" name="Rectangle 5">
            <a:extLst>
              <a:ext uri="{FF2B5EF4-FFF2-40B4-BE49-F238E27FC236}">
                <a16:creationId xmlns:a16="http://schemas.microsoft.com/office/drawing/2014/main" id="{C57A3C21-5620-D946-8A99-0FA4D22B78DC}"/>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PRINCIPIOS GENERALES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25" name="Rectangle 5">
            <a:extLst>
              <a:ext uri="{FF2B5EF4-FFF2-40B4-BE49-F238E27FC236}">
                <a16:creationId xmlns:a16="http://schemas.microsoft.com/office/drawing/2014/main" id="{9743443E-EBBC-6846-87B2-2244F68716D6}"/>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PRINCIPIOS GENERALES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26" name="Rectángulo redondeado 25">
            <a:extLst>
              <a:ext uri="{FF2B5EF4-FFF2-40B4-BE49-F238E27FC236}">
                <a16:creationId xmlns:a16="http://schemas.microsoft.com/office/drawing/2014/main" id="{D30FEB6D-1E0A-F048-9C08-619749BF8E37}"/>
              </a:ext>
            </a:extLst>
          </p:cNvPr>
          <p:cNvSpPr/>
          <p:nvPr/>
        </p:nvSpPr>
        <p:spPr>
          <a:xfrm>
            <a:off x="1647809" y="1220396"/>
            <a:ext cx="5848382" cy="425524"/>
          </a:xfrm>
          <a:prstGeom prst="roundRect">
            <a:avLst>
              <a:gd name="adj" fmla="val 21784"/>
            </a:avLst>
          </a:prstGeom>
          <a:solidFill>
            <a:srgbClr val="FFD8D4"/>
          </a:solidFill>
          <a:ln w="38100">
            <a:solidFill>
              <a:srgbClr val="EE4639"/>
            </a:solidFill>
          </a:ln>
        </p:spPr>
        <p:style>
          <a:lnRef idx="2">
            <a:schemeClr val="accent1">
              <a:shade val="50000"/>
            </a:schemeClr>
          </a:lnRef>
          <a:fillRef idx="1">
            <a:schemeClr val="accent1"/>
          </a:fillRef>
          <a:effectRef idx="0">
            <a:schemeClr val="accent1"/>
          </a:effectRef>
          <a:fontRef idx="minor">
            <a:schemeClr val="lt1"/>
          </a:fontRef>
        </p:style>
        <p:txBody>
          <a:bodyPr lIns="180000" tIns="72000" rIns="36000" rtlCol="0" anchor="t"/>
          <a:lstStyle/>
          <a:p>
            <a:pPr marL="0" marR="0" lvl="0" indent="0" algn="l" rtl="0">
              <a:lnSpc>
                <a:spcPct val="90000"/>
              </a:lnSpc>
              <a:spcBef>
                <a:spcPts val="0"/>
              </a:spcBef>
              <a:spcAft>
                <a:spcPts val="0"/>
              </a:spcAft>
              <a:buClr>
                <a:schemeClr val="lt1"/>
              </a:buClr>
              <a:buSzPts val="1600"/>
              <a:buFont typeface="Calibri"/>
              <a:buNone/>
            </a:pPr>
            <a:r>
              <a:rPr lang="es-PE" sz="1500" b="1" dirty="0">
                <a:solidFill>
                  <a:schemeClr val="tx1"/>
                </a:solidFill>
                <a:latin typeface="Calibri"/>
                <a:ea typeface="Calibri"/>
                <a:cs typeface="Calibri"/>
                <a:sym typeface="Calibri"/>
              </a:rPr>
              <a:t>Las pruebas revelan la presencia de defectos</a:t>
            </a:r>
          </a:p>
        </p:txBody>
      </p:sp>
      <p:sp>
        <p:nvSpPr>
          <p:cNvPr id="27" name="Rectángulo redondeado 26">
            <a:extLst>
              <a:ext uri="{FF2B5EF4-FFF2-40B4-BE49-F238E27FC236}">
                <a16:creationId xmlns:a16="http://schemas.microsoft.com/office/drawing/2014/main" id="{0C89B17C-393F-8B49-A025-7B8EBBE6D3CA}"/>
              </a:ext>
            </a:extLst>
          </p:cNvPr>
          <p:cNvSpPr/>
          <p:nvPr/>
        </p:nvSpPr>
        <p:spPr>
          <a:xfrm>
            <a:off x="1647809" y="1759892"/>
            <a:ext cx="5848382" cy="425524"/>
          </a:xfrm>
          <a:prstGeom prst="roundRect">
            <a:avLst>
              <a:gd name="adj" fmla="val 21784"/>
            </a:avLst>
          </a:prstGeom>
          <a:solidFill>
            <a:srgbClr val="DDEEC7"/>
          </a:solidFill>
          <a:ln w="38100">
            <a:solidFill>
              <a:srgbClr val="8FC53F"/>
            </a:solidFill>
          </a:ln>
        </p:spPr>
        <p:style>
          <a:lnRef idx="2">
            <a:schemeClr val="accent1">
              <a:shade val="50000"/>
            </a:schemeClr>
          </a:lnRef>
          <a:fillRef idx="1">
            <a:schemeClr val="accent1"/>
          </a:fillRef>
          <a:effectRef idx="0">
            <a:schemeClr val="accent1"/>
          </a:effectRef>
          <a:fontRef idx="minor">
            <a:schemeClr val="lt1"/>
          </a:fontRef>
        </p:style>
        <p:txBody>
          <a:bodyPr lIns="180000" tIns="72000" rIns="36000" rtlCol="0" anchor="t"/>
          <a:lstStyle/>
          <a:p>
            <a:pPr marL="0" marR="0" lvl="0" indent="0" algn="l" rtl="0">
              <a:lnSpc>
                <a:spcPct val="90000"/>
              </a:lnSpc>
              <a:spcBef>
                <a:spcPts val="0"/>
              </a:spcBef>
              <a:spcAft>
                <a:spcPts val="0"/>
              </a:spcAft>
              <a:buClr>
                <a:schemeClr val="lt1"/>
              </a:buClr>
              <a:buSzPts val="1600"/>
              <a:buFont typeface="Calibri"/>
              <a:buNone/>
            </a:pPr>
            <a:r>
              <a:rPr lang="es-PE" sz="1500" b="1" dirty="0">
                <a:solidFill>
                  <a:schemeClr val="tx1"/>
                </a:solidFill>
                <a:latin typeface="Calibri"/>
                <a:ea typeface="Calibri"/>
                <a:cs typeface="Calibri"/>
                <a:sym typeface="Calibri"/>
              </a:rPr>
              <a:t>La imposibilidad de pruebas exhaustivas</a:t>
            </a:r>
          </a:p>
        </p:txBody>
      </p:sp>
      <p:sp>
        <p:nvSpPr>
          <p:cNvPr id="28" name="Rectángulo redondeado 27">
            <a:extLst>
              <a:ext uri="{FF2B5EF4-FFF2-40B4-BE49-F238E27FC236}">
                <a16:creationId xmlns:a16="http://schemas.microsoft.com/office/drawing/2014/main" id="{18CF6FA9-121D-1E42-A5FC-D527C5713BF9}"/>
              </a:ext>
            </a:extLst>
          </p:cNvPr>
          <p:cNvSpPr/>
          <p:nvPr/>
        </p:nvSpPr>
        <p:spPr>
          <a:xfrm>
            <a:off x="1647809" y="2308532"/>
            <a:ext cx="5848382" cy="425524"/>
          </a:xfrm>
          <a:prstGeom prst="roundRect">
            <a:avLst>
              <a:gd name="adj" fmla="val 21784"/>
            </a:avLst>
          </a:prstGeom>
          <a:solidFill>
            <a:srgbClr val="E3DCED"/>
          </a:solidFill>
          <a:ln w="38100">
            <a:solidFill>
              <a:srgbClr val="7150A0"/>
            </a:solidFill>
          </a:ln>
        </p:spPr>
        <p:style>
          <a:lnRef idx="2">
            <a:schemeClr val="accent1">
              <a:shade val="50000"/>
            </a:schemeClr>
          </a:lnRef>
          <a:fillRef idx="1">
            <a:schemeClr val="accent1"/>
          </a:fillRef>
          <a:effectRef idx="0">
            <a:schemeClr val="accent1"/>
          </a:effectRef>
          <a:fontRef idx="minor">
            <a:schemeClr val="lt1"/>
          </a:fontRef>
        </p:style>
        <p:txBody>
          <a:bodyPr lIns="180000" tIns="72000" rIns="36000" rtlCol="0" anchor="t"/>
          <a:lstStyle/>
          <a:p>
            <a:pPr marL="0" marR="0" lvl="0" indent="0" algn="l" rtl="0">
              <a:lnSpc>
                <a:spcPct val="90000"/>
              </a:lnSpc>
              <a:spcBef>
                <a:spcPts val="0"/>
              </a:spcBef>
              <a:spcAft>
                <a:spcPts val="0"/>
              </a:spcAft>
              <a:buClr>
                <a:schemeClr val="lt1"/>
              </a:buClr>
              <a:buSzPts val="1600"/>
              <a:buFont typeface="Calibri"/>
              <a:buNone/>
            </a:pPr>
            <a:r>
              <a:rPr lang="es-PE" sz="1500" b="1" dirty="0">
                <a:solidFill>
                  <a:schemeClr val="tx1"/>
                </a:solidFill>
                <a:latin typeface="Calibri"/>
                <a:ea typeface="Calibri"/>
                <a:cs typeface="Calibri"/>
                <a:sym typeface="Calibri"/>
              </a:rPr>
              <a:t>Los beneficios de las pruebas tempranas</a:t>
            </a:r>
          </a:p>
        </p:txBody>
      </p:sp>
      <p:sp>
        <p:nvSpPr>
          <p:cNvPr id="29" name="Rectángulo redondeado 28">
            <a:extLst>
              <a:ext uri="{FF2B5EF4-FFF2-40B4-BE49-F238E27FC236}">
                <a16:creationId xmlns:a16="http://schemas.microsoft.com/office/drawing/2014/main" id="{8861CEEE-F806-B04D-B046-47E4762F2F0E}"/>
              </a:ext>
            </a:extLst>
          </p:cNvPr>
          <p:cNvSpPr/>
          <p:nvPr/>
        </p:nvSpPr>
        <p:spPr>
          <a:xfrm>
            <a:off x="1647809" y="2857172"/>
            <a:ext cx="5848382" cy="425524"/>
          </a:xfrm>
          <a:prstGeom prst="roundRect">
            <a:avLst>
              <a:gd name="adj" fmla="val 21784"/>
            </a:avLst>
          </a:prstGeom>
          <a:solidFill>
            <a:srgbClr val="D1EFF4"/>
          </a:solidFill>
          <a:ln w="38100">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lIns="180000" tIns="72000" rIns="36000" rtlCol="0" anchor="t"/>
          <a:lstStyle/>
          <a:p>
            <a:pPr marL="0" marR="0" lvl="0" indent="0" algn="l" rtl="0">
              <a:lnSpc>
                <a:spcPct val="90000"/>
              </a:lnSpc>
              <a:spcBef>
                <a:spcPts val="0"/>
              </a:spcBef>
              <a:spcAft>
                <a:spcPts val="0"/>
              </a:spcAft>
              <a:buClr>
                <a:schemeClr val="lt1"/>
              </a:buClr>
              <a:buSzPts val="1600"/>
              <a:buFont typeface="Calibri"/>
              <a:buNone/>
            </a:pPr>
            <a:r>
              <a:rPr lang="es-PE" sz="1500" b="1" dirty="0">
                <a:solidFill>
                  <a:schemeClr val="tx1"/>
                </a:solidFill>
                <a:latin typeface="Calibri"/>
                <a:ea typeface="Calibri"/>
                <a:cs typeface="Calibri"/>
                <a:sym typeface="Calibri"/>
              </a:rPr>
              <a:t>El agrupamiento de defectos</a:t>
            </a:r>
            <a:endParaRPr lang="es-PE" sz="1500" dirty="0">
              <a:solidFill>
                <a:schemeClr val="tx1"/>
              </a:solidFill>
            </a:endParaRPr>
          </a:p>
        </p:txBody>
      </p:sp>
      <p:sp>
        <p:nvSpPr>
          <p:cNvPr id="30" name="Rectángulo redondeado 29">
            <a:extLst>
              <a:ext uri="{FF2B5EF4-FFF2-40B4-BE49-F238E27FC236}">
                <a16:creationId xmlns:a16="http://schemas.microsoft.com/office/drawing/2014/main" id="{0DC51342-0613-B441-B8DB-9C1923F87497}"/>
              </a:ext>
            </a:extLst>
          </p:cNvPr>
          <p:cNvSpPr/>
          <p:nvPr/>
        </p:nvSpPr>
        <p:spPr>
          <a:xfrm>
            <a:off x="1647809" y="3414956"/>
            <a:ext cx="5848382" cy="425524"/>
          </a:xfrm>
          <a:prstGeom prst="roundRect">
            <a:avLst>
              <a:gd name="adj" fmla="val 21784"/>
            </a:avLst>
          </a:prstGeom>
          <a:solidFill>
            <a:srgbClr val="FFEBB3"/>
          </a:solidFill>
          <a:ln w="38100">
            <a:solidFill>
              <a:srgbClr val="FEC211"/>
            </a:solidFill>
          </a:ln>
        </p:spPr>
        <p:style>
          <a:lnRef idx="2">
            <a:schemeClr val="accent1">
              <a:shade val="50000"/>
            </a:schemeClr>
          </a:lnRef>
          <a:fillRef idx="1">
            <a:schemeClr val="accent1"/>
          </a:fillRef>
          <a:effectRef idx="0">
            <a:schemeClr val="accent1"/>
          </a:effectRef>
          <a:fontRef idx="minor">
            <a:schemeClr val="lt1"/>
          </a:fontRef>
        </p:style>
        <p:txBody>
          <a:bodyPr lIns="180000" tIns="72000" rIns="36000" rtlCol="0" anchor="t"/>
          <a:lstStyle/>
          <a:p>
            <a:pPr marL="0" marR="0" lvl="0" indent="0" algn="l" rtl="0">
              <a:lnSpc>
                <a:spcPct val="90000"/>
              </a:lnSpc>
              <a:spcBef>
                <a:spcPts val="0"/>
              </a:spcBef>
              <a:spcAft>
                <a:spcPts val="0"/>
              </a:spcAft>
              <a:buClr>
                <a:schemeClr val="lt1"/>
              </a:buClr>
              <a:buSzPts val="1600"/>
              <a:buFont typeface="Calibri"/>
              <a:buNone/>
            </a:pPr>
            <a:r>
              <a:rPr lang="es-PE" sz="1500" b="1" dirty="0">
                <a:solidFill>
                  <a:schemeClr val="tx1"/>
                </a:solidFill>
                <a:latin typeface="Calibri"/>
                <a:ea typeface="Calibri"/>
                <a:cs typeface="Calibri"/>
                <a:sym typeface="Calibri"/>
              </a:rPr>
              <a:t>La paradoja del pesticida</a:t>
            </a:r>
          </a:p>
        </p:txBody>
      </p:sp>
      <p:sp>
        <p:nvSpPr>
          <p:cNvPr id="31" name="Rectángulo redondeado 30">
            <a:extLst>
              <a:ext uri="{FF2B5EF4-FFF2-40B4-BE49-F238E27FC236}">
                <a16:creationId xmlns:a16="http://schemas.microsoft.com/office/drawing/2014/main" id="{7DDA910B-25CC-E640-8124-68FB8CA71926}"/>
              </a:ext>
            </a:extLst>
          </p:cNvPr>
          <p:cNvSpPr/>
          <p:nvPr/>
        </p:nvSpPr>
        <p:spPr>
          <a:xfrm>
            <a:off x="1647809" y="3972740"/>
            <a:ext cx="5848382" cy="425524"/>
          </a:xfrm>
          <a:prstGeom prst="roundRect">
            <a:avLst>
              <a:gd name="adj" fmla="val 21784"/>
            </a:avLst>
          </a:prstGeom>
          <a:solidFill>
            <a:srgbClr val="FFD7C1"/>
          </a:solidFill>
          <a:ln w="38100">
            <a:solidFill>
              <a:srgbClr val="FE7828"/>
            </a:solidFill>
          </a:ln>
        </p:spPr>
        <p:style>
          <a:lnRef idx="2">
            <a:schemeClr val="accent1">
              <a:shade val="50000"/>
            </a:schemeClr>
          </a:lnRef>
          <a:fillRef idx="1">
            <a:schemeClr val="accent1"/>
          </a:fillRef>
          <a:effectRef idx="0">
            <a:schemeClr val="accent1"/>
          </a:effectRef>
          <a:fontRef idx="minor">
            <a:schemeClr val="lt1"/>
          </a:fontRef>
        </p:style>
        <p:txBody>
          <a:bodyPr lIns="180000" tIns="72000" rIns="36000" rtlCol="0" anchor="t"/>
          <a:lstStyle/>
          <a:p>
            <a:pPr marL="0" marR="0" lvl="0" indent="0" algn="l" rtl="0">
              <a:lnSpc>
                <a:spcPct val="90000"/>
              </a:lnSpc>
              <a:spcBef>
                <a:spcPts val="0"/>
              </a:spcBef>
              <a:spcAft>
                <a:spcPts val="0"/>
              </a:spcAft>
              <a:buClr>
                <a:schemeClr val="lt1"/>
              </a:buClr>
              <a:buSzPts val="1600"/>
              <a:buFont typeface="Calibri"/>
              <a:buNone/>
            </a:pPr>
            <a:r>
              <a:rPr lang="es-PE" sz="1500" b="1" dirty="0">
                <a:solidFill>
                  <a:schemeClr val="tx1"/>
                </a:solidFill>
                <a:latin typeface="Calibri"/>
                <a:ea typeface="Calibri"/>
                <a:cs typeface="Calibri"/>
                <a:sym typeface="Calibri"/>
              </a:rPr>
              <a:t>Las pruebas deberían adaptarse a necesidades específicas</a:t>
            </a:r>
          </a:p>
        </p:txBody>
      </p:sp>
      <p:sp>
        <p:nvSpPr>
          <p:cNvPr id="32" name="Rectángulo redondeado 31">
            <a:extLst>
              <a:ext uri="{FF2B5EF4-FFF2-40B4-BE49-F238E27FC236}">
                <a16:creationId xmlns:a16="http://schemas.microsoft.com/office/drawing/2014/main" id="{CFC125EE-5AF4-3042-A12C-AE80170D4A7B}"/>
              </a:ext>
            </a:extLst>
          </p:cNvPr>
          <p:cNvSpPr/>
          <p:nvPr/>
        </p:nvSpPr>
        <p:spPr>
          <a:xfrm>
            <a:off x="1647809" y="4530524"/>
            <a:ext cx="5848382" cy="425524"/>
          </a:xfrm>
          <a:prstGeom prst="roundRect">
            <a:avLst>
              <a:gd name="adj" fmla="val 21784"/>
            </a:avLst>
          </a:prstGeom>
          <a:solidFill>
            <a:srgbClr val="D8D8D8"/>
          </a:solidFill>
          <a:ln w="38100">
            <a:solidFill>
              <a:srgbClr val="808799"/>
            </a:solidFill>
          </a:ln>
        </p:spPr>
        <p:style>
          <a:lnRef idx="2">
            <a:schemeClr val="accent1">
              <a:shade val="50000"/>
            </a:schemeClr>
          </a:lnRef>
          <a:fillRef idx="1">
            <a:schemeClr val="accent1"/>
          </a:fillRef>
          <a:effectRef idx="0">
            <a:schemeClr val="accent1"/>
          </a:effectRef>
          <a:fontRef idx="minor">
            <a:schemeClr val="lt1"/>
          </a:fontRef>
        </p:style>
        <p:txBody>
          <a:bodyPr lIns="180000" tIns="72000" rIns="36000" rtlCol="0" anchor="t"/>
          <a:lstStyle/>
          <a:p>
            <a:pPr marL="0" marR="0" lvl="0" indent="0" algn="l" rtl="0">
              <a:lnSpc>
                <a:spcPct val="90000"/>
              </a:lnSpc>
              <a:spcBef>
                <a:spcPts val="0"/>
              </a:spcBef>
              <a:spcAft>
                <a:spcPts val="0"/>
              </a:spcAft>
              <a:buClr>
                <a:schemeClr val="lt1"/>
              </a:buClr>
              <a:buSzPts val="1600"/>
              <a:buFont typeface="Calibri"/>
              <a:buNone/>
            </a:pPr>
            <a:r>
              <a:rPr lang="es-PE" sz="1500" b="1" dirty="0">
                <a:solidFill>
                  <a:schemeClr val="tx1"/>
                </a:solidFill>
                <a:latin typeface="Calibri"/>
                <a:ea typeface="Calibri"/>
                <a:cs typeface="Calibri"/>
                <a:sym typeface="Calibri"/>
              </a:rPr>
              <a:t>La falacia de la ausencia de errores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B1EAAAA6-9DE5-E84C-8099-27CAFF653C8C}"/>
              </a:ext>
            </a:extLst>
          </p:cNvPr>
          <p:cNvSpPr/>
          <p:nvPr/>
        </p:nvSpPr>
        <p:spPr>
          <a:xfrm>
            <a:off x="0" y="0"/>
            <a:ext cx="9144000" cy="5715000"/>
          </a:xfrm>
          <a:prstGeom prst="rect">
            <a:avLst/>
          </a:prstGeom>
          <a:solidFill>
            <a:srgbClr val="654E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grpSp>
        <p:nvGrpSpPr>
          <p:cNvPr id="3" name="Grupo 2">
            <a:extLst>
              <a:ext uri="{FF2B5EF4-FFF2-40B4-BE49-F238E27FC236}">
                <a16:creationId xmlns:a16="http://schemas.microsoft.com/office/drawing/2014/main" id="{D4D8E406-C742-0748-8F40-0A4159FD2D9C}"/>
              </a:ext>
            </a:extLst>
          </p:cNvPr>
          <p:cNvGrpSpPr/>
          <p:nvPr/>
        </p:nvGrpSpPr>
        <p:grpSpPr>
          <a:xfrm>
            <a:off x="2506315" y="2194222"/>
            <a:ext cx="4581728" cy="1326557"/>
            <a:chOff x="2403187" y="2211377"/>
            <a:chExt cx="4581728" cy="1326557"/>
          </a:xfrm>
        </p:grpSpPr>
        <p:sp>
          <p:nvSpPr>
            <p:cNvPr id="4" name="CuadroTexto 3">
              <a:extLst>
                <a:ext uri="{FF2B5EF4-FFF2-40B4-BE49-F238E27FC236}">
                  <a16:creationId xmlns:a16="http://schemas.microsoft.com/office/drawing/2014/main" id="{E165F834-E33D-384F-9313-83051B5F5CEA}"/>
                </a:ext>
              </a:extLst>
            </p:cNvPr>
            <p:cNvSpPr txBox="1"/>
            <p:nvPr/>
          </p:nvSpPr>
          <p:spPr>
            <a:xfrm>
              <a:off x="2403187" y="2540738"/>
              <a:ext cx="4581728" cy="997196"/>
            </a:xfrm>
            <a:prstGeom prst="rect">
              <a:avLst/>
            </a:prstGeom>
            <a:noFill/>
          </p:spPr>
          <p:txBody>
            <a:bodyPr wrap="square" lIns="0" tIns="0" rIns="0" bIns="0" rtlCol="0">
              <a:spAutoFit/>
            </a:bodyPr>
            <a:lstStyle/>
            <a:p>
              <a:pPr>
                <a:lnSpc>
                  <a:spcPct val="90000"/>
                </a:lnSpc>
              </a:pPr>
              <a:r>
                <a:rPr lang="es-ES_tradnl" sz="3600" dirty="0">
                  <a:solidFill>
                    <a:schemeClr val="bg1"/>
                  </a:solidFill>
                  <a:latin typeface="Graphik Regular" charset="0"/>
                  <a:ea typeface="Graphik Regular" charset="0"/>
                  <a:cs typeface="Graphik Regular" charset="0"/>
                </a:rPr>
                <a:t>CONCLUSIONES</a:t>
              </a:r>
              <a:br>
                <a:rPr lang="es-ES_tradnl" sz="3600" dirty="0">
                  <a:solidFill>
                    <a:schemeClr val="bg1"/>
                  </a:solidFill>
                  <a:latin typeface="Graphik Regular" charset="0"/>
                  <a:ea typeface="Graphik Regular" charset="0"/>
                  <a:cs typeface="Graphik Regular" charset="0"/>
                </a:rPr>
              </a:br>
              <a:r>
                <a:rPr lang="es-ES_tradnl" sz="3600" b="1" dirty="0">
                  <a:solidFill>
                    <a:schemeClr val="bg1"/>
                  </a:solidFill>
                  <a:latin typeface="Graphik Bold" charset="0"/>
                  <a:ea typeface="Graphik Bold" charset="0"/>
                  <a:cs typeface="Graphik Bold" charset="0"/>
                </a:rPr>
                <a:t>MÁS REFERENCIAS</a:t>
              </a:r>
            </a:p>
          </p:txBody>
        </p:sp>
        <p:pic>
          <p:nvPicPr>
            <p:cNvPr id="5" name="Imagen 4">
              <a:extLst>
                <a:ext uri="{FF2B5EF4-FFF2-40B4-BE49-F238E27FC236}">
                  <a16:creationId xmlns:a16="http://schemas.microsoft.com/office/drawing/2014/main" id="{B14612E3-1FF2-594A-B37C-78B866305744}"/>
                </a:ext>
              </a:extLst>
            </p:cNvPr>
            <p:cNvPicPr>
              <a:picLocks noChangeAspect="1"/>
            </p:cNvPicPr>
            <p:nvPr/>
          </p:nvPicPr>
          <p:blipFill>
            <a:blip r:embed="rId2"/>
            <a:stretch>
              <a:fillRect/>
            </a:stretch>
          </p:blipFill>
          <p:spPr>
            <a:xfrm>
              <a:off x="2425491" y="2211377"/>
              <a:ext cx="202176" cy="208211"/>
            </a:xfrm>
            <a:prstGeom prst="rect">
              <a:avLst/>
            </a:prstGeom>
          </p:spPr>
        </p:pic>
      </p:grpSp>
      <p:pic>
        <p:nvPicPr>
          <p:cNvPr id="6" name="Imagen 5">
            <a:extLst>
              <a:ext uri="{FF2B5EF4-FFF2-40B4-BE49-F238E27FC236}">
                <a16:creationId xmlns:a16="http://schemas.microsoft.com/office/drawing/2014/main" id="{3116117B-EED5-6748-9878-FD140522FC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3" y="946969"/>
            <a:ext cx="2072214" cy="3898064"/>
          </a:xfrm>
          <a:prstGeom prst="rect">
            <a:avLst/>
          </a:prstGeom>
        </p:spPr>
      </p:pic>
    </p:spTree>
    <p:extLst>
      <p:ext uri="{BB962C8B-B14F-4D97-AF65-F5344CB8AC3E}">
        <p14:creationId xmlns:p14="http://schemas.microsoft.com/office/powerpoint/2010/main" val="18802806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22" name="Rectángulo 21">
            <a:extLst>
              <a:ext uri="{FF2B5EF4-FFF2-40B4-BE49-F238E27FC236}">
                <a16:creationId xmlns:a16="http://schemas.microsoft.com/office/drawing/2014/main" id="{11712CCE-B517-1543-BEAF-E72793A701E5}"/>
              </a:ext>
            </a:extLst>
          </p:cNvPr>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23" name="object 7">
            <a:extLst>
              <a:ext uri="{FF2B5EF4-FFF2-40B4-BE49-F238E27FC236}">
                <a16:creationId xmlns:a16="http://schemas.microsoft.com/office/drawing/2014/main" id="{4915C009-FD7C-E949-87CD-9EA235E0A974}"/>
              </a:ext>
            </a:extLst>
          </p:cNvPr>
          <p:cNvSpPr txBox="1"/>
          <p:nvPr/>
        </p:nvSpPr>
        <p:spPr>
          <a:xfrm>
            <a:off x="1279545" y="912813"/>
            <a:ext cx="5705454" cy="2585323"/>
          </a:xfrm>
          <a:prstGeom prst="rect">
            <a:avLst/>
          </a:prstGeom>
        </p:spPr>
        <p:txBody>
          <a:bodyPr vert="horz" wrap="square" lIns="0" tIns="0" rIns="0" bIns="0" rtlCol="0">
            <a:spAutoFit/>
          </a:bodyPr>
          <a:lstStyle/>
          <a:p>
            <a:pPr marL="9525" marR="0" lvl="0" algn="l" rtl="0">
              <a:spcBef>
                <a:spcPts val="0"/>
              </a:spcBef>
              <a:spcAft>
                <a:spcPts val="0"/>
              </a:spcAft>
              <a:buClr>
                <a:schemeClr val="lt1"/>
              </a:buClr>
              <a:buSzPts val="1700"/>
            </a:pPr>
            <a:r>
              <a:rPr lang="es-PE" dirty="0">
                <a:solidFill>
                  <a:schemeClr val="tx1"/>
                </a:solidFill>
                <a:latin typeface="Calibri" panose="020F0502020204030204" pitchFamily="34" charset="0"/>
                <a:ea typeface="Calibri"/>
                <a:cs typeface="Calibri" panose="020F0502020204030204" pitchFamily="34" charset="0"/>
                <a:sym typeface="Calibri"/>
              </a:rPr>
              <a:t>Razones de por qué las pruebas son necesarias.</a:t>
            </a:r>
            <a:endParaRPr lang="es-PE" dirty="0">
              <a:solidFill>
                <a:schemeClr val="tx1"/>
              </a:solidFill>
              <a:latin typeface="Calibri" panose="020F0502020204030204" pitchFamily="34" charset="0"/>
              <a:cs typeface="Calibri" panose="020F0502020204030204" pitchFamily="34" charset="0"/>
            </a:endParaRPr>
          </a:p>
          <a:p>
            <a:pPr marL="117475" marR="0" lvl="0" algn="l" rtl="0">
              <a:spcBef>
                <a:spcPts val="0"/>
              </a:spcBef>
              <a:spcAft>
                <a:spcPts val="0"/>
              </a:spcAft>
              <a:buClr>
                <a:schemeClr val="dk1"/>
              </a:buClr>
              <a:buSzPts val="1700"/>
            </a:pPr>
            <a:endParaRPr lang="es-PE" dirty="0">
              <a:solidFill>
                <a:schemeClr val="tx1"/>
              </a:solidFill>
              <a:latin typeface="Calibri" panose="020F0502020204030204" pitchFamily="34" charset="0"/>
              <a:ea typeface="Calibri"/>
              <a:cs typeface="Calibri" panose="020F0502020204030204" pitchFamily="34" charset="0"/>
              <a:sym typeface="Calibri"/>
            </a:endParaRPr>
          </a:p>
          <a:p>
            <a:pPr marL="9525" marR="0" lvl="0" algn="l" rtl="0">
              <a:spcBef>
                <a:spcPts val="0"/>
              </a:spcBef>
              <a:spcAft>
                <a:spcPts val="0"/>
              </a:spcAft>
              <a:buClr>
                <a:schemeClr val="lt1"/>
              </a:buClr>
              <a:buSzPts val="1700"/>
            </a:pPr>
            <a:r>
              <a:rPr lang="es-PE" dirty="0">
                <a:solidFill>
                  <a:schemeClr val="tx1"/>
                </a:solidFill>
                <a:latin typeface="Calibri" panose="020F0502020204030204" pitchFamily="34" charset="0"/>
                <a:ea typeface="Calibri"/>
                <a:cs typeface="Calibri" panose="020F0502020204030204" pitchFamily="34" charset="0"/>
                <a:sym typeface="Calibri"/>
              </a:rPr>
              <a:t>Cómo las pruebas contribuyen a la calidad del software.</a:t>
            </a:r>
            <a:endParaRPr lang="es-PE" dirty="0">
              <a:solidFill>
                <a:schemeClr val="tx1"/>
              </a:solidFill>
              <a:latin typeface="Calibri" panose="020F0502020204030204" pitchFamily="34" charset="0"/>
              <a:cs typeface="Calibri" panose="020F0502020204030204" pitchFamily="34" charset="0"/>
            </a:endParaRPr>
          </a:p>
          <a:p>
            <a:pPr marL="117475" marR="0" lvl="0" algn="l" rtl="0">
              <a:spcBef>
                <a:spcPts val="0"/>
              </a:spcBef>
              <a:spcAft>
                <a:spcPts val="0"/>
              </a:spcAft>
              <a:buClr>
                <a:schemeClr val="dk1"/>
              </a:buClr>
              <a:buSzPts val="1700"/>
            </a:pPr>
            <a:endParaRPr lang="es-PE" dirty="0">
              <a:solidFill>
                <a:schemeClr val="tx1"/>
              </a:solidFill>
              <a:latin typeface="Calibri" panose="020F0502020204030204" pitchFamily="34" charset="0"/>
              <a:ea typeface="Calibri"/>
              <a:cs typeface="Calibri" panose="020F0502020204030204" pitchFamily="34" charset="0"/>
              <a:sym typeface="Calibri"/>
            </a:endParaRPr>
          </a:p>
          <a:p>
            <a:pPr marL="9525" marR="0" lvl="0" algn="l" rtl="0">
              <a:spcBef>
                <a:spcPts val="0"/>
              </a:spcBef>
              <a:spcAft>
                <a:spcPts val="0"/>
              </a:spcAft>
              <a:buClr>
                <a:schemeClr val="lt1"/>
              </a:buClr>
              <a:buSzPts val="1700"/>
            </a:pPr>
            <a:r>
              <a:rPr lang="es-PE" dirty="0">
                <a:solidFill>
                  <a:schemeClr val="tx1"/>
                </a:solidFill>
                <a:latin typeface="Calibri" panose="020F0502020204030204" pitchFamily="34" charset="0"/>
                <a:ea typeface="Calibri"/>
                <a:cs typeface="Calibri" panose="020F0502020204030204" pitchFamily="34" charset="0"/>
                <a:sym typeface="Calibri"/>
              </a:rPr>
              <a:t>Siete son los Principios Generales de las Pruebas:</a:t>
            </a:r>
            <a:endParaRPr lang="es-PE" dirty="0">
              <a:solidFill>
                <a:schemeClr val="tx1"/>
              </a:solidFill>
              <a:latin typeface="Calibri" panose="020F0502020204030204" pitchFamily="34" charset="0"/>
              <a:cs typeface="Calibri" panose="020F0502020204030204" pitchFamily="34" charset="0"/>
            </a:endParaRPr>
          </a:p>
          <a:p>
            <a:pPr marL="177800" lvl="2" indent="-165100">
              <a:buClr>
                <a:srgbClr val="7150A0"/>
              </a:buClr>
              <a:buSzPct val="100000"/>
              <a:buFont typeface="Arial" charset="0"/>
              <a:buChar char="•"/>
              <a:tabLst>
                <a:tab pos="120650" algn="l"/>
              </a:tabLst>
            </a:pPr>
            <a:r>
              <a:rPr lang="es-PE" spc="-10" dirty="0">
                <a:solidFill>
                  <a:schemeClr val="tx1"/>
                </a:solidFill>
                <a:latin typeface="Calibri" panose="020F0502020204030204" pitchFamily="34" charset="0"/>
                <a:cs typeface="Calibri" panose="020F0502020204030204" pitchFamily="34" charset="0"/>
                <a:sym typeface="Calibri"/>
              </a:rPr>
              <a:t>Las pruebas revelan la presencia de defectos. </a:t>
            </a:r>
            <a:endParaRPr lang="es-PE" spc="-10" dirty="0">
              <a:solidFill>
                <a:schemeClr val="tx1"/>
              </a:solidFill>
              <a:latin typeface="Calibri" panose="020F0502020204030204" pitchFamily="34" charset="0"/>
              <a:cs typeface="Calibri" panose="020F0502020204030204" pitchFamily="34" charset="0"/>
            </a:endParaRPr>
          </a:p>
          <a:p>
            <a:pPr marL="177800" lvl="2" indent="-165100">
              <a:buClr>
                <a:srgbClr val="7150A0"/>
              </a:buClr>
              <a:buSzPct val="100000"/>
              <a:buFont typeface="Arial" charset="0"/>
              <a:buChar char="•"/>
              <a:tabLst>
                <a:tab pos="120650" algn="l"/>
              </a:tabLst>
            </a:pPr>
            <a:r>
              <a:rPr lang="es-PE" spc="-10" dirty="0">
                <a:solidFill>
                  <a:schemeClr val="tx1"/>
                </a:solidFill>
                <a:latin typeface="Calibri" panose="020F0502020204030204" pitchFamily="34" charset="0"/>
                <a:cs typeface="Calibri" panose="020F0502020204030204" pitchFamily="34" charset="0"/>
                <a:sym typeface="Calibri"/>
              </a:rPr>
              <a:t>La imposibilidad de pruebas exhaustivas. </a:t>
            </a:r>
            <a:endParaRPr lang="es-PE" spc="-10" dirty="0">
              <a:solidFill>
                <a:schemeClr val="tx1"/>
              </a:solidFill>
              <a:latin typeface="Calibri" panose="020F0502020204030204" pitchFamily="34" charset="0"/>
              <a:cs typeface="Calibri" panose="020F0502020204030204" pitchFamily="34" charset="0"/>
            </a:endParaRPr>
          </a:p>
          <a:p>
            <a:pPr marL="177800" lvl="2" indent="-165100">
              <a:buClr>
                <a:srgbClr val="7150A0"/>
              </a:buClr>
              <a:buSzPct val="100000"/>
              <a:buFont typeface="Arial" charset="0"/>
              <a:buChar char="•"/>
              <a:tabLst>
                <a:tab pos="120650" algn="l"/>
              </a:tabLst>
            </a:pPr>
            <a:r>
              <a:rPr lang="es-PE" spc="-10" dirty="0">
                <a:solidFill>
                  <a:schemeClr val="tx1"/>
                </a:solidFill>
                <a:latin typeface="Calibri" panose="020F0502020204030204" pitchFamily="34" charset="0"/>
                <a:cs typeface="Calibri" panose="020F0502020204030204" pitchFamily="34" charset="0"/>
                <a:sym typeface="Calibri"/>
              </a:rPr>
              <a:t>Los beneficios de las pruebas tempranas. </a:t>
            </a:r>
            <a:endParaRPr lang="es-PE" spc="-10" dirty="0">
              <a:solidFill>
                <a:schemeClr val="tx1"/>
              </a:solidFill>
              <a:latin typeface="Calibri" panose="020F0502020204030204" pitchFamily="34" charset="0"/>
              <a:cs typeface="Calibri" panose="020F0502020204030204" pitchFamily="34" charset="0"/>
            </a:endParaRPr>
          </a:p>
          <a:p>
            <a:pPr marL="177800" lvl="2" indent="-165100">
              <a:buClr>
                <a:srgbClr val="7150A0"/>
              </a:buClr>
              <a:buSzPct val="100000"/>
              <a:buFont typeface="Arial" charset="0"/>
              <a:buChar char="•"/>
              <a:tabLst>
                <a:tab pos="120650" algn="l"/>
              </a:tabLst>
            </a:pPr>
            <a:r>
              <a:rPr lang="es-PE" spc="-10" dirty="0">
                <a:solidFill>
                  <a:schemeClr val="tx1"/>
                </a:solidFill>
                <a:latin typeface="Calibri" panose="020F0502020204030204" pitchFamily="34" charset="0"/>
                <a:cs typeface="Calibri" panose="020F0502020204030204" pitchFamily="34" charset="0"/>
                <a:sym typeface="Calibri"/>
              </a:rPr>
              <a:t>La aglomeración de defectos: el agrupamiento de defectos. </a:t>
            </a:r>
            <a:endParaRPr lang="es-PE" spc="-10" dirty="0">
              <a:solidFill>
                <a:schemeClr val="tx1"/>
              </a:solidFill>
              <a:latin typeface="Calibri" panose="020F0502020204030204" pitchFamily="34" charset="0"/>
              <a:cs typeface="Calibri" panose="020F0502020204030204" pitchFamily="34" charset="0"/>
            </a:endParaRPr>
          </a:p>
          <a:p>
            <a:pPr marL="177800" lvl="2" indent="-165100">
              <a:buClr>
                <a:srgbClr val="7150A0"/>
              </a:buClr>
              <a:buSzPct val="100000"/>
              <a:buFont typeface="Arial" charset="0"/>
              <a:buChar char="•"/>
              <a:tabLst>
                <a:tab pos="120650" algn="l"/>
              </a:tabLst>
            </a:pPr>
            <a:r>
              <a:rPr lang="es-PE" spc="-10" dirty="0">
                <a:solidFill>
                  <a:schemeClr val="tx1"/>
                </a:solidFill>
                <a:latin typeface="Calibri" panose="020F0502020204030204" pitchFamily="34" charset="0"/>
                <a:cs typeface="Calibri" panose="020F0502020204030204" pitchFamily="34" charset="0"/>
                <a:sym typeface="Calibri"/>
              </a:rPr>
              <a:t>La paradoja del pesticida. </a:t>
            </a:r>
            <a:endParaRPr lang="es-PE" spc="-10" dirty="0">
              <a:solidFill>
                <a:schemeClr val="tx1"/>
              </a:solidFill>
              <a:latin typeface="Calibri" panose="020F0502020204030204" pitchFamily="34" charset="0"/>
              <a:cs typeface="Calibri" panose="020F0502020204030204" pitchFamily="34" charset="0"/>
            </a:endParaRPr>
          </a:p>
          <a:p>
            <a:pPr marL="177800" lvl="2" indent="-165100">
              <a:buClr>
                <a:srgbClr val="7150A0"/>
              </a:buClr>
              <a:buSzPct val="100000"/>
              <a:buFont typeface="Arial" charset="0"/>
              <a:buChar char="•"/>
              <a:tabLst>
                <a:tab pos="120650" algn="l"/>
              </a:tabLst>
            </a:pPr>
            <a:r>
              <a:rPr lang="es-PE" spc="-10" dirty="0">
                <a:solidFill>
                  <a:schemeClr val="tx1"/>
                </a:solidFill>
                <a:latin typeface="Calibri" panose="020F0502020204030204" pitchFamily="34" charset="0"/>
                <a:cs typeface="Calibri" panose="020F0502020204030204" pitchFamily="34" charset="0"/>
                <a:sym typeface="Calibri"/>
              </a:rPr>
              <a:t>Las pruebas deberían adaptarse a necesidades específicas. </a:t>
            </a:r>
            <a:endParaRPr lang="es-PE" spc="-10" dirty="0">
              <a:solidFill>
                <a:schemeClr val="tx1"/>
              </a:solidFill>
              <a:latin typeface="Calibri" panose="020F0502020204030204" pitchFamily="34" charset="0"/>
              <a:cs typeface="Calibri" panose="020F0502020204030204" pitchFamily="34" charset="0"/>
            </a:endParaRPr>
          </a:p>
          <a:p>
            <a:pPr marL="177800" lvl="2" indent="-165100">
              <a:buClr>
                <a:srgbClr val="7150A0"/>
              </a:buClr>
              <a:buSzPct val="100000"/>
              <a:buFont typeface="Arial" charset="0"/>
              <a:buChar char="•"/>
              <a:tabLst>
                <a:tab pos="120650" algn="l"/>
              </a:tabLst>
            </a:pPr>
            <a:r>
              <a:rPr lang="es-PE" spc="-10" dirty="0">
                <a:solidFill>
                  <a:schemeClr val="tx1"/>
                </a:solidFill>
                <a:latin typeface="Calibri" panose="020F0502020204030204" pitchFamily="34" charset="0"/>
                <a:cs typeface="Calibri" panose="020F0502020204030204" pitchFamily="34" charset="0"/>
                <a:sym typeface="Calibri"/>
              </a:rPr>
              <a:t>La falacia de la ausencia de errores.</a:t>
            </a:r>
            <a:endParaRPr lang="es-PE" dirty="0">
              <a:latin typeface="Calibri" panose="020F0502020204030204" pitchFamily="34" charset="0"/>
              <a:ea typeface="Calibri" charset="0"/>
              <a:cs typeface="Calibri" panose="020F0502020204030204" pitchFamily="34" charset="0"/>
            </a:endParaRPr>
          </a:p>
        </p:txBody>
      </p:sp>
      <p:pic>
        <p:nvPicPr>
          <p:cNvPr id="24" name="Imagen 23">
            <a:extLst>
              <a:ext uri="{FF2B5EF4-FFF2-40B4-BE49-F238E27FC236}">
                <a16:creationId xmlns:a16="http://schemas.microsoft.com/office/drawing/2014/main" id="{514D90DE-DB68-C244-A112-13C57B4253BD}"/>
              </a:ext>
            </a:extLst>
          </p:cNvPr>
          <p:cNvPicPr>
            <a:picLocks noChangeAspect="1"/>
          </p:cNvPicPr>
          <p:nvPr/>
        </p:nvPicPr>
        <p:blipFill>
          <a:blip r:embed="rId3"/>
          <a:stretch>
            <a:fillRect/>
          </a:stretch>
        </p:blipFill>
        <p:spPr>
          <a:xfrm>
            <a:off x="1011260" y="954885"/>
            <a:ext cx="114138" cy="117546"/>
          </a:xfrm>
          <a:prstGeom prst="rect">
            <a:avLst/>
          </a:prstGeom>
        </p:spPr>
      </p:pic>
      <p:pic>
        <p:nvPicPr>
          <p:cNvPr id="25" name="Imagen 24">
            <a:extLst>
              <a:ext uri="{FF2B5EF4-FFF2-40B4-BE49-F238E27FC236}">
                <a16:creationId xmlns:a16="http://schemas.microsoft.com/office/drawing/2014/main" id="{90EA117D-56A5-7A4B-A298-E6DC047642AF}"/>
              </a:ext>
            </a:extLst>
          </p:cNvPr>
          <p:cNvPicPr>
            <a:picLocks noChangeAspect="1"/>
          </p:cNvPicPr>
          <p:nvPr/>
        </p:nvPicPr>
        <p:blipFill>
          <a:blip r:embed="rId3"/>
          <a:stretch>
            <a:fillRect/>
          </a:stretch>
        </p:blipFill>
        <p:spPr>
          <a:xfrm>
            <a:off x="1011260" y="1376935"/>
            <a:ext cx="114138" cy="117546"/>
          </a:xfrm>
          <a:prstGeom prst="rect">
            <a:avLst/>
          </a:prstGeom>
        </p:spPr>
      </p:pic>
      <p:pic>
        <p:nvPicPr>
          <p:cNvPr id="27" name="Imagen 26">
            <a:extLst>
              <a:ext uri="{FF2B5EF4-FFF2-40B4-BE49-F238E27FC236}">
                <a16:creationId xmlns:a16="http://schemas.microsoft.com/office/drawing/2014/main" id="{A9045098-8AEB-684A-91F8-E6438A2238A0}"/>
              </a:ext>
            </a:extLst>
          </p:cNvPr>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4999" y="3048772"/>
            <a:ext cx="1690689" cy="2185216"/>
          </a:xfrm>
          <a:prstGeom prst="rect">
            <a:avLst/>
          </a:prstGeom>
        </p:spPr>
      </p:pic>
      <p:sp>
        <p:nvSpPr>
          <p:cNvPr id="28" name="Rectangle 5">
            <a:extLst>
              <a:ext uri="{FF2B5EF4-FFF2-40B4-BE49-F238E27FC236}">
                <a16:creationId xmlns:a16="http://schemas.microsoft.com/office/drawing/2014/main" id="{A854B7F8-74BA-5E45-B167-BE129CA65785}"/>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CONCLUSIONES </a:t>
            </a:r>
          </a:p>
        </p:txBody>
      </p:sp>
      <p:pic>
        <p:nvPicPr>
          <p:cNvPr id="30" name="Imagen 29">
            <a:extLst>
              <a:ext uri="{FF2B5EF4-FFF2-40B4-BE49-F238E27FC236}">
                <a16:creationId xmlns:a16="http://schemas.microsoft.com/office/drawing/2014/main" id="{6CC9D644-25A2-674D-9F19-3BABCCDA9362}"/>
              </a:ext>
            </a:extLst>
          </p:cNvPr>
          <p:cNvPicPr>
            <a:picLocks noChangeAspect="1"/>
          </p:cNvPicPr>
          <p:nvPr/>
        </p:nvPicPr>
        <p:blipFill>
          <a:blip r:embed="rId3"/>
          <a:stretch>
            <a:fillRect/>
          </a:stretch>
        </p:blipFill>
        <p:spPr>
          <a:xfrm>
            <a:off x="1011260" y="1818815"/>
            <a:ext cx="114138" cy="11754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503CD8D0-8679-0640-904B-49F7EF237F1E}"/>
              </a:ext>
            </a:extLst>
          </p:cNvPr>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3" name="Imagen 2">
            <a:extLst>
              <a:ext uri="{FF2B5EF4-FFF2-40B4-BE49-F238E27FC236}">
                <a16:creationId xmlns:a16="http://schemas.microsoft.com/office/drawing/2014/main" id="{2671E0C3-AB25-BA4C-A153-029520E79C8D}"/>
              </a:ext>
            </a:extLst>
          </p:cNvPr>
          <p:cNvPicPr>
            <a:picLocks noChangeAspect="1"/>
          </p:cNvPicPr>
          <p:nvPr/>
        </p:nvPicPr>
        <p:blipFill>
          <a:blip r:embed="rId2"/>
          <a:stretch>
            <a:fillRect/>
          </a:stretch>
        </p:blipFill>
        <p:spPr>
          <a:xfrm>
            <a:off x="3924199" y="2666298"/>
            <a:ext cx="1295601" cy="386803"/>
          </a:xfrm>
          <a:prstGeom prst="rect">
            <a:avLst/>
          </a:prstGeom>
        </p:spPr>
      </p:pic>
    </p:spTree>
    <p:extLst>
      <p:ext uri="{BB962C8B-B14F-4D97-AF65-F5344CB8AC3E}">
        <p14:creationId xmlns:p14="http://schemas.microsoft.com/office/powerpoint/2010/main" val="290635136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401</TotalTime>
  <Words>5099</Words>
  <Application>Microsoft Office PowerPoint</Application>
  <PresentationFormat>Presentación en pantalla (16:10)</PresentationFormat>
  <Paragraphs>408</Paragraphs>
  <Slides>39</Slides>
  <Notes>36</Notes>
  <HiddenSlides>0</HiddenSlides>
  <MMClips>0</MMClips>
  <ScaleCrop>false</ScaleCrop>
  <HeadingPairs>
    <vt:vector size="8" baseType="variant">
      <vt:variant>
        <vt:lpstr>Fuentes usadas</vt:lpstr>
      </vt:variant>
      <vt:variant>
        <vt:i4>6</vt:i4>
      </vt:variant>
      <vt:variant>
        <vt:lpstr>Tema</vt:lpstr>
      </vt:variant>
      <vt:variant>
        <vt:i4>1</vt:i4>
      </vt:variant>
      <vt:variant>
        <vt:lpstr>Servidores OLE incrustados</vt:lpstr>
      </vt:variant>
      <vt:variant>
        <vt:i4>1</vt:i4>
      </vt:variant>
      <vt:variant>
        <vt:lpstr>Títulos de diapositiva</vt:lpstr>
      </vt:variant>
      <vt:variant>
        <vt:i4>39</vt:i4>
      </vt:variant>
    </vt:vector>
  </HeadingPairs>
  <TitlesOfParts>
    <vt:vector size="47" baseType="lpstr">
      <vt:lpstr>Graphik Bold</vt:lpstr>
      <vt:lpstr>Graphik Regular</vt:lpstr>
      <vt:lpstr>Graphik-Medium</vt:lpstr>
      <vt:lpstr>Arial</vt:lpstr>
      <vt:lpstr>Calibri</vt:lpstr>
      <vt:lpstr>Wingdings</vt:lpstr>
      <vt:lpstr>Office Theme</vt:lpstr>
      <vt:lpstr>Hoja de cálculo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ISIL</dc:creator>
  <cp:lastModifiedBy>Elva Zoraida Hamada Doshi</cp:lastModifiedBy>
  <cp:revision>107</cp:revision>
  <dcterms:created xsi:type="dcterms:W3CDTF">2016-10-06T14:52:02Z</dcterms:created>
  <dcterms:modified xsi:type="dcterms:W3CDTF">2024-12-03T15:22:09Z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