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715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880">
          <p15:clr>
            <a:srgbClr val="A4A3A4"/>
          </p15:clr>
        </p15:guide>
        <p15:guide id="2" orient="horz" pos="1800">
          <p15:clr>
            <a:srgbClr val="A4A3A4"/>
          </p15:clr>
        </p15:guide>
        <p15:guide id="3" pos="3107">
          <p15:clr>
            <a:srgbClr val="A4A3A4"/>
          </p15:clr>
        </p15:guide>
      </p15:sldGuideLst>
    </p:ext>
    <p:ext uri="GoogleSlidesCustomDataVersion2">
      <go:slidesCustomData xmlns:go="http://customooxmlschemas.google.com/" r:id="rId31" roundtripDataSignature="AMtx7mg8sYQaEv/5IcvsqZw7VxLJEgAY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/>
        <p:guide pos="1800" orient="horz"/>
        <p:guide pos="3107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customschemas.google.com/relationships/presentationmetadata" Target="meta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PE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5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" name="Google Shape;4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0314786a23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" name="Google Shape;59;g30314786a23_1_0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" name="Google Shape;66;p4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" name="Google Shape;81;p5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0314786a23_1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g30314786a23_1_20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0314786a23_1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" name="Google Shape;119;g30314786a23_1_15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7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0314786a23_1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g30314786a23_1_10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0314786a23_1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g30314786a23_1_5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8" name="Google Shape;208;p8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0" name="Google Shape;230;p9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" name="Google Shape;241;p10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1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" name="Google Shape;25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8" name="Google Shape;258;p12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p13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0314786a2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4" name="Google Shape;274;g30314786a23_0_0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2" name="Google Shape;282;p14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1" name="Google Shape;301;p24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6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5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PE"/>
              <a:t>Fuente: qdoc.tips</a:t>
            </a:r>
            <a:endParaRPr/>
          </a:p>
        </p:txBody>
      </p:sp>
      <p:sp>
        <p:nvSpPr>
          <p:cNvPr id="317" name="Google Shape;317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7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iapositiva de título">
  <p:cSld name="1_Diapositiva de título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/>
          <p:nvPr/>
        </p:nvSpPr>
        <p:spPr>
          <a:xfrm>
            <a:off x="7204422" y="5371562"/>
            <a:ext cx="1544012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6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© ISIL. Todos los derechos reservados</a:t>
            </a:r>
            <a:endParaRPr/>
          </a:p>
        </p:txBody>
      </p:sp>
      <p:sp>
        <p:nvSpPr>
          <p:cNvPr id="11" name="Google Shape;11;p27"/>
          <p:cNvSpPr txBox="1"/>
          <p:nvPr/>
        </p:nvSpPr>
        <p:spPr>
          <a:xfrm>
            <a:off x="876300" y="5343295"/>
            <a:ext cx="216437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CALIDAD Y PRUEBAS DE SOFTWARE  •  TEMA 13</a:t>
            </a:r>
            <a:endParaRPr b="0" i="0" sz="8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;p27"/>
          <p:cNvPicPr preferRelativeResize="0"/>
          <p:nvPr/>
        </p:nvPicPr>
        <p:blipFill rotWithShape="1">
          <a:blip r:embed="rId1">
            <a:alphaModFix amt="20000"/>
          </a:blip>
          <a:srcRect b="0" l="0" r="0" t="0"/>
          <a:stretch/>
        </p:blipFill>
        <p:spPr>
          <a:xfrm>
            <a:off x="506316" y="5349405"/>
            <a:ext cx="369984" cy="206823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0">
          <p15:clr>
            <a:srgbClr val="F26B43"/>
          </p15:clr>
        </p15:guide>
        <p15:guide id="2" orient="horz" pos="1800">
          <p15:clr>
            <a:srgbClr val="F26B43"/>
          </p15:clr>
        </p15:guide>
        <p15:guide id="3" pos="2767">
          <p15:clr>
            <a:srgbClr val="F26B43"/>
          </p15:clr>
        </p15:guide>
        <p15:guide id="4" pos="2993">
          <p15:clr>
            <a:srgbClr val="F26B43"/>
          </p15:clr>
        </p15:guide>
        <p15:guide id="5" pos="5465">
          <p15:clr>
            <a:srgbClr val="F26B43"/>
          </p15:clr>
        </p15:guide>
        <p15:guide id="6" pos="295">
          <p15:clr>
            <a:srgbClr val="F26B43"/>
          </p15:clr>
        </p15:guide>
        <p15:guide id="7" pos="431">
          <p15:clr>
            <a:srgbClr val="F26B43"/>
          </p15:clr>
        </p15:guide>
        <p15:guide id="8" orient="horz" pos="303">
          <p15:clr>
            <a:srgbClr val="F26B43"/>
          </p15:clr>
        </p15:guide>
        <p15:guide id="9" orient="horz" pos="575">
          <p15:clr>
            <a:srgbClr val="F26B43"/>
          </p15:clr>
        </p15:guide>
        <p15:guide id="10" orient="horz" pos="329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Relationship Id="rId4" Type="http://schemas.openxmlformats.org/officeDocument/2006/relationships/image" Target="../media/image1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"/>
          <p:cNvSpPr/>
          <p:nvPr/>
        </p:nvSpPr>
        <p:spPr>
          <a:xfrm>
            <a:off x="182879" y="5120640"/>
            <a:ext cx="4304965" cy="46201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 txBox="1"/>
          <p:nvPr/>
        </p:nvSpPr>
        <p:spPr>
          <a:xfrm>
            <a:off x="503238" y="808689"/>
            <a:ext cx="3104743" cy="138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900" u="none" cap="none" strike="noStrike">
                <a:solidFill>
                  <a:srgbClr val="6C6D6C"/>
                </a:solidFill>
                <a:latin typeface="Calibri"/>
                <a:ea typeface="Calibri"/>
                <a:cs typeface="Calibri"/>
                <a:sym typeface="Calibri"/>
              </a:rPr>
              <a:t>CALIDAD Y PRUEBAS DE SOFTWARE</a:t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503239" y="2177570"/>
            <a:ext cx="3056852" cy="886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GESTIÓN DE </a:t>
            </a:r>
            <a:br>
              <a:rPr b="0" i="0" lang="es-PE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s-PE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PRUEBAS 2</a:t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503238" y="3219842"/>
            <a:ext cx="2845526" cy="420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77800" lvl="0" marL="177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E697E"/>
              </a:buClr>
              <a:buSzPts val="1200"/>
              <a:buFont typeface="Arial"/>
              <a:buChar char="•"/>
            </a:pPr>
            <a:r>
              <a:rPr b="0" i="0" lang="es-PE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Gestión de Pruebas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E697E"/>
              </a:buClr>
              <a:buSzPts val="1200"/>
              <a:buFont typeface="Arial"/>
              <a:buChar char="•"/>
            </a:pPr>
            <a:r>
              <a:rPr b="0" i="0" lang="es-PE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Riesgos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 txBox="1"/>
          <p:nvPr/>
        </p:nvSpPr>
        <p:spPr>
          <a:xfrm>
            <a:off x="743902" y="1819386"/>
            <a:ext cx="145764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2000" u="none" cap="none" strike="noStrike">
                <a:solidFill>
                  <a:srgbClr val="4E697E"/>
                </a:solidFill>
                <a:latin typeface="Calibri"/>
                <a:ea typeface="Calibri"/>
                <a:cs typeface="Calibri"/>
                <a:sym typeface="Calibri"/>
              </a:rPr>
              <a:t>TEMA 13</a:t>
            </a:r>
            <a:endParaRPr/>
          </a:p>
        </p:txBody>
      </p:sp>
      <p:pic>
        <p:nvPicPr>
          <p:cNvPr id="26" name="Google Shape;2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7464" y="1883411"/>
            <a:ext cx="166865" cy="170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52850" y="0"/>
            <a:ext cx="539115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5"/>
          <p:cNvSpPr/>
          <p:nvPr/>
        </p:nvSpPr>
        <p:spPr>
          <a:xfrm>
            <a:off x="0" y="1"/>
            <a:ext cx="9144000" cy="5715000"/>
          </a:xfrm>
          <a:prstGeom prst="rect">
            <a:avLst/>
          </a:prstGeom>
          <a:solidFill>
            <a:srgbClr val="ED434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" name="Google Shape;3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946969"/>
            <a:ext cx="2072213" cy="3898064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15"/>
          <p:cNvSpPr/>
          <p:nvPr/>
        </p:nvSpPr>
        <p:spPr>
          <a:xfrm>
            <a:off x="149817" y="3724759"/>
            <a:ext cx="1037633" cy="1069383"/>
          </a:xfrm>
          <a:prstGeom prst="rect">
            <a:avLst/>
          </a:prstGeom>
          <a:solidFill>
            <a:srgbClr val="ED434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5"/>
          <p:cNvSpPr txBox="1"/>
          <p:nvPr/>
        </p:nvSpPr>
        <p:spPr>
          <a:xfrm>
            <a:off x="2519363" y="2540738"/>
            <a:ext cx="4581728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3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INTRODUCCIÓN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3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 LA SESIÓN</a:t>
            </a:r>
            <a:endParaRPr/>
          </a:p>
        </p:txBody>
      </p:sp>
      <p:pic>
        <p:nvPicPr>
          <p:cNvPr id="36" name="Google Shape;36;p15"/>
          <p:cNvPicPr preferRelativeResize="0"/>
          <p:nvPr/>
        </p:nvPicPr>
        <p:blipFill rotWithShape="1">
          <a:blip r:embed="rId4">
            <a:alphaModFix amt="16000"/>
          </a:blip>
          <a:srcRect b="0" l="0" r="0" t="0"/>
          <a:stretch/>
        </p:blipFill>
        <p:spPr>
          <a:xfrm>
            <a:off x="334433" y="3817749"/>
            <a:ext cx="809264" cy="809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28619" y="2194222"/>
            <a:ext cx="202176" cy="2082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/>
          <p:nvPr/>
        </p:nvSpPr>
        <p:spPr>
          <a:xfrm>
            <a:off x="6918960" y="5364480"/>
            <a:ext cx="2133600" cy="22445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 txBox="1"/>
          <p:nvPr/>
        </p:nvSpPr>
        <p:spPr>
          <a:xfrm>
            <a:off x="1282299" y="918372"/>
            <a:ext cx="520079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1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PE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Durante esta sesión: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1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4639"/>
              </a:buClr>
              <a:buSzPts val="1400"/>
              <a:buFont typeface="Arial"/>
              <a:buChar char="•"/>
            </a:pPr>
            <a:r>
              <a:rPr b="1" i="0" lang="es-PE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Aprenderás</a:t>
            </a:r>
            <a:r>
              <a:rPr b="0" i="0" lang="es-PE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esquematizar un plan de pruebas utilizando la plantilla IEEE 829 como referencia.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" name="Google Shape;4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0839" y="954885"/>
            <a:ext cx="117851" cy="121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2"/>
          <p:cNvPicPr preferRelativeResize="0"/>
          <p:nvPr/>
        </p:nvPicPr>
        <p:blipFill rotWithShape="1">
          <a:blip r:embed="rId4">
            <a:alphaModFix amt="42000"/>
          </a:blip>
          <a:srcRect b="0" l="0" r="0" t="0"/>
          <a:stretch/>
        </p:blipFill>
        <p:spPr>
          <a:xfrm>
            <a:off x="6986661" y="3052731"/>
            <a:ext cx="1689027" cy="2181257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2"/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b="0" i="0" lang="es-PE" sz="10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INTRODUCCIÓN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 txBox="1"/>
          <p:nvPr/>
        </p:nvSpPr>
        <p:spPr>
          <a:xfrm>
            <a:off x="1008063" y="3169972"/>
            <a:ext cx="5993558" cy="7755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GESTIÓN</a:t>
            </a:r>
            <a:br>
              <a:rPr b="1" i="0" lang="es-PE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PE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 PRUEBAS</a:t>
            </a:r>
            <a:endParaRPr/>
          </a:p>
        </p:txBody>
      </p:sp>
      <p:pic>
        <p:nvPicPr>
          <p:cNvPr id="56" name="Google Shape;5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8063" y="2869612"/>
            <a:ext cx="195423" cy="201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0314786a23_1_0"/>
          <p:cNvSpPr/>
          <p:nvPr/>
        </p:nvSpPr>
        <p:spPr>
          <a:xfrm>
            <a:off x="503238" y="912813"/>
            <a:ext cx="3889375" cy="2156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PE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PROPÓSITO Y OBJETIVO DE LOS PLANES DE PRUEBA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563" lvl="0" marL="182563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PE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plan de pruebas es un plan de proyecto para el trabajo de pruebas a ser realizado.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563" lvl="0" marL="18256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563" lvl="0" marL="18256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PE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incluye detalles como diseño de pruebas, colección de casos de prueba o procedimientos de prueba.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g30314786a23_1_0"/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b="0" i="0" lang="es-PE" sz="10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GESTIÓN DE PRUEBAS</a:t>
            </a:r>
            <a:endParaRPr b="0" i="0" sz="1000" u="none" cap="none" strike="noStrik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" name="Google Shape;63;g30314786a23_1_0"/>
          <p:cNvPicPr preferRelativeResize="0"/>
          <p:nvPr/>
        </p:nvPicPr>
        <p:blipFill rotWithShape="1">
          <a:blip r:embed="rId3">
            <a:alphaModFix/>
          </a:blip>
          <a:srcRect b="0" l="12267" r="11698" t="0"/>
          <a:stretch/>
        </p:blipFill>
        <p:spPr>
          <a:xfrm>
            <a:off x="4751389" y="-14745"/>
            <a:ext cx="4392612" cy="57979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"/>
          <p:cNvSpPr/>
          <p:nvPr/>
        </p:nvSpPr>
        <p:spPr>
          <a:xfrm>
            <a:off x="503238" y="912813"/>
            <a:ext cx="7908434" cy="569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PE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PROPÓSITO Y OBJETIVO DE LOS PLANES DE PRUEBA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563" lvl="0" marL="182563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PE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Tres razones para escribir planes de prueba: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b="0" i="0" lang="es-PE" sz="10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GESTIÓN DE PRUEBAS</a:t>
            </a:r>
            <a:endParaRPr b="0" i="0" sz="1000" u="none" cap="none" strike="noStrik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547515" y="2041243"/>
            <a:ext cx="2535220" cy="1902604"/>
          </a:xfrm>
          <a:prstGeom prst="roundRect">
            <a:avLst>
              <a:gd fmla="val 6762" name="adj"/>
            </a:avLst>
          </a:prstGeom>
          <a:solidFill>
            <a:srgbClr val="CCEFF2"/>
          </a:solidFill>
          <a:ln cap="flat" cmpd="sng" w="38100">
            <a:solidFill>
              <a:srgbClr val="00B1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68000" spcFirstLastPara="1" rIns="36000" wrap="square" tIns="18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 confrontar los retos que nos esperan y enfocar nuestro pensamiento en los tópicos más importantes. Se puede usar una plantilla, tal como IEEE 829, para recordar los elementos más relevantes.</a:t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 rot="-9000000">
            <a:off x="276723" y="2649072"/>
            <a:ext cx="673990" cy="654822"/>
          </a:xfrm>
          <a:prstGeom prst="chord">
            <a:avLst>
              <a:gd fmla="val 2700000" name="adj1"/>
              <a:gd fmla="val 15233344" name="adj2"/>
            </a:avLst>
          </a:prstGeom>
          <a:solidFill>
            <a:srgbClr val="00B1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 txBox="1"/>
          <p:nvPr/>
        </p:nvSpPr>
        <p:spPr>
          <a:xfrm>
            <a:off x="479524" y="2635030"/>
            <a:ext cx="37068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3325055" y="2041243"/>
            <a:ext cx="2535220" cy="1902604"/>
          </a:xfrm>
          <a:prstGeom prst="roundRect">
            <a:avLst>
              <a:gd fmla="val 7758" name="adj"/>
            </a:avLst>
          </a:prstGeom>
          <a:solidFill>
            <a:srgbClr val="E6F3D6"/>
          </a:solidFill>
          <a:ln cap="flat" cmpd="sng" w="38100">
            <a:solidFill>
              <a:srgbClr val="8EC5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68000" spcFirstLastPara="1" rIns="36000" wrap="square" tIns="18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Sirve como vehículo de comunicación con otros miembros del equipo de proyecto. Es un acuerdo entre los probadores y el resto de los miembros del equipo.</a:t>
            </a:r>
            <a:endParaRPr/>
          </a:p>
        </p:txBody>
      </p:sp>
      <p:sp>
        <p:nvSpPr>
          <p:cNvPr id="74" name="Google Shape;74;p4"/>
          <p:cNvSpPr/>
          <p:nvPr/>
        </p:nvSpPr>
        <p:spPr>
          <a:xfrm rot="-9000000">
            <a:off x="3054263" y="2630784"/>
            <a:ext cx="673990" cy="654822"/>
          </a:xfrm>
          <a:prstGeom prst="chord">
            <a:avLst>
              <a:gd fmla="val 2700000" name="adj1"/>
              <a:gd fmla="val 15233344" name="adj2"/>
            </a:avLst>
          </a:prstGeom>
          <a:solidFill>
            <a:srgbClr val="8EC5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 txBox="1"/>
          <p:nvPr/>
        </p:nvSpPr>
        <p:spPr>
          <a:xfrm>
            <a:off x="3257063" y="2635030"/>
            <a:ext cx="37068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6102595" y="2041243"/>
            <a:ext cx="2535220" cy="1902604"/>
          </a:xfrm>
          <a:prstGeom prst="roundRect">
            <a:avLst>
              <a:gd fmla="val 6512" name="adj"/>
            </a:avLst>
          </a:prstGeom>
          <a:solidFill>
            <a:srgbClr val="FCD7D5"/>
          </a:solidFill>
          <a:ln cap="flat" cmpd="sng" w="38100">
            <a:solidFill>
              <a:srgbClr val="EE46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468000" spcFirstLastPara="1" rIns="36000" wrap="square" tIns="18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Gestiona los cambios. A medida que evoluciona el proyecto, el plan se debe adaptar. La actualización del plan mantiene las pruebas alineadas con las necesidades del proyecto.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 rot="-9000000">
            <a:off x="5831802" y="2630784"/>
            <a:ext cx="673990" cy="654822"/>
          </a:xfrm>
          <a:prstGeom prst="chord">
            <a:avLst>
              <a:gd fmla="val 2700000" name="adj1"/>
              <a:gd fmla="val 15233344" name="adj2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 txBox="1"/>
          <p:nvPr/>
        </p:nvSpPr>
        <p:spPr>
          <a:xfrm>
            <a:off x="6034603" y="2635030"/>
            <a:ext cx="37068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"/>
          <p:cNvSpPr/>
          <p:nvPr/>
        </p:nvSpPr>
        <p:spPr>
          <a:xfrm>
            <a:off x="503238" y="912813"/>
            <a:ext cx="3889375" cy="569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PE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¿CÓMO PLANIFICAR LAS PRUEBAS?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9863" lvl="0" marL="182563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PE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Considerar el propósito de las pruebas: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b="0" i="0" lang="es-PE" sz="10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GESTIÓN DE PRUEBAS</a:t>
            </a:r>
            <a:endParaRPr b="0" i="0" sz="1000" u="none" cap="none" strike="noStrik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952040" y="1713396"/>
            <a:ext cx="344057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¿Qué está dentro del alcance y qué no?</a:t>
            </a:r>
            <a:endParaRPr/>
          </a:p>
        </p:txBody>
      </p:sp>
      <p:cxnSp>
        <p:nvCxnSpPr>
          <p:cNvPr id="86" name="Google Shape;86;p5"/>
          <p:cNvCxnSpPr/>
          <p:nvPr/>
        </p:nvCxnSpPr>
        <p:spPr>
          <a:xfrm>
            <a:off x="737639" y="1916266"/>
            <a:ext cx="0" cy="246489"/>
          </a:xfrm>
          <a:prstGeom prst="straightConnector1">
            <a:avLst/>
          </a:prstGeom>
          <a:noFill/>
          <a:ln cap="flat" cmpd="sng" w="12700">
            <a:solidFill>
              <a:srgbClr val="EE463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" name="Google Shape;87;p5"/>
          <p:cNvSpPr/>
          <p:nvPr/>
        </p:nvSpPr>
        <p:spPr>
          <a:xfrm>
            <a:off x="952041" y="2169808"/>
            <a:ext cx="3440572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de las pruebas.</a:t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661297" y="1723168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661297" y="2180696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" name="Google Shape;90;p5"/>
          <p:cNvCxnSpPr/>
          <p:nvPr/>
        </p:nvCxnSpPr>
        <p:spPr>
          <a:xfrm>
            <a:off x="737639" y="2345637"/>
            <a:ext cx="0" cy="246489"/>
          </a:xfrm>
          <a:prstGeom prst="straightConnector1">
            <a:avLst/>
          </a:prstGeom>
          <a:noFill/>
          <a:ln cap="flat" cmpd="sng" w="12700">
            <a:solidFill>
              <a:srgbClr val="EE463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" name="Google Shape;91;p5"/>
          <p:cNvSpPr/>
          <p:nvPr/>
        </p:nvSpPr>
        <p:spPr>
          <a:xfrm>
            <a:off x="952041" y="2599179"/>
            <a:ext cx="3440572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Riesgos más importantes del proyecto y producto.</a:t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661297" y="2610067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" name="Google Shape;93;p5"/>
          <p:cNvCxnSpPr/>
          <p:nvPr/>
        </p:nvCxnSpPr>
        <p:spPr>
          <a:xfrm>
            <a:off x="737639" y="2762750"/>
            <a:ext cx="0" cy="449578"/>
          </a:xfrm>
          <a:prstGeom prst="straightConnector1">
            <a:avLst/>
          </a:prstGeom>
          <a:noFill/>
          <a:ln cap="flat" cmpd="sng" w="12700">
            <a:solidFill>
              <a:srgbClr val="EE463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5"/>
          <p:cNvSpPr/>
          <p:nvPr/>
        </p:nvSpPr>
        <p:spPr>
          <a:xfrm>
            <a:off x="952041" y="3219381"/>
            <a:ext cx="3440572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Limitaciones (presupuestos, fecha límite, etc.).</a:t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661297" y="3230269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" name="Google Shape;96;p5"/>
          <p:cNvCxnSpPr/>
          <p:nvPr/>
        </p:nvCxnSpPr>
        <p:spPr>
          <a:xfrm>
            <a:off x="737639" y="3395209"/>
            <a:ext cx="0" cy="246489"/>
          </a:xfrm>
          <a:prstGeom prst="straightConnector1">
            <a:avLst/>
          </a:prstGeom>
          <a:noFill/>
          <a:ln cap="flat" cmpd="sng" w="12700">
            <a:solidFill>
              <a:srgbClr val="EE463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5"/>
          <p:cNvSpPr/>
          <p:nvPr/>
        </p:nvSpPr>
        <p:spPr>
          <a:xfrm>
            <a:off x="952041" y="3648751"/>
            <a:ext cx="3440572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¿Qué es lo más crítico del producto o proyecto?</a:t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661297" y="3659639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9" name="Google Shape;99;p5"/>
          <p:cNvCxnSpPr/>
          <p:nvPr/>
        </p:nvCxnSpPr>
        <p:spPr>
          <a:xfrm>
            <a:off x="737639" y="3812322"/>
            <a:ext cx="0" cy="449578"/>
          </a:xfrm>
          <a:prstGeom prst="straightConnector1">
            <a:avLst/>
          </a:prstGeom>
          <a:noFill/>
          <a:ln cap="flat" cmpd="sng" w="12700">
            <a:solidFill>
              <a:srgbClr val="EE463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" name="Google Shape;100;p5"/>
          <p:cNvSpPr/>
          <p:nvPr/>
        </p:nvSpPr>
        <p:spPr>
          <a:xfrm>
            <a:off x="952041" y="4268953"/>
            <a:ext cx="3440572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de ejecución de las pruebas.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661297" y="4279841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5"/>
          <p:cNvPicPr preferRelativeResize="0"/>
          <p:nvPr/>
        </p:nvPicPr>
        <p:blipFill rotWithShape="1">
          <a:blip r:embed="rId3">
            <a:alphaModFix/>
          </a:blip>
          <a:srcRect b="0" l="12841" r="19389" t="0"/>
          <a:stretch/>
        </p:blipFill>
        <p:spPr>
          <a:xfrm>
            <a:off x="4751389" y="912812"/>
            <a:ext cx="4392611" cy="432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0314786a23_1_20"/>
          <p:cNvSpPr/>
          <p:nvPr/>
        </p:nvSpPr>
        <p:spPr>
          <a:xfrm>
            <a:off x="503238" y="912813"/>
            <a:ext cx="3802061" cy="3823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PE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¿CÓMO PLANIFICAR LAS PRUEBAS?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177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PE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Seleccionar las estrategias de pruebas apropiadas.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PE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División del trabajo en niveles de pruebas.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PE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Recursos (quién hará qué, cuándo y cómo).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PE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Plantillas que se usarán para documentación y relación entre ellos.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PE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puede haber un Plan de Automatización de Pruebas aparte.</a:t>
            </a:r>
            <a:endParaRPr/>
          </a:p>
          <a:p>
            <a:pPr indent="-635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PE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Métricas que se usarán para seguimiento </a:t>
            </a:r>
            <a:br>
              <a:rPr b="0" i="0" lang="es-PE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s-PE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control.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g30314786a23_1_20"/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b="0" i="0" lang="es-PE" sz="10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GESTIÓN DE PRUEBAS</a:t>
            </a:r>
            <a:endParaRPr b="0" i="0" sz="1000" u="none" cap="none" strike="noStrik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g30314786a23_1_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1388" y="912812"/>
            <a:ext cx="4392612" cy="432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b="0" i="0" lang="es-PE" sz="10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GESTIÓN DE PRUEBAS</a:t>
            </a:r>
            <a:endParaRPr b="0" i="0" sz="1000" u="none" cap="none" strike="noStrik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 txBox="1"/>
          <p:nvPr/>
        </p:nvSpPr>
        <p:spPr>
          <a:xfrm>
            <a:off x="503238" y="912813"/>
            <a:ext cx="3889375" cy="27853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PE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¿CÓMO PLANIFICAR LAS PRUEBAS?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7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PE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Condiciones para el inicio de las pruebas.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PE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Establecer cuándo se consideran terminadas las pruebas.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PE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Factores típicos para un criterio de entrada (entry criteria).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2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PE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Disponibilidad de personal, herramientas, sistema, entorno, datos de prueba.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2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PE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Elementos de los elementos de prueba.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Google Shape;11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1388" y="912812"/>
            <a:ext cx="4392612" cy="432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0314786a23_1_15"/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b="0" i="0" lang="es-PE" sz="10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GESTIÓN DE PRUEBAS</a:t>
            </a:r>
            <a:endParaRPr b="0" i="0" sz="1000" u="none" cap="none" strike="noStrik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30314786a23_1_15"/>
          <p:cNvSpPr txBox="1"/>
          <p:nvPr/>
        </p:nvSpPr>
        <p:spPr>
          <a:xfrm>
            <a:off x="503238" y="917576"/>
            <a:ext cx="3889375" cy="815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PE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¿CÓMO PLANIFICAR LAS PRUEBAS?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7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PE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Factores típicos para un criterio de salida (exit criteria).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30314786a23_1_15"/>
          <p:cNvSpPr/>
          <p:nvPr/>
        </p:nvSpPr>
        <p:spPr>
          <a:xfrm>
            <a:off x="974956" y="1868911"/>
            <a:ext cx="3417657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Número de defectos presentes, ratio de aparición de nuevos defectos.</a:t>
            </a:r>
            <a:endParaRPr/>
          </a:p>
        </p:txBody>
      </p:sp>
      <p:cxnSp>
        <p:nvCxnSpPr>
          <p:cNvPr id="124" name="Google Shape;124;g30314786a23_1_15"/>
          <p:cNvCxnSpPr/>
          <p:nvPr/>
        </p:nvCxnSpPr>
        <p:spPr>
          <a:xfrm>
            <a:off x="760555" y="2071781"/>
            <a:ext cx="0" cy="359615"/>
          </a:xfrm>
          <a:prstGeom prst="straightConnector1">
            <a:avLst/>
          </a:prstGeom>
          <a:noFill/>
          <a:ln cap="flat" cmpd="sng" w="12700">
            <a:solidFill>
              <a:srgbClr val="EE463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5" name="Google Shape;125;g30314786a23_1_15"/>
          <p:cNvSpPr/>
          <p:nvPr/>
        </p:nvSpPr>
        <p:spPr>
          <a:xfrm>
            <a:off x="974956" y="2431396"/>
            <a:ext cx="3417657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Número de pruebas preparadas, ejecutadas, que pasaron/fallaron.</a:t>
            </a:r>
            <a:endParaRPr/>
          </a:p>
        </p:txBody>
      </p:sp>
      <p:sp>
        <p:nvSpPr>
          <p:cNvPr id="126" name="Google Shape;126;g30314786a23_1_15"/>
          <p:cNvSpPr/>
          <p:nvPr/>
        </p:nvSpPr>
        <p:spPr>
          <a:xfrm>
            <a:off x="684213" y="1878683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g30314786a23_1_15"/>
          <p:cNvSpPr/>
          <p:nvPr/>
        </p:nvSpPr>
        <p:spPr>
          <a:xfrm>
            <a:off x="684213" y="2442284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g30314786a23_1_15"/>
          <p:cNvCxnSpPr/>
          <p:nvPr/>
        </p:nvCxnSpPr>
        <p:spPr>
          <a:xfrm>
            <a:off x="760555" y="2604527"/>
            <a:ext cx="0" cy="386484"/>
          </a:xfrm>
          <a:prstGeom prst="straightConnector1">
            <a:avLst/>
          </a:prstGeom>
          <a:noFill/>
          <a:ln cap="flat" cmpd="sng" w="12700">
            <a:solidFill>
              <a:srgbClr val="EE463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" name="Google Shape;129;g30314786a23_1_15"/>
          <p:cNvSpPr/>
          <p:nvPr/>
        </p:nvSpPr>
        <p:spPr>
          <a:xfrm>
            <a:off x="974956" y="2991011"/>
            <a:ext cx="3417657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Cobertura de requerimientos, riesgos, código.</a:t>
            </a:r>
            <a:endParaRPr/>
          </a:p>
        </p:txBody>
      </p:sp>
      <p:sp>
        <p:nvSpPr>
          <p:cNvPr id="130" name="Google Shape;130;g30314786a23_1_15"/>
          <p:cNvSpPr/>
          <p:nvPr/>
        </p:nvSpPr>
        <p:spPr>
          <a:xfrm>
            <a:off x="684213" y="3001899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Google Shape;131;g30314786a23_1_15"/>
          <p:cNvCxnSpPr/>
          <p:nvPr/>
        </p:nvCxnSpPr>
        <p:spPr>
          <a:xfrm>
            <a:off x="760555" y="3176842"/>
            <a:ext cx="0" cy="176119"/>
          </a:xfrm>
          <a:prstGeom prst="straightConnector1">
            <a:avLst/>
          </a:prstGeom>
          <a:noFill/>
          <a:ln cap="flat" cmpd="sng" w="12700">
            <a:solidFill>
              <a:srgbClr val="EE463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2" name="Google Shape;132;g30314786a23_1_15"/>
          <p:cNvSpPr/>
          <p:nvPr/>
        </p:nvSpPr>
        <p:spPr>
          <a:xfrm>
            <a:off x="974956" y="3352961"/>
            <a:ext cx="3417657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Estado de los atributos de calidad del sistema.</a:t>
            </a:r>
            <a:endParaRPr/>
          </a:p>
        </p:txBody>
      </p:sp>
      <p:sp>
        <p:nvSpPr>
          <p:cNvPr id="133" name="Google Shape;133;g30314786a23_1_15"/>
          <p:cNvSpPr/>
          <p:nvPr/>
        </p:nvSpPr>
        <p:spPr>
          <a:xfrm>
            <a:off x="684213" y="3363849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" name="Google Shape;134;g30314786a23_1_15"/>
          <p:cNvCxnSpPr/>
          <p:nvPr/>
        </p:nvCxnSpPr>
        <p:spPr>
          <a:xfrm>
            <a:off x="760555" y="3526092"/>
            <a:ext cx="0" cy="176119"/>
          </a:xfrm>
          <a:prstGeom prst="straightConnector1">
            <a:avLst/>
          </a:prstGeom>
          <a:noFill/>
          <a:ln cap="flat" cmpd="sng" w="12700">
            <a:solidFill>
              <a:srgbClr val="EE463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" name="Google Shape;135;g30314786a23_1_15"/>
          <p:cNvSpPr/>
          <p:nvPr/>
        </p:nvSpPr>
        <p:spPr>
          <a:xfrm>
            <a:off x="974956" y="3702211"/>
            <a:ext cx="3417657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Presupuesto.</a:t>
            </a:r>
            <a:endParaRPr/>
          </a:p>
        </p:txBody>
      </p:sp>
      <p:sp>
        <p:nvSpPr>
          <p:cNvPr id="136" name="Google Shape;136;g30314786a23_1_15"/>
          <p:cNvSpPr/>
          <p:nvPr/>
        </p:nvSpPr>
        <p:spPr>
          <a:xfrm>
            <a:off x="684213" y="3713099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g30314786a23_1_15"/>
          <p:cNvCxnSpPr/>
          <p:nvPr/>
        </p:nvCxnSpPr>
        <p:spPr>
          <a:xfrm>
            <a:off x="760555" y="3875342"/>
            <a:ext cx="0" cy="176119"/>
          </a:xfrm>
          <a:prstGeom prst="straightConnector1">
            <a:avLst/>
          </a:prstGeom>
          <a:noFill/>
          <a:ln cap="flat" cmpd="sng" w="12700">
            <a:solidFill>
              <a:srgbClr val="EE463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8" name="Google Shape;138;g30314786a23_1_15"/>
          <p:cNvSpPr/>
          <p:nvPr/>
        </p:nvSpPr>
        <p:spPr>
          <a:xfrm>
            <a:off x="974956" y="4051461"/>
            <a:ext cx="3417657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Cronograma.</a:t>
            </a:r>
            <a:endParaRPr/>
          </a:p>
        </p:txBody>
      </p:sp>
      <p:sp>
        <p:nvSpPr>
          <p:cNvPr id="139" name="Google Shape;139;g30314786a23_1_15"/>
          <p:cNvSpPr/>
          <p:nvPr/>
        </p:nvSpPr>
        <p:spPr>
          <a:xfrm>
            <a:off x="684213" y="4062349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0" name="Google Shape;140;g30314786a23_1_15"/>
          <p:cNvCxnSpPr/>
          <p:nvPr/>
        </p:nvCxnSpPr>
        <p:spPr>
          <a:xfrm>
            <a:off x="760555" y="4230942"/>
            <a:ext cx="0" cy="176119"/>
          </a:xfrm>
          <a:prstGeom prst="straightConnector1">
            <a:avLst/>
          </a:prstGeom>
          <a:noFill/>
          <a:ln cap="flat" cmpd="sng" w="12700">
            <a:solidFill>
              <a:srgbClr val="EE463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1" name="Google Shape;141;g30314786a23_1_15"/>
          <p:cNvSpPr/>
          <p:nvPr/>
        </p:nvSpPr>
        <p:spPr>
          <a:xfrm>
            <a:off x="974956" y="4407061"/>
            <a:ext cx="348909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Riesgo (defectos latentes o áreas no probadas).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30314786a23_1_15"/>
          <p:cNvSpPr/>
          <p:nvPr/>
        </p:nvSpPr>
        <p:spPr>
          <a:xfrm>
            <a:off x="684213" y="4417949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3" name="Google Shape;143;g30314786a23_1_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1389" y="912812"/>
            <a:ext cx="3924298" cy="432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"/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b="0" i="0" lang="es-PE" sz="10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GESTIÓN DE PRUEBAS</a:t>
            </a:r>
            <a:endParaRPr b="0" i="0" sz="1000" u="none" cap="none" strike="noStrik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6702668" y="1597025"/>
            <a:ext cx="1973019" cy="2530475"/>
          </a:xfrm>
          <a:prstGeom prst="roundRect">
            <a:avLst>
              <a:gd fmla="val 6436" name="adj"/>
            </a:avLst>
          </a:prstGeom>
          <a:solidFill>
            <a:srgbClr val="00B1C2"/>
          </a:solidFill>
          <a:ln>
            <a:noFill/>
          </a:ln>
        </p:spPr>
        <p:txBody>
          <a:bodyPr anchorCtr="0" anchor="t" bIns="45700" lIns="251975" spcFirstLastPara="1" rIns="0" wrap="square" tIns="144000">
            <a:noAutofit/>
          </a:bodyPr>
          <a:lstStyle/>
          <a:p>
            <a:pPr indent="0" lvl="0" marL="47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CARACTERÍSTICAS PARA SER PROBADAS</a:t>
            </a:r>
            <a:endParaRPr/>
          </a:p>
          <a:p>
            <a:pPr indent="-133350" lvl="0" marL="138113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es-PE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características de </a:t>
            </a:r>
            <a:br>
              <a:rPr b="0" i="0" lang="es-PE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s-PE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los ítems a ser probados (funcionalidad, rendimiento, seguridad, portabilidad, etc.).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6548855" y="2669463"/>
            <a:ext cx="395709" cy="376075"/>
          </a:xfrm>
          <a:prstGeom prst="ellipse">
            <a:avLst/>
          </a:prstGeom>
          <a:solidFill>
            <a:srgbClr val="0793A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6485090" y="2655589"/>
            <a:ext cx="424906" cy="403823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 rot="5400000">
            <a:off x="6668862" y="2796310"/>
            <a:ext cx="186870" cy="122381"/>
          </a:xfrm>
          <a:prstGeom prst="triangle">
            <a:avLst>
              <a:gd fmla="val 50000" name="adj"/>
            </a:avLst>
          </a:prstGeom>
          <a:solidFill>
            <a:srgbClr val="00B1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4640984" y="1597025"/>
            <a:ext cx="1973019" cy="2530475"/>
          </a:xfrm>
          <a:prstGeom prst="roundRect">
            <a:avLst>
              <a:gd fmla="val 6436" name="adj"/>
            </a:avLst>
          </a:prstGeom>
          <a:solidFill>
            <a:srgbClr val="00B1C2"/>
          </a:solidFill>
          <a:ln>
            <a:noFill/>
          </a:ln>
        </p:spPr>
        <p:txBody>
          <a:bodyPr anchorCtr="0" anchor="t" bIns="45700" lIns="251975" spcFirstLastPara="1" rIns="0" wrap="square" tIns="144000">
            <a:noAutofit/>
          </a:bodyPr>
          <a:lstStyle/>
          <a:p>
            <a:pPr indent="0" lvl="0" marL="47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ELEMENTOS DE PRUEBA </a:t>
            </a:r>
            <a:endParaRPr/>
          </a:p>
          <a:p>
            <a:pPr indent="-133350" lvl="0" marL="138113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es-PE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Software sujeto a pruebas.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4491556" y="2669463"/>
            <a:ext cx="395709" cy="376075"/>
          </a:xfrm>
          <a:prstGeom prst="ellipse">
            <a:avLst/>
          </a:prstGeom>
          <a:solidFill>
            <a:srgbClr val="0793A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4427790" y="2655589"/>
            <a:ext cx="424906" cy="403823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 rot="5400000">
            <a:off x="4611563" y="2796310"/>
            <a:ext cx="186870" cy="122381"/>
          </a:xfrm>
          <a:prstGeom prst="triangle">
            <a:avLst>
              <a:gd fmla="val 50000" name="adj"/>
            </a:avLst>
          </a:prstGeom>
          <a:solidFill>
            <a:srgbClr val="00B1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2579301" y="1597025"/>
            <a:ext cx="1973019" cy="2530475"/>
          </a:xfrm>
          <a:prstGeom prst="roundRect">
            <a:avLst>
              <a:gd fmla="val 6276" name="adj"/>
            </a:avLst>
          </a:prstGeom>
          <a:solidFill>
            <a:srgbClr val="00B1C2"/>
          </a:solidFill>
          <a:ln>
            <a:noFill/>
          </a:ln>
        </p:spPr>
        <p:txBody>
          <a:bodyPr anchorCtr="0" anchor="t" bIns="45700" lIns="251975" spcFirstLastPara="1" rIns="0" wrap="square" tIns="144000">
            <a:noAutofit/>
          </a:bodyPr>
          <a:lstStyle/>
          <a:p>
            <a:pPr indent="0" lvl="0" marL="47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INTRODUCCIÓN</a:t>
            </a:r>
            <a:endParaRPr/>
          </a:p>
          <a:p>
            <a:pPr indent="-133350" lvl="0" marL="138113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es-PE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Resumen del software a ser probado, referencias.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2419625" y="2669463"/>
            <a:ext cx="395709" cy="376075"/>
          </a:xfrm>
          <a:prstGeom prst="ellipse">
            <a:avLst/>
          </a:prstGeom>
          <a:solidFill>
            <a:srgbClr val="0793A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2355860" y="2655589"/>
            <a:ext cx="424906" cy="403823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 rot="5400000">
            <a:off x="2539633" y="2796310"/>
            <a:ext cx="186870" cy="122381"/>
          </a:xfrm>
          <a:prstGeom prst="triangle">
            <a:avLst>
              <a:gd fmla="val 50000" name="adj"/>
            </a:avLst>
          </a:prstGeom>
          <a:solidFill>
            <a:srgbClr val="00B1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517617" y="1597025"/>
            <a:ext cx="1973019" cy="2530475"/>
          </a:xfrm>
          <a:prstGeom prst="roundRect">
            <a:avLst>
              <a:gd fmla="val 6115" name="adj"/>
            </a:avLst>
          </a:prstGeom>
          <a:solidFill>
            <a:srgbClr val="00B1C2"/>
          </a:solidFill>
          <a:ln>
            <a:noFill/>
          </a:ln>
        </p:spPr>
        <p:txBody>
          <a:bodyPr anchorCtr="0" anchor="t" bIns="45700" lIns="251975" spcFirstLastPara="1" rIns="0" wrap="square" tIns="144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IDENTIFICADOR DE PRUEBAS </a:t>
            </a:r>
            <a:endParaRPr/>
          </a:p>
          <a:p>
            <a:pPr indent="-136525" lvl="0" marL="136525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es-PE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Identificador único del documento.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365364" y="2669463"/>
            <a:ext cx="395709" cy="376075"/>
          </a:xfrm>
          <a:prstGeom prst="ellipse">
            <a:avLst/>
          </a:prstGeom>
          <a:solidFill>
            <a:srgbClr val="0793A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301599" y="2655589"/>
            <a:ext cx="424906" cy="403823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 rot="5400000">
            <a:off x="485372" y="2796310"/>
            <a:ext cx="186870" cy="122381"/>
          </a:xfrm>
          <a:prstGeom prst="triangle">
            <a:avLst>
              <a:gd fmla="val 50000" name="adj"/>
            </a:avLst>
          </a:prstGeom>
          <a:solidFill>
            <a:srgbClr val="00B1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 txBox="1"/>
          <p:nvPr/>
        </p:nvSpPr>
        <p:spPr>
          <a:xfrm>
            <a:off x="503238" y="912813"/>
            <a:ext cx="4572000" cy="2215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PE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PLANTILLA DE PLAN DE PRUEBAS IEEE 829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0314786a23_1_10"/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b="0" i="0" lang="es-PE" sz="10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GESTIÓN DE PRUEBAS</a:t>
            </a:r>
            <a:endParaRPr b="0" i="0" sz="1000" u="none" cap="none" strike="noStrik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g30314786a23_1_10"/>
          <p:cNvSpPr/>
          <p:nvPr/>
        </p:nvSpPr>
        <p:spPr>
          <a:xfrm>
            <a:off x="5714134" y="1597025"/>
            <a:ext cx="1973019" cy="2530475"/>
          </a:xfrm>
          <a:prstGeom prst="roundRect">
            <a:avLst>
              <a:gd fmla="val 6436" name="adj"/>
            </a:avLst>
          </a:prstGeom>
          <a:solidFill>
            <a:srgbClr val="00B1C2"/>
          </a:solidFill>
          <a:ln>
            <a:noFill/>
          </a:ln>
        </p:spPr>
        <p:txBody>
          <a:bodyPr anchorCtr="0" anchor="t" bIns="45700" lIns="251975" spcFirstLastPara="1" rIns="0" wrap="square" tIns="144000">
            <a:noAutofit/>
          </a:bodyPr>
          <a:lstStyle/>
          <a:p>
            <a:pPr indent="0" lvl="0" marL="47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CRITERIO DE SUSPENSIÓN Y REINICIO DE LAS PRUEBAS</a:t>
            </a:r>
            <a:endParaRPr b="1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3350" lvl="0" marL="138113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es-PE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Condiciones bajos las cuales las pruebas serán suspendidas y reiniciadas.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g30314786a23_1_10"/>
          <p:cNvSpPr/>
          <p:nvPr/>
        </p:nvSpPr>
        <p:spPr>
          <a:xfrm>
            <a:off x="5564706" y="2669463"/>
            <a:ext cx="395709" cy="376075"/>
          </a:xfrm>
          <a:prstGeom prst="ellipse">
            <a:avLst/>
          </a:prstGeom>
          <a:solidFill>
            <a:srgbClr val="0793A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30314786a23_1_10"/>
          <p:cNvSpPr/>
          <p:nvPr/>
        </p:nvSpPr>
        <p:spPr>
          <a:xfrm>
            <a:off x="5500940" y="2655589"/>
            <a:ext cx="424906" cy="403823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30314786a23_1_10"/>
          <p:cNvSpPr/>
          <p:nvPr/>
        </p:nvSpPr>
        <p:spPr>
          <a:xfrm rot="5400000">
            <a:off x="5684713" y="2796310"/>
            <a:ext cx="186870" cy="122381"/>
          </a:xfrm>
          <a:prstGeom prst="triangle">
            <a:avLst>
              <a:gd fmla="val 50000" name="adj"/>
            </a:avLst>
          </a:prstGeom>
          <a:solidFill>
            <a:srgbClr val="00B1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30314786a23_1_10"/>
          <p:cNvSpPr/>
          <p:nvPr/>
        </p:nvSpPr>
        <p:spPr>
          <a:xfrm>
            <a:off x="3652451" y="1597025"/>
            <a:ext cx="1973019" cy="2530475"/>
          </a:xfrm>
          <a:prstGeom prst="roundRect">
            <a:avLst>
              <a:gd fmla="val 6276" name="adj"/>
            </a:avLst>
          </a:prstGeom>
          <a:solidFill>
            <a:srgbClr val="00B1C2"/>
          </a:solidFill>
          <a:ln>
            <a:noFill/>
          </a:ln>
        </p:spPr>
        <p:txBody>
          <a:bodyPr anchorCtr="0" anchor="t" bIns="45700" lIns="251975" spcFirstLastPara="1" rIns="0" wrap="square" tIns="144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CRITERIO DE PASO/FALLO DEL ELEMENTO</a:t>
            </a:r>
            <a:endParaRPr/>
          </a:p>
          <a:p>
            <a:pPr indent="-133350" lvl="0" marL="138113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es-PE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Criterio para determinar si cada elemento de prueba paso o fallo </a:t>
            </a:r>
            <a:br>
              <a:rPr b="0" i="0" lang="es-PE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s-PE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 prueba.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30314786a23_1_10"/>
          <p:cNvSpPr/>
          <p:nvPr/>
        </p:nvSpPr>
        <p:spPr>
          <a:xfrm>
            <a:off x="3492775" y="2669463"/>
            <a:ext cx="395709" cy="376075"/>
          </a:xfrm>
          <a:prstGeom prst="ellipse">
            <a:avLst/>
          </a:prstGeom>
          <a:solidFill>
            <a:srgbClr val="0793A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g30314786a23_1_10"/>
          <p:cNvSpPr/>
          <p:nvPr/>
        </p:nvSpPr>
        <p:spPr>
          <a:xfrm>
            <a:off x="3429010" y="2655589"/>
            <a:ext cx="424906" cy="403823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g30314786a23_1_10"/>
          <p:cNvSpPr/>
          <p:nvPr/>
        </p:nvSpPr>
        <p:spPr>
          <a:xfrm rot="5400000">
            <a:off x="3612783" y="2796310"/>
            <a:ext cx="186870" cy="122381"/>
          </a:xfrm>
          <a:prstGeom prst="triangle">
            <a:avLst>
              <a:gd fmla="val 50000" name="adj"/>
            </a:avLst>
          </a:prstGeom>
          <a:solidFill>
            <a:srgbClr val="00B1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30314786a23_1_10"/>
          <p:cNvSpPr/>
          <p:nvPr/>
        </p:nvSpPr>
        <p:spPr>
          <a:xfrm>
            <a:off x="1590767" y="1597025"/>
            <a:ext cx="1973019" cy="2530475"/>
          </a:xfrm>
          <a:prstGeom prst="roundRect">
            <a:avLst>
              <a:gd fmla="val 6115" name="adj"/>
            </a:avLst>
          </a:prstGeom>
          <a:solidFill>
            <a:srgbClr val="00B1C2"/>
          </a:solidFill>
          <a:ln>
            <a:noFill/>
          </a:ln>
        </p:spPr>
        <p:txBody>
          <a:bodyPr anchorCtr="0" anchor="t" bIns="45700" lIns="251975" spcFirstLastPara="1" rIns="0" wrap="square" tIns="144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ENFOQUE</a:t>
            </a:r>
            <a:endParaRPr/>
          </a:p>
          <a:p>
            <a:pPr indent="-133350" lvl="0" marL="138113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es-PE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Enfoque de pruebas que asegura adecuadas pruebas.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30314786a23_1_10"/>
          <p:cNvSpPr/>
          <p:nvPr/>
        </p:nvSpPr>
        <p:spPr>
          <a:xfrm>
            <a:off x="1438514" y="2669463"/>
            <a:ext cx="395709" cy="376075"/>
          </a:xfrm>
          <a:prstGeom prst="ellipse">
            <a:avLst/>
          </a:prstGeom>
          <a:solidFill>
            <a:srgbClr val="0793A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30314786a23_1_10"/>
          <p:cNvSpPr/>
          <p:nvPr/>
        </p:nvSpPr>
        <p:spPr>
          <a:xfrm>
            <a:off x="1374749" y="2655589"/>
            <a:ext cx="424906" cy="403823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g30314786a23_1_10"/>
          <p:cNvSpPr/>
          <p:nvPr/>
        </p:nvSpPr>
        <p:spPr>
          <a:xfrm rot="5400000">
            <a:off x="1558522" y="2796310"/>
            <a:ext cx="186870" cy="122381"/>
          </a:xfrm>
          <a:prstGeom prst="triangle">
            <a:avLst>
              <a:gd fmla="val 50000" name="adj"/>
            </a:avLst>
          </a:prstGeom>
          <a:solidFill>
            <a:srgbClr val="00B1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g30314786a23_1_10"/>
          <p:cNvSpPr txBox="1"/>
          <p:nvPr/>
        </p:nvSpPr>
        <p:spPr>
          <a:xfrm>
            <a:off x="503238" y="912813"/>
            <a:ext cx="4572000" cy="2215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PE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PLANTILLA DE PLAN DE PRUEBAS IEEE 829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0314786a23_1_5"/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b="0" i="0" lang="es-PE" sz="10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GESTIÓN DE PRUEBAS</a:t>
            </a:r>
            <a:endParaRPr b="0" i="0" sz="1000" u="none" cap="none" strike="noStrik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g30314786a23_1_5"/>
          <p:cNvSpPr/>
          <p:nvPr/>
        </p:nvSpPr>
        <p:spPr>
          <a:xfrm>
            <a:off x="6702668" y="1597025"/>
            <a:ext cx="1973019" cy="2003425"/>
          </a:xfrm>
          <a:prstGeom prst="roundRect">
            <a:avLst>
              <a:gd fmla="val 6436" name="adj"/>
            </a:avLst>
          </a:prstGeom>
          <a:solidFill>
            <a:srgbClr val="00B1C2"/>
          </a:solidFill>
          <a:ln>
            <a:noFill/>
          </a:ln>
        </p:spPr>
        <p:txBody>
          <a:bodyPr anchorCtr="0" anchor="t" bIns="45700" lIns="251975" spcFirstLastPara="1" rIns="0" wrap="square" tIns="144000">
            <a:noAutofit/>
          </a:bodyPr>
          <a:lstStyle/>
          <a:p>
            <a:pPr indent="0" lvl="0" marL="47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RESPONSABILIDADES</a:t>
            </a:r>
            <a:endParaRPr/>
          </a:p>
          <a:p>
            <a:pPr indent="-133350" lvl="0" marL="138113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es-PE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Matriz de personas/grupos que ejecutan las tareas de pruebas.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g30314786a23_1_5"/>
          <p:cNvSpPr/>
          <p:nvPr/>
        </p:nvSpPr>
        <p:spPr>
          <a:xfrm>
            <a:off x="6548855" y="2416753"/>
            <a:ext cx="395709" cy="376075"/>
          </a:xfrm>
          <a:prstGeom prst="ellipse">
            <a:avLst/>
          </a:prstGeom>
          <a:solidFill>
            <a:srgbClr val="0793A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g30314786a23_1_5"/>
          <p:cNvSpPr/>
          <p:nvPr/>
        </p:nvSpPr>
        <p:spPr>
          <a:xfrm>
            <a:off x="6485090" y="2402879"/>
            <a:ext cx="424906" cy="403823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g30314786a23_1_5"/>
          <p:cNvSpPr/>
          <p:nvPr/>
        </p:nvSpPr>
        <p:spPr>
          <a:xfrm rot="5400000">
            <a:off x="6668862" y="2543600"/>
            <a:ext cx="186870" cy="122381"/>
          </a:xfrm>
          <a:prstGeom prst="triangle">
            <a:avLst>
              <a:gd fmla="val 50000" name="adj"/>
            </a:avLst>
          </a:prstGeom>
          <a:solidFill>
            <a:srgbClr val="00B1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30314786a23_1_5"/>
          <p:cNvSpPr/>
          <p:nvPr/>
        </p:nvSpPr>
        <p:spPr>
          <a:xfrm>
            <a:off x="4640984" y="1597025"/>
            <a:ext cx="1973019" cy="2003425"/>
          </a:xfrm>
          <a:prstGeom prst="roundRect">
            <a:avLst>
              <a:gd fmla="val 6436" name="adj"/>
            </a:avLst>
          </a:prstGeom>
          <a:solidFill>
            <a:srgbClr val="00B1C2"/>
          </a:solidFill>
          <a:ln>
            <a:noFill/>
          </a:ln>
        </p:spPr>
        <p:txBody>
          <a:bodyPr anchorCtr="0" anchor="t" bIns="45700" lIns="251975" spcFirstLastPara="1" rIns="0" wrap="square" tIns="144000">
            <a:noAutofit/>
          </a:bodyPr>
          <a:lstStyle/>
          <a:p>
            <a:pPr indent="0" lvl="0" marL="47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NECESIDADES DE ENTORNO </a:t>
            </a:r>
            <a:endParaRPr/>
          </a:p>
          <a:p>
            <a:pPr indent="-133350" lvl="0" marL="138113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es-PE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Hardware, software, comunicaciones, herramientas.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g30314786a23_1_5"/>
          <p:cNvSpPr/>
          <p:nvPr/>
        </p:nvSpPr>
        <p:spPr>
          <a:xfrm>
            <a:off x="4491556" y="2416753"/>
            <a:ext cx="395709" cy="376075"/>
          </a:xfrm>
          <a:prstGeom prst="ellipse">
            <a:avLst/>
          </a:prstGeom>
          <a:solidFill>
            <a:srgbClr val="0793A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30314786a23_1_5"/>
          <p:cNvSpPr/>
          <p:nvPr/>
        </p:nvSpPr>
        <p:spPr>
          <a:xfrm>
            <a:off x="4427790" y="2402879"/>
            <a:ext cx="424906" cy="403823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g30314786a23_1_5"/>
          <p:cNvSpPr/>
          <p:nvPr/>
        </p:nvSpPr>
        <p:spPr>
          <a:xfrm rot="5400000">
            <a:off x="4611563" y="2543600"/>
            <a:ext cx="186870" cy="122381"/>
          </a:xfrm>
          <a:prstGeom prst="triangle">
            <a:avLst>
              <a:gd fmla="val 50000" name="adj"/>
            </a:avLst>
          </a:prstGeom>
          <a:solidFill>
            <a:srgbClr val="00B1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g30314786a23_1_5"/>
          <p:cNvSpPr/>
          <p:nvPr/>
        </p:nvSpPr>
        <p:spPr>
          <a:xfrm>
            <a:off x="2579301" y="1597025"/>
            <a:ext cx="1973019" cy="2003425"/>
          </a:xfrm>
          <a:prstGeom prst="roundRect">
            <a:avLst>
              <a:gd fmla="val 6276" name="adj"/>
            </a:avLst>
          </a:prstGeom>
          <a:solidFill>
            <a:srgbClr val="00B1C2"/>
          </a:solidFill>
          <a:ln>
            <a:noFill/>
          </a:ln>
        </p:spPr>
        <p:txBody>
          <a:bodyPr anchorCtr="0" anchor="t" bIns="45700" lIns="251975" spcFirstLastPara="1" rIns="0" wrap="square" tIns="144000">
            <a:noAutofit/>
          </a:bodyPr>
          <a:lstStyle/>
          <a:p>
            <a:pPr indent="0" lvl="0" marL="47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TAREAS DE PRUEBAS </a:t>
            </a:r>
            <a:endParaRPr/>
          </a:p>
          <a:p>
            <a:pPr indent="-133350" lvl="0" marL="138113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es-PE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Tareas necesarias para realizar las pruebas.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g30314786a23_1_5"/>
          <p:cNvSpPr/>
          <p:nvPr/>
        </p:nvSpPr>
        <p:spPr>
          <a:xfrm>
            <a:off x="2419625" y="2416753"/>
            <a:ext cx="395709" cy="376075"/>
          </a:xfrm>
          <a:prstGeom prst="ellipse">
            <a:avLst/>
          </a:prstGeom>
          <a:solidFill>
            <a:srgbClr val="0793A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g30314786a23_1_5"/>
          <p:cNvSpPr/>
          <p:nvPr/>
        </p:nvSpPr>
        <p:spPr>
          <a:xfrm>
            <a:off x="2355860" y="2402879"/>
            <a:ext cx="424906" cy="403823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30314786a23_1_5"/>
          <p:cNvSpPr/>
          <p:nvPr/>
        </p:nvSpPr>
        <p:spPr>
          <a:xfrm rot="5400000">
            <a:off x="2539633" y="2543600"/>
            <a:ext cx="186870" cy="122381"/>
          </a:xfrm>
          <a:prstGeom prst="triangle">
            <a:avLst>
              <a:gd fmla="val 50000" name="adj"/>
            </a:avLst>
          </a:prstGeom>
          <a:solidFill>
            <a:srgbClr val="00B1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g30314786a23_1_5"/>
          <p:cNvSpPr/>
          <p:nvPr/>
        </p:nvSpPr>
        <p:spPr>
          <a:xfrm>
            <a:off x="517617" y="1597025"/>
            <a:ext cx="1973019" cy="2003425"/>
          </a:xfrm>
          <a:prstGeom prst="roundRect">
            <a:avLst>
              <a:gd fmla="val 6115" name="adj"/>
            </a:avLst>
          </a:prstGeom>
          <a:solidFill>
            <a:srgbClr val="00B1C2"/>
          </a:solidFill>
          <a:ln>
            <a:noFill/>
          </a:ln>
        </p:spPr>
        <p:txBody>
          <a:bodyPr anchorCtr="0" anchor="t" bIns="45700" lIns="251975" spcFirstLastPara="1" rIns="0" wrap="square" tIns="144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ENTREGABLES DE LAS PRUEBAS </a:t>
            </a:r>
            <a:endParaRPr/>
          </a:p>
          <a:p>
            <a:pPr indent="-136525" lvl="0" marL="136525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es-PE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Documentos creados durante el proceso de las pruebas.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g30314786a23_1_5"/>
          <p:cNvSpPr/>
          <p:nvPr/>
        </p:nvSpPr>
        <p:spPr>
          <a:xfrm>
            <a:off x="365364" y="2416753"/>
            <a:ext cx="395709" cy="376075"/>
          </a:xfrm>
          <a:prstGeom prst="ellipse">
            <a:avLst/>
          </a:prstGeom>
          <a:solidFill>
            <a:srgbClr val="0793A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30314786a23_1_5"/>
          <p:cNvSpPr/>
          <p:nvPr/>
        </p:nvSpPr>
        <p:spPr>
          <a:xfrm>
            <a:off x="301599" y="2402879"/>
            <a:ext cx="424906" cy="403823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30314786a23_1_5"/>
          <p:cNvSpPr/>
          <p:nvPr/>
        </p:nvSpPr>
        <p:spPr>
          <a:xfrm rot="5400000">
            <a:off x="485372" y="2543600"/>
            <a:ext cx="186870" cy="122381"/>
          </a:xfrm>
          <a:prstGeom prst="triangle">
            <a:avLst>
              <a:gd fmla="val 50000" name="adj"/>
            </a:avLst>
          </a:prstGeom>
          <a:solidFill>
            <a:srgbClr val="00B1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g30314786a23_1_5"/>
          <p:cNvSpPr txBox="1"/>
          <p:nvPr/>
        </p:nvSpPr>
        <p:spPr>
          <a:xfrm>
            <a:off x="503238" y="912813"/>
            <a:ext cx="4572000" cy="2215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PE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PLANTILLA DE PLAN DE PRUEBAS IEEE 829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"/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b="0" i="0" lang="es-PE" sz="10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GESTIÓN DE PRUEBAS</a:t>
            </a:r>
            <a:endParaRPr b="0" i="0" sz="1000" u="none" cap="none" strike="noStrik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6702668" y="1597025"/>
            <a:ext cx="1973019" cy="2445685"/>
          </a:xfrm>
          <a:prstGeom prst="roundRect">
            <a:avLst>
              <a:gd fmla="val 6436" name="adj"/>
            </a:avLst>
          </a:prstGeom>
          <a:solidFill>
            <a:srgbClr val="00B1C2"/>
          </a:solidFill>
          <a:ln>
            <a:noFill/>
          </a:ln>
        </p:spPr>
        <p:txBody>
          <a:bodyPr anchorCtr="0" anchor="t" bIns="45700" lIns="251975" spcFirstLastPara="1" rIns="0" wrap="square" tIns="144000">
            <a:noAutofit/>
          </a:bodyPr>
          <a:lstStyle/>
          <a:p>
            <a:pPr indent="0" lvl="0" marL="47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APROBACIONES</a:t>
            </a:r>
            <a:endParaRPr/>
          </a:p>
          <a:p>
            <a:pPr indent="-133350" lvl="0" marL="138113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es-PE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Nombres y títulos </a:t>
            </a:r>
            <a:br>
              <a:rPr b="0" i="0" lang="es-PE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s-PE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 cada persona </a:t>
            </a:r>
            <a:br>
              <a:rPr b="0" i="0" lang="es-PE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s-PE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que aprueba </a:t>
            </a:r>
            <a:br>
              <a:rPr b="0" i="0" lang="es-PE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s-PE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 plan.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6548855" y="2644063"/>
            <a:ext cx="395709" cy="376075"/>
          </a:xfrm>
          <a:prstGeom prst="ellipse">
            <a:avLst/>
          </a:prstGeom>
          <a:solidFill>
            <a:srgbClr val="0793A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6485090" y="2630189"/>
            <a:ext cx="424906" cy="403823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 rot="5400000">
            <a:off x="6668862" y="2770910"/>
            <a:ext cx="186870" cy="122381"/>
          </a:xfrm>
          <a:prstGeom prst="triangle">
            <a:avLst>
              <a:gd fmla="val 50000" name="adj"/>
            </a:avLst>
          </a:prstGeom>
          <a:solidFill>
            <a:srgbClr val="00B1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4640984" y="1597025"/>
            <a:ext cx="1973019" cy="2445685"/>
          </a:xfrm>
          <a:prstGeom prst="roundRect">
            <a:avLst>
              <a:gd fmla="val 6436" name="adj"/>
            </a:avLst>
          </a:prstGeom>
          <a:solidFill>
            <a:srgbClr val="00B1C2"/>
          </a:solidFill>
          <a:ln>
            <a:noFill/>
          </a:ln>
        </p:spPr>
        <p:txBody>
          <a:bodyPr anchorCtr="0" anchor="t" bIns="45700" lIns="251975" spcFirstLastPara="1" rIns="0" wrap="square" tIns="144000">
            <a:noAutofit/>
          </a:bodyPr>
          <a:lstStyle/>
          <a:p>
            <a:pPr indent="0" lvl="0" marL="47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RIESGOS Y CONTINGENCIAS</a:t>
            </a:r>
            <a:endParaRPr/>
          </a:p>
          <a:p>
            <a:pPr indent="-133350" lvl="0" marL="138113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es-PE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Identificación </a:t>
            </a:r>
            <a:br>
              <a:rPr b="0" i="0" lang="es-PE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s-PE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 riesgos  especificando plan de prevención y mitigación.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4491556" y="2644063"/>
            <a:ext cx="395709" cy="376075"/>
          </a:xfrm>
          <a:prstGeom prst="ellipse">
            <a:avLst/>
          </a:prstGeom>
          <a:solidFill>
            <a:srgbClr val="0793A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4427790" y="2630189"/>
            <a:ext cx="424906" cy="403823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 rot="5400000">
            <a:off x="4611563" y="2770910"/>
            <a:ext cx="186870" cy="122381"/>
          </a:xfrm>
          <a:prstGeom prst="triangle">
            <a:avLst>
              <a:gd fmla="val 50000" name="adj"/>
            </a:avLst>
          </a:prstGeom>
          <a:solidFill>
            <a:srgbClr val="00B1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2579301" y="1597025"/>
            <a:ext cx="1973019" cy="2445685"/>
          </a:xfrm>
          <a:prstGeom prst="roundRect">
            <a:avLst>
              <a:gd fmla="val 6276" name="adj"/>
            </a:avLst>
          </a:prstGeom>
          <a:solidFill>
            <a:srgbClr val="00B1C2"/>
          </a:solidFill>
          <a:ln>
            <a:noFill/>
          </a:ln>
        </p:spPr>
        <p:txBody>
          <a:bodyPr anchorCtr="0" anchor="t" bIns="45700" lIns="251975" spcFirstLastPara="1" rIns="0" wrap="square" tIns="144000">
            <a:noAutofit/>
          </a:bodyPr>
          <a:lstStyle/>
          <a:p>
            <a:pPr indent="0" lvl="0" marL="47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CRONOGRAMA</a:t>
            </a:r>
            <a:endParaRPr/>
          </a:p>
          <a:p>
            <a:pPr indent="-133350" lvl="0" marL="138113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es-PE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Hitos y fechas importantes en </a:t>
            </a:r>
            <a:br>
              <a:rPr b="0" i="0" lang="es-PE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s-PE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el proceso.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2419625" y="2644063"/>
            <a:ext cx="395709" cy="376075"/>
          </a:xfrm>
          <a:prstGeom prst="ellipse">
            <a:avLst/>
          </a:prstGeom>
          <a:solidFill>
            <a:srgbClr val="0793A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2355860" y="2630189"/>
            <a:ext cx="424906" cy="403823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 rot="5400000">
            <a:off x="2539633" y="2770910"/>
            <a:ext cx="186870" cy="122381"/>
          </a:xfrm>
          <a:prstGeom prst="triangle">
            <a:avLst>
              <a:gd fmla="val 50000" name="adj"/>
            </a:avLst>
          </a:prstGeom>
          <a:solidFill>
            <a:srgbClr val="00B1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517617" y="1597025"/>
            <a:ext cx="1973019" cy="2445685"/>
          </a:xfrm>
          <a:prstGeom prst="roundRect">
            <a:avLst>
              <a:gd fmla="val 6115" name="adj"/>
            </a:avLst>
          </a:prstGeom>
          <a:solidFill>
            <a:srgbClr val="00B1C2"/>
          </a:solidFill>
          <a:ln>
            <a:noFill/>
          </a:ln>
        </p:spPr>
        <p:txBody>
          <a:bodyPr anchorCtr="0" anchor="t" bIns="45700" lIns="251975" spcFirstLastPara="1" rIns="0" wrap="square" tIns="144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NECESIDADES DE PERSONAL Y ENTRENAMIENTO</a:t>
            </a:r>
            <a:endParaRPr/>
          </a:p>
          <a:p>
            <a:pPr indent="-136525" lvl="0" marL="136525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es-PE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Número y roles </a:t>
            </a:r>
            <a:br>
              <a:rPr b="0" i="0" lang="es-PE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s-PE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 personas requeridas, </a:t>
            </a:r>
            <a:br>
              <a:rPr b="0" i="0" lang="es-PE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s-PE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así como sus habilidades/</a:t>
            </a:r>
            <a:br>
              <a:rPr b="0" i="0" lang="es-PE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s-PE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conocimiento.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365364" y="2644063"/>
            <a:ext cx="395709" cy="376075"/>
          </a:xfrm>
          <a:prstGeom prst="ellipse">
            <a:avLst/>
          </a:prstGeom>
          <a:solidFill>
            <a:srgbClr val="0793A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301599" y="2630189"/>
            <a:ext cx="424906" cy="403823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 rot="5400000">
            <a:off x="485372" y="2770910"/>
            <a:ext cx="186870" cy="122381"/>
          </a:xfrm>
          <a:prstGeom prst="triangle">
            <a:avLst>
              <a:gd fmla="val 50000" name="adj"/>
            </a:avLst>
          </a:prstGeom>
          <a:solidFill>
            <a:srgbClr val="00B1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 txBox="1"/>
          <p:nvPr/>
        </p:nvSpPr>
        <p:spPr>
          <a:xfrm>
            <a:off x="503238" y="912813"/>
            <a:ext cx="4572000" cy="2215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PE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PLANTILLA DE PLAN DE PRUEBAS IEEE 829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"/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b="0" i="0" lang="es-PE" sz="10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GESTIÓN DE PRUEBAS</a:t>
            </a:r>
            <a:endParaRPr b="0" i="0" sz="1000" u="none" cap="none" strike="noStrik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 txBox="1"/>
          <p:nvPr/>
        </p:nvSpPr>
        <p:spPr>
          <a:xfrm>
            <a:off x="503238" y="912813"/>
            <a:ext cx="45720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PE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CATEGORÍAS DE ESTRATEGIAS DE PRUEBA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4" name="Google Shape;234;p9"/>
          <p:cNvGrpSpPr/>
          <p:nvPr/>
        </p:nvGrpSpPr>
        <p:grpSpPr>
          <a:xfrm>
            <a:off x="1342032" y="1285751"/>
            <a:ext cx="6459937" cy="3940769"/>
            <a:chOff x="976707" y="1285751"/>
            <a:chExt cx="6459937" cy="3940769"/>
          </a:xfrm>
        </p:grpSpPr>
        <p:sp>
          <p:nvSpPr>
            <p:cNvPr id="235" name="Google Shape;235;p9"/>
            <p:cNvSpPr/>
            <p:nvPr/>
          </p:nvSpPr>
          <p:spPr>
            <a:xfrm>
              <a:off x="976707" y="1285751"/>
              <a:ext cx="3176196" cy="1836393"/>
            </a:xfrm>
            <a:prstGeom prst="roundRect">
              <a:avLst>
                <a:gd fmla="val 5960" name="adj"/>
              </a:avLst>
            </a:prstGeom>
            <a:solidFill>
              <a:srgbClr val="FCC7C4"/>
            </a:solidFill>
            <a:ln cap="flat" cmpd="sng" w="38100">
              <a:solidFill>
                <a:srgbClr val="EE463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180000" spcFirstLastPara="1" rIns="36000" wrap="square" tIns="180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600"/>
                <a:buFont typeface="Arial"/>
                <a:buNone/>
              </a:pPr>
              <a:r>
                <a:rPr b="1" i="0" lang="es-PE" sz="1500" u="none" cap="none" strike="noStrike">
                  <a:solidFill>
                    <a:srgbClr val="ED4637"/>
                  </a:solidFill>
                  <a:latin typeface="Calibri"/>
                  <a:ea typeface="Calibri"/>
                  <a:cs typeface="Calibri"/>
                  <a:sym typeface="Calibri"/>
                </a:rPr>
                <a:t>ANALÍTICO</a:t>
              </a:r>
              <a:endParaRPr b="1" i="0" sz="1500" u="none" cap="none" strike="noStrike">
                <a:solidFill>
                  <a:srgbClr val="ED4637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4625" lvl="1" marL="180975" marR="0" rtl="0" algn="l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ED4637"/>
                </a:buClr>
                <a:buSzPts val="1400"/>
                <a:buFont typeface="Arial"/>
                <a:buChar char="•"/>
              </a:pPr>
              <a:r>
                <a:rPr b="0" i="0" lang="es-PE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Análisis de riesgos (Estrategia </a:t>
              </a:r>
              <a:br>
                <a:rPr b="0" i="0" lang="es-PE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s-PE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basada en riesgos).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4625" lvl="1" marL="180975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ED4637"/>
                </a:buClr>
                <a:buSzPts val="1400"/>
                <a:buFont typeface="Arial"/>
                <a:buChar char="•"/>
              </a:pPr>
              <a:r>
                <a:rPr b="0" i="0" lang="es-PE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Análisis de Requerimientos (Estrategia basada en requerimientos).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9"/>
            <p:cNvSpPr/>
            <p:nvPr/>
          </p:nvSpPr>
          <p:spPr>
            <a:xfrm>
              <a:off x="976707" y="3217540"/>
              <a:ext cx="3176196" cy="2008980"/>
            </a:xfrm>
            <a:prstGeom prst="roundRect">
              <a:avLst>
                <a:gd fmla="val 6127" name="adj"/>
              </a:avLst>
            </a:prstGeom>
            <a:solidFill>
              <a:srgbClr val="FFD7C1"/>
            </a:solidFill>
            <a:ln cap="flat" cmpd="sng" w="38100">
              <a:solidFill>
                <a:srgbClr val="FE782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180000" spcFirstLastPara="1" rIns="36000" wrap="square" tIns="180000">
              <a:noAutofit/>
            </a:bodyPr>
            <a:lstStyle/>
            <a:p>
              <a:pPr indent="-182563" lvl="0" marL="182563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s-PE" sz="1500" u="none" cap="none" strike="noStrike">
                  <a:solidFill>
                    <a:srgbClr val="FE7828"/>
                  </a:solidFill>
                  <a:latin typeface="Calibri"/>
                  <a:ea typeface="Calibri"/>
                  <a:cs typeface="Calibri"/>
                  <a:sym typeface="Calibri"/>
                </a:rPr>
                <a:t>METÓDICO</a:t>
              </a:r>
              <a:endParaRPr b="1" i="0" sz="1500" u="none" cap="none" strike="noStrike">
                <a:solidFill>
                  <a:srgbClr val="FE782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4625" lvl="1" marL="180975" marR="0" rtl="0" algn="l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FE7828"/>
                </a:buClr>
                <a:buSzPts val="1300"/>
                <a:buFont typeface="Arial"/>
                <a:buChar char="•"/>
              </a:pPr>
              <a:r>
                <a:rPr b="0" i="0" lang="es-PE" sz="13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Checklist  en base a la experiencia que sugieren áreas de pruebas.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4625" lvl="1" marL="180975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FE7828"/>
                </a:buClr>
                <a:buSzPts val="1300"/>
                <a:buFont typeface="Arial"/>
                <a:buChar char="•"/>
              </a:pPr>
              <a:r>
                <a:rPr b="0" i="0" lang="es-PE" sz="13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Estándares de la industria como ISO 9126 Software Engineering. Diseño, implementación y ejecución metódica en base a ese esquema.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9"/>
            <p:cNvSpPr/>
            <p:nvPr/>
          </p:nvSpPr>
          <p:spPr>
            <a:xfrm>
              <a:off x="4260448" y="1285751"/>
              <a:ext cx="3176196" cy="1836393"/>
            </a:xfrm>
            <a:prstGeom prst="roundRect">
              <a:avLst>
                <a:gd fmla="val 6306" name="adj"/>
              </a:avLst>
            </a:prstGeom>
            <a:solidFill>
              <a:srgbClr val="D1EFF4"/>
            </a:solidFill>
            <a:ln cap="flat" cmpd="sng" w="38100">
              <a:solidFill>
                <a:srgbClr val="00B1C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180000" spcFirstLastPara="1" rIns="36000" wrap="square" tIns="180000">
              <a:noAutofit/>
            </a:bodyPr>
            <a:lstStyle/>
            <a:p>
              <a:pPr indent="-182563" lvl="0" marL="182563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5"/>
                </a:buClr>
                <a:buSzPts val="1600"/>
                <a:buFont typeface="Arial"/>
                <a:buNone/>
              </a:pPr>
              <a:r>
                <a:rPr b="1" i="0" lang="es-PE" sz="1500" u="none" cap="none" strike="noStrike">
                  <a:solidFill>
                    <a:srgbClr val="00B1C2"/>
                  </a:solidFill>
                  <a:latin typeface="Calibri"/>
                  <a:ea typeface="Calibri"/>
                  <a:cs typeface="Calibri"/>
                  <a:sym typeface="Calibri"/>
                </a:rPr>
                <a:t>BASADO EN MODELOS</a:t>
              </a:r>
              <a:endParaRPr b="1" i="0" sz="1500" u="none" cap="none" strike="noStrike">
                <a:solidFill>
                  <a:srgbClr val="00B1C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4625" lvl="1" marL="180975" marR="0" rtl="0" algn="l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B1C2"/>
                </a:buClr>
                <a:buSzPts val="1400"/>
                <a:buFont typeface="Arial"/>
                <a:buChar char="•"/>
              </a:pPr>
              <a:r>
                <a:rPr b="0" i="0" lang="es-PE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Pruebas basadas en modelos matemáticos.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9"/>
            <p:cNvSpPr/>
            <p:nvPr/>
          </p:nvSpPr>
          <p:spPr>
            <a:xfrm>
              <a:off x="4260448" y="3217540"/>
              <a:ext cx="3176196" cy="2008980"/>
            </a:xfrm>
            <a:prstGeom prst="roundRect">
              <a:avLst>
                <a:gd fmla="val 6127" name="adj"/>
              </a:avLst>
            </a:prstGeom>
            <a:solidFill>
              <a:srgbClr val="DDEEC8"/>
            </a:solidFill>
            <a:ln cap="flat" cmpd="sng" w="38100">
              <a:solidFill>
                <a:srgbClr val="92C14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180000" spcFirstLastPara="1" rIns="36000" wrap="square" tIns="180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s-PE" sz="1500" u="none" cap="none" strike="noStrike">
                  <a:solidFill>
                    <a:srgbClr val="92C14E"/>
                  </a:solidFill>
                  <a:latin typeface="Calibri"/>
                  <a:ea typeface="Calibri"/>
                  <a:cs typeface="Calibri"/>
                  <a:sym typeface="Calibri"/>
                </a:rPr>
                <a:t>CUMPLIMIENTO DE PROCESO O ESTÁNDARES</a:t>
              </a:r>
              <a:endParaRPr b="1" i="0" sz="1500" u="none" cap="none" strike="noStrike">
                <a:solidFill>
                  <a:srgbClr val="92C14E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4625" lvl="1" marL="180975" marR="0" rtl="0" algn="l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92C14E"/>
                </a:buClr>
                <a:buSzPts val="1400"/>
                <a:buFont typeface="Arial"/>
                <a:buChar char="•"/>
              </a:pPr>
              <a:r>
                <a:rPr b="0" i="0" lang="es-PE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Adopción del estándar IEEE 829 para las pruebas.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4625" lvl="1" marL="180975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92C14E"/>
                </a:buClr>
                <a:buSzPts val="1400"/>
                <a:buFont typeface="Arial"/>
                <a:buChar char="•"/>
              </a:pPr>
              <a:r>
                <a:rPr b="0" i="0" lang="es-PE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Metodologías Ágiles.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85725" lvl="0" marL="180975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accent3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85725" lvl="0" marL="180975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chemeClr val="accent3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0"/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b="0" i="0" lang="es-PE" sz="10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GESTIÓN DE PRUEBAS</a:t>
            </a:r>
            <a:endParaRPr b="0" i="0" sz="1000" u="none" cap="none" strike="noStrik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 txBox="1"/>
          <p:nvPr/>
        </p:nvSpPr>
        <p:spPr>
          <a:xfrm>
            <a:off x="503238" y="912813"/>
            <a:ext cx="45720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PE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CATEGORÍAS DE ESTRATEGIAS DE PRUEBA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503238" y="1561156"/>
            <a:ext cx="2586684" cy="2562788"/>
          </a:xfrm>
          <a:prstGeom prst="roundRect">
            <a:avLst>
              <a:gd fmla="val 6309" name="adj"/>
            </a:avLst>
          </a:prstGeom>
          <a:solidFill>
            <a:srgbClr val="E3DCED"/>
          </a:solidFill>
          <a:ln cap="flat" cmpd="sng" w="38100">
            <a:solidFill>
              <a:srgbClr val="715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180000" spcFirstLastPara="1" rIns="36000" wrap="square" tIns="180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500" u="none" cap="none" strike="noStrike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DINÁMICO</a:t>
            </a:r>
            <a:endParaRPr b="1" i="0" sz="1500" u="none" cap="none" strike="noStrike">
              <a:solidFill>
                <a:srgbClr val="7150A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4625" lvl="1" marL="180975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7150A0"/>
              </a:buClr>
              <a:buSzPts val="1400"/>
              <a:buFont typeface="Arial"/>
              <a:buChar char="•"/>
            </a:pPr>
            <a:r>
              <a:rPr b="0" i="0" lang="es-PE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Estrategia de Pruebas Exploratorias - Rápida adaptación.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4625" lvl="1" marL="1809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150A0"/>
              </a:buClr>
              <a:buSzPts val="1400"/>
              <a:buFont typeface="Arial"/>
              <a:buChar char="•"/>
            </a:pPr>
            <a:r>
              <a:rPr b="0" i="0" lang="es-PE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Estrategia basada en ataques - Enfocarse en debilidades comunes del software.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6054814" y="1561156"/>
            <a:ext cx="2620874" cy="2562788"/>
          </a:xfrm>
          <a:prstGeom prst="roundRect">
            <a:avLst>
              <a:gd fmla="val 6127" name="adj"/>
            </a:avLst>
          </a:prstGeom>
          <a:solidFill>
            <a:srgbClr val="FFEDBF"/>
          </a:solidFill>
          <a:ln cap="flat" cmpd="sng" w="38100">
            <a:solidFill>
              <a:srgbClr val="FEC2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180000" spcFirstLastPara="1" rIns="36000" wrap="square" tIns="180000">
            <a:noAutofit/>
          </a:bodyPr>
          <a:lstStyle/>
          <a:p>
            <a:pPr indent="-182563" lvl="0" marL="18256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500" u="none" cap="none" strike="noStrike">
                <a:solidFill>
                  <a:srgbClr val="FEC211"/>
                </a:solidFill>
                <a:latin typeface="Calibri"/>
                <a:ea typeface="Calibri"/>
                <a:cs typeface="Calibri"/>
                <a:sym typeface="Calibri"/>
              </a:rPr>
              <a:t>REACTIVO A LA REGRESIÓN</a:t>
            </a:r>
            <a:endParaRPr b="1" i="0" sz="1500" u="none" cap="none" strike="noStrike">
              <a:solidFill>
                <a:srgbClr val="FEC21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4625" lvl="1" marL="180975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EC211"/>
              </a:buClr>
              <a:buSzPts val="1400"/>
              <a:buFont typeface="Arial"/>
              <a:buChar char="•"/>
            </a:pPr>
            <a:r>
              <a:rPr b="0" i="0" lang="es-PE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Detección de defectos de regresión.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4625" lvl="1" marL="1809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EC211"/>
              </a:buClr>
              <a:buSzPts val="1400"/>
              <a:buFont typeface="Arial"/>
              <a:buChar char="•"/>
            </a:pPr>
            <a:r>
              <a:rPr b="0" i="0" lang="es-PE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Automatización de pruebas funcionales.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3261931" y="1561156"/>
            <a:ext cx="2620874" cy="2562788"/>
          </a:xfrm>
          <a:prstGeom prst="roundRect">
            <a:avLst>
              <a:gd fmla="val 6306" name="adj"/>
            </a:avLst>
          </a:prstGeom>
          <a:solidFill>
            <a:srgbClr val="FFD7C1"/>
          </a:solidFill>
          <a:ln cap="flat" cmpd="sng" w="38100">
            <a:solidFill>
              <a:srgbClr val="FE7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180000" spcFirstLastPara="1" rIns="36000" wrap="square" tIns="180000">
            <a:noAutofit/>
          </a:bodyPr>
          <a:lstStyle/>
          <a:p>
            <a:pPr indent="-182563" lvl="0" marL="18256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500" u="none" cap="none" strike="noStrike">
                <a:solidFill>
                  <a:srgbClr val="FE7828"/>
                </a:solidFill>
                <a:latin typeface="Calibri"/>
                <a:ea typeface="Calibri"/>
                <a:cs typeface="Calibri"/>
                <a:sym typeface="Calibri"/>
              </a:rPr>
              <a:t>CONSULTIVO O DIRIGIDO</a:t>
            </a:r>
            <a:endParaRPr b="1" i="0" sz="1500" u="none" cap="none" strike="noStrike">
              <a:solidFill>
                <a:srgbClr val="FE782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4625" lvl="1" marL="180975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E7828"/>
              </a:buClr>
              <a:buSzPts val="1400"/>
              <a:buFont typeface="Arial"/>
              <a:buChar char="•"/>
            </a:pPr>
            <a:r>
              <a:rPr b="0" i="0" lang="es-PE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Confiar en un grupo de no-probadores que guíen o inclusive realicen las pruebas. Ej: Usuarios o desarrolladores indicando lo que se debe probar o inclusive ejecutando las pruebas.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 txBox="1"/>
          <p:nvPr/>
        </p:nvSpPr>
        <p:spPr>
          <a:xfrm>
            <a:off x="1008063" y="3169972"/>
            <a:ext cx="5993558" cy="387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RIESGOS</a:t>
            </a:r>
            <a:endParaRPr/>
          </a:p>
        </p:txBody>
      </p:sp>
      <p:pic>
        <p:nvPicPr>
          <p:cNvPr id="255" name="Google Shape;25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8063" y="2869612"/>
            <a:ext cx="195423" cy="201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"/>
          <p:cNvSpPr txBox="1"/>
          <p:nvPr/>
        </p:nvSpPr>
        <p:spPr>
          <a:xfrm>
            <a:off x="684213" y="3091654"/>
            <a:ext cx="37084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PE" sz="1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dayabarrionuevo.blogspot.com</a:t>
            </a:r>
            <a:endParaRPr b="0" i="0" sz="14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b="0" i="0" lang="es-PE" sz="10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RIESGOS</a:t>
            </a:r>
            <a:endParaRPr b="0" i="0" sz="1000" u="none" cap="none" strike="noStrik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2"/>
          <p:cNvSpPr txBox="1"/>
          <p:nvPr/>
        </p:nvSpPr>
        <p:spPr>
          <a:xfrm>
            <a:off x="503220" y="912813"/>
            <a:ext cx="3889393" cy="18004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PE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RIESGO: ORIGEN ETIMOLÓGICO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975" lvl="0" marL="1809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PE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“Proviene del italiano </a:t>
            </a:r>
            <a:r>
              <a:rPr b="1" i="0" lang="es-PE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rischio</a:t>
            </a:r>
            <a:r>
              <a:rPr b="0" i="0" lang="es-PE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que, a su vez, tiene origen en el árabe clásico </a:t>
            </a:r>
            <a:r>
              <a:rPr b="1" i="0" lang="es-PE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rizq </a:t>
            </a:r>
            <a:r>
              <a:rPr b="0" i="0" lang="es-PE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(‘lo que depara la providencia’)”. 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975" lvl="0" marL="1809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809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PE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“El término hace “referencia a la proximidad o contingencia de un posible daño”.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3" name="Google Shape;263;p12"/>
          <p:cNvPicPr preferRelativeResize="0"/>
          <p:nvPr/>
        </p:nvPicPr>
        <p:blipFill rotWithShape="1">
          <a:blip r:embed="rId3">
            <a:alphaModFix/>
          </a:blip>
          <a:srcRect b="0" l="22865" r="21447" t="0"/>
          <a:stretch/>
        </p:blipFill>
        <p:spPr>
          <a:xfrm>
            <a:off x="4751389" y="912812"/>
            <a:ext cx="4392612" cy="432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3"/>
          <p:cNvSpPr txBox="1"/>
          <p:nvPr/>
        </p:nvSpPr>
        <p:spPr>
          <a:xfrm>
            <a:off x="684213" y="4725242"/>
            <a:ext cx="37084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PE" sz="1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hdl.handle.net</a:t>
            </a:r>
            <a:endParaRPr b="0" i="0" sz="14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3"/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b="0" i="0" lang="es-PE" sz="10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RIESGOS</a:t>
            </a:r>
            <a:endParaRPr b="0" i="0" sz="1000" u="none" cap="none" strike="noStrik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3"/>
          <p:cNvSpPr txBox="1"/>
          <p:nvPr/>
        </p:nvSpPr>
        <p:spPr>
          <a:xfrm>
            <a:off x="503238" y="912813"/>
            <a:ext cx="3889375" cy="35240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PE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RIESGO: DEFINICIÓN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809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PE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riesgo es un </a:t>
            </a:r>
            <a:r>
              <a:rPr b="1" i="0" lang="es-PE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evento incierto </a:t>
            </a:r>
            <a:r>
              <a:rPr b="0" i="0" lang="es-PE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condición incierta que de ocurrir afecta a los objetivos de forma </a:t>
            </a:r>
            <a:r>
              <a:rPr b="1" i="0" lang="es-PE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positiva</a:t>
            </a:r>
            <a:r>
              <a:rPr b="0" i="0" lang="es-PE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 </a:t>
            </a:r>
            <a:r>
              <a:rPr b="1" i="0" lang="es-PE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negativa.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975" lvl="0" marL="1809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809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PE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</a:t>
            </a:r>
            <a:r>
              <a:rPr b="1" i="0" lang="es-PE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probabilidad</a:t>
            </a:r>
            <a:r>
              <a:rPr b="0" i="0" lang="es-PE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ocurrencia multiplicada por  el monto del daño económico resulta en el riesgo que estaremos asumiendo.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975" lvl="0" marL="1809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809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PE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“El gestionar riesgos involucra </a:t>
            </a:r>
            <a:r>
              <a:rPr b="1" i="0" lang="es-PE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maximizar</a:t>
            </a:r>
            <a:r>
              <a:rPr b="0" i="0" lang="es-PE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la probabilidad de ocurrencia y efectos de  eventos positivos (oportunidades) y </a:t>
            </a:r>
            <a:r>
              <a:rPr b="1" i="0" lang="es-PE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minimizar</a:t>
            </a:r>
            <a:r>
              <a:rPr b="0" i="0" lang="es-PE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la probabilidad y efectos de eventos negativos (amenazas)”.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1" name="Google Shape;271;p13"/>
          <p:cNvPicPr preferRelativeResize="0"/>
          <p:nvPr/>
        </p:nvPicPr>
        <p:blipFill rotWithShape="1">
          <a:blip r:embed="rId3">
            <a:alphaModFix/>
          </a:blip>
          <a:srcRect b="0" l="46522" r="7064" t="0"/>
          <a:stretch/>
        </p:blipFill>
        <p:spPr>
          <a:xfrm>
            <a:off x="4751387" y="1"/>
            <a:ext cx="4392613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g30314786a23_0_0"/>
          <p:cNvPicPr preferRelativeResize="0"/>
          <p:nvPr/>
        </p:nvPicPr>
        <p:blipFill rotWithShape="1">
          <a:blip r:embed="rId3">
            <a:alphaModFix/>
          </a:blip>
          <a:srcRect b="-1" l="2292" r="37368" t="0"/>
          <a:stretch/>
        </p:blipFill>
        <p:spPr>
          <a:xfrm>
            <a:off x="468313" y="912813"/>
            <a:ext cx="3918131" cy="4318143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g30314786a23_0_0"/>
          <p:cNvSpPr txBox="1"/>
          <p:nvPr/>
        </p:nvSpPr>
        <p:spPr>
          <a:xfrm>
            <a:off x="4951353" y="2496274"/>
            <a:ext cx="25047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PE" sz="1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innovasyscorp.com</a:t>
            </a:r>
            <a:endParaRPr b="0" i="0" sz="14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g30314786a23_0_0"/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b="0" i="0" lang="es-PE" sz="10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RIESGOS</a:t>
            </a:r>
            <a:endParaRPr b="0" i="0" sz="1000" u="none" cap="none" strike="noStrik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g30314786a23_0_0"/>
          <p:cNvSpPr txBox="1"/>
          <p:nvPr/>
        </p:nvSpPr>
        <p:spPr>
          <a:xfrm>
            <a:off x="4768473" y="912813"/>
            <a:ext cx="3918131" cy="1308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PE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CÁLCULO DEL RIESGO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975" lvl="0" marL="1809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PE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riesgo es la probabilidad de un resultado negativo, o la probabilidad de la ocurrencia de un suceso negativo multiplicada por el monto del daño económico.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14"/>
          <p:cNvPicPr preferRelativeResize="0"/>
          <p:nvPr/>
        </p:nvPicPr>
        <p:blipFill rotWithShape="1">
          <a:blip r:embed="rId3">
            <a:alphaModFix/>
          </a:blip>
          <a:srcRect b="0" l="47907" r="17150" t="21919"/>
          <a:stretch/>
        </p:blipFill>
        <p:spPr>
          <a:xfrm>
            <a:off x="5286132" y="1502594"/>
            <a:ext cx="2504700" cy="3731394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4"/>
          <p:cNvSpPr txBox="1"/>
          <p:nvPr/>
        </p:nvSpPr>
        <p:spPr>
          <a:xfrm>
            <a:off x="684213" y="3738794"/>
            <a:ext cx="2504700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PE" sz="1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innovasyscorp.com</a:t>
            </a:r>
            <a:endParaRPr b="0" i="0" sz="14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4"/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b="0" i="0" lang="es-PE" sz="10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RIESGOS</a:t>
            </a:r>
            <a:endParaRPr b="0" i="0" sz="1000" u="none" cap="none" strike="noStrik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4"/>
          <p:cNvSpPr txBox="1"/>
          <p:nvPr/>
        </p:nvSpPr>
        <p:spPr>
          <a:xfrm>
            <a:off x="503238" y="912813"/>
            <a:ext cx="8172450" cy="569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PE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RIESGOS EN LOS PROYECTOS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809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PE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riesgo asociado al proyecto y al producto debe ser tenido en cuenta: </a:t>
            </a:r>
            <a:endParaRPr/>
          </a:p>
        </p:txBody>
      </p:sp>
      <p:sp>
        <p:nvSpPr>
          <p:cNvPr id="288" name="Google Shape;288;p14"/>
          <p:cNvSpPr/>
          <p:nvPr/>
        </p:nvSpPr>
        <p:spPr>
          <a:xfrm>
            <a:off x="961453" y="1659864"/>
            <a:ext cx="4186619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Durante la planificación y el diseño de casos de prueba.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9" name="Google Shape;289;p14"/>
          <p:cNvCxnSpPr/>
          <p:nvPr/>
        </p:nvCxnSpPr>
        <p:spPr>
          <a:xfrm>
            <a:off x="747052" y="1862734"/>
            <a:ext cx="0" cy="304394"/>
          </a:xfrm>
          <a:prstGeom prst="straightConnector1">
            <a:avLst/>
          </a:prstGeom>
          <a:noFill/>
          <a:ln cap="flat" cmpd="sng" w="12700">
            <a:solidFill>
              <a:srgbClr val="EE463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0" name="Google Shape;290;p14"/>
          <p:cNvSpPr/>
          <p:nvPr/>
        </p:nvSpPr>
        <p:spPr>
          <a:xfrm>
            <a:off x="961453" y="2167940"/>
            <a:ext cx="4186619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Cuando se prioricen casos de prueba.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4"/>
          <p:cNvSpPr/>
          <p:nvPr/>
        </p:nvSpPr>
        <p:spPr>
          <a:xfrm>
            <a:off x="961453" y="2711744"/>
            <a:ext cx="4186619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Cuando se seleccionen métodos.</a:t>
            </a:r>
            <a:endParaRPr/>
          </a:p>
        </p:txBody>
      </p:sp>
      <p:sp>
        <p:nvSpPr>
          <p:cNvPr id="292" name="Google Shape;292;p14"/>
          <p:cNvSpPr/>
          <p:nvPr/>
        </p:nvSpPr>
        <p:spPr>
          <a:xfrm>
            <a:off x="670710" y="1669636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3" name="Google Shape;293;p14"/>
          <p:cNvCxnSpPr/>
          <p:nvPr/>
        </p:nvCxnSpPr>
        <p:spPr>
          <a:xfrm>
            <a:off x="747052" y="2361577"/>
            <a:ext cx="0" cy="308471"/>
          </a:xfrm>
          <a:prstGeom prst="straightConnector1">
            <a:avLst/>
          </a:prstGeom>
          <a:noFill/>
          <a:ln cap="flat" cmpd="sng" w="12700">
            <a:solidFill>
              <a:srgbClr val="EE463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4" name="Google Shape;294;p14"/>
          <p:cNvSpPr/>
          <p:nvPr/>
        </p:nvSpPr>
        <p:spPr>
          <a:xfrm>
            <a:off x="670710" y="2178828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4"/>
          <p:cNvSpPr/>
          <p:nvPr/>
        </p:nvSpPr>
        <p:spPr>
          <a:xfrm>
            <a:off x="670710" y="2711744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4"/>
          <p:cNvSpPr/>
          <p:nvPr/>
        </p:nvSpPr>
        <p:spPr>
          <a:xfrm>
            <a:off x="961453" y="3232952"/>
            <a:ext cx="4186619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Durante la ejecución de prueba.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7" name="Google Shape;297;p14"/>
          <p:cNvCxnSpPr/>
          <p:nvPr/>
        </p:nvCxnSpPr>
        <p:spPr>
          <a:xfrm>
            <a:off x="747052" y="2882785"/>
            <a:ext cx="0" cy="308471"/>
          </a:xfrm>
          <a:prstGeom prst="straightConnector1">
            <a:avLst/>
          </a:prstGeom>
          <a:noFill/>
          <a:ln cap="flat" cmpd="sng" w="12700">
            <a:solidFill>
              <a:srgbClr val="EE463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8" name="Google Shape;298;p14"/>
          <p:cNvSpPr/>
          <p:nvPr/>
        </p:nvSpPr>
        <p:spPr>
          <a:xfrm>
            <a:off x="670710" y="3232952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4"/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b="0" i="0" lang="es-PE" sz="10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RIESGOS</a:t>
            </a:r>
            <a:endParaRPr b="0" i="0" sz="1000" u="none" cap="none" strike="noStrik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4"/>
          <p:cNvSpPr txBox="1"/>
          <p:nvPr/>
        </p:nvSpPr>
        <p:spPr>
          <a:xfrm>
            <a:off x="503238" y="912813"/>
            <a:ext cx="7543482" cy="815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PE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APLICACIÓN PRÁCTICA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809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s-PE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Podemos esquematizar un Plan de Pruebas para CabiNet utilizando la plantilla IEEE 829 como referencia.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6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654E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0" name="Google Shape;310;p16"/>
          <p:cNvGrpSpPr/>
          <p:nvPr/>
        </p:nvGrpSpPr>
        <p:grpSpPr>
          <a:xfrm>
            <a:off x="2506315" y="2194222"/>
            <a:ext cx="4581728" cy="1326557"/>
            <a:chOff x="2403187" y="2211377"/>
            <a:chExt cx="4581728" cy="1326557"/>
          </a:xfrm>
        </p:grpSpPr>
        <p:sp>
          <p:nvSpPr>
            <p:cNvPr id="311" name="Google Shape;311;p16"/>
            <p:cNvSpPr txBox="1"/>
            <p:nvPr/>
          </p:nvSpPr>
          <p:spPr>
            <a:xfrm>
              <a:off x="2403187" y="2540738"/>
              <a:ext cx="4581728" cy="9971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PE" sz="3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CONCLUSIONES</a:t>
              </a:r>
              <a:br>
                <a:rPr b="0" i="0" lang="es-PE" sz="3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i="0" lang="es-PE" sz="3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MÁS REFERENCIAS</a:t>
              </a:r>
              <a:endParaRPr/>
            </a:p>
          </p:txBody>
        </p:sp>
        <p:pic>
          <p:nvPicPr>
            <p:cNvPr id="312" name="Google Shape;312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425491" y="2211377"/>
              <a:ext cx="202176" cy="20821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13" name="Google Shape;31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253" y="946969"/>
            <a:ext cx="2072214" cy="3898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5"/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5"/>
          <p:cNvSpPr txBox="1"/>
          <p:nvPr/>
        </p:nvSpPr>
        <p:spPr>
          <a:xfrm>
            <a:off x="1279545" y="912813"/>
            <a:ext cx="5705454" cy="2800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5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planificación de pruebas forma parte del plan de calidad corporativo.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74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5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plan de pruebas es el elemento básico de toda la planificación de las actividades de pruebas. Debe ser desarrollado de forma temprana en </a:t>
            </a:r>
            <a:br>
              <a:rPr b="0" i="0" lang="es-PE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s-PE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proyecto.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174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1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400"/>
              <a:buFont typeface="Arial"/>
              <a:buChar char="•"/>
            </a:pPr>
            <a:r>
              <a:rPr b="0" i="0" lang="es-PE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Plantilla de plan de pruebas: IEEE 829.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66675" lvl="0" marL="184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5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PE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estimación de pruebas puede ser realizada utilizando varios métodos. Tres métodos habituales son: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5100" lvl="1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400"/>
              <a:buFont typeface="Arial"/>
              <a:buChar char="•"/>
            </a:pPr>
            <a:r>
              <a:rPr b="0" i="0" lang="es-PE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Estimación basada en expertos (estimación basada en tareas).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1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400"/>
              <a:buFont typeface="Arial"/>
              <a:buChar char="•"/>
            </a:pPr>
            <a:r>
              <a:rPr b="0" i="0" lang="es-PE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Estimación basada en analogías.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1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400"/>
              <a:buFont typeface="Arial"/>
              <a:buChar char="•"/>
            </a:pPr>
            <a:r>
              <a:rPr b="0" i="0" lang="es-PE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Estimación basada en porcentajes.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1" name="Google Shape;32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260" y="954885"/>
            <a:ext cx="114138" cy="117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260" y="2663979"/>
            <a:ext cx="114138" cy="117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25"/>
          <p:cNvPicPr preferRelativeResize="0"/>
          <p:nvPr/>
        </p:nvPicPr>
        <p:blipFill rotWithShape="1">
          <a:blip r:embed="rId4">
            <a:alphaModFix amt="42000"/>
          </a:blip>
          <a:srcRect b="0" l="0" r="0" t="0"/>
          <a:stretch/>
        </p:blipFill>
        <p:spPr>
          <a:xfrm>
            <a:off x="6984999" y="3048772"/>
            <a:ext cx="1690689" cy="2185216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5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0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b="0" i="0" lang="es-PE" sz="10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CONCLUSIONES </a:t>
            </a:r>
            <a:endParaRPr/>
          </a:p>
        </p:txBody>
      </p:sp>
      <p:pic>
        <p:nvPicPr>
          <p:cNvPr id="325" name="Google Shape;32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260" y="1391771"/>
            <a:ext cx="114138" cy="117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7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1" name="Google Shape;33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24199" y="2666298"/>
            <a:ext cx="1295601" cy="3868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2016-10-06T14:52:02Z</dcterms:created>
  <dc:creator>ISIL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5400A83D-B4FE-497C-9E2F-ACF3BA8DEF15</vt:lpwstr>
  </property>
  <property fmtid="{D5CDD505-2E9C-101B-9397-08002B2CF9AE}" pid="3" name="ArticulatePath">
    <vt:lpwstr>plantilla_cursos_presenciales-v3.1.6</vt:lpwstr>
  </property>
</Properties>
</file>