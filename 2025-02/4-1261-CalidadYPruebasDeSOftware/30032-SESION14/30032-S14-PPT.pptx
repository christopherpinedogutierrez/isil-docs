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58" r:id="rId2"/>
    <p:sldId id="499" r:id="rId3"/>
    <p:sldId id="359" r:id="rId4"/>
    <p:sldId id="315" r:id="rId5"/>
    <p:sldId id="491" r:id="rId6"/>
    <p:sldId id="492" r:id="rId7"/>
    <p:sldId id="484" r:id="rId8"/>
    <p:sldId id="271" r:id="rId9"/>
    <p:sldId id="272" r:id="rId10"/>
    <p:sldId id="273" r:id="rId11"/>
    <p:sldId id="497" r:id="rId12"/>
    <p:sldId id="498" r:id="rId13"/>
    <p:sldId id="485" r:id="rId14"/>
    <p:sldId id="488" r:id="rId15"/>
    <p:sldId id="275" r:id="rId16"/>
    <p:sldId id="496" r:id="rId17"/>
    <p:sldId id="277" r:id="rId18"/>
    <p:sldId id="278" r:id="rId19"/>
    <p:sldId id="500" r:id="rId20"/>
    <p:sldId id="489" r:id="rId21"/>
    <p:sldId id="501" r:id="rId22"/>
  </p:sldIdLst>
  <p:sldSz cx="9144000" cy="5715000" type="screen16x10"/>
  <p:notesSz cx="6858000" cy="9144000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 userDrawn="1">
          <p15:clr>
            <a:srgbClr val="A4A3A4"/>
          </p15:clr>
        </p15:guide>
        <p15:guide id="3" orient="horz" pos="18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697E"/>
    <a:srgbClr val="808799"/>
    <a:srgbClr val="7150A0"/>
    <a:srgbClr val="00B1C2"/>
    <a:srgbClr val="92C14E"/>
    <a:srgbClr val="FDC212"/>
    <a:srgbClr val="EE4639"/>
    <a:srgbClr val="FE7828"/>
    <a:srgbClr val="FFEDBF"/>
    <a:srgbClr val="FFD7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5007" autoAdjust="0"/>
  </p:normalViewPr>
  <p:slideViewPr>
    <p:cSldViewPr snapToGrid="0" snapToObjects="1" showGuides="1">
      <p:cViewPr varScale="1">
        <p:scale>
          <a:sx n="144" d="100"/>
          <a:sy n="144" d="100"/>
        </p:scale>
        <p:origin x="1824" y="176"/>
      </p:cViewPr>
      <p:guideLst>
        <p:guide pos="2880"/>
        <p:guide orient="horz" pos="180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28/10/24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28/10/24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846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430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84154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endParaRPr dirty="0"/>
          </a:p>
        </p:txBody>
      </p:sp>
      <p:sp>
        <p:nvSpPr>
          <p:cNvPr id="148" name="Google Shape;14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09828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/>
              <a:t>Fuente: </a:t>
            </a:r>
            <a:r>
              <a:rPr lang="es-PE" dirty="0" err="1"/>
              <a:t>qdoc.tips</a:t>
            </a:r>
            <a:endParaRPr lang="es-PE" dirty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5398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719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DA1AAA2C-FDCB-9142-B26F-04BC58A6FF24}"/>
              </a:ext>
            </a:extLst>
          </p:cNvPr>
          <p:cNvSpPr/>
          <p:nvPr userDrawn="1"/>
        </p:nvSpPr>
        <p:spPr>
          <a:xfrm>
            <a:off x="7204422" y="5371562"/>
            <a:ext cx="154401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dirty="0">
                <a:solidFill>
                  <a:schemeClr val="bg1">
                    <a:lumMod val="50000"/>
                  </a:schemeClr>
                </a:solidFill>
              </a:rPr>
              <a:t>© ISIL. Todos los derechos reservados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67E27BD-8674-D94E-87AC-0653F47DA3A8}"/>
              </a:ext>
            </a:extLst>
          </p:cNvPr>
          <p:cNvSpPr txBox="1"/>
          <p:nvPr userDrawn="1"/>
        </p:nvSpPr>
        <p:spPr>
          <a:xfrm>
            <a:off x="876300" y="5343295"/>
            <a:ext cx="22156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1200" baseline="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CALIDAD Y PRUEBAS DE SOFTWARE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TEMA 14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F80DB44-6E92-B44B-A6EF-F046E4776F9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63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800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2993" userDrawn="1">
          <p15:clr>
            <a:srgbClr val="F26B43"/>
          </p15:clr>
        </p15:guide>
        <p15:guide id="5" pos="295" userDrawn="1">
          <p15:clr>
            <a:srgbClr val="F26B43"/>
          </p15:clr>
        </p15:guide>
        <p15:guide id="6" pos="431" userDrawn="1">
          <p15:clr>
            <a:srgbClr val="F26B43"/>
          </p15:clr>
        </p15:guide>
        <p15:guide id="7" pos="5465" userDrawn="1">
          <p15:clr>
            <a:srgbClr val="F26B43"/>
          </p15:clr>
        </p15:guide>
        <p15:guide id="8" orient="horz" pos="303" userDrawn="1">
          <p15:clr>
            <a:srgbClr val="F26B43"/>
          </p15:clr>
        </p15:guide>
        <p15:guide id="9" orient="horz" pos="575" userDrawn="1">
          <p15:clr>
            <a:srgbClr val="F26B43"/>
          </p15:clr>
        </p15:guide>
        <p15:guide id="10" orient="horz" pos="32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0F66EC8-244A-F941-9C38-BE0D45BBF327}"/>
              </a:ext>
            </a:extLst>
          </p:cNvPr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19A5BE7-9A98-AA4F-86DF-839B6AF571C7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900" b="1" dirty="0">
                <a:solidFill>
                  <a:srgbClr val="6C6D6C"/>
                </a:solidFill>
                <a:latin typeface="Calibri" charset="0"/>
                <a:cs typeface="Calibri" charset="0"/>
              </a:rPr>
              <a:t>CALIDAD Y PRUEBAS DE SOFTWARE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88D29FD-DACF-414A-A6F0-FA8184B8B94A}"/>
              </a:ext>
            </a:extLst>
          </p:cNvPr>
          <p:cNvSpPr/>
          <p:nvPr/>
        </p:nvSpPr>
        <p:spPr>
          <a:xfrm>
            <a:off x="503238" y="3219842"/>
            <a:ext cx="2845526" cy="8640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4E697E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-Medium" charset="0"/>
              </a:rPr>
              <a:t>Conceptos asociados al riesgo</a:t>
            </a:r>
          </a:p>
          <a:p>
            <a:pPr marL="177800" indent="-177800">
              <a:lnSpc>
                <a:spcPct val="120000"/>
              </a:lnSpc>
              <a:buClr>
                <a:srgbClr val="4E697E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-Medium" charset="0"/>
              </a:rPr>
              <a:t>Gestión de riesgos en pruebas </a:t>
            </a:r>
            <a:br>
              <a:rPr lang="es-PE" sz="1200" dirty="0">
                <a:latin typeface="Graphik-Medium" charset="0"/>
              </a:rPr>
            </a:br>
            <a:r>
              <a:rPr lang="es-PE" sz="1200" dirty="0">
                <a:latin typeface="Graphik-Medium" charset="0"/>
              </a:rPr>
              <a:t>de software</a:t>
            </a:r>
          </a:p>
          <a:p>
            <a:pPr marL="177800" indent="-177800">
              <a:lnSpc>
                <a:spcPct val="120000"/>
              </a:lnSpc>
              <a:buClr>
                <a:srgbClr val="4E697E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-Medium" charset="0"/>
              </a:rPr>
              <a:t>Pruebas basadas en riesgos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2471F9F-D704-DB4A-A17B-41BB1027B4CB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4E697E"/>
                </a:solidFill>
                <a:latin typeface="Calibri" charset="0"/>
                <a:ea typeface="Calibri" charset="0"/>
                <a:cs typeface="Calibri" charset="0"/>
              </a:rPr>
              <a:t>TEMA 14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E7B1746A-EC1C-F145-A2EE-4FFE45D7E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sp>
        <p:nvSpPr>
          <p:cNvPr id="30" name="Rectángulo 29">
            <a:extLst>
              <a:ext uri="{FF2B5EF4-FFF2-40B4-BE49-F238E27FC236}">
                <a16:creationId xmlns:a16="http://schemas.microsoft.com/office/drawing/2014/main" id="{6D0482B9-46FB-EA41-B51A-FB07E0F91AC1}"/>
              </a:ext>
            </a:extLst>
          </p:cNvPr>
          <p:cNvSpPr/>
          <p:nvPr/>
        </p:nvSpPr>
        <p:spPr>
          <a:xfrm>
            <a:off x="503239" y="2177570"/>
            <a:ext cx="3056852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s-ES" sz="4000" b="1" dirty="0">
                <a:latin typeface="Graphik Bold" charset="0"/>
                <a:ea typeface="Graphik Bold" charset="0"/>
                <a:cs typeface="Graphik Bold" charset="0"/>
              </a:rPr>
              <a:t>RIESGOS</a:t>
            </a:r>
            <a:endParaRPr lang="es-ES" sz="3200" b="1" dirty="0">
              <a:latin typeface="Graphik Bold" charset="0"/>
              <a:ea typeface="Graphik Bold" charset="0"/>
              <a:cs typeface="Graphik Bold" charset="0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614F62F1-5ED0-1241-88AC-8D1C78210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0"/>
            <a:ext cx="53911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129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128000-4809-444C-951B-D39FEAFEFD0A}"/>
              </a:ext>
            </a:extLst>
          </p:cNvPr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8C74F7-3D60-4846-B055-291D2E08A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FD17AF0-02A5-F742-B708-A185D006EA05}"/>
              </a:ext>
            </a:extLst>
          </p:cNvPr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9BAB8A4-70AE-7D4D-B817-943701BF7D7A}"/>
              </a:ext>
            </a:extLst>
          </p:cNvPr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C740A99-AF97-0D4D-86B3-75BA02F6EE8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B8B9AFD-646C-0345-829A-7E15846FA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82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1E207D5-0C5F-3147-A653-3F76601305CD}"/>
              </a:ext>
            </a:extLst>
          </p:cNvPr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BF5A6EA-B274-354A-BBFF-C955A9977659}"/>
              </a:ext>
            </a:extLst>
          </p:cNvPr>
          <p:cNvSpPr txBox="1"/>
          <p:nvPr/>
        </p:nvSpPr>
        <p:spPr>
          <a:xfrm>
            <a:off x="1282299" y="918372"/>
            <a:ext cx="5200798" cy="861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Durante esta sesión:</a:t>
            </a:r>
            <a:endParaRPr lang="es-PE" sz="1400" dirty="0">
              <a:solidFill>
                <a:schemeClr val="tx1"/>
              </a:solidFill>
            </a:endParaRPr>
          </a:p>
          <a:p>
            <a:pPr marL="177800" lvl="1" indent="-165100">
              <a:buClr>
                <a:srgbClr val="EE4639"/>
              </a:buClr>
              <a:buSzPct val="100000"/>
              <a:buFont typeface="Arial" charset="0"/>
              <a:buChar char="•"/>
              <a:tabLst>
                <a:tab pos="120650" algn="l"/>
              </a:tabLst>
            </a:pPr>
            <a:r>
              <a:rPr lang="es-PE" sz="1400" b="1" spc="-10" dirty="0">
                <a:latin typeface="Calibri" charset="0"/>
                <a:cs typeface="Calibri" charset="0"/>
              </a:rPr>
              <a:t>Aprenderás</a:t>
            </a:r>
            <a:r>
              <a:rPr lang="es-PE" sz="1400" spc="-10" dirty="0">
                <a:latin typeface="Calibri" charset="0"/>
                <a:cs typeface="Calibri" charset="0"/>
              </a:rPr>
              <a:t> a identificar los riesgos relacionados con el proceso de pruebas evaluando su criticidad y probabilidad para elaborar un plan de contingencia.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0904D7E-3830-A340-9812-4693789D5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5AE34D6-15A5-1D42-A365-2EC9E45BC97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506D4AB3-F161-FC4B-ACEC-858BD09AB486}"/>
              </a:ext>
            </a:extLst>
          </p:cNvPr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37BF9FA7-05DC-BE40-8ECA-5CBF81090E2C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215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02EDB43-4E6E-B446-886A-3C65E3FFB4FF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3390435-6F78-174F-A456-59B6ECDFB0F7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CONCEPTOS ASOCIADOS</a:t>
            </a:r>
            <a:b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AL RIESGO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4A8054D-4F22-9449-A321-B7080C2C0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F18AFA2-8537-543F-608A-72CBB55784E7}"/>
              </a:ext>
            </a:extLst>
          </p:cNvPr>
          <p:cNvSpPr txBox="1"/>
          <p:nvPr/>
        </p:nvSpPr>
        <p:spPr>
          <a:xfrm>
            <a:off x="684213" y="4188605"/>
            <a:ext cx="370840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PE" sz="1000" dirty="0">
                <a:solidFill>
                  <a:schemeClr val="bg1">
                    <a:lumMod val="50000"/>
                  </a:schemeClr>
                </a:solidFill>
              </a:rPr>
              <a:t>innovasyscorp.com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1A0EB6E-DA3B-0344-A4AC-560E4055C376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CONCEPTOS ASOCIADOS AL RIESGO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138329B-E996-F540-817F-1D1F4B9456B7}"/>
              </a:ext>
            </a:extLst>
          </p:cNvPr>
          <p:cNvSpPr txBox="1"/>
          <p:nvPr/>
        </p:nvSpPr>
        <p:spPr>
          <a:xfrm>
            <a:off x="503238" y="912813"/>
            <a:ext cx="3889376" cy="3031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PE" sz="1600" b="1" dirty="0"/>
              <a:t>RECORDEMOS: DEFINICIÓN DE RIESGO</a:t>
            </a:r>
          </a:p>
          <a:p>
            <a:pPr marL="177800" indent="-177800">
              <a:buFont typeface="Arial" charset="0"/>
              <a:buChar char="•"/>
            </a:pPr>
            <a:r>
              <a:rPr lang="es-PE" sz="1600" dirty="0"/>
              <a:t>El riesgo es la probabilidad de un resultado negativo, o la probabilidad de la ocurrencia de un suceso negativo multiplicada por el monto del daño económico.</a:t>
            </a:r>
          </a:p>
          <a:p>
            <a:pPr marL="177800" indent="-177800">
              <a:buFont typeface="Arial" charset="0"/>
              <a:buChar char="•"/>
            </a:pPr>
            <a:endParaRPr lang="es-PE" sz="1600" dirty="0"/>
          </a:p>
          <a:p>
            <a:pPr marL="177800" indent="-177800">
              <a:buFont typeface="Arial" charset="0"/>
              <a:buChar char="•"/>
            </a:pPr>
            <a:r>
              <a:rPr lang="es-PE" sz="1600" dirty="0"/>
              <a:t>El riesgo asociado al proyecto y al producto deben ser tenidos en cuenta durante la planificación y el diseño de casos de prueba, cuando se prioricen casos de prueba, cuando se seleccionen métodos y durante la ejecución de prueba.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55754E6-9BD2-BB4D-8C40-1908C38011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522" r="7065"/>
          <a:stretch/>
        </p:blipFill>
        <p:spPr>
          <a:xfrm>
            <a:off x="4751387" y="1"/>
            <a:ext cx="4392613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538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46EB6E02-9E29-804C-97B6-9A30DA5CA8BF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CONCEPTOS ASOCIADOS AL RIESGO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539895-0FE6-C84D-88A8-F8AE2AAF8BD2}"/>
              </a:ext>
            </a:extLst>
          </p:cNvPr>
          <p:cNvSpPr txBox="1"/>
          <p:nvPr/>
        </p:nvSpPr>
        <p:spPr>
          <a:xfrm>
            <a:off x="503238" y="912813"/>
            <a:ext cx="8172450" cy="35240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PE" sz="1600" b="1" dirty="0"/>
              <a:t>RIESGO: CONCEPTOS ASOCIADOS</a:t>
            </a:r>
          </a:p>
          <a:p>
            <a:pPr marL="177800" indent="-177800">
              <a:buFont typeface="Arial" charset="0"/>
              <a:buChar char="•"/>
            </a:pPr>
            <a:r>
              <a:rPr lang="es-PE" sz="1600" dirty="0"/>
              <a:t>Toda actividad conlleva un riesgo.</a:t>
            </a:r>
          </a:p>
          <a:p>
            <a:pPr marL="177800" indent="-177800">
              <a:buFont typeface="Arial" charset="0"/>
              <a:buChar char="•"/>
            </a:pPr>
            <a:endParaRPr lang="es-PE" sz="1600" dirty="0"/>
          </a:p>
          <a:p>
            <a:pPr marL="177800" indent="-177800">
              <a:buFont typeface="Arial" charset="0"/>
              <a:buChar char="•"/>
            </a:pPr>
            <a:r>
              <a:rPr lang="es-PE" sz="1600" dirty="0"/>
              <a:t>El riesgo </a:t>
            </a:r>
            <a:r>
              <a:rPr lang="es-PE" sz="1600" b="1" dirty="0"/>
              <a:t>cero no existe.</a:t>
            </a:r>
          </a:p>
          <a:p>
            <a:pPr marL="177800" indent="-177800">
              <a:buFont typeface="Arial" charset="0"/>
              <a:buChar char="•"/>
            </a:pPr>
            <a:endParaRPr lang="es-PE" sz="1600" dirty="0"/>
          </a:p>
          <a:p>
            <a:pPr marL="177800" indent="-177800">
              <a:buFont typeface="Arial" charset="0"/>
              <a:buChar char="•"/>
            </a:pPr>
            <a:r>
              <a:rPr lang="es-PE" sz="1600" dirty="0"/>
              <a:t>Toda actividad exenta de riesgos representa inmovilidad total. Aun así, sí todos nos quedamos en casa sin hacer nada y se detuviera toda actividad, todavía existiría el riesgo, no cabe duda de que menor, pero existiría.</a:t>
            </a:r>
          </a:p>
          <a:p>
            <a:pPr marL="177800" indent="-177800">
              <a:buFont typeface="Arial" charset="0"/>
              <a:buChar char="•"/>
            </a:pPr>
            <a:endParaRPr lang="es-PE" sz="1600" dirty="0"/>
          </a:p>
          <a:p>
            <a:pPr marL="177800" indent="-177800">
              <a:buFont typeface="Arial" charset="0"/>
              <a:buChar char="•"/>
            </a:pPr>
            <a:r>
              <a:rPr lang="es-PE" sz="1600" dirty="0"/>
              <a:t>Los proyectos están llenos de actividades, por tanto, no podrían estar exentos de los </a:t>
            </a:r>
            <a:r>
              <a:rPr lang="es-PE" sz="1600" b="1" dirty="0"/>
              <a:t>riesgos.</a:t>
            </a:r>
          </a:p>
          <a:p>
            <a:pPr marL="177800" indent="-177800">
              <a:buFont typeface="Arial" charset="0"/>
              <a:buChar char="•"/>
            </a:pPr>
            <a:endParaRPr lang="es-PE" sz="1600" dirty="0"/>
          </a:p>
          <a:p>
            <a:pPr marL="177800" indent="-177800">
              <a:buFont typeface="Arial" charset="0"/>
              <a:buChar char="•"/>
            </a:pPr>
            <a:r>
              <a:rPr lang="es-PE" sz="1600" dirty="0"/>
              <a:t>Debemos gestionar los riesgos y esto debe ser un proceso continuo.</a:t>
            </a:r>
          </a:p>
          <a:p>
            <a:pPr marL="177800" indent="-177800">
              <a:buFont typeface="Arial" charset="0"/>
              <a:buChar char="•"/>
            </a:pPr>
            <a:endParaRPr lang="es-PE" sz="1600" dirty="0"/>
          </a:p>
          <a:p>
            <a:pPr marL="177800" indent="-177800">
              <a:buFont typeface="Arial" charset="0"/>
              <a:buChar char="•"/>
            </a:pPr>
            <a:r>
              <a:rPr lang="es-PE" sz="1600" dirty="0"/>
              <a:t>Un riesgo incontrolado hace que el logro de los objetivos operacionales sea incierto.</a:t>
            </a:r>
            <a:endParaRPr lang="es-ES_tradnl" sz="1600" dirty="0"/>
          </a:p>
        </p:txBody>
      </p:sp>
    </p:spTree>
    <p:extLst>
      <p:ext uri="{BB962C8B-B14F-4D97-AF65-F5344CB8AC3E}">
        <p14:creationId xmlns:p14="http://schemas.microsoft.com/office/powerpoint/2010/main" val="1203303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104CA22-E418-5542-9357-3DB28E7D21CC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B44457-CE26-B74F-81D3-8AA5C8C10DB6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GESTIÓN DE RIESGOS EN</a:t>
            </a:r>
            <a:b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PRUEBAS DE SOFTWARE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97B5445-5CAF-1242-B120-3D8824C8A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3290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B721810-4747-4442-8002-E2945F8B67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1666" y="1169996"/>
            <a:ext cx="4062333" cy="406399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5B47DC9-F548-DBC5-9431-824A8B4E5B28}"/>
              </a:ext>
            </a:extLst>
          </p:cNvPr>
          <p:cNvSpPr txBox="1"/>
          <p:nvPr/>
        </p:nvSpPr>
        <p:spPr>
          <a:xfrm>
            <a:off x="684213" y="4648299"/>
            <a:ext cx="457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PE" sz="1000" dirty="0">
                <a:solidFill>
                  <a:schemeClr val="bg1">
                    <a:lumMod val="50000"/>
                  </a:schemeClr>
                </a:solidFill>
              </a:rPr>
              <a:t>tupakamaru.wordpress.com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9DE710-9DDC-FF4F-AF21-77CD930CD707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GESTIÓN DE RIESGOS EN PRUEBAS DE SOFTWARE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CBE7DE8-A08F-374B-882C-6CAA026C9E7A}"/>
              </a:ext>
            </a:extLst>
          </p:cNvPr>
          <p:cNvSpPr txBox="1"/>
          <p:nvPr/>
        </p:nvSpPr>
        <p:spPr>
          <a:xfrm>
            <a:off x="503238" y="912813"/>
            <a:ext cx="5178034" cy="35548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CONCEPTOS BÁSICOS</a:t>
            </a:r>
            <a:endParaRPr lang="es-PE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identificación de riesgos y la búsqueda de soluciones para estos no es exclusividad de los jefes de proyectos durante la etapa de desarrollo del software para conseguir los objetivos marcados.</a:t>
            </a:r>
            <a:endParaRPr lang="es-PE" sz="1400"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test manager también debe identificar los riesgos relacionados con el proceso de pruebas, así como evaluar la criticidad y probabilidad de estos. </a:t>
            </a:r>
            <a:endParaRPr lang="es-PE" sz="1400"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Gracias a este análisis se podrá generar un plan de contingencia.</a:t>
            </a:r>
            <a:endParaRPr lang="es-PE" sz="1400"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“Una característica muy deseable de un equipo de pruebas es la proactividad. Incluso antes de que el software comience a desarrollarse, el equipo puede involucrarse en las distintas etapas de definición para conocer más en profundidad el proyecto, así como empezar a definir estrategias de pruebas”.</a:t>
            </a:r>
            <a:endParaRPr lang="es-PE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52F849FC-384D-2940-A42C-7870808AE77E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GESTIÓN DE RIESGOS EN PRUEBAS DE SOFTWARE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1944586-ED0C-E847-AEA6-E4741DA20014}"/>
              </a:ext>
            </a:extLst>
          </p:cNvPr>
          <p:cNvSpPr txBox="1"/>
          <p:nvPr/>
        </p:nvSpPr>
        <p:spPr>
          <a:xfrm>
            <a:off x="503238" y="912813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REGLAS BÁSICAS</a:t>
            </a:r>
            <a:endParaRPr lang="es-PE" sz="1600" dirty="0"/>
          </a:p>
        </p:txBody>
      </p:sp>
      <p:sp>
        <p:nvSpPr>
          <p:cNvPr id="9" name="8 CuadroTexto">
            <a:extLst>
              <a:ext uri="{FF2B5EF4-FFF2-40B4-BE49-F238E27FC236}">
                <a16:creationId xmlns:a16="http://schemas.microsoft.com/office/drawing/2014/main" id="{173DAAFE-AB84-FF48-AB52-887FCB5E1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306" y="1615937"/>
            <a:ext cx="200630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9388" indent="-179388">
              <a:spcBef>
                <a:spcPct val="0"/>
              </a:spcBef>
              <a:buClr>
                <a:srgbClr val="FE7828"/>
              </a:buClr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Gestionar los Riesgos</a:t>
            </a:r>
          </a:p>
        </p:txBody>
      </p:sp>
      <p:sp>
        <p:nvSpPr>
          <p:cNvPr id="10" name="28 Flecha derecha">
            <a:extLst>
              <a:ext uri="{FF2B5EF4-FFF2-40B4-BE49-F238E27FC236}">
                <a16:creationId xmlns:a16="http://schemas.microsoft.com/office/drawing/2014/main" id="{3A896A91-5601-AC40-B90E-45C58FFB7375}"/>
              </a:ext>
            </a:extLst>
          </p:cNvPr>
          <p:cNvSpPr/>
          <p:nvPr/>
        </p:nvSpPr>
        <p:spPr>
          <a:xfrm>
            <a:off x="1753848" y="1555438"/>
            <a:ext cx="493651" cy="340338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3AC0185B-C204-4C44-A78E-D661936D0FB7}"/>
              </a:ext>
            </a:extLst>
          </p:cNvPr>
          <p:cNvSpPr/>
          <p:nvPr/>
        </p:nvSpPr>
        <p:spPr>
          <a:xfrm>
            <a:off x="468314" y="1450883"/>
            <a:ext cx="1158120" cy="545553"/>
          </a:xfrm>
          <a:prstGeom prst="roundRect">
            <a:avLst>
              <a:gd name="adj" fmla="val 16033"/>
            </a:avLst>
          </a:prstGeom>
          <a:solidFill>
            <a:srgbClr val="FE7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s-PE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REGLA 1:</a:t>
            </a:r>
          </a:p>
        </p:txBody>
      </p:sp>
      <p:sp>
        <p:nvSpPr>
          <p:cNvPr id="12" name="8 CuadroTexto">
            <a:extLst>
              <a:ext uri="{FF2B5EF4-FFF2-40B4-BE49-F238E27FC236}">
                <a16:creationId xmlns:a16="http://schemas.microsoft.com/office/drawing/2014/main" id="{65DD97AD-B94C-1847-811E-3574281CB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306" y="2312980"/>
            <a:ext cx="200630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9388" indent="-179388">
              <a:spcBef>
                <a:spcPct val="0"/>
              </a:spcBef>
              <a:buClr>
                <a:srgbClr val="00B1C2"/>
              </a:buClr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Temprano</a:t>
            </a:r>
          </a:p>
        </p:txBody>
      </p:sp>
      <p:sp>
        <p:nvSpPr>
          <p:cNvPr id="13" name="28 Flecha derecha">
            <a:extLst>
              <a:ext uri="{FF2B5EF4-FFF2-40B4-BE49-F238E27FC236}">
                <a16:creationId xmlns:a16="http://schemas.microsoft.com/office/drawing/2014/main" id="{E8730776-DA10-A746-BD3B-3D65EC45DC84}"/>
              </a:ext>
            </a:extLst>
          </p:cNvPr>
          <p:cNvSpPr/>
          <p:nvPr/>
        </p:nvSpPr>
        <p:spPr>
          <a:xfrm>
            <a:off x="1753848" y="2252481"/>
            <a:ext cx="493651" cy="340338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651DA00A-AAC7-D143-81E2-95B2D9251082}"/>
              </a:ext>
            </a:extLst>
          </p:cNvPr>
          <p:cNvSpPr/>
          <p:nvPr/>
        </p:nvSpPr>
        <p:spPr>
          <a:xfrm>
            <a:off x="468314" y="2147926"/>
            <a:ext cx="1158120" cy="545553"/>
          </a:xfrm>
          <a:prstGeom prst="roundRect">
            <a:avLst>
              <a:gd name="adj" fmla="val 16033"/>
            </a:avLst>
          </a:prstGeom>
          <a:solidFill>
            <a:srgbClr val="00B1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s-PE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REGLA 2:</a:t>
            </a:r>
          </a:p>
        </p:txBody>
      </p:sp>
      <p:sp>
        <p:nvSpPr>
          <p:cNvPr id="15" name="8 CuadroTexto">
            <a:extLst>
              <a:ext uri="{FF2B5EF4-FFF2-40B4-BE49-F238E27FC236}">
                <a16:creationId xmlns:a16="http://schemas.microsoft.com/office/drawing/2014/main" id="{BF076C9E-425A-FD4B-A515-0CC8F4DE9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306" y="3040003"/>
            <a:ext cx="200630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9388" indent="-179388">
              <a:spcBef>
                <a:spcPct val="0"/>
              </a:spcBef>
              <a:buClr>
                <a:srgbClr val="EE4639"/>
              </a:buClr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Comunicar</a:t>
            </a:r>
          </a:p>
        </p:txBody>
      </p:sp>
      <p:sp>
        <p:nvSpPr>
          <p:cNvPr id="16" name="28 Flecha derecha">
            <a:extLst>
              <a:ext uri="{FF2B5EF4-FFF2-40B4-BE49-F238E27FC236}">
                <a16:creationId xmlns:a16="http://schemas.microsoft.com/office/drawing/2014/main" id="{3751C026-6B0C-D24F-86EF-600E6C3ECC79}"/>
              </a:ext>
            </a:extLst>
          </p:cNvPr>
          <p:cNvSpPr/>
          <p:nvPr/>
        </p:nvSpPr>
        <p:spPr>
          <a:xfrm>
            <a:off x="1753848" y="2979504"/>
            <a:ext cx="493651" cy="340338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1A0C5F88-AD51-B74D-B3DC-DAF4F36DCED6}"/>
              </a:ext>
            </a:extLst>
          </p:cNvPr>
          <p:cNvSpPr/>
          <p:nvPr/>
        </p:nvSpPr>
        <p:spPr>
          <a:xfrm>
            <a:off x="468314" y="2874949"/>
            <a:ext cx="1158120" cy="545553"/>
          </a:xfrm>
          <a:prstGeom prst="roundRect">
            <a:avLst>
              <a:gd name="adj" fmla="val 16033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s-PE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REGLA 3:</a:t>
            </a:r>
          </a:p>
        </p:txBody>
      </p:sp>
      <p:sp>
        <p:nvSpPr>
          <p:cNvPr id="18" name="8 CuadroTexto">
            <a:extLst>
              <a:ext uri="{FF2B5EF4-FFF2-40B4-BE49-F238E27FC236}">
                <a16:creationId xmlns:a16="http://schemas.microsoft.com/office/drawing/2014/main" id="{E5E2A9AB-DDDB-9D43-AE44-6727CF73E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306" y="3675601"/>
            <a:ext cx="20063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9388" indent="-179388">
              <a:spcBef>
                <a:spcPct val="0"/>
              </a:spcBef>
              <a:buClr>
                <a:srgbClr val="92C14E"/>
              </a:buClr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Considerar las Amenazas y Oportunidades</a:t>
            </a:r>
          </a:p>
        </p:txBody>
      </p:sp>
      <p:sp>
        <p:nvSpPr>
          <p:cNvPr id="19" name="28 Flecha derecha">
            <a:extLst>
              <a:ext uri="{FF2B5EF4-FFF2-40B4-BE49-F238E27FC236}">
                <a16:creationId xmlns:a16="http://schemas.microsoft.com/office/drawing/2014/main" id="{F46FA832-7C1C-474A-9CF7-F254BD1445E0}"/>
              </a:ext>
            </a:extLst>
          </p:cNvPr>
          <p:cNvSpPr/>
          <p:nvPr/>
        </p:nvSpPr>
        <p:spPr>
          <a:xfrm>
            <a:off x="1753848" y="3744002"/>
            <a:ext cx="493651" cy="340338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E7063BF3-EF45-4C41-93D0-2A964D05BD20}"/>
              </a:ext>
            </a:extLst>
          </p:cNvPr>
          <p:cNvSpPr/>
          <p:nvPr/>
        </p:nvSpPr>
        <p:spPr>
          <a:xfrm>
            <a:off x="468314" y="3639447"/>
            <a:ext cx="1158120" cy="545553"/>
          </a:xfrm>
          <a:prstGeom prst="roundRect">
            <a:avLst>
              <a:gd name="adj" fmla="val 16033"/>
            </a:avLst>
          </a:prstGeom>
          <a:solidFill>
            <a:srgbClr val="92C1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s-PE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REGLA 4:</a:t>
            </a:r>
          </a:p>
        </p:txBody>
      </p:sp>
      <p:sp>
        <p:nvSpPr>
          <p:cNvPr id="21" name="8 CuadroTexto">
            <a:extLst>
              <a:ext uri="{FF2B5EF4-FFF2-40B4-BE49-F238E27FC236}">
                <a16:creationId xmlns:a16="http://schemas.microsoft.com/office/drawing/2014/main" id="{88B29499-E551-4544-8142-9C3AA44F6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306" y="4554009"/>
            <a:ext cx="200630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9388" indent="-179388">
              <a:spcBef>
                <a:spcPct val="0"/>
              </a:spcBef>
              <a:buClr>
                <a:srgbClr val="7150A0"/>
              </a:buClr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Designar Responsables</a:t>
            </a:r>
          </a:p>
        </p:txBody>
      </p:sp>
      <p:sp>
        <p:nvSpPr>
          <p:cNvPr id="22" name="28 Flecha derecha">
            <a:extLst>
              <a:ext uri="{FF2B5EF4-FFF2-40B4-BE49-F238E27FC236}">
                <a16:creationId xmlns:a16="http://schemas.microsoft.com/office/drawing/2014/main" id="{7737BD30-664A-6846-8332-5FA5DE92B70B}"/>
              </a:ext>
            </a:extLst>
          </p:cNvPr>
          <p:cNvSpPr/>
          <p:nvPr/>
        </p:nvSpPr>
        <p:spPr>
          <a:xfrm>
            <a:off x="1753848" y="4493510"/>
            <a:ext cx="493651" cy="340338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FDC39E51-3D4E-5146-8534-1EEB1E8D11CB}"/>
              </a:ext>
            </a:extLst>
          </p:cNvPr>
          <p:cNvSpPr/>
          <p:nvPr/>
        </p:nvSpPr>
        <p:spPr>
          <a:xfrm>
            <a:off x="468314" y="4388955"/>
            <a:ext cx="1158120" cy="545553"/>
          </a:xfrm>
          <a:prstGeom prst="roundRect">
            <a:avLst>
              <a:gd name="adj" fmla="val 16033"/>
            </a:avLst>
          </a:prstGeom>
          <a:solidFill>
            <a:srgbClr val="715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s-PE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REGLA 5:</a:t>
            </a:r>
          </a:p>
        </p:txBody>
      </p:sp>
      <p:sp>
        <p:nvSpPr>
          <p:cNvPr id="24" name="8 CuadroTexto">
            <a:extLst>
              <a:ext uri="{FF2B5EF4-FFF2-40B4-BE49-F238E27FC236}">
                <a16:creationId xmlns:a16="http://schemas.microsoft.com/office/drawing/2014/main" id="{DFB077F3-FBC7-9346-AC75-F5AD6C74B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998" y="1615937"/>
            <a:ext cx="200630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9388" indent="-179388">
              <a:spcBef>
                <a:spcPct val="0"/>
              </a:spcBef>
              <a:buClr>
                <a:srgbClr val="808799"/>
              </a:buClr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Priorizar</a:t>
            </a:r>
          </a:p>
        </p:txBody>
      </p:sp>
      <p:sp>
        <p:nvSpPr>
          <p:cNvPr id="25" name="28 Flecha derecha">
            <a:extLst>
              <a:ext uri="{FF2B5EF4-FFF2-40B4-BE49-F238E27FC236}">
                <a16:creationId xmlns:a16="http://schemas.microsoft.com/office/drawing/2014/main" id="{BE6303CB-11AA-A840-82DA-8982F6D911C3}"/>
              </a:ext>
            </a:extLst>
          </p:cNvPr>
          <p:cNvSpPr/>
          <p:nvPr/>
        </p:nvSpPr>
        <p:spPr>
          <a:xfrm>
            <a:off x="6033540" y="1555438"/>
            <a:ext cx="493651" cy="340338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607F2E09-BE8B-B04C-98CB-98BE97F5965E}"/>
              </a:ext>
            </a:extLst>
          </p:cNvPr>
          <p:cNvSpPr/>
          <p:nvPr/>
        </p:nvSpPr>
        <p:spPr>
          <a:xfrm>
            <a:off x="4748006" y="1450883"/>
            <a:ext cx="1158120" cy="545553"/>
          </a:xfrm>
          <a:prstGeom prst="roundRect">
            <a:avLst>
              <a:gd name="adj" fmla="val 16033"/>
            </a:avLst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s-PE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REGLA 6:</a:t>
            </a:r>
          </a:p>
        </p:txBody>
      </p:sp>
      <p:sp>
        <p:nvSpPr>
          <p:cNvPr id="27" name="8 CuadroTexto">
            <a:extLst>
              <a:ext uri="{FF2B5EF4-FFF2-40B4-BE49-F238E27FC236}">
                <a16:creationId xmlns:a16="http://schemas.microsoft.com/office/drawing/2014/main" id="{37C2896E-C0F5-CB4F-8894-49936AFA2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998" y="2312980"/>
            <a:ext cx="200630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9388" indent="-179388">
              <a:spcBef>
                <a:spcPct val="0"/>
              </a:spcBef>
              <a:buClr>
                <a:srgbClr val="FDC212"/>
              </a:buClr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Analizar</a:t>
            </a:r>
          </a:p>
        </p:txBody>
      </p:sp>
      <p:sp>
        <p:nvSpPr>
          <p:cNvPr id="28" name="28 Flecha derecha">
            <a:extLst>
              <a:ext uri="{FF2B5EF4-FFF2-40B4-BE49-F238E27FC236}">
                <a16:creationId xmlns:a16="http://schemas.microsoft.com/office/drawing/2014/main" id="{07E5D2CA-E7E5-9E40-B057-38FA57F81FC4}"/>
              </a:ext>
            </a:extLst>
          </p:cNvPr>
          <p:cNvSpPr/>
          <p:nvPr/>
        </p:nvSpPr>
        <p:spPr>
          <a:xfrm>
            <a:off x="6033540" y="2252481"/>
            <a:ext cx="493651" cy="340338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66A4C511-6F79-084B-8387-9675ABF01DC1}"/>
              </a:ext>
            </a:extLst>
          </p:cNvPr>
          <p:cNvSpPr/>
          <p:nvPr/>
        </p:nvSpPr>
        <p:spPr>
          <a:xfrm>
            <a:off x="4748006" y="2147926"/>
            <a:ext cx="1158120" cy="545553"/>
          </a:xfrm>
          <a:prstGeom prst="roundRect">
            <a:avLst>
              <a:gd name="adj" fmla="val 16033"/>
            </a:avLst>
          </a:prstGeom>
          <a:solidFill>
            <a:srgbClr val="FDC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s-PE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REGLA 7:</a:t>
            </a:r>
          </a:p>
        </p:txBody>
      </p:sp>
      <p:sp>
        <p:nvSpPr>
          <p:cNvPr id="30" name="8 CuadroTexto">
            <a:extLst>
              <a:ext uri="{FF2B5EF4-FFF2-40B4-BE49-F238E27FC236}">
                <a16:creationId xmlns:a16="http://schemas.microsoft.com/office/drawing/2014/main" id="{90237142-17D8-3F48-9BC1-A2F65703D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998" y="2901391"/>
            <a:ext cx="20063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9388" indent="-179388">
              <a:spcBef>
                <a:spcPct val="0"/>
              </a:spcBef>
              <a:buClr>
                <a:srgbClr val="FE7828"/>
              </a:buClr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Planificar y Ejecutar Respuestas</a:t>
            </a:r>
          </a:p>
        </p:txBody>
      </p:sp>
      <p:sp>
        <p:nvSpPr>
          <p:cNvPr id="31" name="28 Flecha derecha">
            <a:extLst>
              <a:ext uri="{FF2B5EF4-FFF2-40B4-BE49-F238E27FC236}">
                <a16:creationId xmlns:a16="http://schemas.microsoft.com/office/drawing/2014/main" id="{06F42D48-F034-A041-B20F-A6CB50E83C87}"/>
              </a:ext>
            </a:extLst>
          </p:cNvPr>
          <p:cNvSpPr/>
          <p:nvPr/>
        </p:nvSpPr>
        <p:spPr>
          <a:xfrm>
            <a:off x="6033540" y="2979504"/>
            <a:ext cx="493651" cy="340338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E5F81B4B-8EE7-014C-A0AF-8B68D2451B00}"/>
              </a:ext>
            </a:extLst>
          </p:cNvPr>
          <p:cNvSpPr/>
          <p:nvPr/>
        </p:nvSpPr>
        <p:spPr>
          <a:xfrm>
            <a:off x="4748006" y="2874949"/>
            <a:ext cx="1158120" cy="545553"/>
          </a:xfrm>
          <a:prstGeom prst="roundRect">
            <a:avLst>
              <a:gd name="adj" fmla="val 16033"/>
            </a:avLst>
          </a:prstGeom>
          <a:solidFill>
            <a:srgbClr val="FE7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s-PE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REGLA 8:</a:t>
            </a:r>
          </a:p>
        </p:txBody>
      </p:sp>
      <p:sp>
        <p:nvSpPr>
          <p:cNvPr id="33" name="8 CuadroTexto">
            <a:extLst>
              <a:ext uri="{FF2B5EF4-FFF2-40B4-BE49-F238E27FC236}">
                <a16:creationId xmlns:a16="http://schemas.microsoft.com/office/drawing/2014/main" id="{A0871B18-D6F9-8F48-8D4A-BF68A4A17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998" y="3783322"/>
            <a:ext cx="200630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9388" indent="-179388">
              <a:spcBef>
                <a:spcPct val="0"/>
              </a:spcBef>
              <a:buClr>
                <a:srgbClr val="00B1C2"/>
              </a:buClr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Registrar</a:t>
            </a:r>
          </a:p>
        </p:txBody>
      </p:sp>
      <p:sp>
        <p:nvSpPr>
          <p:cNvPr id="34" name="28 Flecha derecha">
            <a:extLst>
              <a:ext uri="{FF2B5EF4-FFF2-40B4-BE49-F238E27FC236}">
                <a16:creationId xmlns:a16="http://schemas.microsoft.com/office/drawing/2014/main" id="{4C9C10C9-F5C9-3E4C-8B68-E1D89DBADBFA}"/>
              </a:ext>
            </a:extLst>
          </p:cNvPr>
          <p:cNvSpPr/>
          <p:nvPr/>
        </p:nvSpPr>
        <p:spPr>
          <a:xfrm>
            <a:off x="6033540" y="3744002"/>
            <a:ext cx="493651" cy="340338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35" name="Rectángulo redondeado 34">
            <a:extLst>
              <a:ext uri="{FF2B5EF4-FFF2-40B4-BE49-F238E27FC236}">
                <a16:creationId xmlns:a16="http://schemas.microsoft.com/office/drawing/2014/main" id="{904FF682-8AD3-B64B-AB9D-13C957897BB5}"/>
              </a:ext>
            </a:extLst>
          </p:cNvPr>
          <p:cNvSpPr/>
          <p:nvPr/>
        </p:nvSpPr>
        <p:spPr>
          <a:xfrm>
            <a:off x="4748006" y="3639447"/>
            <a:ext cx="1158120" cy="545553"/>
          </a:xfrm>
          <a:prstGeom prst="roundRect">
            <a:avLst>
              <a:gd name="adj" fmla="val 16033"/>
            </a:avLst>
          </a:prstGeom>
          <a:solidFill>
            <a:srgbClr val="00B1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s-PE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REGLA 9:</a:t>
            </a:r>
          </a:p>
        </p:txBody>
      </p:sp>
      <p:sp>
        <p:nvSpPr>
          <p:cNvPr id="36" name="8 CuadroTexto">
            <a:extLst>
              <a:ext uri="{FF2B5EF4-FFF2-40B4-BE49-F238E27FC236}">
                <a16:creationId xmlns:a16="http://schemas.microsoft.com/office/drawing/2014/main" id="{BDF357C4-10CB-F94A-9007-430919CD3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998" y="4554009"/>
            <a:ext cx="200630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9388" indent="-179388">
              <a:spcBef>
                <a:spcPct val="0"/>
              </a:spcBef>
              <a:buClr>
                <a:srgbClr val="EE4639"/>
              </a:buClr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Seguimiento</a:t>
            </a:r>
          </a:p>
        </p:txBody>
      </p:sp>
      <p:sp>
        <p:nvSpPr>
          <p:cNvPr id="37" name="28 Flecha derecha">
            <a:extLst>
              <a:ext uri="{FF2B5EF4-FFF2-40B4-BE49-F238E27FC236}">
                <a16:creationId xmlns:a16="http://schemas.microsoft.com/office/drawing/2014/main" id="{FBC62502-09D2-1F4E-9AC9-1AC851567F04}"/>
              </a:ext>
            </a:extLst>
          </p:cNvPr>
          <p:cNvSpPr/>
          <p:nvPr/>
        </p:nvSpPr>
        <p:spPr>
          <a:xfrm>
            <a:off x="6033540" y="4493510"/>
            <a:ext cx="493651" cy="340338"/>
          </a:xfrm>
          <a:prstGeom prst="rightArrow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38" name="Rectángulo redondeado 37">
            <a:extLst>
              <a:ext uri="{FF2B5EF4-FFF2-40B4-BE49-F238E27FC236}">
                <a16:creationId xmlns:a16="http://schemas.microsoft.com/office/drawing/2014/main" id="{C70F3D20-9B1F-254A-9C05-C3913299A202}"/>
              </a:ext>
            </a:extLst>
          </p:cNvPr>
          <p:cNvSpPr/>
          <p:nvPr/>
        </p:nvSpPr>
        <p:spPr>
          <a:xfrm>
            <a:off x="4748006" y="4388955"/>
            <a:ext cx="1158120" cy="545553"/>
          </a:xfrm>
          <a:prstGeom prst="roundRect">
            <a:avLst>
              <a:gd name="adj" fmla="val 16033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s-PE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REGLA 10: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/>
          <p:nvPr/>
        </p:nvSpPr>
        <p:spPr>
          <a:xfrm>
            <a:off x="1670537" y="912580"/>
            <a:ext cx="580292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MEDIDAS A TOMAR PARA OBTENER LOS MEJORES RESULTADOS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F6755A5F-5D95-6444-9C04-51C2F3BF2411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GESTIÓN DE RIESGOS EN PRUEBAS DE SOFTWARE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C3E8DBE-DC0D-AF45-8624-8B0EED0F1606}"/>
              </a:ext>
            </a:extLst>
          </p:cNvPr>
          <p:cNvGrpSpPr/>
          <p:nvPr/>
        </p:nvGrpSpPr>
        <p:grpSpPr>
          <a:xfrm>
            <a:off x="2677963" y="1353256"/>
            <a:ext cx="3788069" cy="3653246"/>
            <a:chOff x="2677965" y="1345760"/>
            <a:chExt cx="3788069" cy="3653246"/>
          </a:xfrm>
        </p:grpSpPr>
        <p:sp>
          <p:nvSpPr>
            <p:cNvPr id="153" name="Google Shape;153;p18"/>
            <p:cNvSpPr/>
            <p:nvPr/>
          </p:nvSpPr>
          <p:spPr>
            <a:xfrm>
              <a:off x="4055308" y="2793985"/>
              <a:ext cx="1033383" cy="1033383"/>
            </a:xfrm>
            <a:prstGeom prst="ellipse">
              <a:avLst/>
            </a:prstGeom>
            <a:solidFill>
              <a:srgbClr val="808799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4206643" y="2945320"/>
              <a:ext cx="730713" cy="730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PE" sz="12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Acciones</a:t>
              </a:r>
              <a:endParaRPr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4055308" y="1345760"/>
              <a:ext cx="1033383" cy="1033383"/>
            </a:xfrm>
            <a:prstGeom prst="ellipse">
              <a:avLst/>
            </a:prstGeom>
            <a:solidFill>
              <a:srgbClr val="EE4639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4206643" y="1497095"/>
              <a:ext cx="730713" cy="730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PE" sz="12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Intervenir Temprano</a:t>
              </a:r>
              <a:endParaRPr/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5432651" y="2346459"/>
              <a:ext cx="1033383" cy="1033383"/>
            </a:xfrm>
            <a:prstGeom prst="ellipse">
              <a:avLst/>
            </a:prstGeom>
            <a:solidFill>
              <a:srgbClr val="92C14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5583986" y="2497794"/>
              <a:ext cx="730713" cy="730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PE" sz="12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Preparar las Pruebas</a:t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4906553" y="3965623"/>
              <a:ext cx="1033383" cy="1033383"/>
            </a:xfrm>
            <a:prstGeom prst="ellipse">
              <a:avLst/>
            </a:prstGeom>
            <a:solidFill>
              <a:srgbClr val="7150A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5057888" y="4116958"/>
              <a:ext cx="730713" cy="730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PE" sz="12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Definir Entrada-Salida</a:t>
              </a:r>
              <a:endParaRPr/>
            </a:p>
          </p:txBody>
        </p:sp>
        <p:sp>
          <p:nvSpPr>
            <p:cNvPr id="168" name="Google Shape;168;p18"/>
            <p:cNvSpPr txBox="1"/>
            <p:nvPr/>
          </p:nvSpPr>
          <p:spPr>
            <a:xfrm rot="18360000">
              <a:off x="4092466" y="3759375"/>
              <a:ext cx="153906" cy="2108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endPara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3204063" y="3965623"/>
              <a:ext cx="1033383" cy="1033383"/>
            </a:xfrm>
            <a:prstGeom prst="ellipse">
              <a:avLst/>
            </a:prstGeom>
            <a:solidFill>
              <a:srgbClr val="00B1C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3355398" y="4116958"/>
              <a:ext cx="730713" cy="730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PE" sz="12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Req. de Pruebas</a:t>
              </a:r>
              <a:endParaRPr/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2677965" y="2346459"/>
              <a:ext cx="1033383" cy="1033383"/>
            </a:xfrm>
            <a:prstGeom prst="ellipse">
              <a:avLst/>
            </a:prstGeom>
            <a:solidFill>
              <a:srgbClr val="FDC21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2829300" y="2497794"/>
              <a:ext cx="730713" cy="730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PE" sz="12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Gestionar de Defectos</a:t>
              </a:r>
              <a:endParaRPr/>
            </a:p>
          </p:txBody>
        </p:sp>
        <p:sp>
          <p:nvSpPr>
            <p:cNvPr id="28" name="28 Flecha derecha">
              <a:extLst>
                <a:ext uri="{FF2B5EF4-FFF2-40B4-BE49-F238E27FC236}">
                  <a16:creationId xmlns:a16="http://schemas.microsoft.com/office/drawing/2014/main" id="{09E1ED52-FDE4-A449-981B-E947973E2F8D}"/>
                </a:ext>
              </a:extLst>
            </p:cNvPr>
            <p:cNvSpPr/>
            <p:nvPr/>
          </p:nvSpPr>
          <p:spPr>
            <a:xfrm rot="16200000">
              <a:off x="4471751" y="2394716"/>
              <a:ext cx="200497" cy="321531"/>
            </a:xfrm>
            <a:prstGeom prst="rightArrow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PE" sz="1600" dirty="0">
                <a:latin typeface="Calibri" panose="020F0502020204030204" pitchFamily="34" charset="0"/>
              </a:endParaRPr>
            </a:p>
          </p:txBody>
        </p:sp>
        <p:sp>
          <p:nvSpPr>
            <p:cNvPr id="29" name="28 Flecha derecha">
              <a:extLst>
                <a:ext uri="{FF2B5EF4-FFF2-40B4-BE49-F238E27FC236}">
                  <a16:creationId xmlns:a16="http://schemas.microsoft.com/office/drawing/2014/main" id="{042A7754-36F6-9B4B-A5B3-4F5B573E21F0}"/>
                </a:ext>
              </a:extLst>
            </p:cNvPr>
            <p:cNvSpPr/>
            <p:nvPr/>
          </p:nvSpPr>
          <p:spPr>
            <a:xfrm rot="3600000">
              <a:off x="4900688" y="3735730"/>
              <a:ext cx="200497" cy="321531"/>
            </a:xfrm>
            <a:prstGeom prst="rightArrow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PE" sz="1600" dirty="0">
                <a:latin typeface="Calibri" panose="020F0502020204030204" pitchFamily="34" charset="0"/>
              </a:endParaRPr>
            </a:p>
          </p:txBody>
        </p:sp>
        <p:sp>
          <p:nvSpPr>
            <p:cNvPr id="30" name="28 Flecha derecha">
              <a:extLst>
                <a:ext uri="{FF2B5EF4-FFF2-40B4-BE49-F238E27FC236}">
                  <a16:creationId xmlns:a16="http://schemas.microsoft.com/office/drawing/2014/main" id="{3E05CD61-8DC3-D34C-9F8E-5C77B9F360A2}"/>
                </a:ext>
              </a:extLst>
            </p:cNvPr>
            <p:cNvSpPr/>
            <p:nvPr/>
          </p:nvSpPr>
          <p:spPr>
            <a:xfrm rot="8045876">
              <a:off x="4016615" y="3733827"/>
              <a:ext cx="200497" cy="321531"/>
            </a:xfrm>
            <a:prstGeom prst="rightArrow">
              <a:avLst/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PE" sz="1600" dirty="0">
                <a:latin typeface="Calibri" panose="020F0502020204030204" pitchFamily="34" charset="0"/>
              </a:endParaRPr>
            </a:p>
          </p:txBody>
        </p:sp>
        <p:sp>
          <p:nvSpPr>
            <p:cNvPr id="31" name="28 Flecha derecha">
              <a:extLst>
                <a:ext uri="{FF2B5EF4-FFF2-40B4-BE49-F238E27FC236}">
                  <a16:creationId xmlns:a16="http://schemas.microsoft.com/office/drawing/2014/main" id="{C2140899-B087-524E-9482-FDD31C6E9CE8}"/>
                </a:ext>
              </a:extLst>
            </p:cNvPr>
            <p:cNvSpPr/>
            <p:nvPr/>
          </p:nvSpPr>
          <p:spPr>
            <a:xfrm rot="12013121">
              <a:off x="3811409" y="2876782"/>
              <a:ext cx="200497" cy="321531"/>
            </a:xfrm>
            <a:prstGeom prst="rightArrow">
              <a:avLst/>
            </a:prstGeom>
            <a:solidFill>
              <a:srgbClr val="FDC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PE" sz="1600" dirty="0">
                <a:latin typeface="Calibri" panose="020F0502020204030204" pitchFamily="34" charset="0"/>
              </a:endParaRPr>
            </a:p>
          </p:txBody>
        </p:sp>
        <p:sp>
          <p:nvSpPr>
            <p:cNvPr id="32" name="28 Flecha derecha">
              <a:extLst>
                <a:ext uri="{FF2B5EF4-FFF2-40B4-BE49-F238E27FC236}">
                  <a16:creationId xmlns:a16="http://schemas.microsoft.com/office/drawing/2014/main" id="{EEB1AE5E-9154-3044-81CC-E38E951DDD7B}"/>
                </a:ext>
              </a:extLst>
            </p:cNvPr>
            <p:cNvSpPr/>
            <p:nvPr/>
          </p:nvSpPr>
          <p:spPr>
            <a:xfrm rot="20468560">
              <a:off x="5129290" y="2916335"/>
              <a:ext cx="200497" cy="321531"/>
            </a:xfrm>
            <a:prstGeom prst="rightArrow">
              <a:avLst/>
            </a:prstGeom>
            <a:solidFill>
              <a:srgbClr val="92C1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PE" sz="1600" dirty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9824AA0-CA51-F8E1-42DA-7B5E013934BA}"/>
              </a:ext>
            </a:extLst>
          </p:cNvPr>
          <p:cNvSpPr txBox="1"/>
          <p:nvPr/>
        </p:nvSpPr>
        <p:spPr>
          <a:xfrm>
            <a:off x="503238" y="912813"/>
            <a:ext cx="743829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PE" sz="1600" b="1" dirty="0"/>
              <a:t>MEDIDAS A TOMAR PARA OBTENER LOS MEJORES RESULTADOS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6937ED-B571-1E35-0AE6-C80A784E58C0}"/>
              </a:ext>
            </a:extLst>
          </p:cNvPr>
          <p:cNvSpPr txBox="1"/>
          <p:nvPr/>
        </p:nvSpPr>
        <p:spPr>
          <a:xfrm>
            <a:off x="1356793" y="4820021"/>
            <a:ext cx="145952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PE" sz="1000" dirty="0">
                <a:solidFill>
                  <a:schemeClr val="bg1">
                    <a:lumMod val="50000"/>
                  </a:schemeClr>
                </a:solidFill>
              </a:rPr>
              <a:t>WordPress.com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6CFCEE-89D3-0B42-99B6-379473300003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GESTIÓN DE RIESGOS EN PRUEBAS DE SOFTWARE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6A582C-57CB-8944-A60C-B3C08D1D3ADC}"/>
              </a:ext>
            </a:extLst>
          </p:cNvPr>
          <p:cNvSpPr/>
          <p:nvPr/>
        </p:nvSpPr>
        <p:spPr>
          <a:xfrm>
            <a:off x="1356793" y="1557116"/>
            <a:ext cx="6992439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s-PE" sz="1400" b="1" dirty="0">
                <a:solidFill>
                  <a:srgbClr val="7150A0"/>
                </a:solidFill>
                <a:latin typeface="Calibri" charset="0"/>
                <a:cs typeface="Calibri" charset="0"/>
              </a:rPr>
              <a:t>INTERVENCIÓN TEMPRANA DEL EQUIPO DE PRUEBAS EN EL PROYECTO: </a:t>
            </a:r>
          </a:p>
          <a:p>
            <a:r>
              <a:rPr lang="es-PE" sz="1400" dirty="0"/>
              <a:t>La inclusión del equipo de pruebas en las etapas iniciales del desarrollo del producto ayudará a obtener mayor conocimiento, así como permitirá detectar posibles defectos en etapas tempranas, por lo que el costo de resolución será inferior.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4802AB3-8B1C-DE47-83C5-EB1871886053}"/>
              </a:ext>
            </a:extLst>
          </p:cNvPr>
          <p:cNvSpPr/>
          <p:nvPr/>
        </p:nvSpPr>
        <p:spPr>
          <a:xfrm>
            <a:off x="552228" y="1459070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01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498033F-E223-2F46-9C6E-C36B808D313F}"/>
              </a:ext>
            </a:extLst>
          </p:cNvPr>
          <p:cNvCxnSpPr>
            <a:cxnSpLocks/>
            <a:stCxn id="23" idx="4"/>
            <a:endCxn id="19" idx="0"/>
          </p:cNvCxnSpPr>
          <p:nvPr/>
        </p:nvCxnSpPr>
        <p:spPr>
          <a:xfrm>
            <a:off x="1142391" y="1680863"/>
            <a:ext cx="1" cy="2042090"/>
          </a:xfrm>
          <a:prstGeom prst="line">
            <a:avLst/>
          </a:prstGeom>
          <a:ln w="12700">
            <a:solidFill>
              <a:srgbClr val="715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C6C8D32-AA8D-6242-8160-ED5776566917}"/>
              </a:ext>
            </a:extLst>
          </p:cNvPr>
          <p:cNvSpPr/>
          <p:nvPr/>
        </p:nvSpPr>
        <p:spPr>
          <a:xfrm>
            <a:off x="552228" y="2520612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02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A452750-E4B7-084E-B37C-73651C7A5599}"/>
              </a:ext>
            </a:extLst>
          </p:cNvPr>
          <p:cNvSpPr/>
          <p:nvPr/>
        </p:nvSpPr>
        <p:spPr>
          <a:xfrm>
            <a:off x="552228" y="3614111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03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5026D96-A888-D946-BDC7-EA764D825A16}"/>
              </a:ext>
            </a:extLst>
          </p:cNvPr>
          <p:cNvSpPr/>
          <p:nvPr/>
        </p:nvSpPr>
        <p:spPr>
          <a:xfrm>
            <a:off x="1356793" y="2624715"/>
            <a:ext cx="6992439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s-PE" sz="1400" b="1" dirty="0">
                <a:solidFill>
                  <a:srgbClr val="7150A0"/>
                </a:solidFill>
                <a:latin typeface="Calibri" charset="0"/>
                <a:cs typeface="Calibri" charset="0"/>
              </a:rPr>
              <a:t>PREPARACIÓN DE LAS PRUEBAS: </a:t>
            </a:r>
          </a:p>
          <a:p>
            <a:r>
              <a:rPr lang="es-PE" sz="1400" dirty="0"/>
              <a:t>Antes de comenzar el desarrollo del producto, el equipo de pruebas podrá comenzar a diseñar el plan, así como identificar futuras necesidades (herramientas a utilizar, configuración de entornos, etc.).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07B4596-3F06-2D49-A4D3-AF417621371C}"/>
              </a:ext>
            </a:extLst>
          </p:cNvPr>
          <p:cNvSpPr/>
          <p:nvPr/>
        </p:nvSpPr>
        <p:spPr>
          <a:xfrm>
            <a:off x="1356793" y="3706979"/>
            <a:ext cx="6992437" cy="892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s-PE" sz="1400" b="1" dirty="0">
                <a:solidFill>
                  <a:srgbClr val="7150A0"/>
                </a:solidFill>
                <a:latin typeface="Calibri" charset="0"/>
                <a:cs typeface="Calibri" charset="0"/>
              </a:rPr>
              <a:t>DEFINICIÓN DE LOS CRITERIOS DE ENTRADA–SALIDA: </a:t>
            </a:r>
          </a:p>
          <a:p>
            <a:r>
              <a:rPr lang="es-PE" sz="1400" dirty="0"/>
              <a:t>No refiriéndose a los datos, sino a los puntos de unión con otras plataformas e integraciones con terceros. Es muy útil definir y mantener las interfaces y mecanismos de comunicación con terceros para evitar futuros problemas</a:t>
            </a:r>
            <a:r>
              <a:rPr lang="es-PE" sz="1600" dirty="0"/>
              <a:t>.</a:t>
            </a:r>
          </a:p>
        </p:txBody>
      </p:sp>
      <p:grpSp>
        <p:nvGrpSpPr>
          <p:cNvPr id="15" name="Agrupar 16">
            <a:extLst>
              <a:ext uri="{FF2B5EF4-FFF2-40B4-BE49-F238E27FC236}">
                <a16:creationId xmlns:a16="http://schemas.microsoft.com/office/drawing/2014/main" id="{440A265B-5B5C-DE42-9EF6-04E41E0380E1}"/>
              </a:ext>
            </a:extLst>
          </p:cNvPr>
          <p:cNvGrpSpPr/>
          <p:nvPr/>
        </p:nvGrpSpPr>
        <p:grpSpPr>
          <a:xfrm>
            <a:off x="1071996" y="2629454"/>
            <a:ext cx="140792" cy="140258"/>
            <a:chOff x="3427964" y="2244682"/>
            <a:chExt cx="225891" cy="225034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06952833-BAB6-694C-9837-850726DB236A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F6852A8E-E16F-0442-A136-0E9FAA0BCC39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8" name="Agrupar 26">
            <a:extLst>
              <a:ext uri="{FF2B5EF4-FFF2-40B4-BE49-F238E27FC236}">
                <a16:creationId xmlns:a16="http://schemas.microsoft.com/office/drawing/2014/main" id="{652FD39C-EA80-8742-B5E8-0D4D61C41317}"/>
              </a:ext>
            </a:extLst>
          </p:cNvPr>
          <p:cNvGrpSpPr/>
          <p:nvPr/>
        </p:nvGrpSpPr>
        <p:grpSpPr>
          <a:xfrm>
            <a:off x="1071996" y="3722953"/>
            <a:ext cx="140792" cy="140258"/>
            <a:chOff x="3427964" y="2244682"/>
            <a:chExt cx="225891" cy="225034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6776CAAC-E836-B341-9AF0-1411D38D7787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C7E9165-E8B4-A741-93C4-D551F3FEA947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1" name="Agrupar 29">
            <a:extLst>
              <a:ext uri="{FF2B5EF4-FFF2-40B4-BE49-F238E27FC236}">
                <a16:creationId xmlns:a16="http://schemas.microsoft.com/office/drawing/2014/main" id="{1C9ACF98-8431-B540-A6C0-144C61835BEE}"/>
              </a:ext>
            </a:extLst>
          </p:cNvPr>
          <p:cNvGrpSpPr/>
          <p:nvPr/>
        </p:nvGrpSpPr>
        <p:grpSpPr>
          <a:xfrm>
            <a:off x="1071996" y="1574261"/>
            <a:ext cx="140792" cy="140258"/>
            <a:chOff x="3427964" y="2244682"/>
            <a:chExt cx="225891" cy="225034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F55B81AF-37AA-1542-9433-F230919A543D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B50CC318-7E40-8843-B138-7829838ABF33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1993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8A3F89A-169F-CD45-A732-6D12E233E3E1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GESTIÓN DE RIESGOS EN PRUEBAS DE SOFTWARE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6D02E3-977E-3F44-9EA8-3DBDD99E68F2}"/>
              </a:ext>
            </a:extLst>
          </p:cNvPr>
          <p:cNvSpPr txBox="1"/>
          <p:nvPr/>
        </p:nvSpPr>
        <p:spPr>
          <a:xfrm>
            <a:off x="503238" y="912813"/>
            <a:ext cx="743829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PE" sz="1600" b="1" dirty="0"/>
              <a:t>MEDIDAS A TOMAR PARA OBTENER LOS MEJORES RESULTADOS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6B1875B-5865-FB4D-9DE7-E356FD794364}"/>
              </a:ext>
            </a:extLst>
          </p:cNvPr>
          <p:cNvSpPr/>
          <p:nvPr/>
        </p:nvSpPr>
        <p:spPr>
          <a:xfrm>
            <a:off x="1356793" y="1557116"/>
            <a:ext cx="699243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s-PE" sz="1400" b="1" dirty="0">
                <a:solidFill>
                  <a:srgbClr val="7150A0"/>
                </a:solidFill>
                <a:latin typeface="Calibri" charset="0"/>
                <a:cs typeface="Calibri" charset="0"/>
              </a:rPr>
              <a:t>REQUERIMIENTOS DE PRUEBAS: </a:t>
            </a:r>
          </a:p>
          <a:p>
            <a:r>
              <a:rPr lang="es-PE" sz="1400" dirty="0"/>
              <a:t>Desde el equipo de pruebas, se fomentará el uso de estándares, tecnologías abiertas, así como buenas prácticas de desarrollo.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24FCBC-45A0-8F43-AEFB-67198E4B45FA}"/>
              </a:ext>
            </a:extLst>
          </p:cNvPr>
          <p:cNvSpPr/>
          <p:nvPr/>
        </p:nvSpPr>
        <p:spPr>
          <a:xfrm>
            <a:off x="552228" y="1459070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04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B23E640-96DA-1849-BACB-0D66597CE67C}"/>
              </a:ext>
            </a:extLst>
          </p:cNvPr>
          <p:cNvCxnSpPr>
            <a:cxnSpLocks/>
            <a:stCxn id="22" idx="4"/>
            <a:endCxn id="16" idx="4"/>
          </p:cNvCxnSpPr>
          <p:nvPr/>
        </p:nvCxnSpPr>
        <p:spPr>
          <a:xfrm>
            <a:off x="1142391" y="1680863"/>
            <a:ext cx="0" cy="1055193"/>
          </a:xfrm>
          <a:prstGeom prst="line">
            <a:avLst/>
          </a:prstGeom>
          <a:ln w="12700">
            <a:solidFill>
              <a:srgbClr val="715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47D0A7-1BB1-1544-B28B-CA273F80F0AB}"/>
              </a:ext>
            </a:extLst>
          </p:cNvPr>
          <p:cNvSpPr/>
          <p:nvPr/>
        </p:nvSpPr>
        <p:spPr>
          <a:xfrm>
            <a:off x="552228" y="2520612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05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AC9CF39-D8D2-2D4A-A7B8-5DF6DB10BE7B}"/>
              </a:ext>
            </a:extLst>
          </p:cNvPr>
          <p:cNvSpPr/>
          <p:nvPr/>
        </p:nvSpPr>
        <p:spPr>
          <a:xfrm>
            <a:off x="1356793" y="2624715"/>
            <a:ext cx="6992439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s-PE" sz="1400" b="1" dirty="0">
                <a:solidFill>
                  <a:srgbClr val="7150A0"/>
                </a:solidFill>
                <a:latin typeface="Calibri" charset="0"/>
                <a:cs typeface="Calibri" charset="0"/>
              </a:rPr>
              <a:t>GESTIÓN DE DEFECTOS: </a:t>
            </a:r>
          </a:p>
          <a:p>
            <a:r>
              <a:rPr lang="es-PE" sz="1400" dirty="0"/>
              <a:t>Una tarea de gran importancia es el seguimiento y priorización de los defectos encontrados. Estos deben ser incluidos en los plannings de siguientes iteraciones para que sean resueltos. Además, deben ser trazados para conocer cuándo y en qué versión han sido resueltos.</a:t>
            </a:r>
          </a:p>
        </p:txBody>
      </p:sp>
      <p:grpSp>
        <p:nvGrpSpPr>
          <p:cNvPr id="14" name="Agrupar 16">
            <a:extLst>
              <a:ext uri="{FF2B5EF4-FFF2-40B4-BE49-F238E27FC236}">
                <a16:creationId xmlns:a16="http://schemas.microsoft.com/office/drawing/2014/main" id="{E8DBBB20-22E2-054C-8223-0E72520525AC}"/>
              </a:ext>
            </a:extLst>
          </p:cNvPr>
          <p:cNvGrpSpPr/>
          <p:nvPr/>
        </p:nvGrpSpPr>
        <p:grpSpPr>
          <a:xfrm>
            <a:off x="1071996" y="2629454"/>
            <a:ext cx="140792" cy="140258"/>
            <a:chOff x="3427964" y="2244682"/>
            <a:chExt cx="225891" cy="225034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7CBA2C63-F403-3A4D-A931-B78E3D1C0A16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3A9EE839-6E08-234D-A41D-C413920E05D0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0" name="Agrupar 29">
            <a:extLst>
              <a:ext uri="{FF2B5EF4-FFF2-40B4-BE49-F238E27FC236}">
                <a16:creationId xmlns:a16="http://schemas.microsoft.com/office/drawing/2014/main" id="{2AFE2A5D-2988-C444-8DD0-0E6C7CE2B22E}"/>
              </a:ext>
            </a:extLst>
          </p:cNvPr>
          <p:cNvGrpSpPr/>
          <p:nvPr/>
        </p:nvGrpSpPr>
        <p:grpSpPr>
          <a:xfrm>
            <a:off x="1071996" y="1574261"/>
            <a:ext cx="140792" cy="140258"/>
            <a:chOff x="3427964" y="2244682"/>
            <a:chExt cx="225891" cy="225034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FC22DB52-96E0-DC44-897C-DAFD405426B1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62881A28-56E9-4D47-998C-D6FAC10DAA50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510A43A-D008-9E4E-B88D-6DB65B1EE65A}"/>
              </a:ext>
            </a:extLst>
          </p:cNvPr>
          <p:cNvSpPr txBox="1"/>
          <p:nvPr/>
        </p:nvSpPr>
        <p:spPr>
          <a:xfrm>
            <a:off x="1356793" y="3830813"/>
            <a:ext cx="145952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PE" sz="1000" dirty="0">
                <a:solidFill>
                  <a:schemeClr val="bg1">
                    <a:lumMod val="50000"/>
                  </a:schemeClr>
                </a:solidFill>
              </a:rPr>
              <a:t>WordPress.com</a:t>
            </a:r>
          </a:p>
        </p:txBody>
      </p:sp>
    </p:spTree>
    <p:extLst>
      <p:ext uri="{BB962C8B-B14F-4D97-AF65-F5344CB8AC3E}">
        <p14:creationId xmlns:p14="http://schemas.microsoft.com/office/powerpoint/2010/main" val="2996309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758649AB-DACF-754D-919A-A6E722C136E4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C91191D-DFD9-504E-B510-30D46D735C45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PRUEBAS BASADAS</a:t>
            </a:r>
            <a:b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EN RIESGOS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606E3E2-9E49-9A42-969C-12B9DB3B7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742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600D8E6-9EF0-2EDF-EAD6-FFD8279B4F87}"/>
              </a:ext>
            </a:extLst>
          </p:cNvPr>
          <p:cNvSpPr txBox="1"/>
          <p:nvPr/>
        </p:nvSpPr>
        <p:spPr>
          <a:xfrm>
            <a:off x="684213" y="4588715"/>
            <a:ext cx="3708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PE" sz="1000" dirty="0">
                <a:solidFill>
                  <a:schemeClr val="bg1">
                    <a:lumMod val="50000"/>
                  </a:schemeClr>
                </a:solidFill>
              </a:rPr>
              <a:t>2014.vlctesting.es/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EA25DC-DEE5-D848-B102-678B97CD0BA8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 BASADAS EN RIESGOS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4C6F113-7B9D-9F42-8444-4465ABEB7D5F}"/>
              </a:ext>
            </a:extLst>
          </p:cNvPr>
          <p:cNvSpPr txBox="1"/>
          <p:nvPr/>
        </p:nvSpPr>
        <p:spPr>
          <a:xfrm>
            <a:off x="503238" y="912813"/>
            <a:ext cx="3768959" cy="3277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PE" sz="1600" b="1" dirty="0"/>
              <a:t>CONCEPTOS BÁSICOS</a:t>
            </a: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 unos años, el concepto Risk Based Testing (RBT) o pruebas basadas en riesgos, otorga la mayor prioridad a la ejecución de éstas, en aquellas aplicaciones y procesos con mayor riesgo para el negocio, en el caso de producirse un fallo en producción.</a:t>
            </a:r>
            <a:endParaRPr lang="es-PE" sz="1600"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este método, se utiliza los recursos de pruebas disponibles en las áreas del negocio donde el riesgo y el impacto de cualquier fallo en el entorno de producción puedan ser mayores.</a:t>
            </a:r>
            <a:endParaRPr lang="es-PE" sz="16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6E651A0-438F-1540-98DA-CA3A0951DC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180"/>
          <a:stretch/>
        </p:blipFill>
        <p:spPr>
          <a:xfrm>
            <a:off x="4751389" y="912812"/>
            <a:ext cx="4392611" cy="432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57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0F1357E-46ED-6048-B513-A223E6F6D9FF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 BASADAS EN RIESGOS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55425C6-6DDD-C84B-85C7-6784956BA19E}"/>
              </a:ext>
            </a:extLst>
          </p:cNvPr>
          <p:cNvSpPr txBox="1"/>
          <p:nvPr/>
        </p:nvSpPr>
        <p:spPr>
          <a:xfrm>
            <a:off x="503238" y="912813"/>
            <a:ext cx="8172450" cy="5693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DE ANÁLISIS</a:t>
            </a:r>
            <a:endParaRPr lang="es-PE" sz="1600" dirty="0"/>
          </a:p>
          <a:p>
            <a:pPr marL="95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inicia con el análisis de riesgo del producto</a:t>
            </a:r>
            <a:endParaRPr lang="es-PE" sz="160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43E1CF-0828-6149-A45D-17FC7984A90E}"/>
              </a:ext>
            </a:extLst>
          </p:cNvPr>
          <p:cNvGrpSpPr/>
          <p:nvPr/>
        </p:nvGrpSpPr>
        <p:grpSpPr>
          <a:xfrm>
            <a:off x="1093978" y="1880282"/>
            <a:ext cx="6776161" cy="2940799"/>
            <a:chOff x="1075934" y="1843779"/>
            <a:chExt cx="6776161" cy="2940799"/>
          </a:xfrm>
        </p:grpSpPr>
        <p:sp>
          <p:nvSpPr>
            <p:cNvPr id="10" name="Google Shape;333;p23">
              <a:extLst>
                <a:ext uri="{FF2B5EF4-FFF2-40B4-BE49-F238E27FC236}">
                  <a16:creationId xmlns:a16="http://schemas.microsoft.com/office/drawing/2014/main" id="{8B275954-1FC1-0D45-A2A7-FB53D18FD9D9}"/>
                </a:ext>
              </a:extLst>
            </p:cNvPr>
            <p:cNvSpPr/>
            <p:nvPr/>
          </p:nvSpPr>
          <p:spPr>
            <a:xfrm>
              <a:off x="4676455" y="1843779"/>
              <a:ext cx="3175640" cy="501005"/>
            </a:xfrm>
            <a:prstGeom prst="roundRect">
              <a:avLst>
                <a:gd name="adj" fmla="val 18326"/>
              </a:avLst>
            </a:prstGeom>
            <a:solidFill>
              <a:srgbClr val="7150A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800"/>
              </a:pPr>
              <a:r>
                <a:rPr lang="es-PE" sz="14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ESTRUCTURAR LOS RIESGOS</a:t>
              </a:r>
              <a:endParaRPr lang="es-PE" sz="1400" b="1" dirty="0">
                <a:solidFill>
                  <a:schemeClr val="lt1"/>
                </a:solidFill>
                <a:latin typeface="Calibri"/>
                <a:cs typeface="Calibri"/>
              </a:endParaRPr>
            </a:p>
          </p:txBody>
        </p:sp>
        <p:sp>
          <p:nvSpPr>
            <p:cNvPr id="11" name="Google Shape;335;p23">
              <a:extLst>
                <a:ext uri="{FF2B5EF4-FFF2-40B4-BE49-F238E27FC236}">
                  <a16:creationId xmlns:a16="http://schemas.microsoft.com/office/drawing/2014/main" id="{7681D22D-0292-194C-89D1-798A5556BA10}"/>
                </a:ext>
              </a:extLst>
            </p:cNvPr>
            <p:cNvSpPr/>
            <p:nvPr/>
          </p:nvSpPr>
          <p:spPr>
            <a:xfrm>
              <a:off x="4676455" y="2418329"/>
              <a:ext cx="3175640" cy="2366249"/>
            </a:xfrm>
            <a:prstGeom prst="roundRect">
              <a:avLst>
                <a:gd name="adj" fmla="val 3253"/>
              </a:avLst>
            </a:prstGeom>
            <a:solidFill>
              <a:srgbClr val="E3DCED"/>
            </a:solidFill>
            <a:ln>
              <a:noFill/>
            </a:ln>
          </p:spPr>
          <p:txBody>
            <a:bodyPr spcFirstLastPara="1" wrap="square" lIns="108000" tIns="108000" rIns="108000" bIns="45700" anchor="t" anchorCtr="0">
              <a:noAutofit/>
            </a:bodyPr>
            <a:lstStyle/>
            <a:p>
              <a:pPr marL="222250" marR="0" lvl="1" indent="-134938">
                <a:spcBef>
                  <a:spcPts val="0"/>
                </a:spcBef>
                <a:spcAft>
                  <a:spcPts val="0"/>
                </a:spcAft>
                <a:buClr>
                  <a:srgbClr val="7150A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s-PE" sz="1400" dirty="0">
                  <a:latin typeface="Calibri" panose="020F0502020204030204" pitchFamily="34" charset="0"/>
                  <a:ea typeface="+mj-lt"/>
                  <a:cs typeface="Calibri" panose="020F0502020204030204" pitchFamily="34" charset="0"/>
                  <a:sym typeface="Calibri"/>
                </a:rPr>
                <a:t>Considerar los riesgos en las áreas de funcionalidad, localización, usabilidad, confiabilidad, performance y soportabilidad.</a:t>
              </a:r>
              <a:endParaRPr lang="es-PE" sz="1400" dirty="0">
                <a:latin typeface="Calibri" panose="020F0502020204030204" pitchFamily="34" charset="0"/>
                <a:ea typeface="+mj-lt"/>
                <a:cs typeface="Calibri" panose="020F0502020204030204" pitchFamily="34" charset="0"/>
              </a:endParaRPr>
            </a:p>
            <a:p>
              <a:pPr marL="222250" marR="0" lvl="1" indent="-134938">
                <a:spcBef>
                  <a:spcPts val="0"/>
                </a:spcBef>
                <a:spcAft>
                  <a:spcPts val="0"/>
                </a:spcAft>
                <a:buClr>
                  <a:srgbClr val="7150A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s-PE" sz="1400" dirty="0">
                  <a:latin typeface="Calibri" panose="020F0502020204030204" pitchFamily="34" charset="0"/>
                  <a:ea typeface="+mj-lt"/>
                  <a:cs typeface="Calibri" panose="020F0502020204030204" pitchFamily="34" charset="0"/>
                  <a:sym typeface="Calibri"/>
                </a:rPr>
                <a:t>Checklist de riesgos típicos o riesgos identificados en el pasado.</a:t>
              </a:r>
              <a:endParaRPr lang="es-PE" sz="1400" dirty="0">
                <a:latin typeface="Calibri" panose="020F0502020204030204" pitchFamily="34" charset="0"/>
                <a:ea typeface="+mj-lt"/>
                <a:cs typeface="Calibri" panose="020F0502020204030204" pitchFamily="34" charset="0"/>
              </a:endParaRPr>
            </a:p>
            <a:p>
              <a:pPr marL="222250" marR="0" lvl="1" indent="-134938">
                <a:spcBef>
                  <a:spcPts val="0"/>
                </a:spcBef>
                <a:spcAft>
                  <a:spcPts val="0"/>
                </a:spcAft>
                <a:buClr>
                  <a:srgbClr val="7150A0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s-PE" sz="1400" dirty="0">
                  <a:latin typeface="Calibri" panose="020F0502020204030204" pitchFamily="34" charset="0"/>
                  <a:ea typeface="+mj-lt"/>
                  <a:cs typeface="Calibri" panose="020F0502020204030204" pitchFamily="34" charset="0"/>
                  <a:sym typeface="Calibri"/>
                </a:rPr>
                <a:t>Revisar pruebas que fallaron y defectos encontrados en proyectos anteriores.</a:t>
              </a:r>
              <a:endParaRPr lang="es-PE" sz="1400" dirty="0">
                <a:latin typeface="Calibri" panose="020F0502020204030204" pitchFamily="34" charset="0"/>
                <a:ea typeface="+mj-lt"/>
                <a:cs typeface="Calibri" panose="020F0502020204030204" pitchFamily="34" charset="0"/>
              </a:endParaRPr>
            </a:p>
          </p:txBody>
        </p:sp>
        <p:grpSp>
          <p:nvGrpSpPr>
            <p:cNvPr id="12" name="Agrupar 9">
              <a:extLst>
                <a:ext uri="{FF2B5EF4-FFF2-40B4-BE49-F238E27FC236}">
                  <a16:creationId xmlns:a16="http://schemas.microsoft.com/office/drawing/2014/main" id="{B29ABCFF-2C5A-634A-82CF-B7540EFE72DE}"/>
                </a:ext>
              </a:extLst>
            </p:cNvPr>
            <p:cNvGrpSpPr/>
            <p:nvPr/>
          </p:nvGrpSpPr>
          <p:grpSpPr>
            <a:xfrm>
              <a:off x="4460689" y="1892408"/>
              <a:ext cx="459474" cy="403823"/>
              <a:chOff x="5892512" y="2805541"/>
              <a:chExt cx="459474" cy="403823"/>
            </a:xfrm>
          </p:grpSpPr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8C1563D2-99A7-B844-8A15-4B418DB1DEFC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66499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4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AA9964C0-B40A-0E49-A24F-25AF1650A9A8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4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1" name="Triángulo 20">
                <a:extLst>
                  <a:ext uri="{FF2B5EF4-FFF2-40B4-BE49-F238E27FC236}">
                    <a16:creationId xmlns:a16="http://schemas.microsoft.com/office/drawing/2014/main" id="{670E0FBC-595F-404B-939F-B6C020B6174F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rgbClr val="715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4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3" name="Google Shape;332;p23">
              <a:extLst>
                <a:ext uri="{FF2B5EF4-FFF2-40B4-BE49-F238E27FC236}">
                  <a16:creationId xmlns:a16="http://schemas.microsoft.com/office/drawing/2014/main" id="{B7132FF4-24FA-A140-B1BE-F4C73E481475}"/>
                </a:ext>
              </a:extLst>
            </p:cNvPr>
            <p:cNvSpPr/>
            <p:nvPr/>
          </p:nvSpPr>
          <p:spPr>
            <a:xfrm>
              <a:off x="1290849" y="1843779"/>
              <a:ext cx="3175640" cy="501005"/>
            </a:xfrm>
            <a:prstGeom prst="roundRect">
              <a:avLst>
                <a:gd name="adj" fmla="val 18326"/>
              </a:avLst>
            </a:prstGeom>
            <a:solidFill>
              <a:srgbClr val="92C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800"/>
              </a:pPr>
              <a:r>
                <a:rPr lang="es-PE" sz="14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TÉCNICAS PARA </a:t>
              </a:r>
              <a:br>
                <a:rPr lang="es-PE" sz="14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</a:br>
              <a:r>
                <a:rPr lang="es-PE" sz="14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ANÁLISIS DE RIESGOS</a:t>
              </a:r>
              <a:endParaRPr lang="es-PE" sz="1400" b="1" dirty="0">
                <a:solidFill>
                  <a:schemeClr val="lt1"/>
                </a:solidFill>
                <a:latin typeface="Calibri"/>
                <a:cs typeface="Calibri"/>
              </a:endParaRPr>
            </a:p>
          </p:txBody>
        </p:sp>
        <p:sp>
          <p:nvSpPr>
            <p:cNvPr id="14" name="Google Shape;334;p23">
              <a:extLst>
                <a:ext uri="{FF2B5EF4-FFF2-40B4-BE49-F238E27FC236}">
                  <a16:creationId xmlns:a16="http://schemas.microsoft.com/office/drawing/2014/main" id="{3F6CD34D-B125-6B4E-9CA3-A303E8E899C1}"/>
                </a:ext>
              </a:extLst>
            </p:cNvPr>
            <p:cNvSpPr/>
            <p:nvPr/>
          </p:nvSpPr>
          <p:spPr>
            <a:xfrm>
              <a:off x="1290849" y="2418330"/>
              <a:ext cx="3175640" cy="2366248"/>
            </a:xfrm>
            <a:prstGeom prst="roundRect">
              <a:avLst>
                <a:gd name="adj" fmla="val 2423"/>
              </a:avLst>
            </a:prstGeom>
            <a:solidFill>
              <a:srgbClr val="DDEEC7"/>
            </a:solidFill>
            <a:ln>
              <a:noFill/>
            </a:ln>
          </p:spPr>
          <p:txBody>
            <a:bodyPr spcFirstLastPara="1" wrap="square" lIns="108000" tIns="108000" rIns="108000" bIns="45700" anchor="t" anchorCtr="0">
              <a:noAutofit/>
            </a:bodyPr>
            <a:lstStyle/>
            <a:p>
              <a:pPr marL="138113" marR="0" lvl="1" indent="-128588">
                <a:spcBef>
                  <a:spcPts val="0"/>
                </a:spcBef>
                <a:spcAft>
                  <a:spcPts val="0"/>
                </a:spcAft>
                <a:buClr>
                  <a:srgbClr val="92C14E"/>
                </a:buClr>
                <a:buSzPct val="100000"/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PE" sz="1400" dirty="0">
                  <a:latin typeface="Calibri"/>
                  <a:cs typeface="Calibri"/>
                  <a:sym typeface="Calibri"/>
                </a:rPr>
                <a:t>Lectura de la especificación de requerimientos, diseño, documentación de usuario, </a:t>
              </a:r>
              <a:br>
                <a:rPr lang="es-PE" sz="1400" dirty="0">
                  <a:latin typeface="Calibri"/>
                  <a:cs typeface="Calibri"/>
                  <a:sym typeface="Calibri"/>
                </a:rPr>
              </a:br>
              <a:r>
                <a:rPr lang="es-PE" sz="1400" dirty="0">
                  <a:latin typeface="Calibri"/>
                  <a:cs typeface="Calibri"/>
                  <a:sym typeface="Calibri"/>
                </a:rPr>
                <a:t>entre otros.</a:t>
              </a:r>
              <a:endParaRPr lang="es-PE" sz="1400" dirty="0">
                <a:latin typeface="Calibri"/>
                <a:cs typeface="Calibri"/>
              </a:endParaRPr>
            </a:p>
            <a:p>
              <a:pPr marL="138113" marR="0" lvl="1" indent="-128588">
                <a:spcBef>
                  <a:spcPts val="0"/>
                </a:spcBef>
                <a:spcAft>
                  <a:spcPts val="0"/>
                </a:spcAft>
                <a:buClr>
                  <a:srgbClr val="92C14E"/>
                </a:buClr>
                <a:buSzPct val="100000"/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PE" sz="1400" dirty="0">
                  <a:latin typeface="Calibri"/>
                  <a:cs typeface="Calibri"/>
                  <a:sym typeface="Calibri"/>
                </a:rPr>
                <a:t>Brainstorming (lluvia de ideas) con la mayoría de los interesados del proyecto.</a:t>
              </a:r>
              <a:endParaRPr lang="es-PE" sz="1400" dirty="0">
                <a:latin typeface="Calibri"/>
                <a:cs typeface="Calibri"/>
              </a:endParaRPr>
            </a:p>
            <a:p>
              <a:pPr marL="138113" marR="0" lvl="1" indent="-128588">
                <a:spcBef>
                  <a:spcPts val="0"/>
                </a:spcBef>
                <a:spcAft>
                  <a:spcPts val="0"/>
                </a:spcAft>
                <a:buClr>
                  <a:srgbClr val="92C14E"/>
                </a:buClr>
                <a:buSzPct val="100000"/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PE" sz="1400" dirty="0">
                  <a:latin typeface="Calibri"/>
                  <a:cs typeface="Calibri"/>
                  <a:sym typeface="Calibri"/>
                </a:rPr>
                <a:t>Sesiones en grupos pequeños con los expertos en negocio y tecnología.</a:t>
              </a:r>
              <a:endParaRPr lang="es-PE" sz="1400" dirty="0">
                <a:latin typeface="Calibri"/>
                <a:cs typeface="Calibri"/>
              </a:endParaRPr>
            </a:p>
          </p:txBody>
        </p:sp>
        <p:grpSp>
          <p:nvGrpSpPr>
            <p:cNvPr id="15" name="Agrupar 4">
              <a:extLst>
                <a:ext uri="{FF2B5EF4-FFF2-40B4-BE49-F238E27FC236}">
                  <a16:creationId xmlns:a16="http://schemas.microsoft.com/office/drawing/2014/main" id="{FE598020-6066-964F-AAAB-B3F34DCB7E6A}"/>
                </a:ext>
              </a:extLst>
            </p:cNvPr>
            <p:cNvGrpSpPr/>
            <p:nvPr/>
          </p:nvGrpSpPr>
          <p:grpSpPr>
            <a:xfrm>
              <a:off x="1075934" y="1892408"/>
              <a:ext cx="459474" cy="403823"/>
              <a:chOff x="5892512" y="2805541"/>
              <a:chExt cx="459474" cy="403823"/>
            </a:xfrm>
          </p:grpSpPr>
          <p:sp>
            <p:nvSpPr>
              <p:cNvPr id="16" name="Elipse 15">
                <a:extLst>
                  <a:ext uri="{FF2B5EF4-FFF2-40B4-BE49-F238E27FC236}">
                    <a16:creationId xmlns:a16="http://schemas.microsoft.com/office/drawing/2014/main" id="{3BC43E7A-D66F-E449-A0D4-BA4EAFC970B1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7CA5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4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7" name="Elipse 16">
                <a:extLst>
                  <a:ext uri="{FF2B5EF4-FFF2-40B4-BE49-F238E27FC236}">
                    <a16:creationId xmlns:a16="http://schemas.microsoft.com/office/drawing/2014/main" id="{F6371B15-B50A-5747-B8F0-317B77447C83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4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8" name="Triángulo 17">
                <a:extLst>
                  <a:ext uri="{FF2B5EF4-FFF2-40B4-BE49-F238E27FC236}">
                    <a16:creationId xmlns:a16="http://schemas.microsoft.com/office/drawing/2014/main" id="{6D345DCF-D0EA-814A-9F5B-3E2532E8E440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rgbClr val="92C1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400" dirty="0">
                  <a:latin typeface="Calibri" panose="020F050202020403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BF5299FD-AB73-9946-A4A2-347BB3355E2D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 BASADAS EN RIESGOS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0339AC3-3B28-3F4B-8360-A414322F25B4}"/>
              </a:ext>
            </a:extLst>
          </p:cNvPr>
          <p:cNvSpPr txBox="1"/>
          <p:nvPr/>
        </p:nvSpPr>
        <p:spPr>
          <a:xfrm>
            <a:off x="503238" y="912813"/>
            <a:ext cx="565022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PE" sz="1600" b="1" dirty="0"/>
              <a:t>¿CÓMO REALIZAR LA PRUEBA BASADO EN EL RIESGO?</a:t>
            </a:r>
          </a:p>
        </p:txBody>
      </p:sp>
      <p:grpSp>
        <p:nvGrpSpPr>
          <p:cNvPr id="9" name="Agrupar 50">
            <a:extLst>
              <a:ext uri="{FF2B5EF4-FFF2-40B4-BE49-F238E27FC236}">
                <a16:creationId xmlns:a16="http://schemas.microsoft.com/office/drawing/2014/main" id="{6D57222C-43DF-BB49-8FE7-2F59E9759811}"/>
              </a:ext>
            </a:extLst>
          </p:cNvPr>
          <p:cNvGrpSpPr/>
          <p:nvPr/>
        </p:nvGrpSpPr>
        <p:grpSpPr>
          <a:xfrm>
            <a:off x="239248" y="1875614"/>
            <a:ext cx="2806012" cy="1722587"/>
            <a:chOff x="276723" y="1465697"/>
            <a:chExt cx="2806012" cy="1722587"/>
          </a:xfrm>
        </p:grpSpPr>
        <p:sp>
          <p:nvSpPr>
            <p:cNvPr id="10" name="Rectángulo redondeado 9">
              <a:extLst>
                <a:ext uri="{FF2B5EF4-FFF2-40B4-BE49-F238E27FC236}">
                  <a16:creationId xmlns:a16="http://schemas.microsoft.com/office/drawing/2014/main" id="{DDEA1ABF-E359-054E-AB92-3E27E7AFE473}"/>
                </a:ext>
              </a:extLst>
            </p:cNvPr>
            <p:cNvSpPr/>
            <p:nvPr/>
          </p:nvSpPr>
          <p:spPr>
            <a:xfrm>
              <a:off x="547515" y="1465697"/>
              <a:ext cx="2535220" cy="1722587"/>
            </a:xfrm>
            <a:prstGeom prst="roundRect">
              <a:avLst>
                <a:gd name="adj" fmla="val 6762"/>
              </a:avLst>
            </a:prstGeom>
            <a:solidFill>
              <a:srgbClr val="CCEFF2"/>
            </a:solidFill>
            <a:ln w="38100">
              <a:solidFill>
                <a:srgbClr val="00B1C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marR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PE" sz="13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Hacer una lista priorizada </a:t>
              </a:r>
              <a:br>
                <a:rPr lang="es-PE" sz="13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</a:br>
              <a:r>
                <a:rPr lang="es-PE" sz="13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de riesgos.</a:t>
              </a:r>
              <a:endParaRPr lang="es-PE" sz="1300" dirty="0">
                <a:solidFill>
                  <a:schemeClr val="tx1"/>
                </a:solidFill>
                <a:latin typeface="Calibri" charset="0"/>
                <a:cs typeface="Calibri" charset="0"/>
              </a:endParaRPr>
            </a:p>
          </p:txBody>
        </p:sp>
        <p:sp>
          <p:nvSpPr>
            <p:cNvPr id="11" name="Acorde 5">
              <a:extLst>
                <a:ext uri="{FF2B5EF4-FFF2-40B4-BE49-F238E27FC236}">
                  <a16:creationId xmlns:a16="http://schemas.microsoft.com/office/drawing/2014/main" id="{B2084775-E8F0-854A-8915-99CA294B7A69}"/>
                </a:ext>
              </a:extLst>
            </p:cNvPr>
            <p:cNvSpPr/>
            <p:nvPr/>
          </p:nvSpPr>
          <p:spPr>
            <a:xfrm rot="12600000">
              <a:off x="276723" y="2017867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EAF49FBB-D3CB-3F40-90D1-080AA2A9205D}"/>
                </a:ext>
              </a:extLst>
            </p:cNvPr>
            <p:cNvSpPr txBox="1"/>
            <p:nvPr/>
          </p:nvSpPr>
          <p:spPr>
            <a:xfrm>
              <a:off x="479524" y="2003825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1</a:t>
              </a:r>
            </a:p>
          </p:txBody>
        </p:sp>
      </p:grpSp>
      <p:grpSp>
        <p:nvGrpSpPr>
          <p:cNvPr id="13" name="Agrupar 49">
            <a:extLst>
              <a:ext uri="{FF2B5EF4-FFF2-40B4-BE49-F238E27FC236}">
                <a16:creationId xmlns:a16="http://schemas.microsoft.com/office/drawing/2014/main" id="{79FC4E59-73B8-DB43-933B-D524882711A0}"/>
              </a:ext>
            </a:extLst>
          </p:cNvPr>
          <p:cNvGrpSpPr/>
          <p:nvPr/>
        </p:nvGrpSpPr>
        <p:grpSpPr>
          <a:xfrm>
            <a:off x="3016788" y="1875614"/>
            <a:ext cx="2806012" cy="1722587"/>
            <a:chOff x="3054263" y="1481981"/>
            <a:chExt cx="2806012" cy="1722587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DACD197D-8456-2745-A323-D670AA034186}"/>
                </a:ext>
              </a:extLst>
            </p:cNvPr>
            <p:cNvSpPr/>
            <p:nvPr/>
          </p:nvSpPr>
          <p:spPr>
            <a:xfrm>
              <a:off x="3325055" y="1481981"/>
              <a:ext cx="2535220" cy="1722587"/>
            </a:xfrm>
            <a:prstGeom prst="roundRect">
              <a:avLst>
                <a:gd name="adj" fmla="val 7758"/>
              </a:avLst>
            </a:prstGeom>
            <a:solidFill>
              <a:srgbClr val="E6F3D6"/>
            </a:solidFill>
            <a:ln w="38100">
              <a:solidFill>
                <a:srgbClr val="8EC5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marR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PE" sz="13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Realizar pruebas que explora cada riesgo.</a:t>
              </a:r>
              <a:endParaRPr lang="es-PE" sz="1300" dirty="0">
                <a:solidFill>
                  <a:schemeClr val="tx1"/>
                </a:solidFill>
                <a:latin typeface="Calibri" charset="0"/>
                <a:cs typeface="Calibri" charset="0"/>
              </a:endParaRPr>
            </a:p>
          </p:txBody>
        </p:sp>
        <p:sp>
          <p:nvSpPr>
            <p:cNvPr id="15" name="Acorde 26">
              <a:extLst>
                <a:ext uri="{FF2B5EF4-FFF2-40B4-BE49-F238E27FC236}">
                  <a16:creationId xmlns:a16="http://schemas.microsoft.com/office/drawing/2014/main" id="{54A34B39-3D02-8941-94FC-F83A1B1FB0B8}"/>
                </a:ext>
              </a:extLst>
            </p:cNvPr>
            <p:cNvSpPr/>
            <p:nvPr/>
          </p:nvSpPr>
          <p:spPr>
            <a:xfrm rot="12600000">
              <a:off x="3054263" y="2015863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8E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87E8F346-14C1-C54F-A1F7-C6FE49EB82B4}"/>
                </a:ext>
              </a:extLst>
            </p:cNvPr>
            <p:cNvSpPr txBox="1"/>
            <p:nvPr/>
          </p:nvSpPr>
          <p:spPr>
            <a:xfrm>
              <a:off x="3257063" y="2020109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2</a:t>
              </a:r>
            </a:p>
          </p:txBody>
        </p:sp>
      </p:grpSp>
      <p:grpSp>
        <p:nvGrpSpPr>
          <p:cNvPr id="17" name="Agrupar 48">
            <a:extLst>
              <a:ext uri="{FF2B5EF4-FFF2-40B4-BE49-F238E27FC236}">
                <a16:creationId xmlns:a16="http://schemas.microsoft.com/office/drawing/2014/main" id="{175AC498-CC1B-E347-9BDC-169E9A8E0A2B}"/>
              </a:ext>
            </a:extLst>
          </p:cNvPr>
          <p:cNvGrpSpPr/>
          <p:nvPr/>
        </p:nvGrpSpPr>
        <p:grpSpPr>
          <a:xfrm>
            <a:off x="5794327" y="1875614"/>
            <a:ext cx="2806013" cy="1722587"/>
            <a:chOff x="5831802" y="1491617"/>
            <a:chExt cx="2806013" cy="1722587"/>
          </a:xfrm>
        </p:grpSpPr>
        <p:sp>
          <p:nvSpPr>
            <p:cNvPr id="18" name="Rectángulo redondeado 17">
              <a:extLst>
                <a:ext uri="{FF2B5EF4-FFF2-40B4-BE49-F238E27FC236}">
                  <a16:creationId xmlns:a16="http://schemas.microsoft.com/office/drawing/2014/main" id="{8371BD4D-F950-9747-9503-4DF3FB168CF1}"/>
                </a:ext>
              </a:extLst>
            </p:cNvPr>
            <p:cNvSpPr/>
            <p:nvPr/>
          </p:nvSpPr>
          <p:spPr>
            <a:xfrm>
              <a:off x="6102595" y="1491617"/>
              <a:ext cx="2535220" cy="1722587"/>
            </a:xfrm>
            <a:prstGeom prst="roundRect">
              <a:avLst>
                <a:gd name="adj" fmla="val 6512"/>
              </a:avLst>
            </a:prstGeom>
            <a:solidFill>
              <a:srgbClr val="FCD7D5"/>
            </a:solidFill>
            <a:ln w="38100">
              <a:solidFill>
                <a:srgbClr val="EE46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marR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PE" sz="13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Como los riesgos se reducen o desaparecen y surgen otras nuevas, debemos ajustar el esfuerzo de prueba para mantener el objetivo </a:t>
              </a:r>
              <a:br>
                <a:rPr lang="es-PE" sz="13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</a:br>
              <a:r>
                <a:rPr lang="es-PE" sz="13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de minimizar los riesgos.</a:t>
              </a:r>
              <a:endParaRPr lang="es-PE" sz="1300" dirty="0">
                <a:solidFill>
                  <a:schemeClr val="tx1"/>
                </a:solidFill>
                <a:latin typeface="Calibri" charset="0"/>
                <a:cs typeface="Calibri" charset="0"/>
              </a:endParaRPr>
            </a:p>
          </p:txBody>
        </p:sp>
        <p:sp>
          <p:nvSpPr>
            <p:cNvPr id="19" name="Acorde 32">
              <a:extLst>
                <a:ext uri="{FF2B5EF4-FFF2-40B4-BE49-F238E27FC236}">
                  <a16:creationId xmlns:a16="http://schemas.microsoft.com/office/drawing/2014/main" id="{D9FCA38F-6FB4-5D44-8A75-0B10D493EC8A}"/>
                </a:ext>
              </a:extLst>
            </p:cNvPr>
            <p:cNvSpPr/>
            <p:nvPr/>
          </p:nvSpPr>
          <p:spPr>
            <a:xfrm rot="12600000">
              <a:off x="5831802" y="2025499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51972D5F-B26C-DA4F-9DCC-911E468F1BC8}"/>
                </a:ext>
              </a:extLst>
            </p:cNvPr>
            <p:cNvSpPr txBox="1"/>
            <p:nvPr/>
          </p:nvSpPr>
          <p:spPr>
            <a:xfrm>
              <a:off x="6034603" y="2029745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0597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>
            <a:extLst>
              <a:ext uri="{FF2B5EF4-FFF2-40B4-BE49-F238E27FC236}">
                <a16:creationId xmlns:a16="http://schemas.microsoft.com/office/drawing/2014/main" id="{1CC8A699-F016-B442-AE4E-59D9DFA9A601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 BASADAS EN RIESGOS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A16270C-F88A-5C4A-B001-1D3E48613F7E}"/>
              </a:ext>
            </a:extLst>
          </p:cNvPr>
          <p:cNvSpPr/>
          <p:nvPr/>
        </p:nvSpPr>
        <p:spPr>
          <a:xfrm>
            <a:off x="503238" y="916472"/>
            <a:ext cx="2016125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7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</a:t>
            </a:r>
            <a:r>
              <a:rPr lang="es-PE" sz="17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  <a:sym typeface="Calibri"/>
              </a:rPr>
              <a:t>PROCESO RBT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F438D146-53E2-AA4E-A0F7-15F2A5FB771E}"/>
              </a:ext>
            </a:extLst>
          </p:cNvPr>
          <p:cNvGrpSpPr/>
          <p:nvPr/>
        </p:nvGrpSpPr>
        <p:grpSpPr>
          <a:xfrm>
            <a:off x="684213" y="1389477"/>
            <a:ext cx="7739272" cy="3881986"/>
            <a:chOff x="647700" y="1321904"/>
            <a:chExt cx="7739272" cy="3881986"/>
          </a:xfrm>
        </p:grpSpPr>
        <p:sp>
          <p:nvSpPr>
            <p:cNvPr id="200" name="Google Shape;200;p22"/>
            <p:cNvSpPr/>
            <p:nvPr/>
          </p:nvSpPr>
          <p:spPr>
            <a:xfrm>
              <a:off x="647700" y="1321904"/>
              <a:ext cx="1270552" cy="596348"/>
            </a:xfrm>
            <a:prstGeom prst="roundRect">
              <a:avLst>
                <a:gd name="adj" fmla="val 16667"/>
              </a:avLst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Identificación</a:t>
              </a:r>
              <a:endParaRPr sz="1300"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1581977" y="1969035"/>
              <a:ext cx="1270552" cy="596348"/>
            </a:xfrm>
            <a:prstGeom prst="roundRect">
              <a:avLst>
                <a:gd name="adj" fmla="val 16667"/>
              </a:avLst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Análisis</a:t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2"/>
            <p:cNvSpPr/>
            <p:nvPr/>
          </p:nvSpPr>
          <p:spPr>
            <a:xfrm>
              <a:off x="2516254" y="2616166"/>
              <a:ext cx="1270552" cy="596348"/>
            </a:xfrm>
            <a:prstGeom prst="roundRect">
              <a:avLst>
                <a:gd name="adj" fmla="val 16667"/>
              </a:avLst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Exposición </a:t>
              </a:r>
              <a:br>
                <a:rPr lang="es-PE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PE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 Riesgos</a:t>
              </a:r>
              <a:endParaRPr sz="1300"/>
            </a:p>
          </p:txBody>
        </p:sp>
        <p:sp>
          <p:nvSpPr>
            <p:cNvPr id="203" name="Google Shape;203;p22"/>
            <p:cNvSpPr/>
            <p:nvPr/>
          </p:nvSpPr>
          <p:spPr>
            <a:xfrm>
              <a:off x="3450531" y="3263297"/>
              <a:ext cx="1270552" cy="596348"/>
            </a:xfrm>
            <a:prstGeom prst="roundRect">
              <a:avLst>
                <a:gd name="adj" fmla="val 16667"/>
              </a:avLst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Políticas </a:t>
              </a:r>
              <a:br>
                <a:rPr lang="es-PE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PE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 Pruebas</a:t>
              </a:r>
              <a:endParaRPr sz="1300"/>
            </a:p>
          </p:txBody>
        </p:sp>
        <p:sp>
          <p:nvSpPr>
            <p:cNvPr id="204" name="Google Shape;204;p22"/>
            <p:cNvSpPr/>
            <p:nvPr/>
          </p:nvSpPr>
          <p:spPr>
            <a:xfrm>
              <a:off x="4384808" y="3910428"/>
              <a:ext cx="1270552" cy="596348"/>
            </a:xfrm>
            <a:prstGeom prst="roundRect">
              <a:avLst>
                <a:gd name="adj" fmla="val 16667"/>
              </a:avLst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Plan</a:t>
              </a:r>
              <a:br>
                <a:rPr lang="es-PE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PE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 Pruebas</a:t>
              </a:r>
              <a:endParaRPr sz="1300"/>
            </a:p>
          </p:txBody>
        </p:sp>
        <p:sp>
          <p:nvSpPr>
            <p:cNvPr id="205" name="Google Shape;205;p22"/>
            <p:cNvSpPr/>
            <p:nvPr/>
          </p:nvSpPr>
          <p:spPr>
            <a:xfrm>
              <a:off x="5319085" y="4557559"/>
              <a:ext cx="1270552" cy="596348"/>
            </a:xfrm>
            <a:prstGeom prst="roundRect">
              <a:avLst>
                <a:gd name="adj" fmla="val 16667"/>
              </a:avLst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Control</a:t>
              </a:r>
              <a:endParaRPr sz="1300"/>
            </a:p>
          </p:txBody>
        </p:sp>
        <p:sp>
          <p:nvSpPr>
            <p:cNvPr id="206" name="Google Shape;206;p22"/>
            <p:cNvSpPr/>
            <p:nvPr/>
          </p:nvSpPr>
          <p:spPr>
            <a:xfrm>
              <a:off x="1918252" y="1327321"/>
              <a:ext cx="1797335" cy="590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41288" marR="0" lvl="0" indent="-141288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s-PE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Objetivos</a:t>
              </a:r>
              <a:endParaRPr/>
            </a:p>
            <a:p>
              <a:pPr marL="141288" marR="0" lvl="0" indent="-141288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s-PE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Factores de Riesgo</a:t>
              </a:r>
              <a:endParaRPr/>
            </a:p>
            <a:p>
              <a:pPr marL="141288" marR="0" lvl="0" indent="-141288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s-PE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Ruptura Funcional</a:t>
              </a:r>
              <a:endParaRPr/>
            </a:p>
          </p:txBody>
        </p:sp>
        <p:sp>
          <p:nvSpPr>
            <p:cNvPr id="207" name="Google Shape;207;p22"/>
            <p:cNvSpPr/>
            <p:nvPr/>
          </p:nvSpPr>
          <p:spPr>
            <a:xfrm>
              <a:off x="2852529" y="2036376"/>
              <a:ext cx="1797335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41288" marR="0" lvl="0" indent="-14128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s-PE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Análisis de Impacto</a:t>
              </a:r>
              <a:endParaRPr/>
            </a:p>
            <a:p>
              <a:pPr marL="141288" marR="0" lvl="0" indent="-14128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s-PE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Probabilidades</a:t>
              </a:r>
              <a:endParaRPr/>
            </a:p>
          </p:txBody>
        </p:sp>
        <p:sp>
          <p:nvSpPr>
            <p:cNvPr id="208" name="Google Shape;208;p22"/>
            <p:cNvSpPr/>
            <p:nvPr/>
          </p:nvSpPr>
          <p:spPr>
            <a:xfrm>
              <a:off x="3786806" y="2683507"/>
              <a:ext cx="1797335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38113" marR="0" lvl="0" indent="-1333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s-PE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Categorización</a:t>
              </a:r>
              <a:endParaRPr/>
            </a:p>
            <a:p>
              <a:pPr marL="138113" marR="0" lvl="0" indent="-1333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s-PE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Ponderación</a:t>
              </a:r>
              <a:endParaRPr/>
            </a:p>
          </p:txBody>
        </p:sp>
        <p:sp>
          <p:nvSpPr>
            <p:cNvPr id="209" name="Google Shape;209;p22"/>
            <p:cNvSpPr/>
            <p:nvPr/>
          </p:nvSpPr>
          <p:spPr>
            <a:xfrm>
              <a:off x="4721083" y="3330638"/>
              <a:ext cx="1797335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38113" marR="0" lvl="0" indent="-1333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s-PE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Cobertura</a:t>
              </a:r>
              <a:endParaRPr/>
            </a:p>
            <a:p>
              <a:pPr marL="138113" marR="0" lvl="0" indent="-1333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s-PE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Técnicas</a:t>
              </a:r>
              <a:endParaRPr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5655360" y="3990432"/>
              <a:ext cx="1797335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93663" marR="0" lvl="0" indent="-93663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s-PE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Distribución</a:t>
              </a:r>
              <a:endParaRPr/>
            </a:p>
            <a:p>
              <a:pPr marL="93663" marR="0" lvl="0" indent="-93663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s-PE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Casos de Prueba</a:t>
              </a:r>
              <a:endParaRPr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6589637" y="4557559"/>
              <a:ext cx="17973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93663" marR="0" lvl="0" indent="-93663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s-PE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Monitoreo</a:t>
              </a:r>
              <a:endParaRPr/>
            </a:p>
            <a:p>
              <a:pPr marL="93663" marR="0" lvl="0" indent="-93663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s-PE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Reportes</a:t>
              </a:r>
              <a:endParaRPr/>
            </a:p>
            <a:p>
              <a:pPr marL="93663" marR="0" lvl="0" indent="-93663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s-PE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Disponibilidad</a:t>
              </a:r>
              <a:endParaRPr/>
            </a:p>
          </p:txBody>
        </p:sp>
        <p:sp>
          <p:nvSpPr>
            <p:cNvPr id="212" name="Google Shape;212;p22"/>
            <p:cNvSpPr/>
            <p:nvPr/>
          </p:nvSpPr>
          <p:spPr>
            <a:xfrm rot="5400000">
              <a:off x="1036877" y="1956278"/>
              <a:ext cx="461665" cy="487180"/>
            </a:xfrm>
            <a:prstGeom prst="bentUpArrow">
              <a:avLst>
                <a:gd name="adj1" fmla="val 32840"/>
                <a:gd name="adj2" fmla="val 25000"/>
                <a:gd name="adj3" fmla="val 34054"/>
              </a:avLst>
            </a:prstGeom>
            <a:solidFill>
              <a:srgbClr val="7150A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12;p22">
              <a:extLst>
                <a:ext uri="{FF2B5EF4-FFF2-40B4-BE49-F238E27FC236}">
                  <a16:creationId xmlns:a16="http://schemas.microsoft.com/office/drawing/2014/main" id="{EACF58DD-002A-F649-A9D5-4FB85AC948AC}"/>
                </a:ext>
              </a:extLst>
            </p:cNvPr>
            <p:cNvSpPr/>
            <p:nvPr/>
          </p:nvSpPr>
          <p:spPr>
            <a:xfrm rot="5400000">
              <a:off x="1943784" y="2638331"/>
              <a:ext cx="461665" cy="487180"/>
            </a:xfrm>
            <a:prstGeom prst="bentUpArrow">
              <a:avLst>
                <a:gd name="adj1" fmla="val 32840"/>
                <a:gd name="adj2" fmla="val 25000"/>
                <a:gd name="adj3" fmla="val 34054"/>
              </a:avLst>
            </a:prstGeom>
            <a:solidFill>
              <a:srgbClr val="7150A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12;p22">
              <a:extLst>
                <a:ext uri="{FF2B5EF4-FFF2-40B4-BE49-F238E27FC236}">
                  <a16:creationId xmlns:a16="http://schemas.microsoft.com/office/drawing/2014/main" id="{CEC5589E-BA06-F14D-A852-CB95245196F5}"/>
                </a:ext>
              </a:extLst>
            </p:cNvPr>
            <p:cNvSpPr/>
            <p:nvPr/>
          </p:nvSpPr>
          <p:spPr>
            <a:xfrm rot="5400000">
              <a:off x="2895659" y="3267919"/>
              <a:ext cx="461665" cy="487180"/>
            </a:xfrm>
            <a:prstGeom prst="bentUpArrow">
              <a:avLst>
                <a:gd name="adj1" fmla="val 32840"/>
                <a:gd name="adj2" fmla="val 25000"/>
                <a:gd name="adj3" fmla="val 34054"/>
              </a:avLst>
            </a:prstGeom>
            <a:solidFill>
              <a:srgbClr val="7150A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12;p22">
              <a:extLst>
                <a:ext uri="{FF2B5EF4-FFF2-40B4-BE49-F238E27FC236}">
                  <a16:creationId xmlns:a16="http://schemas.microsoft.com/office/drawing/2014/main" id="{421B1D51-E13C-D742-BE20-FCF7858AC7F8}"/>
                </a:ext>
              </a:extLst>
            </p:cNvPr>
            <p:cNvSpPr/>
            <p:nvPr/>
          </p:nvSpPr>
          <p:spPr>
            <a:xfrm rot="5400000">
              <a:off x="3832544" y="3927487"/>
              <a:ext cx="461665" cy="487180"/>
            </a:xfrm>
            <a:prstGeom prst="bentUpArrow">
              <a:avLst>
                <a:gd name="adj1" fmla="val 32840"/>
                <a:gd name="adj2" fmla="val 25000"/>
                <a:gd name="adj3" fmla="val 34054"/>
              </a:avLst>
            </a:prstGeom>
            <a:solidFill>
              <a:srgbClr val="7150A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12;p22">
              <a:extLst>
                <a:ext uri="{FF2B5EF4-FFF2-40B4-BE49-F238E27FC236}">
                  <a16:creationId xmlns:a16="http://schemas.microsoft.com/office/drawing/2014/main" id="{53675C76-4C84-E440-AC58-EFF1D8EA515C}"/>
                </a:ext>
              </a:extLst>
            </p:cNvPr>
            <p:cNvSpPr/>
            <p:nvPr/>
          </p:nvSpPr>
          <p:spPr>
            <a:xfrm rot="5400000">
              <a:off x="4776924" y="4587055"/>
              <a:ext cx="461665" cy="487180"/>
            </a:xfrm>
            <a:prstGeom prst="bentUpArrow">
              <a:avLst>
                <a:gd name="adj1" fmla="val 32840"/>
                <a:gd name="adj2" fmla="val 25000"/>
                <a:gd name="adj3" fmla="val 34054"/>
              </a:avLst>
            </a:prstGeom>
            <a:solidFill>
              <a:srgbClr val="7150A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3" name="Google Shape;223;p23"/>
          <p:cNvGraphicFramePr/>
          <p:nvPr>
            <p:extLst>
              <p:ext uri="{D42A27DB-BD31-4B8C-83A1-F6EECF244321}">
                <p14:modId xmlns:p14="http://schemas.microsoft.com/office/powerpoint/2010/main" val="672620096"/>
              </p:ext>
            </p:extLst>
          </p:nvPr>
        </p:nvGraphicFramePr>
        <p:xfrm>
          <a:off x="698875" y="2857500"/>
          <a:ext cx="7746250" cy="19177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4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600" u="none" strike="noStrike" cap="none" dirty="0">
                          <a:solidFill>
                            <a:schemeClr val="lt1"/>
                          </a:solidFill>
                        </a:rPr>
                        <a:t>Product risk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600" u="none" strike="noStrike" cap="none" dirty="0">
                          <a:solidFill>
                            <a:schemeClr val="lt1"/>
                          </a:solidFill>
                        </a:rPr>
                        <a:t>Likelihood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600" u="none" strike="noStrike" cap="none" dirty="0">
                          <a:solidFill>
                            <a:schemeClr val="lt1"/>
                          </a:solidFill>
                        </a:rPr>
                        <a:t>Impact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600" u="none" strike="noStrike" cap="none" dirty="0" err="1">
                          <a:solidFill>
                            <a:schemeClr val="lt1"/>
                          </a:solidFill>
                        </a:rPr>
                        <a:t>Risk</a:t>
                      </a:r>
                      <a:r>
                        <a:rPr lang="es-PE" sz="1600" u="none" strike="noStrike" cap="none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s-PE" sz="1600" u="none" strike="noStrike" kern="1200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priority</a:t>
                      </a:r>
                      <a:r>
                        <a:rPr lang="es-PE" sz="1600" u="none" strike="noStrike" kern="1200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#</a:t>
                      </a:r>
                      <a:endParaRPr sz="1600" u="none" strike="noStrike" kern="1200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600" u="none" strike="noStrike" cap="none" dirty="0">
                          <a:solidFill>
                            <a:schemeClr val="lt1"/>
                          </a:solidFill>
                        </a:rPr>
                        <a:t>Mitigation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600" u="none" strike="noStrike" cap="none" dirty="0">
                          <a:solidFill>
                            <a:schemeClr val="dk1"/>
                          </a:solidFill>
                        </a:rPr>
                        <a:t>Risk category 1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600" u="none" strike="noStrike" cap="none">
                          <a:solidFill>
                            <a:schemeClr val="dk1"/>
                          </a:solidFill>
                        </a:rPr>
                        <a:t>Risk 1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600" u="none" strike="noStrike" cap="none">
                          <a:solidFill>
                            <a:schemeClr val="dk1"/>
                          </a:solidFill>
                        </a:rPr>
                        <a:t>Risk 2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600" u="none" strike="noStrike" cap="none">
                          <a:solidFill>
                            <a:schemeClr val="dk1"/>
                          </a:solidFill>
                        </a:rPr>
                        <a:t>Risk 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67238AB-1B1A-FC4B-9CE4-3058AB304765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 BASADAS EN RIESGOS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BCE9D2-73DE-834B-889B-3001D6E27F74}"/>
              </a:ext>
            </a:extLst>
          </p:cNvPr>
          <p:cNvSpPr txBox="1"/>
          <p:nvPr/>
        </p:nvSpPr>
        <p:spPr>
          <a:xfrm>
            <a:off x="503238" y="912813"/>
            <a:ext cx="8172450" cy="1554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PRÁCTICA</a:t>
            </a:r>
            <a:endParaRPr lang="es-PE" sz="1600"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latin typeface="Calibri"/>
                <a:ea typeface="Calibri"/>
                <a:cs typeface="Calibri"/>
                <a:sym typeface="Calibri"/>
              </a:rPr>
              <a:t>Luego de identificar los elementos de riesgo, determinar el impacto con las personas de negocio, y la probabilidad con las personas técnicas. Usar escalas de 5 puntos. Prioridad del riesgo (impacto x probabilidad). </a:t>
            </a:r>
            <a:endParaRPr lang="es-PE" sz="1600"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600" dirty="0"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latin typeface="Calibri"/>
                <a:ea typeface="Calibri"/>
                <a:cs typeface="Calibri"/>
                <a:sym typeface="Calibri"/>
              </a:rPr>
              <a:t>Utilizar una plantilla de análisis de riesgos.</a:t>
            </a:r>
            <a:endParaRPr lang="es-PE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5FD6AE9-5F63-6E4D-ADEF-69103D9C8361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2524539-E405-234E-AB4C-1BCD43657FE0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C8F7C4E3-61B7-AE4B-9FB2-82F111E31E1D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  <a:ea typeface="Graphik Bold" charset="0"/>
                  <a:cs typeface="Graphik Bold" charset="0"/>
                </a:rPr>
                <a:t>MÁS REFERENCIAS</a:t>
              </a:r>
            </a:p>
          </p:txBody>
        </p: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E47B2211-4283-DF45-9E57-EE682AA7B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9FD0D905-DB6B-9549-BACD-95EAE7E3B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94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05832E2C-CE8D-1E40-BB7D-EB7A425D1C82}"/>
              </a:ext>
            </a:extLst>
          </p:cNvPr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6" name="object 7">
            <a:extLst>
              <a:ext uri="{FF2B5EF4-FFF2-40B4-BE49-F238E27FC236}">
                <a16:creationId xmlns:a16="http://schemas.microsoft.com/office/drawing/2014/main" id="{023B3E42-E306-D44A-AA0A-16449A0CD93A}"/>
              </a:ext>
            </a:extLst>
          </p:cNvPr>
          <p:cNvSpPr txBox="1"/>
          <p:nvPr/>
        </p:nvSpPr>
        <p:spPr>
          <a:xfrm>
            <a:off x="1279545" y="912813"/>
            <a:ext cx="5705454" cy="1508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lang="es-PE" sz="1400" dirty="0"/>
              <a:t>Los riesgos asociados al proyecto y al producto ponen en peligro el éxito del proyecto, los riesgos deben ser gestionados. </a:t>
            </a:r>
          </a:p>
          <a:p>
            <a:pPr marL="9525"/>
            <a:endParaRPr lang="es-PE" sz="1400" dirty="0"/>
          </a:p>
          <a:p>
            <a:pPr marL="9525"/>
            <a:r>
              <a:rPr lang="es-PE" sz="1400" dirty="0"/>
              <a:t>Los riesgos pueden ser tecnológicos, del entorno o estar asociados a la organización. </a:t>
            </a:r>
          </a:p>
          <a:p>
            <a:pPr marL="9525"/>
            <a:endParaRPr lang="es-PE" sz="1400" dirty="0"/>
          </a:p>
          <a:p>
            <a:pPr marL="9525"/>
            <a:r>
              <a:rPr lang="es-PE" sz="1400" dirty="0"/>
              <a:t>Número de Riesgo (valor) = Probabilidad de ocurrencia por daño potencial.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1DC8B7D-6F07-B24F-A3BD-9079AB3A7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BE2CD725-DF2B-1243-8F4B-0C4089659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260" y="2239910"/>
            <a:ext cx="114138" cy="11754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97E865E8-EF59-964C-9412-A903D9790F0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31" name="Rectangle 5">
            <a:extLst>
              <a:ext uri="{FF2B5EF4-FFF2-40B4-BE49-F238E27FC236}">
                <a16:creationId xmlns:a16="http://schemas.microsoft.com/office/drawing/2014/main" id="{300036EB-BB36-1044-A71A-7FF389082A1E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F165B03A-CC31-7C46-9551-936BCF4B7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260" y="1602828"/>
            <a:ext cx="114138" cy="117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3036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52DB5E9-4C39-524B-8ECC-EAEC035A7A6F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545ED53-3152-0740-90FA-2189E2EB7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1745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4906</TotalTime>
  <Words>1203</Words>
  <Application>Microsoft Macintosh PowerPoint</Application>
  <PresentationFormat>Presentación en pantalla (16:10)</PresentationFormat>
  <Paragraphs>170</Paragraphs>
  <Slides>21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Calibri</vt:lpstr>
      <vt:lpstr>Graphik Bold</vt:lpstr>
      <vt:lpstr>Graphik Regular</vt:lpstr>
      <vt:lpstr>Graphik-Medium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Microsoft Office User</cp:lastModifiedBy>
  <cp:revision>598</cp:revision>
  <cp:lastPrinted>2018-01-16T21:42:59Z</cp:lastPrinted>
  <dcterms:created xsi:type="dcterms:W3CDTF">2016-10-06T14:52:02Z</dcterms:created>
  <dcterms:modified xsi:type="dcterms:W3CDTF">2024-10-28T16:31:07Z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